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39"/>
  </p:notesMasterIdLst>
  <p:sldIdLst>
    <p:sldId id="270" r:id="rId2"/>
    <p:sldId id="290" r:id="rId3"/>
    <p:sldId id="259" r:id="rId4"/>
    <p:sldId id="260" r:id="rId5"/>
    <p:sldId id="261" r:id="rId6"/>
    <p:sldId id="264" r:id="rId7"/>
    <p:sldId id="334" r:id="rId8"/>
    <p:sldId id="265" r:id="rId9"/>
    <p:sldId id="295" r:id="rId10"/>
    <p:sldId id="336" r:id="rId11"/>
    <p:sldId id="335" r:id="rId12"/>
    <p:sldId id="272" r:id="rId13"/>
    <p:sldId id="301" r:id="rId14"/>
    <p:sldId id="318" r:id="rId15"/>
    <p:sldId id="319" r:id="rId16"/>
    <p:sldId id="262" r:id="rId17"/>
    <p:sldId id="296" r:id="rId18"/>
    <p:sldId id="311" r:id="rId19"/>
    <p:sldId id="320" r:id="rId20"/>
    <p:sldId id="321" r:id="rId21"/>
    <p:sldId id="322" r:id="rId22"/>
    <p:sldId id="323" r:id="rId23"/>
    <p:sldId id="324" r:id="rId24"/>
    <p:sldId id="325" r:id="rId25"/>
    <p:sldId id="337" r:id="rId26"/>
    <p:sldId id="326" r:id="rId27"/>
    <p:sldId id="327" r:id="rId28"/>
    <p:sldId id="338" r:id="rId29"/>
    <p:sldId id="328" r:id="rId30"/>
    <p:sldId id="329" r:id="rId31"/>
    <p:sldId id="339" r:id="rId32"/>
    <p:sldId id="330" r:id="rId33"/>
    <p:sldId id="331" r:id="rId34"/>
    <p:sldId id="332" r:id="rId35"/>
    <p:sldId id="291" r:id="rId36"/>
    <p:sldId id="307" r:id="rId37"/>
    <p:sldId id="27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AC8DC71F-CA05-4676-A818-209C867BB7F5}">
          <p14:sldIdLst>
            <p14:sldId id="270"/>
            <p14:sldId id="290"/>
          </p14:sldIdLst>
        </p14:section>
        <p14:section name="Néhány alapvető jelölés" id="{4FACBED0-EBF5-451B-8C2A-525CDE7D478A}">
          <p14:sldIdLst>
            <p14:sldId id="259"/>
            <p14:sldId id="260"/>
            <p14:sldId id="261"/>
          </p14:sldIdLst>
        </p14:section>
        <p14:section name="A struktogramok paraméterlistái" id="{42CDA7AF-FBC1-420B-8C3D-5C5B7D169B80}">
          <p14:sldIdLst>
            <p14:sldId id="264"/>
            <p14:sldId id="334"/>
          </p14:sldIdLst>
        </p14:section>
        <p14:section name="Eljárások, függvények, ciklusok, rekurzió" id="{6933BC7F-51AB-43A8-B510-9E463DD11204}">
          <p14:sldIdLst>
            <p14:sldId id="265"/>
          </p14:sldIdLst>
        </p14:section>
        <p14:section name="Programok, alprogramok és hatékonyságuk" id="{2038B59B-2DB2-4E78-9A85-42670AA6F019}">
          <p14:sldIdLst>
            <p14:sldId id="295"/>
            <p14:sldId id="336"/>
            <p14:sldId id="335"/>
            <p14:sldId id="272"/>
            <p14:sldId id="301"/>
            <p14:sldId id="318"/>
            <p14:sldId id="319"/>
          </p14:sldIdLst>
        </p14:section>
        <p14:section name="Tömbök" id="{F90945B5-2A41-480A-AA60-0B447BEB1832}">
          <p14:sldIdLst>
            <p14:sldId id="262"/>
            <p14:sldId id="296"/>
            <p14:sldId id="311"/>
          </p14:sldIdLst>
        </p14:section>
        <p14:section name="Verem, sor" id="{0221C31F-39FE-4F87-8B56-9212B5C05886}">
          <p14:sldIdLst>
            <p14:sldId id="320"/>
            <p14:sldId id="321"/>
            <p14:sldId id="322"/>
            <p14:sldId id="323"/>
            <p14:sldId id="324"/>
            <p14:sldId id="325"/>
            <p14:sldId id="337"/>
            <p14:sldId id="326"/>
            <p14:sldId id="327"/>
            <p14:sldId id="338"/>
            <p14:sldId id="328"/>
            <p14:sldId id="329"/>
            <p14:sldId id="339"/>
            <p14:sldId id="330"/>
            <p14:sldId id="331"/>
            <p14:sldId id="332"/>
            <p14:sldId id="291"/>
            <p14:sldId id="307"/>
          </p14:sldIdLst>
        </p14:section>
        <p14:section name="Összefésülő rendezés (Merge Sort)" id="{36553EFC-5CCA-4140-818D-DD6EAC746EE2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596EF-8963-4AA4-A0D8-8230F8F92D28}" v="2" dt="2026-07-15T11:35:1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1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redo custSel addSld delSld modSld sldOrd addSection delSection modSection">
      <pc:chgData name="Kovácsné Pusztai Kinga" userId="1282fdc4-838f-4805-a47a-02b770215156" providerId="ADAL" clId="{5C5F7C30-6626-4CCB-81FA-ED1C19E6AEFD}" dt="2026-07-15T11:35:14.553" v="2083" actId="14826"/>
      <pc:docMkLst>
        <pc:docMk/>
      </pc:docMkLst>
      <pc:sldChg chg="addSp delSp modSp mod ord">
        <pc:chgData name="Kovácsné Pusztai Kinga" userId="1282fdc4-838f-4805-a47a-02b770215156" providerId="ADAL" clId="{5C5F7C30-6626-4CCB-81FA-ED1C19E6AEFD}" dt="2026-07-09T09:59:49.433" v="1731"/>
        <pc:sldMkLst>
          <pc:docMk/>
          <pc:sldMk cId="1094168828" sldId="262"/>
        </pc:sldMkLst>
        <pc:picChg chg="add mod">
          <ac:chgData name="Kovácsné Pusztai Kinga" userId="1282fdc4-838f-4805-a47a-02b770215156" providerId="ADAL" clId="{5C5F7C30-6626-4CCB-81FA-ED1C19E6AEFD}" dt="2026-07-08T10:51:34.052" v="192" actId="1076"/>
          <ac:picMkLst>
            <pc:docMk/>
            <pc:sldMk cId="1094168828" sldId="262"/>
            <ac:picMk id="5" creationId="{B852A2B8-458D-9A98-BD9C-6C52B173C83F}"/>
          </ac:picMkLst>
        </pc:picChg>
      </pc:sldChg>
      <pc:sldChg chg="modSp mod">
        <pc:chgData name="Kovácsné Pusztai Kinga" userId="1282fdc4-838f-4805-a47a-02b770215156" providerId="ADAL" clId="{5C5F7C30-6626-4CCB-81FA-ED1C19E6AEFD}" dt="2026-07-08T22:01:08.663" v="1668" actId="1076"/>
        <pc:sldMkLst>
          <pc:docMk/>
          <pc:sldMk cId="340072943" sldId="264"/>
        </pc:sldMkLst>
        <pc:spChg chg="mod">
          <ac:chgData name="Kovácsné Pusztai Kinga" userId="1282fdc4-838f-4805-a47a-02b770215156" providerId="ADAL" clId="{5C5F7C30-6626-4CCB-81FA-ED1C19E6AEFD}" dt="2026-07-08T22:01:05.538" v="1667" actId="1076"/>
          <ac:spMkLst>
            <pc:docMk/>
            <pc:sldMk cId="340072943" sldId="264"/>
            <ac:spMk id="2" creationId="{03777C97-5382-D241-A76E-C538CCCDE818}"/>
          </ac:spMkLst>
        </pc:spChg>
        <pc:spChg chg="mod">
          <ac:chgData name="Kovácsné Pusztai Kinga" userId="1282fdc4-838f-4805-a47a-02b770215156" providerId="ADAL" clId="{5C5F7C30-6626-4CCB-81FA-ED1C19E6AEFD}" dt="2026-07-08T22:01:08.663" v="1668" actId="1076"/>
          <ac:spMkLst>
            <pc:docMk/>
            <pc:sldMk cId="340072943" sldId="264"/>
            <ac:spMk id="3" creationId="{A0DDED3E-2106-4BCC-A9AD-4B646808447F}"/>
          </ac:spMkLst>
        </pc:spChg>
      </pc:sldChg>
      <pc:sldChg chg="add del mod modShow">
        <pc:chgData name="Kovácsné Pusztai Kinga" userId="1282fdc4-838f-4805-a47a-02b770215156" providerId="ADAL" clId="{5C5F7C30-6626-4CCB-81FA-ED1C19E6AEFD}" dt="2026-07-08T19:41:36.704" v="1363" actId="729"/>
        <pc:sldMkLst>
          <pc:docMk/>
          <pc:sldMk cId="3027729290" sldId="272"/>
        </pc:sldMkLst>
      </pc:sldChg>
      <pc:sldChg chg="addSp delSp modSp mod">
        <pc:chgData name="Kovácsné Pusztai Kinga" userId="1282fdc4-838f-4805-a47a-02b770215156" providerId="ADAL" clId="{5C5F7C30-6626-4CCB-81FA-ED1C19E6AEFD}" dt="2026-07-14T15:13:28.190" v="2075" actId="114"/>
        <pc:sldMkLst>
          <pc:docMk/>
          <pc:sldMk cId="1907665409" sldId="291"/>
        </pc:sldMkLst>
        <pc:spChg chg="mod">
          <ac:chgData name="Kovácsné Pusztai Kinga" userId="1282fdc4-838f-4805-a47a-02b770215156" providerId="ADAL" clId="{5C5F7C30-6626-4CCB-81FA-ED1C19E6AEFD}" dt="2026-07-14T15:13:28.190" v="2075" actId="114"/>
          <ac:spMkLst>
            <pc:docMk/>
            <pc:sldMk cId="1907665409" sldId="291"/>
            <ac:spMk id="7" creationId="{B3503E72-CCDB-300E-37CC-FEB95CDC5756}"/>
          </ac:spMkLst>
        </pc:spChg>
        <pc:picChg chg="del">
          <ac:chgData name="Kovácsné Pusztai Kinga" userId="1282fdc4-838f-4805-a47a-02b770215156" providerId="ADAL" clId="{5C5F7C30-6626-4CCB-81FA-ED1C19E6AEFD}" dt="2026-07-14T15:13:19.071" v="2072" actId="478"/>
          <ac:picMkLst>
            <pc:docMk/>
            <pc:sldMk cId="1907665409" sldId="291"/>
            <ac:picMk id="5" creationId="{AEF19AC1-947A-E712-C4F8-567A1AF9D1E2}"/>
          </ac:picMkLst>
        </pc:picChg>
        <pc:picChg chg="add mod ord">
          <ac:chgData name="Kovácsné Pusztai Kinga" userId="1282fdc4-838f-4805-a47a-02b770215156" providerId="ADAL" clId="{5C5F7C30-6626-4CCB-81FA-ED1C19E6AEFD}" dt="2026-07-08T21:57:44.113" v="1655" actId="167"/>
          <ac:picMkLst>
            <pc:docMk/>
            <pc:sldMk cId="1907665409" sldId="291"/>
            <ac:picMk id="9" creationId="{2ED7C1D4-AEF3-54B2-9F3D-250A07A99D4E}"/>
          </ac:picMkLst>
        </pc:picChg>
        <pc:picChg chg="add mod">
          <ac:chgData name="Kovácsné Pusztai Kinga" userId="1282fdc4-838f-4805-a47a-02b770215156" providerId="ADAL" clId="{5C5F7C30-6626-4CCB-81FA-ED1C19E6AEFD}" dt="2026-07-14T15:13:22.658" v="2073" actId="1076"/>
          <ac:picMkLst>
            <pc:docMk/>
            <pc:sldMk cId="1907665409" sldId="291"/>
            <ac:picMk id="12" creationId="{F27C1A42-A333-1B93-26BC-E67B1A245793}"/>
          </ac:picMkLst>
        </pc:picChg>
      </pc:sldChg>
      <pc:sldChg chg="addSp delSp modSp mod">
        <pc:chgData name="Kovácsné Pusztai Kinga" userId="1282fdc4-838f-4805-a47a-02b770215156" providerId="ADAL" clId="{5C5F7C30-6626-4CCB-81FA-ED1C19E6AEFD}" dt="2026-07-10T14:11:32.068" v="1947" actId="1076"/>
        <pc:sldMkLst>
          <pc:docMk/>
          <pc:sldMk cId="851960314" sldId="295"/>
        </pc:sldMkLst>
        <pc:spChg chg="mod">
          <ac:chgData name="Kovácsné Pusztai Kinga" userId="1282fdc4-838f-4805-a47a-02b770215156" providerId="ADAL" clId="{5C5F7C30-6626-4CCB-81FA-ED1C19E6AEFD}" dt="2026-07-10T14:10:54.180" v="1863" actId="1076"/>
          <ac:spMkLst>
            <pc:docMk/>
            <pc:sldMk cId="851960314" sldId="295"/>
            <ac:spMk id="3" creationId="{3DE6B431-DE07-D766-DE90-BDC27326F792}"/>
          </ac:spMkLst>
        </pc:spChg>
        <pc:spChg chg="mod">
          <ac:chgData name="Kovácsné Pusztai Kinga" userId="1282fdc4-838f-4805-a47a-02b770215156" providerId="ADAL" clId="{5C5F7C30-6626-4CCB-81FA-ED1C19E6AEFD}" dt="2026-07-10T14:11:32.068" v="1947" actId="1076"/>
          <ac:spMkLst>
            <pc:docMk/>
            <pc:sldMk cId="851960314" sldId="295"/>
            <ac:spMk id="4" creationId="{1AD676EC-EC84-F58C-6A1D-826A7E76B3F6}"/>
          </ac:spMkLst>
        </pc:spChg>
        <pc:picChg chg="add mod">
          <ac:chgData name="Kovácsné Pusztai Kinga" userId="1282fdc4-838f-4805-a47a-02b770215156" providerId="ADAL" clId="{5C5F7C30-6626-4CCB-81FA-ED1C19E6AEFD}" dt="2026-07-10T14:11:26.515" v="1946" actId="1076"/>
          <ac:picMkLst>
            <pc:docMk/>
            <pc:sldMk cId="851960314" sldId="295"/>
            <ac:picMk id="15" creationId="{6BD119F6-D745-8BA4-2D9C-5A30577ADA35}"/>
          </ac:picMkLst>
        </pc:picChg>
        <pc:picChg chg="add mod">
          <ac:chgData name="Kovácsné Pusztai Kinga" userId="1282fdc4-838f-4805-a47a-02b770215156" providerId="ADAL" clId="{5C5F7C30-6626-4CCB-81FA-ED1C19E6AEFD}" dt="2026-07-10T14:11:22.687" v="1945" actId="1037"/>
          <ac:picMkLst>
            <pc:docMk/>
            <pc:sldMk cId="851960314" sldId="295"/>
            <ac:picMk id="17" creationId="{19FB5576-D0F0-62A9-6C24-BDA6AA587640}"/>
          </ac:picMkLst>
        </pc:picChg>
        <pc:picChg chg="add mod">
          <ac:chgData name="Kovácsné Pusztai Kinga" userId="1282fdc4-838f-4805-a47a-02b770215156" providerId="ADAL" clId="{5C5F7C30-6626-4CCB-81FA-ED1C19E6AEFD}" dt="2026-07-10T14:11:12.606" v="1900" actId="1038"/>
          <ac:picMkLst>
            <pc:docMk/>
            <pc:sldMk cId="851960314" sldId="295"/>
            <ac:picMk id="19" creationId="{DEBCEDFB-ED0A-9B4D-A9D0-7E9ACD25B6DB}"/>
          </ac:picMkLst>
        </pc:picChg>
      </pc:sldChg>
      <pc:sldChg chg="addSp delSp modSp mod ord">
        <pc:chgData name="Kovácsné Pusztai Kinga" userId="1282fdc4-838f-4805-a47a-02b770215156" providerId="ADAL" clId="{5C5F7C30-6626-4CCB-81FA-ED1C19E6AEFD}" dt="2026-07-09T09:59:49.433" v="1731"/>
        <pc:sldMkLst>
          <pc:docMk/>
          <pc:sldMk cId="2380179388" sldId="296"/>
        </pc:sldMkLst>
        <pc:spChg chg="mod">
          <ac:chgData name="Kovácsné Pusztai Kinga" userId="1282fdc4-838f-4805-a47a-02b770215156" providerId="ADAL" clId="{5C5F7C30-6626-4CCB-81FA-ED1C19E6AEFD}" dt="2026-07-08T22:00:23.438" v="1661" actId="1076"/>
          <ac:spMkLst>
            <pc:docMk/>
            <pc:sldMk cId="2380179388" sldId="296"/>
            <ac:spMk id="2" creationId="{CF9625DE-1FE3-AB42-3068-D196CF770646}"/>
          </ac:spMkLst>
        </pc:spChg>
        <pc:spChg chg="mod">
          <ac:chgData name="Kovácsné Pusztai Kinga" userId="1282fdc4-838f-4805-a47a-02b770215156" providerId="ADAL" clId="{5C5F7C30-6626-4CCB-81FA-ED1C19E6AEFD}" dt="2026-07-08T22:00:28.307" v="1663" actId="27636"/>
          <ac:spMkLst>
            <pc:docMk/>
            <pc:sldMk cId="2380179388" sldId="296"/>
            <ac:spMk id="3" creationId="{7AE84942-F241-432B-87A1-AFC08BCDCA4F}"/>
          </ac:spMkLst>
        </pc:spChg>
        <pc:picChg chg="add mod">
          <ac:chgData name="Kovácsné Pusztai Kinga" userId="1282fdc4-838f-4805-a47a-02b770215156" providerId="ADAL" clId="{5C5F7C30-6626-4CCB-81FA-ED1C19E6AEFD}" dt="2026-07-08T22:00:46.390" v="1665" actId="1076"/>
          <ac:picMkLst>
            <pc:docMk/>
            <pc:sldMk cId="2380179388" sldId="296"/>
            <ac:picMk id="4" creationId="{69492565-9665-99EF-0ACF-4EC28E144211}"/>
          </ac:picMkLst>
        </pc:picChg>
      </pc:sldChg>
      <pc:sldChg chg="add del mod modShow">
        <pc:chgData name="Kovácsné Pusztai Kinga" userId="1282fdc4-838f-4805-a47a-02b770215156" providerId="ADAL" clId="{5C5F7C30-6626-4CCB-81FA-ED1C19E6AEFD}" dt="2026-07-08T19:43:10.298" v="1364" actId="729"/>
        <pc:sldMkLst>
          <pc:docMk/>
          <pc:sldMk cId="2922710757" sldId="301"/>
        </pc:sldMkLst>
      </pc:sldChg>
      <pc:sldChg chg="addSp modSp mod ord modShow">
        <pc:chgData name="Kovácsné Pusztai Kinga" userId="1282fdc4-838f-4805-a47a-02b770215156" providerId="ADAL" clId="{5C5F7C30-6626-4CCB-81FA-ED1C19E6AEFD}" dt="2026-07-09T09:59:49.433" v="1731"/>
        <pc:sldMkLst>
          <pc:docMk/>
          <pc:sldMk cId="3587177136" sldId="311"/>
        </pc:sldMkLst>
        <pc:spChg chg="mod">
          <ac:chgData name="Kovácsné Pusztai Kinga" userId="1282fdc4-838f-4805-a47a-02b770215156" providerId="ADAL" clId="{5C5F7C30-6626-4CCB-81FA-ED1C19E6AEFD}" dt="2026-07-08T11:32:46.462" v="308" actId="27636"/>
          <ac:spMkLst>
            <pc:docMk/>
            <pc:sldMk cId="3587177136" sldId="311"/>
            <ac:spMk id="3" creationId="{67B4BF46-0500-CFAB-AA25-90B477B844BC}"/>
          </ac:spMkLst>
        </pc:spChg>
        <pc:spChg chg="add mod">
          <ac:chgData name="Kovácsné Pusztai Kinga" userId="1282fdc4-838f-4805-a47a-02b770215156" providerId="ADAL" clId="{5C5F7C30-6626-4CCB-81FA-ED1C19E6AEFD}" dt="2026-07-08T11:32:53.376" v="310" actId="27636"/>
          <ac:spMkLst>
            <pc:docMk/>
            <pc:sldMk cId="3587177136" sldId="311"/>
            <ac:spMk id="4" creationId="{6B314505-7C1F-A25F-B526-58637A3AA201}"/>
          </ac:spMkLst>
        </pc:spChg>
      </pc:sldChg>
      <pc:sldChg chg="modSp mod">
        <pc:chgData name="Kovácsné Pusztai Kinga" userId="1282fdc4-838f-4805-a47a-02b770215156" providerId="ADAL" clId="{5C5F7C30-6626-4CCB-81FA-ED1C19E6AEFD}" dt="2026-07-08T20:16:17.204" v="1429" actId="113"/>
        <pc:sldMkLst>
          <pc:docMk/>
          <pc:sldMk cId="3945078764" sldId="318"/>
        </pc:sldMkLst>
        <pc:spChg chg="mod">
          <ac:chgData name="Kovácsné Pusztai Kinga" userId="1282fdc4-838f-4805-a47a-02b770215156" providerId="ADAL" clId="{5C5F7C30-6626-4CCB-81FA-ED1C19E6AEFD}" dt="2026-07-08T20:16:17.204" v="1429" actId="113"/>
          <ac:spMkLst>
            <pc:docMk/>
            <pc:sldMk cId="3945078764" sldId="318"/>
            <ac:spMk id="3" creationId="{7D58F8EB-D577-6301-3EA7-31FDCB3350DD}"/>
          </ac:spMkLst>
        </pc:spChg>
      </pc:sldChg>
      <pc:sldChg chg="addSp delSp modSp mod">
        <pc:chgData name="Kovácsné Pusztai Kinga" userId="1282fdc4-838f-4805-a47a-02b770215156" providerId="ADAL" clId="{5C5F7C30-6626-4CCB-81FA-ED1C19E6AEFD}" dt="2026-07-08T21:49:03.665" v="1601" actId="21"/>
        <pc:sldMkLst>
          <pc:docMk/>
          <pc:sldMk cId="1801604989" sldId="320"/>
        </pc:sldMkLst>
        <pc:spChg chg="mod">
          <ac:chgData name="Kovácsné Pusztai Kinga" userId="1282fdc4-838f-4805-a47a-02b770215156" providerId="ADAL" clId="{5C5F7C30-6626-4CCB-81FA-ED1C19E6AEFD}" dt="2026-07-08T20:32:30.715" v="1462" actId="1076"/>
          <ac:spMkLst>
            <pc:docMk/>
            <pc:sldMk cId="1801604989" sldId="320"/>
            <ac:spMk id="2" creationId="{79EED36C-5198-A26F-BCD6-BC8DE430CA07}"/>
          </ac:spMkLst>
        </pc:spChg>
        <pc:spChg chg="add mod">
          <ac:chgData name="Kovácsné Pusztai Kinga" userId="1282fdc4-838f-4805-a47a-02b770215156" providerId="ADAL" clId="{5C5F7C30-6626-4CCB-81FA-ED1C19E6AEFD}" dt="2026-07-08T20:32:34.817" v="1463" actId="20577"/>
          <ac:spMkLst>
            <pc:docMk/>
            <pc:sldMk cId="1801604989" sldId="320"/>
            <ac:spMk id="6" creationId="{58520678-96BD-B58F-233C-D3A49FB12B8D}"/>
          </ac:spMkLst>
        </pc:spChg>
        <pc:spChg chg="add mod ord">
          <ac:chgData name="Kovácsné Pusztai Kinga" userId="1282fdc4-838f-4805-a47a-02b770215156" providerId="ADAL" clId="{5C5F7C30-6626-4CCB-81FA-ED1C19E6AEFD}" dt="2026-07-08T20:33:46.766" v="1477" actId="14100"/>
          <ac:spMkLst>
            <pc:docMk/>
            <pc:sldMk cId="1801604989" sldId="320"/>
            <ac:spMk id="7" creationId="{D3D3B183-63FE-9D27-5674-EDE1636ADA69}"/>
          </ac:spMkLst>
        </pc:spChg>
        <pc:spChg chg="mod">
          <ac:chgData name="Kovácsné Pusztai Kinga" userId="1282fdc4-838f-4805-a47a-02b770215156" providerId="ADAL" clId="{5C5F7C30-6626-4CCB-81FA-ED1C19E6AEFD}" dt="2026-07-08T20:33:52.476" v="1478" actId="1076"/>
          <ac:spMkLst>
            <pc:docMk/>
            <pc:sldMk cId="1801604989" sldId="320"/>
            <ac:spMk id="9" creationId="{429BF573-887C-B370-A814-5E17B4C35C29}"/>
          </ac:spMkLst>
        </pc:spChg>
        <pc:picChg chg="mod">
          <ac:chgData name="Kovácsné Pusztai Kinga" userId="1282fdc4-838f-4805-a47a-02b770215156" providerId="ADAL" clId="{5C5F7C30-6626-4CCB-81FA-ED1C19E6AEFD}" dt="2026-07-08T20:28:48.273" v="1435" actId="1076"/>
          <ac:picMkLst>
            <pc:docMk/>
            <pc:sldMk cId="1801604989" sldId="320"/>
            <ac:picMk id="4" creationId="{71DBDE95-BEC7-95A6-F409-DF56B40890FD}"/>
          </ac:picMkLst>
        </pc:picChg>
        <pc:picChg chg="add mod">
          <ac:chgData name="Kovácsné Pusztai Kinga" userId="1282fdc4-838f-4805-a47a-02b770215156" providerId="ADAL" clId="{5C5F7C30-6626-4CCB-81FA-ED1C19E6AEFD}" dt="2026-07-08T20:28:45.386" v="1434" actId="1076"/>
          <ac:picMkLst>
            <pc:docMk/>
            <pc:sldMk cId="1801604989" sldId="320"/>
            <ac:picMk id="5" creationId="{92276B87-E6A4-8621-FCD0-ACE66E05896F}"/>
          </ac:picMkLst>
        </pc:picChg>
      </pc:sldChg>
      <pc:sldChg chg="addSp delSp modSp mod">
        <pc:chgData name="Kovácsné Pusztai Kinga" userId="1282fdc4-838f-4805-a47a-02b770215156" providerId="ADAL" clId="{5C5F7C30-6626-4CCB-81FA-ED1C19E6AEFD}" dt="2026-07-08T20:37:59.677" v="1493" actId="1076"/>
        <pc:sldMkLst>
          <pc:docMk/>
          <pc:sldMk cId="2678767853" sldId="322"/>
        </pc:sldMkLst>
        <pc:spChg chg="add del">
          <ac:chgData name="Kovácsné Pusztai Kinga" userId="1282fdc4-838f-4805-a47a-02b770215156" providerId="ADAL" clId="{5C5F7C30-6626-4CCB-81FA-ED1C19E6AEFD}" dt="2026-07-08T20:36:55.715" v="1486" actId="26606"/>
          <ac:spMkLst>
            <pc:docMk/>
            <pc:sldMk cId="2678767853" sldId="322"/>
            <ac:spMk id="3" creationId="{E8DEEBEE-2ABA-40E8-09A0-B6BE5240DFDE}"/>
          </ac:spMkLst>
        </pc:spChg>
        <pc:picChg chg="add mod">
          <ac:chgData name="Kovácsné Pusztai Kinga" userId="1282fdc4-838f-4805-a47a-02b770215156" providerId="ADAL" clId="{5C5F7C30-6626-4CCB-81FA-ED1C19E6AEFD}" dt="2026-07-08T20:37:14.723" v="1489" actId="1076"/>
          <ac:picMkLst>
            <pc:docMk/>
            <pc:sldMk cId="2678767853" sldId="322"/>
            <ac:picMk id="7" creationId="{E7812F79-F4B8-3218-FA28-D133536AE498}"/>
          </ac:picMkLst>
        </pc:picChg>
        <pc:picChg chg="add mod">
          <ac:chgData name="Kovácsné Pusztai Kinga" userId="1282fdc4-838f-4805-a47a-02b770215156" providerId="ADAL" clId="{5C5F7C30-6626-4CCB-81FA-ED1C19E6AEFD}" dt="2026-07-08T20:37:59.677" v="1493" actId="1076"/>
          <ac:picMkLst>
            <pc:docMk/>
            <pc:sldMk cId="2678767853" sldId="322"/>
            <ac:picMk id="13" creationId="{FE01AE08-72D0-17B2-A304-3E43BCC561ED}"/>
          </ac:picMkLst>
        </pc:picChg>
      </pc:sldChg>
      <pc:sldChg chg="modSp mod">
        <pc:chgData name="Kovácsné Pusztai Kinga" userId="1282fdc4-838f-4805-a47a-02b770215156" providerId="ADAL" clId="{5C5F7C30-6626-4CCB-81FA-ED1C19E6AEFD}" dt="2026-07-09T09:50:32.976" v="1678" actId="20577"/>
        <pc:sldMkLst>
          <pc:docMk/>
          <pc:sldMk cId="2354177768" sldId="324"/>
        </pc:sldMkLst>
        <pc:spChg chg="mod">
          <ac:chgData name="Kovácsné Pusztai Kinga" userId="1282fdc4-838f-4805-a47a-02b770215156" providerId="ADAL" clId="{5C5F7C30-6626-4CCB-81FA-ED1C19E6AEFD}" dt="2026-07-09T09:50:32.976" v="1678" actId="20577"/>
          <ac:spMkLst>
            <pc:docMk/>
            <pc:sldMk cId="2354177768" sldId="324"/>
            <ac:spMk id="2" creationId="{1A7CF9A4-50B5-9752-DF1A-C6D60C0D5FCC}"/>
          </ac:spMkLst>
        </pc:spChg>
      </pc:sldChg>
      <pc:sldChg chg="addSp delSp modSp mod">
        <pc:chgData name="Kovácsné Pusztai Kinga" userId="1282fdc4-838f-4805-a47a-02b770215156" providerId="ADAL" clId="{5C5F7C30-6626-4CCB-81FA-ED1C19E6AEFD}" dt="2026-07-11T11:19:45.473" v="2069" actId="14100"/>
        <pc:sldMkLst>
          <pc:docMk/>
          <pc:sldMk cId="163924334" sldId="325"/>
        </pc:sldMkLst>
        <pc:spChg chg="mod">
          <ac:chgData name="Kovácsné Pusztai Kinga" userId="1282fdc4-838f-4805-a47a-02b770215156" providerId="ADAL" clId="{5C5F7C30-6626-4CCB-81FA-ED1C19E6AEFD}" dt="2026-07-11T11:19:15.971" v="2064" actId="1076"/>
          <ac:spMkLst>
            <pc:docMk/>
            <pc:sldMk cId="163924334" sldId="325"/>
            <ac:spMk id="2" creationId="{F3A70936-1810-D79F-C611-19DF5B1C07B8}"/>
          </ac:spMkLst>
        </pc:spChg>
        <pc:spChg chg="add mod">
          <ac:chgData name="Kovácsné Pusztai Kinga" userId="1282fdc4-838f-4805-a47a-02b770215156" providerId="ADAL" clId="{5C5F7C30-6626-4CCB-81FA-ED1C19E6AEFD}" dt="2026-07-11T11:19:09.811" v="2063" actId="14100"/>
          <ac:spMkLst>
            <pc:docMk/>
            <pc:sldMk cId="163924334" sldId="325"/>
            <ac:spMk id="7" creationId="{F2BD8530-E3C9-2375-9B6D-A11E6FFE03A9}"/>
          </ac:spMkLst>
        </pc:spChg>
        <pc:spChg chg="add mod">
          <ac:chgData name="Kovácsné Pusztai Kinga" userId="1282fdc4-838f-4805-a47a-02b770215156" providerId="ADAL" clId="{5C5F7C30-6626-4CCB-81FA-ED1C19E6AEFD}" dt="2026-07-11T11:19:45.473" v="2069" actId="14100"/>
          <ac:spMkLst>
            <pc:docMk/>
            <pc:sldMk cId="163924334" sldId="325"/>
            <ac:spMk id="8" creationId="{88A59F68-01ED-65B7-9687-D9F755D15D71}"/>
          </ac:spMkLst>
        </pc:spChg>
        <pc:picChg chg="add mod">
          <ac:chgData name="Kovácsné Pusztai Kinga" userId="1282fdc4-838f-4805-a47a-02b770215156" providerId="ADAL" clId="{5C5F7C30-6626-4CCB-81FA-ED1C19E6AEFD}" dt="2026-07-11T11:19:21.742" v="2066" actId="14100"/>
          <ac:picMkLst>
            <pc:docMk/>
            <pc:sldMk cId="163924334" sldId="325"/>
            <ac:picMk id="9" creationId="{9FF2C7E8-F625-EC15-3F64-495F41F94BC4}"/>
          </ac:picMkLst>
        </pc:picChg>
      </pc:sldChg>
      <pc:sldChg chg="modSp mod">
        <pc:chgData name="Kovácsné Pusztai Kinga" userId="1282fdc4-838f-4805-a47a-02b770215156" providerId="ADAL" clId="{5C5F7C30-6626-4CCB-81FA-ED1C19E6AEFD}" dt="2026-07-09T09:49:20.433" v="1677" actId="20577"/>
        <pc:sldMkLst>
          <pc:docMk/>
          <pc:sldMk cId="2101021875" sldId="326"/>
        </pc:sldMkLst>
        <pc:spChg chg="mod">
          <ac:chgData name="Kovácsné Pusztai Kinga" userId="1282fdc4-838f-4805-a47a-02b770215156" providerId="ADAL" clId="{5C5F7C30-6626-4CCB-81FA-ED1C19E6AEFD}" dt="2026-07-09T09:49:20.433" v="1677" actId="20577"/>
          <ac:spMkLst>
            <pc:docMk/>
            <pc:sldMk cId="2101021875" sldId="326"/>
            <ac:spMk id="2" creationId="{E8389989-8372-202C-70CC-5BA1B071CE09}"/>
          </ac:spMkLst>
        </pc:spChg>
      </pc:sldChg>
      <pc:sldChg chg="addSp delSp modSp mod">
        <pc:chgData name="Kovácsné Pusztai Kinga" userId="1282fdc4-838f-4805-a47a-02b770215156" providerId="ADAL" clId="{5C5F7C30-6626-4CCB-81FA-ED1C19E6AEFD}" dt="2026-07-09T09:49:16.372" v="1676" actId="20577"/>
        <pc:sldMkLst>
          <pc:docMk/>
          <pc:sldMk cId="2822770312" sldId="327"/>
        </pc:sldMkLst>
        <pc:spChg chg="mod">
          <ac:chgData name="Kovácsné Pusztai Kinga" userId="1282fdc4-838f-4805-a47a-02b770215156" providerId="ADAL" clId="{5C5F7C30-6626-4CCB-81FA-ED1C19E6AEFD}" dt="2026-07-09T09:49:16.372" v="1676" actId="20577"/>
          <ac:spMkLst>
            <pc:docMk/>
            <pc:sldMk cId="2822770312" sldId="327"/>
            <ac:spMk id="2" creationId="{F4D64832-30B5-C6D6-7237-9F4E2F38BD8E}"/>
          </ac:spMkLst>
        </pc:spChg>
        <pc:spChg chg="mod">
          <ac:chgData name="Kovácsné Pusztai Kinga" userId="1282fdc4-838f-4805-a47a-02b770215156" providerId="ADAL" clId="{5C5F7C30-6626-4CCB-81FA-ED1C19E6AEFD}" dt="2026-07-08T21:26:54.640" v="1511" actId="20578"/>
          <ac:spMkLst>
            <pc:docMk/>
            <pc:sldMk cId="2822770312" sldId="327"/>
            <ac:spMk id="3" creationId="{160845DC-6B36-A55F-6A7E-1719D9618357}"/>
          </ac:spMkLst>
        </pc:spChg>
      </pc:sldChg>
      <pc:sldChg chg="modSp mod">
        <pc:chgData name="Kovácsné Pusztai Kinga" userId="1282fdc4-838f-4805-a47a-02b770215156" providerId="ADAL" clId="{5C5F7C30-6626-4CCB-81FA-ED1C19E6AEFD}" dt="2026-07-09T09:53:21.941" v="1708" actId="6549"/>
        <pc:sldMkLst>
          <pc:docMk/>
          <pc:sldMk cId="1893240279" sldId="328"/>
        </pc:sldMkLst>
        <pc:spChg chg="mod">
          <ac:chgData name="Kovácsné Pusztai Kinga" userId="1282fdc4-838f-4805-a47a-02b770215156" providerId="ADAL" clId="{5C5F7C30-6626-4CCB-81FA-ED1C19E6AEFD}" dt="2026-07-09T09:53:21.941" v="1708" actId="6549"/>
          <ac:spMkLst>
            <pc:docMk/>
            <pc:sldMk cId="1893240279" sldId="328"/>
            <ac:spMk id="2" creationId="{1F8C45D5-07FF-4930-9D91-13A90BD795A4}"/>
          </ac:spMkLst>
        </pc:spChg>
      </pc:sldChg>
      <pc:sldChg chg="addSp delSp modSp mod setBg">
        <pc:chgData name="Kovácsné Pusztai Kinga" userId="1282fdc4-838f-4805-a47a-02b770215156" providerId="ADAL" clId="{5C5F7C30-6626-4CCB-81FA-ED1C19E6AEFD}" dt="2026-07-09T09:57:29.887" v="1723" actId="14100"/>
        <pc:sldMkLst>
          <pc:docMk/>
          <pc:sldMk cId="1897214680" sldId="329"/>
        </pc:sldMkLst>
        <pc:spChg chg="mod">
          <ac:chgData name="Kovácsné Pusztai Kinga" userId="1282fdc4-838f-4805-a47a-02b770215156" providerId="ADAL" clId="{5C5F7C30-6626-4CCB-81FA-ED1C19E6AEFD}" dt="2026-07-09T09:53:34.457" v="1709" actId="6549"/>
          <ac:spMkLst>
            <pc:docMk/>
            <pc:sldMk cId="1897214680" sldId="329"/>
            <ac:spMk id="2" creationId="{FF9B3E0E-771B-123F-2D25-2B834F7547C8}"/>
          </ac:spMkLst>
        </pc:spChg>
        <pc:spChg chg="mod">
          <ac:chgData name="Kovácsné Pusztai Kinga" userId="1282fdc4-838f-4805-a47a-02b770215156" providerId="ADAL" clId="{5C5F7C30-6626-4CCB-81FA-ED1C19E6AEFD}" dt="2026-07-08T21:17:14.793" v="1510" actId="26606"/>
          <ac:spMkLst>
            <pc:docMk/>
            <pc:sldMk cId="1897214680" sldId="329"/>
            <ac:spMk id="3" creationId="{BF98B6E3-5A54-02A8-7621-D5B9603ECF68}"/>
          </ac:spMkLst>
        </pc:spChg>
        <pc:picChg chg="add mod ord">
          <ac:chgData name="Kovácsné Pusztai Kinga" userId="1282fdc4-838f-4805-a47a-02b770215156" providerId="ADAL" clId="{5C5F7C30-6626-4CCB-81FA-ED1C19E6AEFD}" dt="2026-07-09T09:57:29.887" v="1723" actId="14100"/>
          <ac:picMkLst>
            <pc:docMk/>
            <pc:sldMk cId="1897214680" sldId="329"/>
            <ac:picMk id="7" creationId="{B5B22453-40D5-7135-D49C-D3CBABF9CF73}"/>
          </ac:picMkLst>
        </pc:picChg>
      </pc:sldChg>
      <pc:sldChg chg="addSp modSp mod">
        <pc:chgData name="Kovácsné Pusztai Kinga" userId="1282fdc4-838f-4805-a47a-02b770215156" providerId="ADAL" clId="{5C5F7C30-6626-4CCB-81FA-ED1C19E6AEFD}" dt="2026-07-08T21:53:10.398" v="1647" actId="1076"/>
        <pc:sldMkLst>
          <pc:docMk/>
          <pc:sldMk cId="2635766278" sldId="331"/>
        </pc:sldMkLst>
        <pc:spChg chg="mod">
          <ac:chgData name="Kovácsné Pusztai Kinga" userId="1282fdc4-838f-4805-a47a-02b770215156" providerId="ADAL" clId="{5C5F7C30-6626-4CCB-81FA-ED1C19E6AEFD}" dt="2026-07-08T21:51:55.217" v="1628" actId="14100"/>
          <ac:spMkLst>
            <pc:docMk/>
            <pc:sldMk cId="2635766278" sldId="331"/>
            <ac:spMk id="2" creationId="{79EED36C-5198-A26F-BCD6-BC8DE430CA07}"/>
          </ac:spMkLst>
        </pc:spChg>
        <pc:spChg chg="add mod">
          <ac:chgData name="Kovácsné Pusztai Kinga" userId="1282fdc4-838f-4805-a47a-02b770215156" providerId="ADAL" clId="{5C5F7C30-6626-4CCB-81FA-ED1C19E6AEFD}" dt="2026-07-08T21:53:05.216" v="1646" actId="1076"/>
          <ac:spMkLst>
            <pc:docMk/>
            <pc:sldMk cId="2635766278" sldId="331"/>
            <ac:spMk id="3" creationId="{239179AD-AE1A-C04E-3A85-8421A9E5EA6F}"/>
          </ac:spMkLst>
        </pc:spChg>
        <pc:spChg chg="add mod">
          <ac:chgData name="Kovácsné Pusztai Kinga" userId="1282fdc4-838f-4805-a47a-02b770215156" providerId="ADAL" clId="{5C5F7C30-6626-4CCB-81FA-ED1C19E6AEFD}" dt="2026-07-08T21:51:42.267" v="1625" actId="14100"/>
          <ac:spMkLst>
            <pc:docMk/>
            <pc:sldMk cId="2635766278" sldId="331"/>
            <ac:spMk id="11" creationId="{5E311475-C0B0-6B13-CD5E-D7CC2419A454}"/>
          </ac:spMkLst>
        </pc:spChg>
        <pc:spChg chg="add mod">
          <ac:chgData name="Kovácsné Pusztai Kinga" userId="1282fdc4-838f-4805-a47a-02b770215156" providerId="ADAL" clId="{5C5F7C30-6626-4CCB-81FA-ED1C19E6AEFD}" dt="2026-07-08T21:51:36.301" v="1624" actId="1076"/>
          <ac:spMkLst>
            <pc:docMk/>
            <pc:sldMk cId="2635766278" sldId="331"/>
            <ac:spMk id="12" creationId="{6FD32D1B-7630-7CE5-F9F0-FCDD958EBD4D}"/>
          </ac:spMkLst>
        </pc:spChg>
        <pc:picChg chg="mod">
          <ac:chgData name="Kovácsné Pusztai Kinga" userId="1282fdc4-838f-4805-a47a-02b770215156" providerId="ADAL" clId="{5C5F7C30-6626-4CCB-81FA-ED1C19E6AEFD}" dt="2026-07-08T21:53:10.398" v="1647" actId="1076"/>
          <ac:picMkLst>
            <pc:docMk/>
            <pc:sldMk cId="2635766278" sldId="331"/>
            <ac:picMk id="5" creationId="{78005DC5-FB64-B42B-7CAA-7307FAD63AAA}"/>
          </ac:picMkLst>
        </pc:picChg>
        <pc:picChg chg="add mod">
          <ac:chgData name="Kovácsné Pusztai Kinga" userId="1282fdc4-838f-4805-a47a-02b770215156" providerId="ADAL" clId="{5C5F7C30-6626-4CCB-81FA-ED1C19E6AEFD}" dt="2026-07-08T21:49:41.317" v="1607" actId="14100"/>
          <ac:picMkLst>
            <pc:docMk/>
            <pc:sldMk cId="2635766278" sldId="331"/>
            <ac:picMk id="10" creationId="{136E166E-2925-03A7-BE51-680E35B627BD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7-09T10:53:20.270" v="1757" actId="167"/>
        <pc:sldMkLst>
          <pc:docMk/>
          <pc:sldMk cId="4235289959" sldId="334"/>
        </pc:sldMkLst>
        <pc:spChg chg="mod">
          <ac:chgData name="Kovácsné Pusztai Kinga" userId="1282fdc4-838f-4805-a47a-02b770215156" providerId="ADAL" clId="{5C5F7C30-6626-4CCB-81FA-ED1C19E6AEFD}" dt="2026-07-09T10:24:41.706" v="1747" actId="207"/>
          <ac:spMkLst>
            <pc:docMk/>
            <pc:sldMk cId="4235289959" sldId="334"/>
            <ac:spMk id="2" creationId="{2177EAD4-CF93-0EBD-DF31-DB6DA6FB6715}"/>
          </ac:spMkLst>
        </pc:spChg>
        <pc:spChg chg="mod">
          <ac:chgData name="Kovácsné Pusztai Kinga" userId="1282fdc4-838f-4805-a47a-02b770215156" providerId="ADAL" clId="{5C5F7C30-6626-4CCB-81FA-ED1C19E6AEFD}" dt="2026-07-09T10:23:59.733" v="1740" actId="14100"/>
          <ac:spMkLst>
            <pc:docMk/>
            <pc:sldMk cId="4235289959" sldId="334"/>
            <ac:spMk id="3" creationId="{787BD090-F56A-17B2-A4C2-8BC87D26C227}"/>
          </ac:spMkLst>
        </pc:spChg>
        <pc:spChg chg="mod ord">
          <ac:chgData name="Kovácsné Pusztai Kinga" userId="1282fdc4-838f-4805-a47a-02b770215156" providerId="ADAL" clId="{5C5F7C30-6626-4CCB-81FA-ED1C19E6AEFD}" dt="2026-07-08T15:17:12.805" v="1172" actId="20577"/>
          <ac:spMkLst>
            <pc:docMk/>
            <pc:sldMk cId="4235289959" sldId="334"/>
            <ac:spMk id="4" creationId="{E9723DBB-B8B0-924C-25CB-890FA2D0743F}"/>
          </ac:spMkLst>
        </pc:spChg>
        <pc:spChg chg="mod">
          <ac:chgData name="Kovácsné Pusztai Kinga" userId="1282fdc4-838f-4805-a47a-02b770215156" providerId="ADAL" clId="{5C5F7C30-6626-4CCB-81FA-ED1C19E6AEFD}" dt="2026-07-09T10:24:08.092" v="1742" actId="14100"/>
          <ac:spMkLst>
            <pc:docMk/>
            <pc:sldMk cId="4235289959" sldId="334"/>
            <ac:spMk id="5" creationId="{E2366AB8-77B5-AD46-0AD9-552A4DA9536B}"/>
          </ac:spMkLst>
        </pc:spChg>
        <pc:spChg chg="mod">
          <ac:chgData name="Kovácsné Pusztai Kinga" userId="1282fdc4-838f-4805-a47a-02b770215156" providerId="ADAL" clId="{5C5F7C30-6626-4CCB-81FA-ED1C19E6AEFD}" dt="2026-07-09T10:53:02.255" v="1756" actId="207"/>
          <ac:spMkLst>
            <pc:docMk/>
            <pc:sldMk cId="4235289959" sldId="334"/>
            <ac:spMk id="6" creationId="{F63710E7-54B8-0550-6599-F60223B851FB}"/>
          </ac:spMkLst>
        </pc:spChg>
        <pc:spChg chg="add mod">
          <ac:chgData name="Kovácsné Pusztai Kinga" userId="1282fdc4-838f-4805-a47a-02b770215156" providerId="ADAL" clId="{5C5F7C30-6626-4CCB-81FA-ED1C19E6AEFD}" dt="2026-07-09T10:26:05.765" v="1753" actId="207"/>
          <ac:spMkLst>
            <pc:docMk/>
            <pc:sldMk cId="4235289959" sldId="334"/>
            <ac:spMk id="14" creationId="{30ED80C1-F3B5-2F0D-04E8-3DFD29AC7CA2}"/>
          </ac:spMkLst>
        </pc:spChg>
        <pc:spChg chg="add mod">
          <ac:chgData name="Kovácsné Pusztai Kinga" userId="1282fdc4-838f-4805-a47a-02b770215156" providerId="ADAL" clId="{5C5F7C30-6626-4CCB-81FA-ED1C19E6AEFD}" dt="2026-07-09T10:24:32.695" v="1745" actId="207"/>
          <ac:spMkLst>
            <pc:docMk/>
            <pc:sldMk cId="4235289959" sldId="334"/>
            <ac:spMk id="15" creationId="{4E60F607-8228-8AEE-76D3-E3A7C438E949}"/>
          </ac:spMkLst>
        </pc:spChg>
        <pc:picChg chg="add del mod">
          <ac:chgData name="Kovácsné Pusztai Kinga" userId="1282fdc4-838f-4805-a47a-02b770215156" providerId="ADAL" clId="{5C5F7C30-6626-4CCB-81FA-ED1C19E6AEFD}" dt="2026-07-09T10:25:33.662" v="1751" actId="478"/>
          <ac:picMkLst>
            <pc:docMk/>
            <pc:sldMk cId="4235289959" sldId="334"/>
            <ac:picMk id="10" creationId="{88A0C7BD-963C-B724-3890-CC3FD9482EC5}"/>
          </ac:picMkLst>
        </pc:picChg>
        <pc:picChg chg="add mod ord">
          <ac:chgData name="Kovácsné Pusztai Kinga" userId="1282fdc4-838f-4805-a47a-02b770215156" providerId="ADAL" clId="{5C5F7C30-6626-4CCB-81FA-ED1C19E6AEFD}" dt="2026-07-09T10:53:20.270" v="1757" actId="167"/>
          <ac:picMkLst>
            <pc:docMk/>
            <pc:sldMk cId="4235289959" sldId="334"/>
            <ac:picMk id="12" creationId="{6C64A135-DF59-63EA-D253-C61B79418C8B}"/>
          </ac:picMkLst>
        </pc:picChg>
        <pc:picChg chg="add mod">
          <ac:chgData name="Kovácsné Pusztai Kinga" userId="1282fdc4-838f-4805-a47a-02b770215156" providerId="ADAL" clId="{5C5F7C30-6626-4CCB-81FA-ED1C19E6AEFD}" dt="2026-07-08T12:09:32.665" v="1038" actId="1076"/>
          <ac:picMkLst>
            <pc:docMk/>
            <pc:sldMk cId="4235289959" sldId="334"/>
            <ac:picMk id="13" creationId="{1ECD717F-AA4C-00D4-7543-4D84EEED005B}"/>
          </ac:picMkLst>
        </pc:picChg>
        <pc:picChg chg="add mod">
          <ac:chgData name="Kovácsné Pusztai Kinga" userId="1282fdc4-838f-4805-a47a-02b770215156" providerId="ADAL" clId="{5C5F7C30-6626-4CCB-81FA-ED1C19E6AEFD}" dt="2026-07-09T10:24:52.456" v="1748" actId="1076"/>
          <ac:picMkLst>
            <pc:docMk/>
            <pc:sldMk cId="4235289959" sldId="334"/>
            <ac:picMk id="16" creationId="{6A842315-7705-EABD-147B-E6BF6266FC4C}"/>
          </ac:picMkLst>
        </pc:picChg>
        <pc:picChg chg="add mod">
          <ac:chgData name="Kovácsné Pusztai Kinga" userId="1282fdc4-838f-4805-a47a-02b770215156" providerId="ADAL" clId="{5C5F7C30-6626-4CCB-81FA-ED1C19E6AEFD}" dt="2026-07-09T10:24:56.714" v="1749" actId="1076"/>
          <ac:picMkLst>
            <pc:docMk/>
            <pc:sldMk cId="4235289959" sldId="334"/>
            <ac:picMk id="17" creationId="{217E0A69-D9CA-AFFB-35B1-0844CC20E1B5}"/>
          </ac:picMkLst>
        </pc:picChg>
      </pc:sldChg>
      <pc:sldChg chg="addSp delSp modSp new mod ord">
        <pc:chgData name="Kovácsné Pusztai Kinga" userId="1282fdc4-838f-4805-a47a-02b770215156" providerId="ADAL" clId="{5C5F7C30-6626-4CCB-81FA-ED1C19E6AEFD}" dt="2026-07-09T10:03:40.052" v="1734" actId="20578"/>
        <pc:sldMkLst>
          <pc:docMk/>
          <pc:sldMk cId="287799873" sldId="335"/>
        </pc:sldMkLst>
        <pc:spChg chg="mod">
          <ac:chgData name="Kovácsné Pusztai Kinga" userId="1282fdc4-838f-4805-a47a-02b770215156" providerId="ADAL" clId="{5C5F7C30-6626-4CCB-81FA-ED1C19E6AEFD}" dt="2026-07-08T15:31:19.064" v="1315" actId="1076"/>
          <ac:spMkLst>
            <pc:docMk/>
            <pc:sldMk cId="287799873" sldId="335"/>
            <ac:spMk id="2" creationId="{88A68C43-E70A-97F8-3484-E9DFC67C93C3}"/>
          </ac:spMkLst>
        </pc:spChg>
        <pc:spChg chg="add mod">
          <ac:chgData name="Kovácsné Pusztai Kinga" userId="1282fdc4-838f-4805-a47a-02b770215156" providerId="ADAL" clId="{5C5F7C30-6626-4CCB-81FA-ED1C19E6AEFD}" dt="2026-07-08T19:37:27.781" v="1351" actId="20577"/>
          <ac:spMkLst>
            <pc:docMk/>
            <pc:sldMk cId="287799873" sldId="335"/>
            <ac:spMk id="9" creationId="{C2BC027C-2B01-F944-7F27-D897BC21D191}"/>
          </ac:spMkLst>
        </pc:spChg>
        <pc:spChg chg="add mod ord">
          <ac:chgData name="Kovácsné Pusztai Kinga" userId="1282fdc4-838f-4805-a47a-02b770215156" providerId="ADAL" clId="{5C5F7C30-6626-4CCB-81FA-ED1C19E6AEFD}" dt="2026-07-08T19:37:46.823" v="1353" actId="14100"/>
          <ac:spMkLst>
            <pc:docMk/>
            <pc:sldMk cId="287799873" sldId="335"/>
            <ac:spMk id="10" creationId="{A60DC9B9-89A7-FB48-26E9-C1370F7D5A63}"/>
          </ac:spMkLst>
        </pc:spChg>
        <pc:picChg chg="add del mod ord">
          <ac:chgData name="Kovácsné Pusztai Kinga" userId="1282fdc4-838f-4805-a47a-02b770215156" providerId="ADAL" clId="{5C5F7C30-6626-4CCB-81FA-ED1C19E6AEFD}" dt="2026-07-08T19:38:17.197" v="1357" actId="478"/>
          <ac:picMkLst>
            <pc:docMk/>
            <pc:sldMk cId="287799873" sldId="335"/>
            <ac:picMk id="15" creationId="{8A6DB094-8D49-20DF-26E1-ADABD5734FD5}"/>
          </ac:picMkLst>
        </pc:picChg>
      </pc:sldChg>
      <pc:sldChg chg="modSp add mod">
        <pc:chgData name="Kovácsné Pusztai Kinga" userId="1282fdc4-838f-4805-a47a-02b770215156" providerId="ADAL" clId="{5C5F7C30-6626-4CCB-81FA-ED1C19E6AEFD}" dt="2026-07-10T14:14:53.324" v="2053" actId="166"/>
        <pc:sldMkLst>
          <pc:docMk/>
          <pc:sldMk cId="278198859" sldId="336"/>
        </pc:sldMkLst>
        <pc:spChg chg="mod">
          <ac:chgData name="Kovácsné Pusztai Kinga" userId="1282fdc4-838f-4805-a47a-02b770215156" providerId="ADAL" clId="{5C5F7C30-6626-4CCB-81FA-ED1C19E6AEFD}" dt="2026-07-10T14:14:47.428" v="2052" actId="14100"/>
          <ac:spMkLst>
            <pc:docMk/>
            <pc:sldMk cId="278198859" sldId="336"/>
            <ac:spMk id="2" creationId="{56EE3FB5-377F-B96E-8AB0-1501F4A2FECE}"/>
          </ac:spMkLst>
        </pc:spChg>
        <pc:spChg chg="mod ord">
          <ac:chgData name="Kovácsné Pusztai Kinga" userId="1282fdc4-838f-4805-a47a-02b770215156" providerId="ADAL" clId="{5C5F7C30-6626-4CCB-81FA-ED1C19E6AEFD}" dt="2026-07-10T14:14:53.324" v="2053" actId="166"/>
          <ac:spMkLst>
            <pc:docMk/>
            <pc:sldMk cId="278198859" sldId="336"/>
            <ac:spMk id="3" creationId="{C13BAA92-27A1-9A64-B41E-1EBF01562678}"/>
          </ac:spMkLst>
        </pc:spChg>
        <pc:spChg chg="mod">
          <ac:chgData name="Kovácsné Pusztai Kinga" userId="1282fdc4-838f-4805-a47a-02b770215156" providerId="ADAL" clId="{5C5F7C30-6626-4CCB-81FA-ED1C19E6AEFD}" dt="2026-07-10T14:13:09.325" v="1963" actId="27636"/>
          <ac:spMkLst>
            <pc:docMk/>
            <pc:sldMk cId="278198859" sldId="336"/>
            <ac:spMk id="4" creationId="{373F0844-BF83-DC27-8CC7-DF09FA571283}"/>
          </ac:spMkLst>
        </pc:spChg>
        <pc:spChg chg="mod">
          <ac:chgData name="Kovácsné Pusztai Kinga" userId="1282fdc4-838f-4805-a47a-02b770215156" providerId="ADAL" clId="{5C5F7C30-6626-4CCB-81FA-ED1C19E6AEFD}" dt="2026-07-10T14:14:05.550" v="2003" actId="1036"/>
          <ac:spMkLst>
            <pc:docMk/>
            <pc:sldMk cId="278198859" sldId="336"/>
            <ac:spMk id="5" creationId="{E99A9628-85C4-5A88-193A-3C5103AA441D}"/>
          </ac:spMkLst>
        </pc:spChg>
        <pc:spChg chg="mod">
          <ac:chgData name="Kovácsné Pusztai Kinga" userId="1282fdc4-838f-4805-a47a-02b770215156" providerId="ADAL" clId="{5C5F7C30-6626-4CCB-81FA-ED1C19E6AEFD}" dt="2026-07-10T14:13:29.140" v="1973" actId="14100"/>
          <ac:spMkLst>
            <pc:docMk/>
            <pc:sldMk cId="278198859" sldId="336"/>
            <ac:spMk id="15" creationId="{2C9724C6-1761-D84C-8987-2F4FC72579CA}"/>
          </ac:spMkLst>
        </pc:spChg>
        <pc:spChg chg="mod">
          <ac:chgData name="Kovácsné Pusztai Kinga" userId="1282fdc4-838f-4805-a47a-02b770215156" providerId="ADAL" clId="{5C5F7C30-6626-4CCB-81FA-ED1C19E6AEFD}" dt="2026-07-10T14:13:47.032" v="1985" actId="14100"/>
          <ac:spMkLst>
            <pc:docMk/>
            <pc:sldMk cId="278198859" sldId="336"/>
            <ac:spMk id="16" creationId="{42F074B3-E6A5-A2D5-B89C-53CA497681CE}"/>
          </ac:spMkLst>
        </pc:spChg>
        <pc:spChg chg="mod">
          <ac:chgData name="Kovácsné Pusztai Kinga" userId="1282fdc4-838f-4805-a47a-02b770215156" providerId="ADAL" clId="{5C5F7C30-6626-4CCB-81FA-ED1C19E6AEFD}" dt="2026-07-10T14:14:28.452" v="2019" actId="14100"/>
          <ac:spMkLst>
            <pc:docMk/>
            <pc:sldMk cId="278198859" sldId="336"/>
            <ac:spMk id="17" creationId="{26DEF63D-248A-3384-FE7C-323D2A0C4FD1}"/>
          </ac:spMkLst>
        </pc:spChg>
      </pc:sldChg>
      <pc:sldChg chg="addSp delSp modSp new mod ord">
        <pc:chgData name="Kovácsné Pusztai Kinga" userId="1282fdc4-838f-4805-a47a-02b770215156" providerId="ADAL" clId="{5C5F7C30-6626-4CCB-81FA-ED1C19E6AEFD}" dt="2026-07-15T11:35:14.553" v="2083" actId="14826"/>
        <pc:sldMkLst>
          <pc:docMk/>
          <pc:sldMk cId="4154482867" sldId="337"/>
        </pc:sldMkLst>
        <pc:spChg chg="add mod">
          <ac:chgData name="Kovácsné Pusztai Kinga" userId="1282fdc4-838f-4805-a47a-02b770215156" providerId="ADAL" clId="{5C5F7C30-6626-4CCB-81FA-ED1C19E6AEFD}" dt="2026-07-08T21:42:10.552" v="1548" actId="207"/>
          <ac:spMkLst>
            <pc:docMk/>
            <pc:sldMk cId="4154482867" sldId="337"/>
            <ac:spMk id="6" creationId="{D6B37D9C-F313-6A28-E76D-3FDFF5332EA4}"/>
          </ac:spMkLst>
        </pc:spChg>
        <pc:picChg chg="add mod">
          <ac:chgData name="Kovácsné Pusztai Kinga" userId="1282fdc4-838f-4805-a47a-02b770215156" providerId="ADAL" clId="{5C5F7C30-6626-4CCB-81FA-ED1C19E6AEFD}" dt="2026-07-15T11:35:14.553" v="2083" actId="14826"/>
          <ac:picMkLst>
            <pc:docMk/>
            <pc:sldMk cId="4154482867" sldId="337"/>
            <ac:picMk id="5" creationId="{E6CF6772-B797-E0E2-2393-998EDB2C0FD6}"/>
          </ac:picMkLst>
        </pc:picChg>
      </pc:sldChg>
      <pc:sldChg chg="addSp delSp modSp new mod setBg">
        <pc:chgData name="Kovácsné Pusztai Kinga" userId="1282fdc4-838f-4805-a47a-02b770215156" providerId="ADAL" clId="{5C5F7C30-6626-4CCB-81FA-ED1C19E6AEFD}" dt="2026-07-15T11:16:24.806" v="2081" actId="14100"/>
        <pc:sldMkLst>
          <pc:docMk/>
          <pc:sldMk cId="1573263661" sldId="338"/>
        </pc:sldMkLst>
        <pc:spChg chg="mod">
          <ac:chgData name="Kovácsné Pusztai Kinga" userId="1282fdc4-838f-4805-a47a-02b770215156" providerId="ADAL" clId="{5C5F7C30-6626-4CCB-81FA-ED1C19E6AEFD}" dt="2026-07-09T09:52:42.479" v="1704" actId="404"/>
          <ac:spMkLst>
            <pc:docMk/>
            <pc:sldMk cId="1573263661" sldId="338"/>
            <ac:spMk id="2" creationId="{40ECA6AD-B3DE-0C33-A82B-737A79F41683}"/>
          </ac:spMkLst>
        </pc:spChg>
        <pc:spChg chg="add del mod">
          <ac:chgData name="Kovácsné Pusztai Kinga" userId="1282fdc4-838f-4805-a47a-02b770215156" providerId="ADAL" clId="{5C5F7C30-6626-4CCB-81FA-ED1C19E6AEFD}" dt="2026-07-15T11:16:20.056" v="2079" actId="478"/>
          <ac:spMkLst>
            <pc:docMk/>
            <pc:sldMk cId="1573263661" sldId="338"/>
            <ac:spMk id="18" creationId="{1DCF0EF5-CE75-BB61-1262-76AFB43B2835}"/>
          </ac:spMkLst>
        </pc:spChg>
        <pc:picChg chg="add del mod ord">
          <ac:chgData name="Kovácsné Pusztai Kinga" userId="1282fdc4-838f-4805-a47a-02b770215156" providerId="ADAL" clId="{5C5F7C30-6626-4CCB-81FA-ED1C19E6AEFD}" dt="2026-07-15T11:16:12.715" v="2078" actId="478"/>
          <ac:picMkLst>
            <pc:docMk/>
            <pc:sldMk cId="1573263661" sldId="338"/>
            <ac:picMk id="5" creationId="{1EE8A5DE-3795-7A14-8584-71B88A8B2D90}"/>
          </ac:picMkLst>
        </pc:picChg>
        <pc:picChg chg="add mod">
          <ac:chgData name="Kovácsné Pusztai Kinga" userId="1282fdc4-838f-4805-a47a-02b770215156" providerId="ADAL" clId="{5C5F7C30-6626-4CCB-81FA-ED1C19E6AEFD}" dt="2026-07-15T11:16:24.806" v="2081" actId="14100"/>
          <ac:picMkLst>
            <pc:docMk/>
            <pc:sldMk cId="1573263661" sldId="338"/>
            <ac:picMk id="9" creationId="{26AAE444-9D10-77CC-933C-8D7FC2A878B6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7-09T09:57:10.973" v="1722" actId="14100"/>
        <pc:sldMkLst>
          <pc:docMk/>
          <pc:sldMk cId="1609660479" sldId="339"/>
        </pc:sldMkLst>
        <pc:spChg chg="mod">
          <ac:chgData name="Kovácsné Pusztai Kinga" userId="1282fdc4-838f-4805-a47a-02b770215156" providerId="ADAL" clId="{5C5F7C30-6626-4CCB-81FA-ED1C19E6AEFD}" dt="2026-07-09T09:56:33.080" v="1718" actId="1076"/>
          <ac:spMkLst>
            <pc:docMk/>
            <pc:sldMk cId="1609660479" sldId="339"/>
            <ac:spMk id="2" creationId="{CB0E8816-7E1C-F43B-488B-84A46177D285}"/>
          </ac:spMkLst>
        </pc:spChg>
        <pc:picChg chg="add mod ord">
          <ac:chgData name="Kovácsné Pusztai Kinga" userId="1282fdc4-838f-4805-a47a-02b770215156" providerId="ADAL" clId="{5C5F7C30-6626-4CCB-81FA-ED1C19E6AEFD}" dt="2026-07-09T09:57:10.973" v="1722" actId="14100"/>
          <ac:picMkLst>
            <pc:docMk/>
            <pc:sldMk cId="1609660479" sldId="339"/>
            <ac:picMk id="5" creationId="{120988AA-8CE1-4653-EC98-167035981DD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A7621-5108-4E8E-8389-ECDFDC994F58}" type="datetimeFigureOut">
              <a:rPr lang="hu-HU" smtClean="0"/>
              <a:t>2026. 07. 08.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C245F-825B-43FF-AF09-D03E699D76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324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T: értelmezhető az értékadás és a rendezés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C245F-825B-43FF-AF09-D03E699D76E2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4277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B[k] = ∗B, és B[i] = ∗(B + i − k), ahol i ∈ [</a:t>
            </a:r>
            <a:r>
              <a:rPr lang="hu-HU" dirty="0" err="1"/>
              <a:t>k..k</a:t>
            </a:r>
            <a:r>
              <a:rPr lang="hu-HU" dirty="0"/>
              <a:t> + n)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C245F-825B-43FF-AF09-D03E699D76E2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3596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B[k] = ∗B, és B[i] = ∗(B + i − k), ahol i ∈ [</a:t>
            </a:r>
            <a:r>
              <a:rPr lang="hu-HU" dirty="0" err="1"/>
              <a:t>k..k</a:t>
            </a:r>
            <a:r>
              <a:rPr lang="hu-HU" dirty="0"/>
              <a:t> + n)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C245F-825B-43FF-AF09-D03E699D76E2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2349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inf.elte.hu/kinga/algoritmusok1/seged_ea.htm" TargetMode="External"/><Relationship Id="rId2" Type="http://schemas.openxmlformats.org/officeDocument/2006/relationships/hyperlink" Target="https://www.inf.elte.hu/dstore/document/227886/ad1jegyzet-2025-06-30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mop412.elte.hu/tananyagok/algoritmusok/index.html" TargetMode="External"/><Relationship Id="rId4" Type="http://schemas.openxmlformats.org/officeDocument/2006/relationships/hyperlink" Target="https://people.inf.elte.hu/kinga/algoritmusok1/algasz2.ht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hu/slide/2140789/" TargetMode="External"/><Relationship Id="rId7" Type="http://schemas.openxmlformats.org/officeDocument/2006/relationships/hyperlink" Target="https://ntibi.web.elte.hu/programozas/elmelet/Lengyel-forma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eople.inf.elte.hu/veanna/alg1/segedanyagok/LengyelForma/index.htm" TargetMode="External"/><Relationship Id="rId5" Type="http://schemas.openxmlformats.org/officeDocument/2006/relationships/hyperlink" Target="https://prezi.com/p/150uth61cj1u/lengyel-forma/" TargetMode="External"/><Relationship Id="rId4" Type="http://schemas.openxmlformats.org/officeDocument/2006/relationships/hyperlink" Target="https://szit.hu/doku.php?id=oktatas:programozas:algoritmusok:lengyelfor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 dirty="0"/>
              <a:t>Algoritmusok és adatszerkezetek I.</a:t>
            </a:r>
            <a:br>
              <a:rPr lang="hu-HU" b="1" dirty="0"/>
            </a:br>
            <a:r>
              <a:rPr lang="hu-HU" b="1" dirty="0"/>
              <a:t>1.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 fontScale="92500" lnSpcReduction="10000"/>
          </a:bodyPr>
          <a:lstStyle/>
          <a:p>
            <a:r>
              <a:rPr lang="hu-HU" sz="2400" b="1" dirty="0">
                <a:solidFill>
                  <a:srgbClr val="C00000"/>
                </a:solidFill>
              </a:rPr>
              <a:t>Elemi adatszerkezetek és adattípusok: a verem (</a:t>
            </a:r>
            <a:r>
              <a:rPr lang="hu-HU" sz="2400" b="1" dirty="0" err="1">
                <a:solidFill>
                  <a:srgbClr val="C00000"/>
                </a:solidFill>
              </a:rPr>
              <a:t>Stack</a:t>
            </a:r>
            <a:r>
              <a:rPr lang="hu-HU" sz="2400" b="1" dirty="0">
                <a:solidFill>
                  <a:srgbClr val="C00000"/>
                </a:solidFill>
              </a:rPr>
              <a:t>) és a sor (</a:t>
            </a:r>
            <a:r>
              <a:rPr lang="hu-HU" sz="2400" b="1" dirty="0" err="1">
                <a:solidFill>
                  <a:srgbClr val="C00000"/>
                </a:solidFill>
              </a:rPr>
              <a:t>Queue</a:t>
            </a:r>
            <a:r>
              <a:rPr lang="hu-HU" sz="2400" b="1" dirty="0">
                <a:solidFill>
                  <a:srgbClr val="C00000"/>
                </a:solidFill>
              </a:rPr>
              <a:t>) típus tömbös reprezentációval.</a:t>
            </a:r>
            <a:br>
              <a:rPr lang="hu-HU" sz="2400" b="1" dirty="0">
                <a:solidFill>
                  <a:srgbClr val="C00000"/>
                </a:solidFill>
              </a:rPr>
            </a:br>
            <a:r>
              <a:rPr lang="hu-HU" sz="2400" b="1" dirty="0">
                <a:solidFill>
                  <a:srgbClr val="C00000"/>
                </a:solidFill>
              </a:rPr>
              <a:t>Műveletigény, tárigény fogalma.</a:t>
            </a:r>
            <a:endParaRPr lang="hu-HU" sz="1800" b="1" dirty="0">
              <a:solidFill>
                <a:srgbClr val="C00000"/>
              </a:solidFill>
            </a:endParaRPr>
          </a:p>
          <a:p>
            <a:endParaRPr lang="hu-HU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9FC556-42A6-17ED-FF8E-9EC20753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12835"/>
            <a:ext cx="10018713" cy="1752599"/>
          </a:xfrm>
        </p:spPr>
        <p:txBody>
          <a:bodyPr/>
          <a:lstStyle/>
          <a:p>
            <a:r>
              <a:rPr lang="hu-HU" dirty="0"/>
              <a:t>Ajánlott irodalom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207193-732F-53C8-13E4-5F90FBAC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65434"/>
            <a:ext cx="10018713" cy="4298731"/>
          </a:xfrm>
        </p:spPr>
        <p:txBody>
          <a:bodyPr>
            <a:normAutofit/>
          </a:bodyPr>
          <a:lstStyle/>
          <a:p>
            <a:r>
              <a:rPr lang="hu-HU" dirty="0"/>
              <a:t>Ásványi </a:t>
            </a:r>
            <a:r>
              <a:rPr lang="hu-HU"/>
              <a:t>Tibor jegyzete: </a:t>
            </a:r>
            <a:endParaRPr lang="hu-HU" dirty="0"/>
          </a:p>
          <a:p>
            <a:pPr lvl="1"/>
            <a:r>
              <a:rPr lang="hu-HU" dirty="0"/>
              <a:t> </a:t>
            </a:r>
            <a:r>
              <a:rPr lang="hu-HU" dirty="0">
                <a:hlinkClick r:id="rId2"/>
              </a:rPr>
              <a:t>https://www.inf.elte.hu/dstore/document/227886/ad1jegyzet-2025-06-30.pdf</a:t>
            </a:r>
            <a:endParaRPr lang="hu-HU" dirty="0"/>
          </a:p>
          <a:p>
            <a:r>
              <a:rPr lang="hu-HU" dirty="0"/>
              <a:t>Saját honlapom:</a:t>
            </a:r>
          </a:p>
          <a:p>
            <a:pPr lvl="1"/>
            <a:r>
              <a:rPr lang="hu-HU" dirty="0">
                <a:hlinkClick r:id="rId3"/>
              </a:rPr>
              <a:t>https://people.inf.elte.hu/kinga/algoritmusok1/seged_ea.htm</a:t>
            </a:r>
            <a:r>
              <a:rPr lang="hu-HU" dirty="0"/>
              <a:t> </a:t>
            </a:r>
          </a:p>
          <a:p>
            <a:pPr lvl="1"/>
            <a:r>
              <a:rPr lang="hu-HU" dirty="0">
                <a:hlinkClick r:id="rId4"/>
              </a:rPr>
              <a:t>https://people.inf.elte.hu/kinga/algoritmusok1/algasz2.htm</a:t>
            </a:r>
            <a:r>
              <a:rPr lang="hu-HU" dirty="0"/>
              <a:t> </a:t>
            </a:r>
          </a:p>
          <a:p>
            <a:r>
              <a:rPr lang="hu-HU" dirty="0"/>
              <a:t>Fekete István jegyzetei: </a:t>
            </a:r>
          </a:p>
          <a:p>
            <a:pPr lvl="1"/>
            <a:r>
              <a:rPr lang="hu-HU" dirty="0"/>
              <a:t> </a:t>
            </a:r>
            <a:r>
              <a:rPr lang="hu-HU" dirty="0">
                <a:hlinkClick r:id="rId5"/>
              </a:rPr>
              <a:t>https://tamop412.elte.hu/tananyagok/algoritmusok/index.html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292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46A792-01C6-4AFF-47A2-D7EA9ED6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25" y="228600"/>
            <a:ext cx="10018713" cy="1096347"/>
          </a:xfrm>
        </p:spPr>
        <p:txBody>
          <a:bodyPr/>
          <a:lstStyle/>
          <a:p>
            <a:r>
              <a:rPr lang="hu-HU" dirty="0"/>
              <a:t>Néhány alapvető jelölés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6CFD3F4-FCCC-9C1B-5A02-E80B432FD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324948"/>
                <a:ext cx="10018713" cy="530445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𝔹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u-HU" dirty="0"/>
                  <a:t> = {</a:t>
                </a:r>
                <a:r>
                  <a:rPr lang="hu-HU" dirty="0" err="1"/>
                  <a:t>false</a:t>
                </a:r>
                <a:r>
                  <a:rPr lang="hu-HU" dirty="0"/>
                  <a:t>=0; </a:t>
                </a:r>
                <a:r>
                  <a:rPr lang="hu-HU" dirty="0" err="1"/>
                  <a:t>true</a:t>
                </a:r>
                <a:r>
                  <a:rPr lang="hu-HU" dirty="0"/>
                  <a:t>=1} a logikai (</a:t>
                </a:r>
                <a:r>
                  <a:rPr lang="hu-HU" dirty="0" err="1"/>
                  <a:t>boolean</a:t>
                </a:r>
                <a:r>
                  <a:rPr lang="hu-HU" dirty="0"/>
                  <a:t>) értékek halmaza. </a:t>
                </a:r>
              </a:p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/>
                  <a:t> = {0; 1; 2; 3; . . . } a természetes számok halmaza.</a:t>
                </a:r>
              </a:p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  <m:r>
                      <m:rPr>
                        <m:nor/>
                      </m:rPr>
                      <a:rPr lang="hu-HU" b="0" i="0" baseline="-25000" dirty="0" smtClean="0"/>
                      <m:t>+</m:t>
                    </m:r>
                  </m:oMath>
                </a14:m>
                <a:r>
                  <a:rPr lang="hu-HU" dirty="0"/>
                  <a:t> = {1; 2; 3; . . . } a pozitív természetes számok halmaza. </a:t>
                </a:r>
              </a:p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u-HU" dirty="0"/>
                  <a:t> = {· · · − 3; −2, −1; 0; 1; 2; 3; . . . } az egész számok halmaza. </a:t>
                </a:r>
              </a:p>
              <a:p>
                <a:pPr lvl="1"/>
                <a:r>
                  <a:rPr lang="hu-HU" dirty="0"/>
                  <a:t>i, j, k, l, m, n, I, J, K, M, N : </a:t>
                </a:r>
                <a14:m>
                  <m:oMath xmlns:m="http://schemas.openxmlformats.org/officeDocument/2006/math"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endParaRPr lang="hu-HU" dirty="0"/>
              </a:p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u-HU" dirty="0"/>
                  <a:t> a valós számok halmaza.</a:t>
                </a:r>
              </a:p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/>
                  <a:t> a pozitív valós számok halmaza. </a:t>
                </a:r>
              </a:p>
              <a:p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hu-HU" baseline="-25000" dirty="0"/>
                  <a:t>0 </a:t>
                </a:r>
                <a:r>
                  <a:rPr lang="hu-HU" dirty="0"/>
                  <a:t>a nemnegatív valós számok halmaza.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6CFD3F4-FCCC-9C1B-5A02-E80B432FD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324948"/>
                <a:ext cx="10018713" cy="5304452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09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25E13-C432-C1F8-2F3E-720BF65F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16841"/>
            <a:ext cx="10018713" cy="1112520"/>
          </a:xfrm>
        </p:spPr>
        <p:txBody>
          <a:bodyPr/>
          <a:lstStyle/>
          <a:p>
            <a:r>
              <a:rPr lang="hu-HU" dirty="0"/>
              <a:t>Néhány alapvető jelölés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artalom helye 12">
                <a:extLst>
                  <a:ext uri="{FF2B5EF4-FFF2-40B4-BE49-F238E27FC236}">
                    <a16:creationId xmlns:a16="http://schemas.microsoft.com/office/drawing/2014/main" id="{87D9B573-E19F-85E8-055E-D33492C7B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81298" y="1107440"/>
                <a:ext cx="10018713" cy="5344159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{"/>
                        <m:endChr m:val=""/>
                        <m:ctrlPr>
                          <a:rPr lang="hu-HU" sz="2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hu-HU" sz="22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hu-HU" sz="22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2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hu-HU" sz="22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h𝑎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&gt;0</m:t>
                            </m:r>
                          </m:e>
                          <m:e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0          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h𝑎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= 0</m:t>
                            </m:r>
                          </m:e>
                        </m:eqArr>
                      </m:e>
                    </m:d>
                    <m:r>
                      <a:rPr lang="hu-HU" sz="2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hu-HU" sz="2200" dirty="0"/>
              </a:p>
              <a:p>
                <a:r>
                  <a:rPr lang="hu-HU" sz="2200" i="1" dirty="0"/>
                  <a:t>fele</a:t>
                </a:r>
                <a:r>
                  <a:rPr lang="hu-HU" sz="2200" dirty="0"/>
                  <a:t>(</a:t>
                </a:r>
                <a:r>
                  <a:rPr lang="hu-HU" sz="2200" i="1" dirty="0"/>
                  <a:t>n</a:t>
                </a:r>
                <a:r>
                  <a:rPr lang="hu-HU" sz="2200" dirty="0"/>
                  <a:t>)=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hu-HU" sz="22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ahol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endParaRPr lang="hu-HU" sz="22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hu-HU" sz="2200" i="1" dirty="0"/>
                  <a:t>Fele</a:t>
                </a:r>
                <a:r>
                  <a:rPr lang="hu-HU" sz="2200" dirty="0"/>
                  <a:t>(</a:t>
                </a:r>
                <a:r>
                  <a:rPr lang="hu-HU" sz="2200" i="1" dirty="0"/>
                  <a:t>n</a:t>
                </a:r>
                <a:r>
                  <a:rPr lang="hu-HU" sz="2200" dirty="0"/>
                  <a:t>)=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hu-HU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hu-HU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hu-HU" sz="22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ahol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hu-HU" sz="2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endParaRPr lang="hu-HU" sz="2200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hu-HU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] = {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: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≤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≤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mr>
                          <m:mr>
                            <m:e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) = {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: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≤ 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hu-HU" sz="2200" i="1">
                                  <a:latin typeface="Cambria Math" panose="02040503050406030204" pitchFamily="18" charset="0"/>
                                </a:rPr>
                                <m:t> }</m:t>
                              </m:r>
                            </m:e>
                          </m:mr>
                        </m:m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𝑎h𝑜𝑙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sz="2200" dirty="0"/>
                  <a:t>∈ ℤ</a:t>
                </a:r>
              </a:p>
              <a:p>
                <a:r>
                  <a:rPr lang="hu-HU" sz="2200" i="1" dirty="0"/>
                  <a:t>p, q, r, s, t, H, L</a:t>
                </a:r>
                <a:r>
                  <a:rPr lang="hu-HU" sz="2200" dirty="0"/>
                  <a:t>: pointerek</a:t>
                </a:r>
              </a:p>
              <a:p>
                <a14:m>
                  <m:oMath xmlns:m="http://schemas.openxmlformats.org/officeDocument/2006/math"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: ismert, de meg nem nevezett típust</a:t>
                </a:r>
              </a:p>
              <a:p>
                <a:pPr lvl="1"/>
                <a:r>
                  <a:rPr lang="hu-HU" sz="1800" dirty="0"/>
                  <a:t>értékadás (pl. x := y)</a:t>
                </a:r>
              </a:p>
              <a:p>
                <a:pPr lvl="1"/>
                <a:r>
                  <a:rPr lang="hu-HU" sz="1800" dirty="0"/>
                  <a:t>teljes rendezés (az =,≠  , ≤, ≥ összehasonlításokkal) </a:t>
                </a:r>
              </a:p>
            </p:txBody>
          </p:sp>
        </mc:Choice>
        <mc:Fallback xmlns="">
          <p:sp>
            <p:nvSpPr>
              <p:cNvPr id="13" name="Tartalom helye 12">
                <a:extLst>
                  <a:ext uri="{FF2B5EF4-FFF2-40B4-BE49-F238E27FC236}">
                    <a16:creationId xmlns:a16="http://schemas.microsoft.com/office/drawing/2014/main" id="{87D9B573-E19F-85E8-055E-D33492C7B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1298" y="1107440"/>
                <a:ext cx="10018713" cy="5344159"/>
              </a:xfrm>
              <a:blipFill>
                <a:blip r:embed="rId2"/>
                <a:stretch>
                  <a:fillRect l="-140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11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46A792-01C6-4AFF-47A2-D7EA9ED6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25" y="228600"/>
            <a:ext cx="10018713" cy="1096347"/>
          </a:xfrm>
        </p:spPr>
        <p:txBody>
          <a:bodyPr/>
          <a:lstStyle/>
          <a:p>
            <a:r>
              <a:rPr lang="hu-HU" dirty="0"/>
              <a:t>Változók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CFD3F4-FCCC-9C1B-5A02-E80B432FD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24948"/>
            <a:ext cx="10018713" cy="2739052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Láthatósága és hatásköre: őket tartalmazó </a:t>
            </a:r>
            <a:r>
              <a:rPr lang="hu-HU" dirty="0" err="1"/>
              <a:t>struktogram</a:t>
            </a:r>
            <a:endParaRPr lang="hu-HU" dirty="0"/>
          </a:p>
          <a:p>
            <a:r>
              <a:rPr lang="hu-HU" dirty="0"/>
              <a:t>Élettartamuk: </a:t>
            </a:r>
          </a:p>
          <a:p>
            <a:pPr lvl="1"/>
            <a:r>
              <a:rPr lang="hu-HU" dirty="0"/>
              <a:t>az első, őket tartalmazó utasítás végrehajtásától a </a:t>
            </a:r>
            <a:r>
              <a:rPr lang="hu-HU" dirty="0" err="1"/>
              <a:t>struktogram</a:t>
            </a:r>
            <a:r>
              <a:rPr lang="hu-HU" dirty="0"/>
              <a:t> végéig </a:t>
            </a:r>
          </a:p>
          <a:p>
            <a:r>
              <a:rPr lang="hu-HU" dirty="0"/>
              <a:t>Kivétel: globális változók: </a:t>
            </a:r>
          </a:p>
          <a:p>
            <a:pPr lvl="1"/>
            <a:r>
              <a:rPr lang="hu-HU" dirty="0"/>
              <a:t>program egészében élnek és láthatók</a:t>
            </a:r>
          </a:p>
          <a:p>
            <a:pPr lvl="1"/>
            <a:r>
              <a:rPr lang="hu-HU" dirty="0"/>
              <a:t>Deklarálni kell a </a:t>
            </a:r>
            <a:r>
              <a:rPr lang="hu-HU" b="1" dirty="0" err="1"/>
              <a:t>global</a:t>
            </a:r>
            <a:r>
              <a:rPr lang="hu-HU" dirty="0"/>
              <a:t> </a:t>
            </a:r>
            <a:r>
              <a:rPr lang="hu-HU" dirty="0" err="1"/>
              <a:t>prefix</a:t>
            </a:r>
            <a:r>
              <a:rPr lang="hu-HU" dirty="0"/>
              <a:t> segítségével</a:t>
            </a:r>
          </a:p>
          <a:p>
            <a:pPr lvl="1"/>
            <a:r>
              <a:rPr lang="hu-HU" dirty="0"/>
              <a:t>Lokálisan nem definiálhatók felül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4050CDEE-D1BE-187A-3474-C829536EC9CA}"/>
              </a:ext>
            </a:extLst>
          </p:cNvPr>
          <p:cNvSpPr txBox="1">
            <a:spLocks/>
          </p:cNvSpPr>
          <p:nvPr/>
        </p:nvSpPr>
        <p:spPr>
          <a:xfrm>
            <a:off x="1484310" y="4226067"/>
            <a:ext cx="10018713" cy="69563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/>
              <a:t>[utasítások]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F0796968-BD14-CF5B-598B-26492E1C85C7}"/>
              </a:ext>
            </a:extLst>
          </p:cNvPr>
          <p:cNvSpPr txBox="1">
            <a:spLocks/>
          </p:cNvSpPr>
          <p:nvPr/>
        </p:nvSpPr>
        <p:spPr>
          <a:xfrm>
            <a:off x="1696595" y="5083769"/>
            <a:ext cx="7758690" cy="1545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hu-HU" sz="2000" dirty="0"/>
              <a:t>B</a:t>
            </a:r>
            <a:r>
              <a:rPr lang="hu-HU" sz="2000" b="0" i="0" u="none" strike="noStrike" baseline="0" dirty="0"/>
              <a:t>izonyos programozási környezetekben szükséges lehet</a:t>
            </a:r>
          </a:p>
          <a:p>
            <a:pPr lvl="1"/>
            <a:r>
              <a:rPr lang="hu-HU" sz="1600" dirty="0"/>
              <a:t>Elhagyhatók</a:t>
            </a:r>
            <a:endParaRPr lang="hu-HU" sz="2400" dirty="0"/>
          </a:p>
          <a:p>
            <a:endParaRPr lang="hu-HU" sz="2100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A7565D31-F883-2F06-85FA-D59BA1AA0434}"/>
              </a:ext>
            </a:extLst>
          </p:cNvPr>
          <p:cNvSpPr txBox="1">
            <a:spLocks/>
          </p:cNvSpPr>
          <p:nvPr/>
        </p:nvSpPr>
        <p:spPr>
          <a:xfrm>
            <a:off x="6661885" y="5083769"/>
            <a:ext cx="4109884" cy="1545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28014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777C97-5382-D241-A76E-C538CCCD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132" y="401575"/>
            <a:ext cx="10018713" cy="899160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struktogramok</a:t>
            </a:r>
            <a:r>
              <a:rPr lang="hu-HU" dirty="0"/>
              <a:t> paraméterlistái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DDED3E-2106-4BCC-A9AD-4B6468084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896" y="1329065"/>
            <a:ext cx="9735183" cy="5127360"/>
          </a:xfrm>
        </p:spPr>
        <p:txBody>
          <a:bodyPr>
            <a:normAutofit/>
          </a:bodyPr>
          <a:lstStyle/>
          <a:p>
            <a:pPr algn="l"/>
            <a:r>
              <a:rPr lang="hu-HU" sz="2800" b="0" i="0" u="none" strike="noStrike" baseline="0" dirty="0"/>
              <a:t>Alprogramok: </a:t>
            </a:r>
          </a:p>
          <a:p>
            <a:pPr lvl="1"/>
            <a:r>
              <a:rPr lang="hu-HU" sz="2400" dirty="0"/>
              <a:t>E</a:t>
            </a:r>
            <a:r>
              <a:rPr lang="hu-HU" sz="2400" b="0" i="0" u="none" strike="noStrike" baseline="0" dirty="0"/>
              <a:t>ljárások</a:t>
            </a:r>
          </a:p>
          <a:p>
            <a:pPr lvl="1"/>
            <a:r>
              <a:rPr lang="hu-HU" sz="2400" b="0" i="0" u="none" strike="noStrike" baseline="0" dirty="0"/>
              <a:t>Függvények </a:t>
            </a:r>
          </a:p>
          <a:p>
            <a:pPr lvl="1"/>
            <a:r>
              <a:rPr lang="hu-HU" sz="2400" b="0" i="0" u="none" strike="noStrike" baseline="0" dirty="0"/>
              <a:t>Osztályok metódusai</a:t>
            </a:r>
          </a:p>
          <a:p>
            <a:r>
              <a:rPr lang="hu-HU" sz="2800" dirty="0" err="1"/>
              <a:t>Stuktogram</a:t>
            </a:r>
            <a:r>
              <a:rPr lang="hu-HU" sz="2800" dirty="0"/>
              <a:t> fejléce: </a:t>
            </a:r>
          </a:p>
          <a:p>
            <a:pPr lvl="1"/>
            <a:r>
              <a:rPr lang="hu-HU" sz="2400" dirty="0" err="1"/>
              <a:t>Alprogram_Név</a:t>
            </a:r>
            <a:r>
              <a:rPr lang="hu-HU" sz="2400" dirty="0"/>
              <a:t> ([</a:t>
            </a:r>
            <a:r>
              <a:rPr lang="hu-HU" sz="2400" dirty="0" err="1"/>
              <a:t>form</a:t>
            </a:r>
            <a:r>
              <a:rPr lang="hu-HU" sz="2400" dirty="0"/>
              <a:t>. par. lista]):[</a:t>
            </a:r>
            <a:r>
              <a:rPr lang="hu-HU" sz="2400" dirty="0" err="1"/>
              <a:t>Vissz.érték</a:t>
            </a:r>
            <a:r>
              <a:rPr lang="hu-HU" sz="2400" dirty="0"/>
              <a:t> típusa]</a:t>
            </a:r>
          </a:p>
          <a:p>
            <a:pPr lvl="1"/>
            <a:r>
              <a:rPr lang="hu-HU" sz="2400" b="0" i="0" u="none" strike="noStrike" baseline="0" dirty="0"/>
              <a:t>Ha egy </a:t>
            </a:r>
            <a:r>
              <a:rPr lang="hu-HU" sz="2400" b="0" i="0" u="none" strike="noStrike" baseline="0" dirty="0" err="1"/>
              <a:t>struktogramhoz</a:t>
            </a:r>
            <a:r>
              <a:rPr lang="hu-HU" sz="2400" b="0" i="0" u="none" strike="noStrike" baseline="0" dirty="0"/>
              <a:t> csak név tartozik: </a:t>
            </a:r>
            <a:endParaRPr lang="hu-HU" sz="2400" dirty="0"/>
          </a:p>
          <a:p>
            <a:pPr lvl="2">
              <a:buFont typeface="Corbel" panose="020B0503020204020204" pitchFamily="34" charset="0"/>
              <a:buChar char="~"/>
            </a:pPr>
            <a:r>
              <a:rPr lang="hu-HU" sz="2200" b="0" i="0" u="none" strike="noStrike" baseline="0" dirty="0"/>
              <a:t>a benne található kód a hívás helyén lenne</a:t>
            </a:r>
          </a:p>
          <a:p>
            <a:pPr lvl="1"/>
            <a:r>
              <a:rPr lang="hu-HU" sz="2400" dirty="0"/>
              <a:t>Globális / lokális változó</a:t>
            </a:r>
          </a:p>
        </p:txBody>
      </p:sp>
    </p:spTree>
    <p:extLst>
      <p:ext uri="{BB962C8B-B14F-4D97-AF65-F5344CB8AC3E}">
        <p14:creationId xmlns:p14="http://schemas.microsoft.com/office/powerpoint/2010/main" val="34007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6C64A135-DF59-63EA-D253-C61B79418C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684164" y="2244067"/>
            <a:ext cx="4287589" cy="273228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177EAD4-CF93-0EBD-DF31-DB6DA6FB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776" y="84838"/>
            <a:ext cx="10018713" cy="576263"/>
          </a:xfrm>
        </p:spPr>
        <p:txBody>
          <a:bodyPr>
            <a:normAutofit fontScale="90000"/>
          </a:bodyPr>
          <a:lstStyle/>
          <a:p>
            <a:r>
              <a:rPr lang="hu-HU" dirty="0"/>
              <a:t>Adatáramlás: Érték </a:t>
            </a:r>
            <a:r>
              <a:rPr lang="hu-HU" dirty="0" err="1"/>
              <a:t>vs</a:t>
            </a:r>
            <a:r>
              <a:rPr lang="hu-HU" dirty="0"/>
              <a:t>. Cím szerinti </a:t>
            </a:r>
            <a:r>
              <a:rPr lang="hu-HU" dirty="0" err="1"/>
              <a:t>szerinti</a:t>
            </a:r>
            <a:r>
              <a:rPr lang="hu-HU" dirty="0"/>
              <a:t> átadás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7BD090-F56A-17B2-A4C2-8BC87D26C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800" y="1127760"/>
            <a:ext cx="3407566" cy="926630"/>
          </a:xfrm>
        </p:spPr>
        <p:txBody>
          <a:bodyPr/>
          <a:lstStyle/>
          <a:p>
            <a:pPr algn="r"/>
            <a:r>
              <a:rPr lang="hu-HU" dirty="0"/>
              <a:t>Érték szerinti paraméterátadás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2366AB8-77B5-AD46-0AD9-552A4DA95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07967" y="1136227"/>
            <a:ext cx="3767461" cy="926630"/>
          </a:xfrm>
        </p:spPr>
        <p:txBody>
          <a:bodyPr/>
          <a:lstStyle/>
          <a:p>
            <a:r>
              <a:rPr lang="hu-HU" dirty="0"/>
              <a:t>Cím szerinti paraméterátadás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artalom helye 5">
                <a:extLst>
                  <a:ext uri="{FF2B5EF4-FFF2-40B4-BE49-F238E27FC236}">
                    <a16:creationId xmlns:a16="http://schemas.microsoft.com/office/drawing/2014/main" id="{F63710E7-54B8-0550-6599-F60223B851F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607968" y="2128681"/>
                <a:ext cx="5584032" cy="446098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hu-HU" sz="2400" dirty="0"/>
                  <a:t>Kötelező:</a:t>
                </a:r>
              </a:p>
              <a:p>
                <a:pPr lvl="1"/>
                <a:r>
                  <a:rPr lang="hu-HU" sz="2100" dirty="0"/>
                  <a:t>A nem-skalár típusoknál:</a:t>
                </a:r>
              </a:p>
              <a:p>
                <a:pPr lvl="2"/>
                <a:r>
                  <a:rPr lang="hu-HU" sz="1900" dirty="0"/>
                  <a:t>összetett típusok: tömb, </a:t>
                </a:r>
                <a:r>
                  <a:rPr lang="hu-HU" sz="1900" dirty="0" err="1"/>
                  <a:t>sztring</a:t>
                </a:r>
                <a:r>
                  <a:rPr lang="hu-HU" sz="1900" dirty="0"/>
                  <a:t>, rekord, fájl, halmaz, zsák, sorozat, fa, gráf típusok</a:t>
                </a:r>
              </a:p>
              <a:p>
                <a:pPr lvl="2"/>
                <a:r>
                  <a:rPr lang="hu-HU" sz="1900" i="1" dirty="0" err="1"/>
                  <a:t>struct</a:t>
                </a:r>
                <a:r>
                  <a:rPr lang="hu-HU" sz="1900" dirty="0"/>
                  <a:t>, illetve </a:t>
                </a:r>
                <a:r>
                  <a:rPr lang="hu-HU" sz="1900" i="1" dirty="0" err="1"/>
                  <a:t>class</a:t>
                </a:r>
                <a:r>
                  <a:rPr lang="hu-HU" sz="1900" dirty="0"/>
                  <a:t> kulcsszavakkal definiált osztályok</a:t>
                </a:r>
              </a:p>
              <a:p>
                <a:r>
                  <a:rPr lang="hu-HU" sz="2400" dirty="0"/>
                  <a:t>Mechanizmus</a:t>
                </a:r>
                <a:r>
                  <a:rPr lang="hu-HU" sz="2600" dirty="0"/>
                  <a:t>: </a:t>
                </a:r>
              </a:p>
              <a:p>
                <a:pPr lvl="1"/>
                <a:r>
                  <a:rPr lang="hu-HU" sz="2100" dirty="0"/>
                  <a:t>A rendszer az eredeti adat memóriacímét adja át (&amp;). </a:t>
                </a:r>
              </a:p>
              <a:p>
                <a:pPr lvl="1"/>
                <a:r>
                  <a:rPr lang="hu-HU" sz="2100" dirty="0"/>
                  <a:t>A módosítás az  eredetin történik</a:t>
                </a:r>
              </a:p>
              <a:p>
                <a:r>
                  <a:rPr lang="hu-HU" sz="2400" dirty="0"/>
                  <a:t>Példák:</a:t>
                </a:r>
                <a:endParaRPr lang="hu-HU" sz="2600" dirty="0"/>
              </a:p>
              <a:p>
                <a:pPr lvl="1"/>
                <a:r>
                  <a:rPr lang="hu-HU" dirty="0" err="1"/>
                  <a:t>swap</a:t>
                </a:r>
                <a:r>
                  <a:rPr lang="hu-HU" dirty="0"/>
                  <a:t>(&amp;x, &amp;y)</a:t>
                </a:r>
              </a:p>
              <a:p>
                <a:pPr lvl="1"/>
                <a:r>
                  <a:rPr lang="hu-HU" dirty="0">
                    <a:latin typeface="F29"/>
                  </a:rPr>
                  <a:t>linearSearch</a:t>
                </a:r>
                <a:r>
                  <a:rPr lang="hu-HU" dirty="0">
                    <a:latin typeface="CMR12"/>
                  </a:rPr>
                  <a:t>(</a:t>
                </a:r>
                <a:r>
                  <a:rPr lang="hu-HU" i="1" dirty="0">
                    <a:latin typeface="CMMI12"/>
                  </a:rPr>
                  <a:t>A</a:t>
                </a:r>
                <a:r>
                  <a:rPr lang="hu-HU" dirty="0">
                    <a:latin typeface="CMMI12"/>
                  </a:rPr>
                  <a:t> </a:t>
                </a:r>
                <a:r>
                  <a:rPr lang="hu-HU" dirty="0">
                    <a:latin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</a:t>
                </a:r>
                <a:r>
                  <a:rPr lang="hu-HU" i="1" dirty="0"/>
                  <a:t>n</a:t>
                </a:r>
                <a:r>
                  <a:rPr lang="hu-HU" dirty="0"/>
                  <a:t>]</a:t>
                </a:r>
                <a:r>
                  <a:rPr lang="hu-HU" dirty="0">
                    <a:latin typeface="CMR12"/>
                  </a:rPr>
                  <a:t> </a:t>
                </a:r>
                <a:r>
                  <a:rPr lang="hu-HU" dirty="0">
                    <a:latin typeface="F29"/>
                  </a:rPr>
                  <a:t>; </a:t>
                </a:r>
                <a:r>
                  <a:rPr lang="hu-HU" i="1" dirty="0">
                    <a:latin typeface="CMMI12"/>
                  </a:rPr>
                  <a:t>x</a:t>
                </a:r>
                <a:r>
                  <a:rPr lang="hu-HU" dirty="0">
                    <a:latin typeface="CMMI12"/>
                  </a:rPr>
                  <a:t> </a:t>
                </a:r>
                <a:r>
                  <a:rPr lang="hu-HU" dirty="0">
                    <a:latin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dirty="0">
                    <a:latin typeface="CMR12"/>
                  </a:rPr>
                  <a:t>) 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endParaRPr lang="hu-HU" dirty="0">
                  <a:latin typeface="MSBM10"/>
                </a:endParaRPr>
              </a:p>
              <a:p>
                <a:pPr lvl="1"/>
                <a:r>
                  <a:rPr lang="hu-HU" dirty="0">
                    <a:latin typeface="F29"/>
                  </a:rPr>
                  <a:t>sort(</a:t>
                </a:r>
                <a:r>
                  <a:rPr lang="hu-HU" i="1" dirty="0">
                    <a:latin typeface="CMMI12"/>
                  </a:rPr>
                  <a:t>B</a:t>
                </a:r>
                <a:r>
                  <a:rPr lang="hu-HU" dirty="0">
                    <a:latin typeface="CMMI12"/>
                  </a:rPr>
                  <a:t>/</a:t>
                </a:r>
                <a:r>
                  <a:rPr lang="hu-HU" dirty="0">
                    <a:latin typeface="CMR12"/>
                  </a:rPr>
                  <a:t>1 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[] </a:t>
                </a:r>
                <a:r>
                  <a:rPr lang="hu-HU" dirty="0">
                    <a:latin typeface="F29"/>
                  </a:rPr>
                  <a:t>)</a:t>
                </a:r>
                <a:endParaRPr lang="hu-HU" sz="2000" dirty="0"/>
              </a:p>
            </p:txBody>
          </p:sp>
        </mc:Choice>
        <mc:Fallback>
          <p:sp>
            <p:nvSpPr>
              <p:cNvPr id="6" name="Tartalom helye 5">
                <a:extLst>
                  <a:ext uri="{FF2B5EF4-FFF2-40B4-BE49-F238E27FC236}">
                    <a16:creationId xmlns:a16="http://schemas.microsoft.com/office/drawing/2014/main" id="{F63710E7-54B8-0550-6599-F60223B851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607968" y="2128681"/>
                <a:ext cx="5584032" cy="4460988"/>
              </a:xfrm>
              <a:blipFill>
                <a:blip r:embed="rId3"/>
                <a:stretch>
                  <a:fillRect l="-2074" t="-4645" r="-43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Kép 9">
            <a:extLst>
              <a:ext uri="{FF2B5EF4-FFF2-40B4-BE49-F238E27FC236}">
                <a16:creationId xmlns:a16="http://schemas.microsoft.com/office/drawing/2014/main" id="{88A0C7BD-963C-B724-3890-CC3FD9482EC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874563" y="2101917"/>
            <a:ext cx="4529386" cy="3016589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1ECD717F-AA4C-00D4-7543-4D84EEED0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823" y="5294612"/>
            <a:ext cx="1931172" cy="14957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4" name="Tartalom helye 2">
            <a:extLst>
              <a:ext uri="{FF2B5EF4-FFF2-40B4-BE49-F238E27FC236}">
                <a16:creationId xmlns:a16="http://schemas.microsoft.com/office/drawing/2014/main" id="{30ED80C1-F3B5-2F0D-04E8-3DFD29AC7CA2}"/>
              </a:ext>
            </a:extLst>
          </p:cNvPr>
          <p:cNvSpPr txBox="1">
            <a:spLocks/>
          </p:cNvSpPr>
          <p:nvPr/>
        </p:nvSpPr>
        <p:spPr>
          <a:xfrm>
            <a:off x="1735889" y="5106520"/>
            <a:ext cx="4948274" cy="15228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800" b="0" kern="1200" cap="none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Aktuális paraméterlista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2200" b="0" dirty="0"/>
              <a:t>Nem jelöljük külön a cím ( ill. érték) szerinti paraméterátadást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800" b="0" dirty="0"/>
              <a:t>Pl. </a:t>
            </a:r>
            <a:r>
              <a:rPr lang="hu-HU" sz="1800" b="0" dirty="0" err="1"/>
              <a:t>swap</a:t>
            </a:r>
            <a:r>
              <a:rPr lang="hu-HU" sz="1800" b="0" dirty="0"/>
              <a:t>( x, y)</a:t>
            </a:r>
          </a:p>
        </p:txBody>
      </p:sp>
      <p:sp>
        <p:nvSpPr>
          <p:cNvPr id="15" name="Tartalom helye 2">
            <a:extLst>
              <a:ext uri="{FF2B5EF4-FFF2-40B4-BE49-F238E27FC236}">
                <a16:creationId xmlns:a16="http://schemas.microsoft.com/office/drawing/2014/main" id="{4E60F607-8228-8AEE-76D3-E3A7C438E949}"/>
              </a:ext>
            </a:extLst>
          </p:cNvPr>
          <p:cNvSpPr txBox="1">
            <a:spLocks/>
          </p:cNvSpPr>
          <p:nvPr/>
        </p:nvSpPr>
        <p:spPr>
          <a:xfrm>
            <a:off x="1816572" y="648554"/>
            <a:ext cx="9735183" cy="556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800" b="0" kern="1200" cap="none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Formális paraméterlista</a:t>
            </a: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6A842315-7705-EABD-147B-E6BF6266FC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70220" y="744278"/>
            <a:ext cx="2110136" cy="1344695"/>
          </a:xfrm>
          <a:prstGeom prst="rect">
            <a:avLst/>
          </a:prstGeo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E9723DBB-B8B0-924C-25CB-890FA2D0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64993" y="2128681"/>
            <a:ext cx="4895056" cy="2295330"/>
          </a:xfrm>
        </p:spPr>
        <p:txBody>
          <a:bodyPr>
            <a:normAutofit fontScale="85000" lnSpcReduction="20000"/>
          </a:bodyPr>
          <a:lstStyle/>
          <a:p>
            <a:r>
              <a:rPr lang="hu-HU" sz="2800" dirty="0"/>
              <a:t>Alapértelmezett</a:t>
            </a:r>
            <a:r>
              <a:rPr lang="hu-HU" sz="1600" dirty="0"/>
              <a:t> </a:t>
            </a:r>
          </a:p>
          <a:p>
            <a:pPr lvl="1"/>
            <a:r>
              <a:rPr lang="hu-HU" sz="2100" dirty="0"/>
              <a:t>skalár típusoknál </a:t>
            </a:r>
          </a:p>
          <a:p>
            <a:pPr lvl="2"/>
            <a:r>
              <a:rPr lang="hu-HU" sz="1900" dirty="0"/>
              <a:t>szám, pointer, felsorolás </a:t>
            </a:r>
          </a:p>
          <a:p>
            <a:r>
              <a:rPr lang="hu-HU" sz="2800" dirty="0"/>
              <a:t>Mechanizmus:</a:t>
            </a:r>
            <a:r>
              <a:rPr lang="hu-HU" sz="1600" dirty="0"/>
              <a:t> </a:t>
            </a:r>
          </a:p>
          <a:p>
            <a:pPr lvl="1"/>
            <a:r>
              <a:rPr lang="hu-HU" sz="2100" dirty="0"/>
              <a:t>A rendszer másolatot készít az adatról.</a:t>
            </a:r>
          </a:p>
          <a:p>
            <a:pPr lvl="1"/>
            <a:r>
              <a:rPr lang="hu-HU" sz="2100" dirty="0"/>
              <a:t>Az eredeti nem módosul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17E0A69-D9CA-AFFB-35B1-0844CC20E1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971" y="799206"/>
            <a:ext cx="1670830" cy="11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89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553890-3FA9-569C-6882-22CBC135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1" y="304299"/>
            <a:ext cx="10018713" cy="1046334"/>
          </a:xfrm>
        </p:spPr>
        <p:txBody>
          <a:bodyPr/>
          <a:lstStyle/>
          <a:p>
            <a:r>
              <a:rPr lang="hu-HU" dirty="0"/>
              <a:t>Eljárások, függvények, ciklusok, rekurzió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47241C-F4F8-0DCA-993F-2FA70FF50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49681"/>
            <a:ext cx="10018713" cy="4541520"/>
          </a:xfrm>
        </p:spPr>
        <p:txBody>
          <a:bodyPr/>
          <a:lstStyle/>
          <a:p>
            <a:r>
              <a:rPr lang="hu-HU" dirty="0"/>
              <a:t>Eljárás</a:t>
            </a:r>
          </a:p>
          <a:p>
            <a:endParaRPr lang="hu-HU" dirty="0"/>
          </a:p>
          <a:p>
            <a:r>
              <a:rPr lang="hu-HU" dirty="0"/>
              <a:t>Függvény</a:t>
            </a:r>
          </a:p>
          <a:p>
            <a:pPr lvl="1"/>
            <a:r>
              <a:rPr lang="hu-HU" i="1" dirty="0">
                <a:latin typeface="F29"/>
              </a:rPr>
              <a:t>i</a:t>
            </a:r>
            <a:r>
              <a:rPr lang="hu-HU" dirty="0">
                <a:latin typeface="F29"/>
              </a:rPr>
              <a:t>:=linearSearch</a:t>
            </a:r>
            <a:r>
              <a:rPr lang="hu-HU" dirty="0">
                <a:latin typeface="CMR12"/>
              </a:rPr>
              <a:t>(</a:t>
            </a:r>
            <a:r>
              <a:rPr lang="hu-HU" i="1" dirty="0">
                <a:latin typeface="CMMI12"/>
              </a:rPr>
              <a:t>A</a:t>
            </a:r>
            <a:r>
              <a:rPr lang="hu-HU" dirty="0">
                <a:latin typeface="CMMI12"/>
              </a:rPr>
              <a:t> ,</a:t>
            </a:r>
            <a:r>
              <a:rPr lang="hu-HU" dirty="0">
                <a:latin typeface="F29"/>
              </a:rPr>
              <a:t> </a:t>
            </a:r>
            <a:r>
              <a:rPr lang="hu-HU" i="1" dirty="0">
                <a:latin typeface="CMMI12"/>
              </a:rPr>
              <a:t>x</a:t>
            </a:r>
            <a:r>
              <a:rPr lang="hu-HU" dirty="0">
                <a:latin typeface="CMMI12"/>
              </a:rPr>
              <a:t> </a:t>
            </a:r>
            <a:r>
              <a:rPr lang="hu-HU" dirty="0">
                <a:latin typeface="CMR12"/>
              </a:rPr>
              <a:t>) </a:t>
            </a:r>
            <a:endParaRPr lang="hu-HU" dirty="0">
              <a:latin typeface="MSBM10"/>
            </a:endParaRPr>
          </a:p>
          <a:p>
            <a:pPr lvl="1"/>
            <a:endParaRPr lang="hu-HU" dirty="0"/>
          </a:p>
          <a:p>
            <a:r>
              <a:rPr lang="hu-HU" dirty="0"/>
              <a:t>Rekurzió</a:t>
            </a:r>
          </a:p>
          <a:p>
            <a:pPr lvl="1"/>
            <a:r>
              <a:rPr lang="hu-HU" sz="1800" dirty="0">
                <a:latin typeface="F29"/>
              </a:rPr>
              <a:t>Önmagát meghívó függvény</a:t>
            </a:r>
            <a:endParaRPr lang="hu-HU" sz="1800" dirty="0"/>
          </a:p>
          <a:p>
            <a:pPr lvl="1"/>
            <a:r>
              <a:rPr lang="hu-HU" sz="1800" b="0" i="0" u="none" strike="noStrike" baseline="0" dirty="0" err="1">
                <a:latin typeface="F29"/>
              </a:rPr>
              <a:t>binarySearch</a:t>
            </a:r>
            <a:r>
              <a:rPr lang="hu-HU" sz="1800" b="0" i="0" u="none" strike="noStrike" baseline="0" dirty="0">
                <a:latin typeface="F29"/>
              </a:rPr>
              <a:t>(</a:t>
            </a:r>
            <a:r>
              <a:rPr lang="hu-HU" sz="1800" b="0" i="1" u="none" strike="noStrike" baseline="0" dirty="0">
                <a:latin typeface="CMMI12"/>
              </a:rPr>
              <a:t>A</a:t>
            </a:r>
            <a:r>
              <a:rPr lang="hu-HU" sz="1800" b="0" i="0" u="none" strike="noStrike" baseline="0" dirty="0">
                <a:latin typeface="CMMI12"/>
              </a:rPr>
              <a:t>, </a:t>
            </a:r>
            <a:r>
              <a:rPr lang="hu-HU" sz="1800" b="0" i="1" u="none" strike="noStrike" baseline="0" dirty="0">
                <a:latin typeface="CMMI12"/>
              </a:rPr>
              <a:t>x</a:t>
            </a:r>
            <a:r>
              <a:rPr lang="hu-HU" sz="1800" b="0" i="0" u="none" strike="noStrike" baseline="0" dirty="0">
                <a:latin typeface="F29"/>
              </a:rPr>
              <a:t>)</a:t>
            </a:r>
          </a:p>
          <a:p>
            <a:pPr lvl="1"/>
            <a:r>
              <a:rPr lang="hu-HU" sz="1800" b="0" i="0" u="none" strike="noStrike" baseline="0" dirty="0" err="1">
                <a:latin typeface="F29"/>
              </a:rPr>
              <a:t>binSearch</a:t>
            </a:r>
            <a:r>
              <a:rPr lang="hu-HU" sz="1800" b="0" i="0" u="none" strike="noStrike" baseline="0" dirty="0">
                <a:latin typeface="F29"/>
              </a:rPr>
              <a:t>(</a:t>
            </a:r>
            <a:r>
              <a:rPr lang="hu-HU" sz="1800" b="0" i="1" u="none" strike="noStrike" baseline="0" dirty="0">
                <a:latin typeface="CMMI12"/>
              </a:rPr>
              <a:t>A</a:t>
            </a:r>
            <a:r>
              <a:rPr lang="hu-HU" sz="1800" b="0" i="0" u="none" strike="noStrike" baseline="0" dirty="0">
                <a:latin typeface="CMMI12"/>
              </a:rPr>
              <a:t>, </a:t>
            </a:r>
            <a:r>
              <a:rPr lang="hu-HU" sz="1800" b="0" i="1" u="none" strike="noStrike" baseline="0" dirty="0">
                <a:latin typeface="CMMI12"/>
              </a:rPr>
              <a:t>u</a:t>
            </a:r>
            <a:r>
              <a:rPr lang="hu-HU" sz="1800" b="0" i="0" u="none" strike="noStrike" baseline="0" dirty="0">
                <a:latin typeface="CMMI12"/>
              </a:rPr>
              <a:t>, </a:t>
            </a:r>
            <a:r>
              <a:rPr lang="hu-HU" sz="1800" b="0" i="1" u="none" strike="noStrike" baseline="0" dirty="0">
                <a:latin typeface="CMMI12"/>
              </a:rPr>
              <a:t>v</a:t>
            </a:r>
            <a:r>
              <a:rPr lang="hu-HU" sz="1800" b="0" i="0" u="none" strike="noStrike" baseline="0" dirty="0">
                <a:latin typeface="CMMI12"/>
              </a:rPr>
              <a:t>, </a:t>
            </a:r>
            <a:r>
              <a:rPr lang="hu-HU" sz="1800" b="0" i="1" u="none" strike="noStrike" baseline="0" dirty="0">
                <a:latin typeface="CMMI12"/>
              </a:rPr>
              <a:t>x</a:t>
            </a:r>
            <a:r>
              <a:rPr lang="hu-HU" sz="1800" b="0" i="0" u="none" strike="noStrike" baseline="0" dirty="0">
                <a:latin typeface="F29"/>
              </a:rPr>
              <a:t>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54C8642-DAC6-0A70-0FDA-BA70CBD8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22" y="1416261"/>
            <a:ext cx="2850127" cy="125740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C2A3A9D-C628-561A-0F40-65B09D92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814" y="1471296"/>
            <a:ext cx="3322608" cy="126503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2D121D8-D310-9009-FAE9-FE18EBEEA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786" y="2831190"/>
            <a:ext cx="2882862" cy="17415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7AF94D7-9791-8C9A-93E3-7B339E04E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425" y="4730301"/>
            <a:ext cx="6808800" cy="20515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DB2D21D-A613-D200-601D-283F930A9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25" y="5756051"/>
            <a:ext cx="3886537" cy="9449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7075EC4B-2010-1557-25CF-F6961C60B85E}"/>
              </a:ext>
            </a:extLst>
          </p:cNvPr>
          <p:cNvCxnSpPr/>
          <p:nvPr/>
        </p:nvCxnSpPr>
        <p:spPr>
          <a:xfrm>
            <a:off x="5577840" y="4251960"/>
            <a:ext cx="0" cy="153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4D1429C8-6474-D9DE-E653-CA1B8A5DAD69}"/>
              </a:ext>
            </a:extLst>
          </p:cNvPr>
          <p:cNvSpPr txBox="1"/>
          <p:nvPr/>
        </p:nvSpPr>
        <p:spPr>
          <a:xfrm>
            <a:off x="5255186" y="3773619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Leálló ágak: alapesetek</a:t>
            </a:r>
          </a:p>
        </p:txBody>
      </p: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37765ABD-0C7F-6AC2-6CF9-2D42E3CB3972}"/>
              </a:ext>
            </a:extLst>
          </p:cNvPr>
          <p:cNvCxnSpPr>
            <a:cxnSpLocks/>
          </p:cNvCxnSpPr>
          <p:nvPr/>
        </p:nvCxnSpPr>
        <p:spPr>
          <a:xfrm>
            <a:off x="7421880" y="4142951"/>
            <a:ext cx="3285810" cy="2126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59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1AD676EC-EC84-F58C-6A1D-826A7E76B3F6}"/>
              </a:ext>
            </a:extLst>
          </p:cNvPr>
          <p:cNvSpPr txBox="1">
            <a:spLocks/>
          </p:cNvSpPr>
          <p:nvPr/>
        </p:nvSpPr>
        <p:spPr>
          <a:xfrm>
            <a:off x="1342071" y="124687"/>
            <a:ext cx="10018713" cy="104633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000" b="0" i="0" u="none" strike="noStrike" baseline="0" dirty="0">
                <a:latin typeface="F83"/>
              </a:rPr>
              <a:t>Programok, alprogramok és hatékonyságuk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E6B431-DE07-D766-DE90-BDC27326F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027" y="4399782"/>
            <a:ext cx="10018713" cy="2153919"/>
          </a:xfrm>
        </p:spPr>
        <p:txBody>
          <a:bodyPr>
            <a:normAutofit/>
          </a:bodyPr>
          <a:lstStyle/>
          <a:p>
            <a:pPr algn="l"/>
            <a:r>
              <a:rPr lang="hu-HU" b="0" i="0" u="none" strike="noStrike" baseline="0" dirty="0"/>
              <a:t>A műveletigényeket </a:t>
            </a:r>
            <a:r>
              <a:rPr lang="hu-HU" b="0" i="1" u="none" strike="noStrike" baseline="0" dirty="0"/>
              <a:t>n</a:t>
            </a:r>
            <a:r>
              <a:rPr lang="hu-HU" b="0" i="0" u="none" strike="noStrike" baseline="0" dirty="0"/>
              <a:t> függvényében adjuk meg</a:t>
            </a:r>
          </a:p>
          <a:p>
            <a:pPr lvl="1"/>
            <a:r>
              <a:rPr lang="hu-HU" sz="1800" b="0" i="1" u="none" strike="noStrike" baseline="0" dirty="0"/>
              <a:t>n</a:t>
            </a:r>
            <a:r>
              <a:rPr lang="hu-HU" sz="1800" b="0" i="0" u="none" strike="noStrike" baseline="0" dirty="0"/>
              <a:t>: a formális paraméterben megadott tömb mérete</a:t>
            </a:r>
          </a:p>
          <a:p>
            <a:r>
              <a:rPr lang="hu-HU" sz="2200" i="1" dirty="0"/>
              <a:t>AT(n) – </a:t>
            </a:r>
            <a:r>
              <a:rPr lang="hu-HU" sz="2200" dirty="0"/>
              <a:t>átlagos műveletidő</a:t>
            </a:r>
          </a:p>
          <a:p>
            <a:pPr lvl="1"/>
            <a:r>
              <a:rPr lang="hu-HU" sz="1800" i="1" dirty="0" err="1"/>
              <a:t>mT</a:t>
            </a:r>
            <a:r>
              <a:rPr lang="hu-HU" sz="1800" i="1" dirty="0"/>
              <a:t>(n) </a:t>
            </a:r>
            <a:r>
              <a:rPr lang="hu-HU" sz="1800" dirty="0">
                <a:ea typeface="Times New Roman" panose="02020603050405020304" pitchFamily="18" charset="0"/>
                <a:cs typeface="Calibri" panose="020F0502020204030204" pitchFamily="34" charset="0"/>
              </a:rPr>
              <a:t>≤ </a:t>
            </a:r>
            <a:r>
              <a:rPr lang="hu-HU" sz="1800" i="1" dirty="0">
                <a:ea typeface="Times New Roman" panose="02020603050405020304" pitchFamily="18" charset="0"/>
                <a:cs typeface="Calibri" panose="020F0502020204030204" pitchFamily="34" charset="0"/>
              </a:rPr>
              <a:t>AT(n)</a:t>
            </a:r>
            <a:r>
              <a:rPr lang="hu-HU" sz="1800" dirty="0">
                <a:ea typeface="Times New Roman" panose="02020603050405020304" pitchFamily="18" charset="0"/>
                <a:cs typeface="Calibri" panose="020F0502020204030204" pitchFamily="34" charset="0"/>
              </a:rPr>
              <a:t> ≤</a:t>
            </a:r>
            <a:r>
              <a:rPr lang="hu-HU" sz="1800" i="1" dirty="0">
                <a:ea typeface="Times New Roman" panose="02020603050405020304" pitchFamily="18" charset="0"/>
                <a:cs typeface="Calibri" panose="020F0502020204030204" pitchFamily="34" charset="0"/>
              </a:rPr>
              <a:t> MT(n)</a:t>
            </a:r>
            <a:endParaRPr lang="hu-HU" sz="1600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6BD119F6-D745-8BA4-2D9C-5A30577A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545" y="1237597"/>
            <a:ext cx="2420910" cy="302903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19FB5576-D0F0-62A9-6C24-BDA6AA587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13" y="1237597"/>
            <a:ext cx="2184727" cy="30061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DEBCEDFB-ED0A-9B4D-A9D0-7E9ACD25B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872" y="1219153"/>
            <a:ext cx="2343169" cy="303450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851960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D494-50A9-05D2-AD99-1B173C99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ercs: vízszintes 1">
            <a:extLst>
              <a:ext uri="{FF2B5EF4-FFF2-40B4-BE49-F238E27FC236}">
                <a16:creationId xmlns:a16="http://schemas.microsoft.com/office/drawing/2014/main" id="{56EE3FB5-377F-B96E-8AB0-1501F4A2FECE}"/>
              </a:ext>
            </a:extLst>
          </p:cNvPr>
          <p:cNvSpPr/>
          <p:nvPr/>
        </p:nvSpPr>
        <p:spPr>
          <a:xfrm>
            <a:off x="2665807" y="5729808"/>
            <a:ext cx="3867073" cy="42566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E99A9628-85C4-5A88-193A-3C5103AA441D}"/>
              </a:ext>
            </a:extLst>
          </p:cNvPr>
          <p:cNvSpPr/>
          <p:nvPr/>
        </p:nvSpPr>
        <p:spPr>
          <a:xfrm>
            <a:off x="2672080" y="3602830"/>
            <a:ext cx="5080000" cy="49684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373F0844-BF83-DC27-8CC7-DF09FA571283}"/>
              </a:ext>
            </a:extLst>
          </p:cNvPr>
          <p:cNvSpPr txBox="1">
            <a:spLocks/>
          </p:cNvSpPr>
          <p:nvPr/>
        </p:nvSpPr>
        <p:spPr>
          <a:xfrm>
            <a:off x="1370821" y="58979"/>
            <a:ext cx="10018713" cy="7678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hu-HU" dirty="0">
                <a:latin typeface="F83"/>
              </a:rPr>
              <a:t>Programok, alprogramok és hatékonyságuk</a:t>
            </a:r>
            <a:endParaRPr lang="hu-HU" dirty="0"/>
          </a:p>
        </p:txBody>
      </p:sp>
      <p:sp>
        <p:nvSpPr>
          <p:cNvPr id="15" name="Tekercs: vízszintes 14">
            <a:extLst>
              <a:ext uri="{FF2B5EF4-FFF2-40B4-BE49-F238E27FC236}">
                <a16:creationId xmlns:a16="http://schemas.microsoft.com/office/drawing/2014/main" id="{2C9724C6-1761-D84C-8987-2F4FC72579CA}"/>
              </a:ext>
            </a:extLst>
          </p:cNvPr>
          <p:cNvSpPr/>
          <p:nvPr/>
        </p:nvSpPr>
        <p:spPr>
          <a:xfrm>
            <a:off x="2806972" y="1767807"/>
            <a:ext cx="2140948" cy="42601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kercs: vízszintes 15">
            <a:extLst>
              <a:ext uri="{FF2B5EF4-FFF2-40B4-BE49-F238E27FC236}">
                <a16:creationId xmlns:a16="http://schemas.microsoft.com/office/drawing/2014/main" id="{42F074B3-E6A5-A2D5-B89C-53CA497681CE}"/>
              </a:ext>
            </a:extLst>
          </p:cNvPr>
          <p:cNvSpPr/>
          <p:nvPr/>
        </p:nvSpPr>
        <p:spPr>
          <a:xfrm>
            <a:off x="2661921" y="2880252"/>
            <a:ext cx="3870959" cy="49684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Tekercs: vízszintes 16">
            <a:extLst>
              <a:ext uri="{FF2B5EF4-FFF2-40B4-BE49-F238E27FC236}">
                <a16:creationId xmlns:a16="http://schemas.microsoft.com/office/drawing/2014/main" id="{26DEF63D-248A-3384-FE7C-323D2A0C4FD1}"/>
              </a:ext>
            </a:extLst>
          </p:cNvPr>
          <p:cNvSpPr/>
          <p:nvPr/>
        </p:nvSpPr>
        <p:spPr>
          <a:xfrm>
            <a:off x="2655647" y="4806425"/>
            <a:ext cx="4872913" cy="652962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3BAA92-27A1-9A64-B41E-1EBF01562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13038" y="936204"/>
                <a:ext cx="10018713" cy="57685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sz="2200" dirty="0"/>
                  <a:t>init(</a:t>
                </a:r>
                <a:r>
                  <a:rPr lang="pt-BR" sz="2200" i="1" dirty="0"/>
                  <a:t>A</a:t>
                </a:r>
                <a:r>
                  <a:rPr lang="pt-BR" sz="2200" dirty="0"/>
                  <a:t>/1 :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[</a:t>
                </a:r>
                <a:r>
                  <a:rPr lang="hu-HU" sz="2200" i="1" dirty="0"/>
                  <a:t>n</a:t>
                </a:r>
                <a:r>
                  <a:rPr lang="hu-HU" sz="2200" dirty="0"/>
                  <a:t>]</a:t>
                </a:r>
                <a:r>
                  <a:rPr lang="pt-BR" sz="2200" dirty="0"/>
                  <a:t> ; </a:t>
                </a:r>
                <a:r>
                  <a:rPr lang="pt-BR" sz="2200" i="1" dirty="0"/>
                  <a:t>x</a:t>
                </a:r>
                <a:r>
                  <a:rPr lang="pt-BR" sz="2200" dirty="0"/>
                  <a:t> :</a:t>
                </a: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pt-BR" sz="2200" dirty="0"/>
                  <a:t>) eljárás</a:t>
                </a:r>
                <a:r>
                  <a:rPr lang="hu-HU" sz="2200" dirty="0"/>
                  <a:t>:</a:t>
                </a:r>
              </a:p>
              <a:p>
                <a:pPr lvl="1"/>
                <a:r>
                  <a:rPr lang="pt-BR" sz="1800" dirty="0"/>
                  <a:t> pontosan </a:t>
                </a:r>
                <a:r>
                  <a:rPr lang="pt-BR" sz="1800" i="1" dirty="0"/>
                  <a:t>n</a:t>
                </a:r>
                <a:r>
                  <a:rPr lang="pt-BR" sz="1800" dirty="0"/>
                  <a:t> iteráció</a:t>
                </a:r>
                <a:r>
                  <a:rPr lang="hu-HU" sz="1800" dirty="0"/>
                  <a:t>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600" dirty="0"/>
                  <a:t>   </a:t>
                </a:r>
                <a:r>
                  <a:rPr lang="hu-HU" sz="1600" i="1" dirty="0"/>
                  <a:t>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= </a:t>
                </a:r>
                <a:r>
                  <a:rPr lang="hu-HU" sz="1600" i="1" dirty="0"/>
                  <a:t>n</a:t>
                </a:r>
                <a:r>
                  <a:rPr lang="hu-HU" sz="1600" dirty="0"/>
                  <a:t>+1, </a:t>
                </a:r>
                <a:r>
                  <a:rPr lang="hu-HU" sz="1600" i="1" dirty="0"/>
                  <a:t>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∈ </a:t>
                </a:r>
                <a:r>
                  <a:rPr lang="el-GR" sz="1600" dirty="0"/>
                  <a:t>Θ(</a:t>
                </a:r>
                <a:r>
                  <a:rPr lang="hu-HU" sz="1600" i="1" dirty="0"/>
                  <a:t>n</a:t>
                </a:r>
                <a:r>
                  <a:rPr lang="hu-HU" sz="1600" dirty="0"/>
                  <a:t> )</a:t>
                </a:r>
              </a:p>
              <a:p>
                <a:r>
                  <a:rPr lang="hu-HU" sz="2200" dirty="0" err="1"/>
                  <a:t>linearSearch</a:t>
                </a:r>
                <a:r>
                  <a:rPr lang="hu-HU" sz="2200" dirty="0"/>
                  <a:t>(A :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[</a:t>
                </a:r>
                <a:r>
                  <a:rPr lang="hu-HU" sz="2200" i="1" dirty="0"/>
                  <a:t>n</a:t>
                </a:r>
                <a:r>
                  <a:rPr lang="hu-HU" sz="2200" dirty="0"/>
                  <a:t>] ;</a:t>
                </a:r>
                <a:r>
                  <a:rPr lang="pt-BR" sz="2200" i="1" dirty="0"/>
                  <a:t> x</a:t>
                </a:r>
                <a:r>
                  <a:rPr lang="pt-BR" sz="2200" dirty="0"/>
                  <a:t> :</a:t>
                </a: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) :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sz="2200" dirty="0"/>
                  <a:t> függvény</a:t>
                </a:r>
              </a:p>
              <a:p>
                <a:pPr lvl="1"/>
                <a:r>
                  <a:rPr lang="hu-HU" sz="1800" dirty="0"/>
                  <a:t>legjobb eset: </a:t>
                </a:r>
              </a:p>
              <a:p>
                <a:pPr lvl="2"/>
                <a:r>
                  <a:rPr lang="hu-HU" sz="1600" i="1" dirty="0" err="1"/>
                  <a:t>mT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)=1, </a:t>
                </a:r>
                <a:r>
                  <a:rPr lang="hu-HU" sz="1600" i="1" dirty="0" err="1"/>
                  <a:t>mT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∈ </a:t>
                </a:r>
                <a:r>
                  <a:rPr lang="el-GR" sz="1600" dirty="0"/>
                  <a:t>Θ(1)</a:t>
                </a:r>
                <a:r>
                  <a:rPr lang="hu-HU" sz="1600" dirty="0"/>
                  <a:t> (A tömb első eleme)</a:t>
                </a:r>
              </a:p>
              <a:p>
                <a:pPr lvl="1"/>
                <a:r>
                  <a:rPr lang="hu-HU" sz="1800" dirty="0"/>
                  <a:t>legrosszabb eset: </a:t>
                </a:r>
              </a:p>
              <a:p>
                <a:pPr lvl="2"/>
                <a:r>
                  <a:rPr lang="hu-HU" sz="1600" i="1" dirty="0"/>
                  <a:t>MT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=</a:t>
                </a:r>
                <a:r>
                  <a:rPr lang="hu-HU" sz="1600" i="1" dirty="0"/>
                  <a:t>n</a:t>
                </a:r>
                <a:r>
                  <a:rPr lang="hu-HU" sz="1600" dirty="0"/>
                  <a:t>+1, </a:t>
                </a:r>
                <a:r>
                  <a:rPr lang="hu-HU" sz="1600" i="1" dirty="0"/>
                  <a:t>MT</a:t>
                </a:r>
                <a:r>
                  <a:rPr lang="hu-HU" sz="1600" dirty="0"/>
                  <a:t>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∈ </a:t>
                </a:r>
                <a:r>
                  <a:rPr lang="el-GR" sz="1600" dirty="0"/>
                  <a:t>Θ(</a:t>
                </a:r>
                <a:r>
                  <a:rPr lang="hu-HU" sz="1600" i="1" dirty="0"/>
                  <a:t>n</a:t>
                </a:r>
                <a:r>
                  <a:rPr lang="hu-HU" sz="1600" dirty="0"/>
                  <a:t>) (A tömb nem tartalmazza </a:t>
                </a:r>
                <a:r>
                  <a:rPr lang="hu-HU" sz="1600" i="1" dirty="0"/>
                  <a:t>x</a:t>
                </a:r>
                <a:r>
                  <a:rPr lang="hu-HU" sz="1600" dirty="0"/>
                  <a:t>-</a:t>
                </a:r>
                <a:r>
                  <a:rPr lang="hu-HU" sz="1600" dirty="0" err="1"/>
                  <a:t>et</a:t>
                </a:r>
                <a:r>
                  <a:rPr lang="hu-HU" sz="1600" dirty="0"/>
                  <a:t>)</a:t>
                </a:r>
              </a:p>
              <a:p>
                <a:pPr marL="285750" lvl="1"/>
                <a:r>
                  <a:rPr lang="hu-HU" sz="2200" dirty="0"/>
                  <a:t>binarySearch(A :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[</a:t>
                </a:r>
                <a:r>
                  <a:rPr lang="hu-HU" sz="2200" i="1" dirty="0"/>
                  <a:t>n</a:t>
                </a:r>
                <a:r>
                  <a:rPr lang="hu-HU" sz="2200" dirty="0"/>
                  <a:t>] ;</a:t>
                </a:r>
                <a:r>
                  <a:rPr lang="pt-BR" sz="2200" i="1" dirty="0"/>
                  <a:t> x</a:t>
                </a:r>
                <a:r>
                  <a:rPr lang="pt-BR" sz="2200" dirty="0"/>
                  <a:t> :</a:t>
                </a: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sz="2200" dirty="0"/>
                  <a:t>) :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sz="2200" dirty="0"/>
                  <a:t> függvény</a:t>
                </a:r>
              </a:p>
              <a:p>
                <a:pPr lvl="1"/>
                <a:r>
                  <a:rPr lang="hu-HU" sz="1800" dirty="0"/>
                  <a:t>legjobb eset:</a:t>
                </a:r>
              </a:p>
              <a:p>
                <a:pPr lvl="2"/>
                <a:r>
                  <a:rPr lang="hu-HU" dirty="0"/>
                  <a:t> </a:t>
                </a:r>
                <a:r>
                  <a:rPr lang="hu-HU" i="1" dirty="0" err="1"/>
                  <a:t>mT</a:t>
                </a:r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)=2, </a:t>
                </a:r>
                <a:r>
                  <a:rPr lang="hu-HU" i="1" dirty="0" err="1"/>
                  <a:t>mT</a:t>
                </a:r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) ∈ </a:t>
                </a:r>
                <a:r>
                  <a:rPr lang="el-GR" dirty="0"/>
                  <a:t>Θ(1)</a:t>
                </a:r>
                <a:r>
                  <a:rPr lang="hu-HU" dirty="0"/>
                  <a:t> (</a:t>
                </a:r>
                <a:r>
                  <a:rPr lang="de-DE" i="1" dirty="0"/>
                  <a:t>x</a:t>
                </a:r>
                <a:r>
                  <a:rPr lang="de-DE" dirty="0"/>
                  <a:t> a </a:t>
                </a:r>
                <a:r>
                  <a:rPr lang="de-DE" dirty="0" err="1"/>
                  <a:t>tömb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hu-HU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dirty="0"/>
                  <a:t>. </a:t>
                </a:r>
                <a:r>
                  <a:rPr lang="de-DE" dirty="0" err="1"/>
                  <a:t>eleme</a:t>
                </a:r>
                <a:r>
                  <a:rPr lang="hu-HU" dirty="0"/>
                  <a:t>)</a:t>
                </a:r>
              </a:p>
              <a:p>
                <a:pPr lvl="1"/>
                <a:r>
                  <a:rPr lang="hu-HU" sz="1800" dirty="0"/>
                  <a:t>legrosszabb eset: </a:t>
                </a:r>
              </a:p>
              <a:p>
                <a:pPr lvl="2"/>
                <a:r>
                  <a:rPr lang="hu-HU" i="1" dirty="0"/>
                  <a:t>MT</a:t>
                </a:r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) ∈ </a:t>
                </a:r>
                <a:r>
                  <a:rPr lang="el-GR" dirty="0"/>
                  <a:t>Θ(</a:t>
                </a:r>
                <a:r>
                  <a:rPr lang="hu-HU" dirty="0"/>
                  <a:t>log </a:t>
                </a:r>
                <a:r>
                  <a:rPr lang="hu-HU" i="1" dirty="0"/>
                  <a:t>n</a:t>
                </a:r>
                <a:r>
                  <a:rPr lang="hu-HU" dirty="0"/>
                  <a:t>) (</a:t>
                </a:r>
                <a:r>
                  <a:rPr lang="hu-HU" i="1" dirty="0"/>
                  <a:t>x</a:t>
                </a:r>
                <a:r>
                  <a:rPr lang="hu-HU" dirty="0"/>
                  <a:t> nincs a tömbben)</a:t>
                </a:r>
              </a:p>
              <a:p>
                <a:pPr lvl="2"/>
                <a:r>
                  <a:rPr lang="hu-HU" sz="1600" dirty="0"/>
                  <a:t>az előnye a </a:t>
                </a:r>
                <a:r>
                  <a:rPr lang="hu-HU" sz="1600" dirty="0" err="1"/>
                  <a:t>linearSearch-höz</a:t>
                </a:r>
                <a:r>
                  <a:rPr lang="hu-HU" sz="1600" dirty="0"/>
                  <a:t> képest az </a:t>
                </a:r>
                <a:r>
                  <a:rPr lang="hu-HU" sz="1600" i="1" dirty="0"/>
                  <a:t>n</a:t>
                </a:r>
                <a:r>
                  <a:rPr lang="hu-HU" sz="1600" dirty="0"/>
                  <a:t> növelésével tovább nő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hu-H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hu-HU" sz="16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hu-HU" sz="16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hu-HU" sz="16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hu-H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hu-HU" sz="2600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3BAA92-27A1-9A64-B41E-1EBF01562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3038" y="936204"/>
                <a:ext cx="10018713" cy="5768502"/>
              </a:xfrm>
              <a:blipFill>
                <a:blip r:embed="rId2"/>
                <a:stretch>
                  <a:fillRect l="-1338" t="-222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9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14">
            <a:extLst>
              <a:ext uri="{FF2B5EF4-FFF2-40B4-BE49-F238E27FC236}">
                <a16:creationId xmlns:a16="http://schemas.microsoft.com/office/drawing/2014/main" id="{8A6DB094-8D49-20DF-26E1-ADABD573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468" y="1014510"/>
            <a:ext cx="8299273" cy="394160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0" name="Gondolatbuborék: felhő 9">
            <a:extLst>
              <a:ext uri="{FF2B5EF4-FFF2-40B4-BE49-F238E27FC236}">
                <a16:creationId xmlns:a16="http://schemas.microsoft.com/office/drawing/2014/main" id="{A60DC9B9-89A7-FB48-26E9-C1370F7D5A63}"/>
              </a:ext>
            </a:extLst>
          </p:cNvPr>
          <p:cNvSpPr/>
          <p:nvPr/>
        </p:nvSpPr>
        <p:spPr>
          <a:xfrm>
            <a:off x="2324912" y="5116749"/>
            <a:ext cx="6756680" cy="1673157"/>
          </a:xfrm>
          <a:prstGeom prst="cloudCallout">
            <a:avLst>
              <a:gd name="adj1" fmla="val -1294"/>
              <a:gd name="adj2" fmla="val -70910"/>
            </a:avLst>
          </a:prstGeom>
          <a:solidFill>
            <a:srgbClr val="F4F3EE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8A68C43-E70A-97F8-3484-E9DFC67C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478" y="160508"/>
            <a:ext cx="10018713" cy="860898"/>
          </a:xfrm>
        </p:spPr>
        <p:txBody>
          <a:bodyPr/>
          <a:lstStyle/>
          <a:p>
            <a:r>
              <a:rPr lang="hu-HU" dirty="0"/>
              <a:t>Algoritmusok, mint gépezetek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artalom helye 2">
                <a:extLst>
                  <a:ext uri="{FF2B5EF4-FFF2-40B4-BE49-F238E27FC236}">
                    <a16:creationId xmlns:a16="http://schemas.microsoft.com/office/drawing/2014/main" id="{C2BC027C-2B01-F944-7F27-D897BC21D1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7285" y="4815191"/>
                <a:ext cx="5885235" cy="1882301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2800" b="0" kern="1200" cap="none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20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8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2860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7432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2004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65760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None/>
                  <a:defRPr sz="1600" b="1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a typeface="Calibri" panose="020F0502020204030204" pitchFamily="34" charset="0"/>
                    <a:cs typeface="F78"/>
                  </a:rPr>
                  <a:t>e</a:t>
                </a: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gy jól definiált kiszámítási eljárás, amely valamely adatok (</a:t>
                </a:r>
                <a:r>
                  <a:rPr lang="hu-HU" sz="1600" i="1" dirty="0">
                    <a:ea typeface="Calibri" panose="020F0502020204030204" pitchFamily="34" charset="0"/>
                    <a:cs typeface="F78"/>
                  </a:rPr>
                  <a:t>input</a:t>
                </a: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) felhasználásával újabbakat (</a:t>
                </a:r>
                <a:r>
                  <a:rPr lang="hu-HU" sz="1600" i="1" dirty="0">
                    <a:ea typeface="Calibri" panose="020F0502020204030204" pitchFamily="34" charset="0"/>
                    <a:cs typeface="F78"/>
                  </a:rPr>
                  <a:t>output</a:t>
                </a: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) állít elő </a:t>
                </a:r>
                <a:endParaRPr lang="hu-HU" sz="16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F29"/>
                  </a:rPr>
                  <a:t>Pl. két egész szám legnagyobb közös osztójára: </a:t>
                </a:r>
                <a:b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F29"/>
                  </a:rPr>
                </a:b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sz="16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F29"/>
                  </a:rPr>
                  <a:t>lnko</a:t>
                </a: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MI12"/>
                  </a:rPr>
                  <a:t>y</a:t>
                </a: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hu-HU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R12"/>
                  </a:rPr>
                  <a:t>) : </a:t>
                </a:r>
                <a14:m>
                  <m:oMath xmlns:m="http://schemas.openxmlformats.org/officeDocument/2006/math">
                    <m:r>
                      <a:rPr lang="hu-HU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hu-HU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Calibri" panose="020F0502020204030204" pitchFamily="34" charset="0"/>
                    <a:cs typeface="CMR12"/>
                  </a:rPr>
                  <a:t>]</a:t>
                </a:r>
                <a:endParaRPr lang="hu-HU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artalom helye 2">
                <a:extLst>
                  <a:ext uri="{FF2B5EF4-FFF2-40B4-BE49-F238E27FC236}">
                    <a16:creationId xmlns:a16="http://schemas.microsoft.com/office/drawing/2014/main" id="{C2BC027C-2B01-F944-7F27-D897BC21D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85" y="4815191"/>
                <a:ext cx="5885235" cy="1882301"/>
              </a:xfrm>
              <a:prstGeom prst="rect">
                <a:avLst/>
              </a:prstGeom>
              <a:blipFill>
                <a:blip r:embed="rId3"/>
                <a:stretch>
                  <a:fillRect r="-415" b="-420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99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0193DF-BF5C-7710-1F59-341E099D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45104"/>
            <a:ext cx="10255406" cy="995516"/>
          </a:xfrm>
        </p:spPr>
        <p:txBody>
          <a:bodyPr>
            <a:normAutofit/>
          </a:bodyPr>
          <a:lstStyle/>
          <a:p>
            <a:r>
              <a:rPr lang="hu-HU" dirty="0"/>
              <a:t>Algoritmus, elő- és utófeltétel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96530"/>
                <a:ext cx="10018713" cy="411636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Algoritmus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: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e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gy jól definiált kiszámítási eljárás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valamely adatok 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bemenet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vagy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input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felhasználásával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újabbakat 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kimenet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eredmény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vagy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output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állít elő 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Pl. két egész szám legnagyobb közös osztójára: 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lnko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y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R12"/>
                  </a:rPr>
                  <a:t>) : </a:t>
                </a:r>
                <a14:m>
                  <m:oMath xmlns:m="http://schemas.openxmlformats.org/officeDocument/2006/math">
                    <m:r>
                      <a:rPr lang="hu-HU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R12"/>
                  </a:rPr>
                  <a:t>]</a:t>
                </a:r>
                <a:endParaRPr lang="hu-HU" dirty="0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Az algoritmus bemenete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egy adott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előfeltételnek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kell eleget tegyen. 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Pl. </a:t>
                </a:r>
                <a:r>
                  <a:rPr lang="hu-HU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lnko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y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) függvénynél: 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és </a:t>
                </a:r>
                <a:r>
                  <a:rPr lang="hu-HU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y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Calibri" panose="020F0502020204030204" pitchFamily="34" charset="0"/>
                    <a:cs typeface="F29"/>
                  </a:rPr>
                  <a:t>egész számok, és nem mindkettő nulla</a:t>
                </a:r>
                <a:endParaRPr lang="hu-HU" dirty="0">
                  <a:solidFill>
                    <a:schemeClr val="tx2">
                      <a:lumMod val="75000"/>
                      <a:lumOff val="2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A2DC557-2E86-449F-F1F7-B26BC04A2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96530"/>
                <a:ext cx="10018713" cy="4116366"/>
              </a:xfrm>
              <a:blipFill>
                <a:blip r:embed="rId2"/>
                <a:stretch>
                  <a:fillRect l="-1521" t="-2667" b="-251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72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F62434-C1FF-94AA-E1A9-A8D69784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33323C-291E-4CF5-A3B6-A718EE4ED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64560"/>
            <a:ext cx="10255406" cy="995516"/>
          </a:xfrm>
        </p:spPr>
        <p:txBody>
          <a:bodyPr>
            <a:normAutofit/>
          </a:bodyPr>
          <a:lstStyle/>
          <a:p>
            <a:r>
              <a:rPr lang="hu-HU" dirty="0"/>
              <a:t>Algoritmus, elő- és utófeltétel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6F632C-BFC0-BB8D-1563-A30A3F989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63821"/>
            <a:ext cx="10018713" cy="40580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Ha az előfeltétel teljesül, a kimenet adott </a:t>
            </a:r>
            <a:r>
              <a:rPr lang="hu-HU" i="1" dirty="0">
                <a:effectLst/>
                <a:ea typeface="Calibri" panose="020F0502020204030204" pitchFamily="34" charset="0"/>
                <a:cs typeface="F78"/>
              </a:rPr>
              <a:t>utófeltételnek</a:t>
            </a:r>
            <a:r>
              <a:rPr lang="hu-HU" dirty="0">
                <a:effectLst/>
                <a:ea typeface="Calibri" panose="020F0502020204030204" pitchFamily="34" charset="0"/>
                <a:cs typeface="F78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kell eleget tegyen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 algoritmus bemenete és a kimenete közt elvárt kapcsolat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 algoritmus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számítási lépésekből áll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szekvenciák, elágazások, ciklusok, eljárás- és függvényhívások segítségével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pszeudo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-kódot (pl. </a:t>
            </a: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struktogramokat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 felhasználva formálunk algoritmussá.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10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elhő 5">
            <a:extLst>
              <a:ext uri="{FF2B5EF4-FFF2-40B4-BE49-F238E27FC236}">
                <a16:creationId xmlns:a16="http://schemas.microsoft.com/office/drawing/2014/main" id="{C7AE7213-56EF-9E43-CCF9-422CC45CFC82}"/>
              </a:ext>
            </a:extLst>
          </p:cNvPr>
          <p:cNvSpPr/>
          <p:nvPr/>
        </p:nvSpPr>
        <p:spPr>
          <a:xfrm>
            <a:off x="954088" y="1226127"/>
            <a:ext cx="10018713" cy="5520114"/>
          </a:xfrm>
          <a:prstGeom prst="cloud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4FB1031-B0C8-A637-283C-A9A07D5C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262" y="0"/>
            <a:ext cx="10018713" cy="839118"/>
          </a:xfrm>
        </p:spPr>
        <p:txBody>
          <a:bodyPr/>
          <a:lstStyle/>
          <a:p>
            <a:r>
              <a:rPr lang="hu-HU"/>
              <a:t>Elemi adatszerkezetek és adattípusok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58F8EB-D577-6301-3EA7-31FDCB33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017" y="976746"/>
            <a:ext cx="8643773" cy="604181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u-HU" sz="2800" b="1" i="0" u="none" strike="noStrike" baseline="0" dirty="0"/>
              <a:t>Adatszerkezet (</a:t>
            </a:r>
            <a:r>
              <a:rPr lang="hu-HU" sz="2800" b="1" dirty="0" err="1"/>
              <a:t>d</a:t>
            </a:r>
            <a:r>
              <a:rPr lang="hu-HU" sz="2800" b="1" i="0" u="none" strike="noStrike" baseline="0" dirty="0" err="1"/>
              <a:t>ata</a:t>
            </a:r>
            <a:r>
              <a:rPr lang="hu-HU" sz="2800" b="1" i="0" u="none" strike="noStrike" baseline="0" dirty="0"/>
              <a:t> </a:t>
            </a:r>
            <a:r>
              <a:rPr lang="hu-HU" sz="2800" b="1" dirty="0" err="1"/>
              <a:t>s</a:t>
            </a:r>
            <a:r>
              <a:rPr lang="hu-HU" sz="2800" b="1" i="0" u="none" strike="noStrike" baseline="0" dirty="0" err="1"/>
              <a:t>tructure</a:t>
            </a:r>
            <a:r>
              <a:rPr lang="hu-HU" sz="2800" b="1" i="0" u="none" strike="noStrike" baseline="0" dirty="0"/>
              <a:t>)</a:t>
            </a:r>
          </a:p>
          <a:p>
            <a:pPr lvl="1"/>
            <a:r>
              <a:rPr lang="hu-HU" sz="2400" b="0" i="0" u="none" strike="noStrike" baseline="0" dirty="0"/>
              <a:t>Adatok </a:t>
            </a:r>
            <a:r>
              <a:rPr lang="hu-HU" sz="2400" b="1" i="0" u="none" strike="noStrike" baseline="0" dirty="0"/>
              <a:t>tárolásának</a:t>
            </a:r>
            <a:r>
              <a:rPr lang="hu-HU" sz="2400" b="0" i="0" u="none" strike="noStrike" baseline="0" dirty="0"/>
              <a:t> és </a:t>
            </a:r>
            <a:r>
              <a:rPr lang="hu-HU" sz="2400" b="1" i="0" u="none" strike="noStrike" baseline="0" dirty="0"/>
              <a:t>elrendezésének</a:t>
            </a:r>
            <a:r>
              <a:rPr lang="hu-HU" sz="2400" b="0" i="0" u="none" strike="noStrike" baseline="0" dirty="0"/>
              <a:t> egy lehetséges módja, amely lehetővé teszi:</a:t>
            </a:r>
          </a:p>
          <a:p>
            <a:pPr lvl="2"/>
            <a:r>
              <a:rPr lang="hu-HU" sz="2400" b="1" i="0" u="none" strike="noStrike" baseline="0" dirty="0"/>
              <a:t>adatok elérését, módosítását, beszúrását, törlését</a:t>
            </a:r>
          </a:p>
          <a:p>
            <a:pPr lvl="1"/>
            <a:r>
              <a:rPr lang="hu-HU" sz="2400" b="0" i="0" u="none" strike="noStrike" baseline="0" dirty="0"/>
              <a:t>A programozási feladat megoldásának alapvet</a:t>
            </a:r>
            <a:r>
              <a:rPr lang="hu-HU" sz="2400" dirty="0"/>
              <a:t>ő</a:t>
            </a:r>
            <a:r>
              <a:rPr lang="hu-HU" sz="2400" b="0" i="0" u="none" strike="noStrike" baseline="0" dirty="0"/>
              <a:t> része:</a:t>
            </a:r>
          </a:p>
          <a:p>
            <a:pPr lvl="2"/>
            <a:r>
              <a:rPr lang="hu-HU" sz="2400" b="0" i="0" u="none" strike="noStrike" baseline="0" dirty="0"/>
              <a:t>A megfelel</a:t>
            </a:r>
            <a:r>
              <a:rPr lang="hu-HU" sz="2400" dirty="0"/>
              <a:t>ő </a:t>
            </a:r>
            <a:r>
              <a:rPr lang="hu-HU" sz="2400" b="0" i="0" u="none" strike="noStrike" baseline="0" dirty="0"/>
              <a:t>adatszerkezetek kiválasztása vagy megalkotása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2400" b="0" i="0" u="none" strike="noStrike" baseline="0" dirty="0"/>
              <a:t>A programok hatékonysága nagymértékben függ az alkalmazott adatszerkezetektől</a:t>
            </a:r>
          </a:p>
        </p:txBody>
      </p:sp>
    </p:spTree>
    <p:extLst>
      <p:ext uri="{BB962C8B-B14F-4D97-AF65-F5344CB8AC3E}">
        <p14:creationId xmlns:p14="http://schemas.microsoft.com/office/powerpoint/2010/main" val="394507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E157-3D35-531D-1C40-FECCB1A7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elhő 5">
            <a:extLst>
              <a:ext uri="{FF2B5EF4-FFF2-40B4-BE49-F238E27FC236}">
                <a16:creationId xmlns:a16="http://schemas.microsoft.com/office/drawing/2014/main" id="{6065A215-0445-7AE2-8DF1-FB7EAE18FF95}"/>
              </a:ext>
            </a:extLst>
          </p:cNvPr>
          <p:cNvSpPr/>
          <p:nvPr/>
        </p:nvSpPr>
        <p:spPr>
          <a:xfrm rot="1595734">
            <a:off x="4918466" y="888272"/>
            <a:ext cx="8006768" cy="6105007"/>
          </a:xfrm>
          <a:prstGeom prst="cloud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3C9A3F-0387-F2E0-4049-FAE85B77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543" y="31527"/>
            <a:ext cx="10018713" cy="825759"/>
          </a:xfrm>
        </p:spPr>
        <p:txBody>
          <a:bodyPr/>
          <a:lstStyle/>
          <a:p>
            <a:r>
              <a:rPr lang="hu-HU"/>
              <a:t>Elemi adatszerkezetek és adattípusok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3636A4-9003-6255-6F30-2B5083856F69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09284">
            <a:off x="5262676" y="1361473"/>
            <a:ext cx="6942556" cy="48633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u-HU" sz="2800" b="1" i="0" u="none" strike="noStrike" baseline="0"/>
              <a:t>Absztrakt adattípus (ADT) </a:t>
            </a:r>
          </a:p>
          <a:p>
            <a:pPr marL="0" indent="0" algn="ctr">
              <a:buNone/>
            </a:pPr>
            <a:r>
              <a:rPr lang="hu-HU" sz="2800" b="1" i="0" u="none" strike="noStrike" baseline="0"/>
              <a:t>(</a:t>
            </a:r>
            <a:r>
              <a:rPr lang="hu-HU" sz="2800" b="1" i="0" u="none" strike="noStrike" baseline="0" err="1"/>
              <a:t>Abstract</a:t>
            </a:r>
            <a:r>
              <a:rPr lang="hu-HU" sz="2800" b="1" i="0" u="none" strike="noStrike" baseline="0"/>
              <a:t> Data </a:t>
            </a:r>
            <a:r>
              <a:rPr lang="hu-HU" sz="2800" b="1" i="0" u="none" strike="noStrike" baseline="0" err="1"/>
              <a:t>Type</a:t>
            </a:r>
            <a:r>
              <a:rPr lang="hu-HU" sz="2800" b="1" i="0" u="none" strike="noStrike" baseline="0"/>
              <a:t>)</a:t>
            </a:r>
          </a:p>
          <a:p>
            <a:pPr lvl="1"/>
            <a:r>
              <a:rPr lang="hu-HU" sz="2400" b="0" i="0" u="none" strike="noStrike" baseline="0"/>
              <a:t>Nem definiáljuk pontosan az adatszerkezetet</a:t>
            </a:r>
          </a:p>
          <a:p>
            <a:pPr lvl="2"/>
            <a:r>
              <a:rPr lang="hu-HU" sz="2400" b="0" i="0" u="none" strike="noStrike" baseline="0"/>
              <a:t> csak  informálisan  a műveleteket</a:t>
            </a:r>
          </a:p>
          <a:p>
            <a:pPr lvl="1"/>
            <a:r>
              <a:rPr lang="hu-HU" sz="2400" b="0" i="0" u="none" strike="noStrike" baseline="0"/>
              <a:t>Az ADT megvalósításának részei: (UML)</a:t>
            </a:r>
          </a:p>
          <a:p>
            <a:pPr lvl="2"/>
            <a:r>
              <a:rPr lang="hu-HU" sz="2400" b="0" i="0" u="none" strike="noStrike" baseline="0"/>
              <a:t> reprezentálása: </a:t>
            </a:r>
          </a:p>
          <a:p>
            <a:pPr lvl="3"/>
            <a:r>
              <a:rPr lang="hu-HU" sz="2400" b="0" i="0" u="none" strike="noStrike" baseline="0"/>
              <a:t>adatszerkezet megadása (adattagok)</a:t>
            </a:r>
          </a:p>
          <a:p>
            <a:pPr lvl="2"/>
            <a:r>
              <a:rPr lang="hu-HU" sz="2400" b="0" i="0" u="none" strike="noStrike" baseline="0"/>
              <a:t> implementálása: </a:t>
            </a:r>
          </a:p>
          <a:p>
            <a:pPr lvl="3"/>
            <a:r>
              <a:rPr lang="hu-HU" sz="2400" b="0" i="0" u="none" strike="noStrike" baseline="0"/>
              <a:t>m</a:t>
            </a:r>
            <a:r>
              <a:rPr lang="hu-HU" sz="2400"/>
              <a:t>ű</a:t>
            </a:r>
            <a:r>
              <a:rPr lang="hu-HU" sz="2400" b="0" i="0" u="none" strike="noStrike" baseline="0"/>
              <a:t>veleti kód (metódusok)</a:t>
            </a:r>
          </a:p>
        </p:txBody>
      </p:sp>
      <p:sp>
        <p:nvSpPr>
          <p:cNvPr id="4" name="Felhő 3">
            <a:extLst>
              <a:ext uri="{FF2B5EF4-FFF2-40B4-BE49-F238E27FC236}">
                <a16:creationId xmlns:a16="http://schemas.microsoft.com/office/drawing/2014/main" id="{BF169D28-D170-34EC-4836-22E9D7A136B2}"/>
              </a:ext>
            </a:extLst>
          </p:cNvPr>
          <p:cNvSpPr/>
          <p:nvPr/>
        </p:nvSpPr>
        <p:spPr>
          <a:xfrm rot="20108205">
            <a:off x="822325" y="2438535"/>
            <a:ext cx="4494257" cy="2709246"/>
          </a:xfrm>
          <a:prstGeom prst="cloud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848BD8CC-0139-A476-EA06-CDF14F31EE23}"/>
              </a:ext>
            </a:extLst>
          </p:cNvPr>
          <p:cNvSpPr txBox="1">
            <a:spLocks/>
          </p:cNvSpPr>
          <p:nvPr/>
        </p:nvSpPr>
        <p:spPr>
          <a:xfrm rot="19994462">
            <a:off x="1299776" y="997765"/>
            <a:ext cx="4068425" cy="522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800" b="1" dirty="0"/>
              <a:t>Adattípus (</a:t>
            </a:r>
            <a:r>
              <a:rPr lang="hu-HU" sz="2800" b="1" dirty="0" err="1"/>
              <a:t>data</a:t>
            </a:r>
            <a:r>
              <a:rPr lang="hu-HU" sz="2800" b="1" dirty="0"/>
              <a:t> </a:t>
            </a:r>
            <a:r>
              <a:rPr lang="hu-HU" sz="2800" b="1" dirty="0" err="1"/>
              <a:t>type</a:t>
            </a:r>
            <a:r>
              <a:rPr lang="hu-HU" sz="2800" b="1" dirty="0"/>
              <a:t>)</a:t>
            </a:r>
          </a:p>
          <a:p>
            <a:pPr lvl="1"/>
            <a:r>
              <a:rPr lang="hu-HU" sz="2400" dirty="0"/>
              <a:t>Adatszerkezet </a:t>
            </a:r>
          </a:p>
          <a:p>
            <a:pPr lvl="1">
              <a:buFont typeface="Calibri" panose="020F0502020204030204" pitchFamily="34" charset="0"/>
              <a:buChar char="+"/>
            </a:pPr>
            <a:r>
              <a:rPr lang="hu-HU" sz="2400" dirty="0"/>
              <a:t>a rajta értelmezett műveletek</a:t>
            </a:r>
          </a:p>
        </p:txBody>
      </p:sp>
    </p:spTree>
    <p:extLst>
      <p:ext uri="{BB962C8B-B14F-4D97-AF65-F5344CB8AC3E}">
        <p14:creationId xmlns:p14="http://schemas.microsoft.com/office/powerpoint/2010/main" val="226036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7DECFE50-5DB5-ADBE-5E7F-16D23B9499B2}"/>
              </a:ext>
            </a:extLst>
          </p:cNvPr>
          <p:cNvSpPr txBox="1">
            <a:spLocks/>
          </p:cNvSpPr>
          <p:nvPr/>
        </p:nvSpPr>
        <p:spPr>
          <a:xfrm>
            <a:off x="1484311" y="628073"/>
            <a:ext cx="10018713" cy="69563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/>
              <a:t>Tömb (</a:t>
            </a:r>
            <a:r>
              <a:rPr lang="hu-HU" dirty="0" err="1"/>
              <a:t>Array</a:t>
            </a:r>
            <a:r>
              <a:rPr lang="hu-HU" dirty="0"/>
              <a:t>)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C747F01-4737-9E88-1289-D6B1FECC380F}"/>
              </a:ext>
            </a:extLst>
          </p:cNvPr>
          <p:cNvSpPr txBox="1">
            <a:spLocks/>
          </p:cNvSpPr>
          <p:nvPr/>
        </p:nvSpPr>
        <p:spPr>
          <a:xfrm>
            <a:off x="1600166" y="1569472"/>
            <a:ext cx="4399405" cy="1661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Tömbhivatkozás (</a:t>
            </a:r>
            <a:r>
              <a:rPr lang="hu-HU" dirty="0" err="1"/>
              <a:t>array</a:t>
            </a:r>
            <a:r>
              <a:rPr lang="hu-HU" dirty="0"/>
              <a:t> </a:t>
            </a:r>
            <a:r>
              <a:rPr lang="hu-HU" dirty="0" err="1"/>
              <a:t>reference</a:t>
            </a:r>
            <a:r>
              <a:rPr lang="hu-HU" dirty="0"/>
              <a:t>)</a:t>
            </a:r>
          </a:p>
          <a:p>
            <a:pPr lvl="1"/>
            <a:r>
              <a:rPr lang="hu-HU" sz="2100" dirty="0"/>
              <a:t>tömb hossza (</a:t>
            </a:r>
            <a:r>
              <a:rPr lang="hu-HU" sz="2100" dirty="0" err="1"/>
              <a:t>length</a:t>
            </a:r>
            <a:r>
              <a:rPr lang="hu-HU" sz="2100" dirty="0"/>
              <a:t>, elemszáma)</a:t>
            </a:r>
          </a:p>
          <a:p>
            <a:pPr lvl="1"/>
            <a:r>
              <a:rPr lang="hu-HU" sz="2100" dirty="0"/>
              <a:t>mutató (pointer): </a:t>
            </a:r>
            <a:br>
              <a:rPr lang="hu-HU" sz="2100" dirty="0"/>
            </a:br>
            <a:r>
              <a:rPr lang="hu-HU" sz="2100" dirty="0"/>
              <a:t>		tömbtárolóra hivatkozik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0971165D-32C0-7648-B539-A15767FF8DA4}"/>
              </a:ext>
            </a:extLst>
          </p:cNvPr>
          <p:cNvSpPr txBox="1">
            <a:spLocks/>
          </p:cNvSpPr>
          <p:nvPr/>
        </p:nvSpPr>
        <p:spPr>
          <a:xfrm>
            <a:off x="6934260" y="1569791"/>
            <a:ext cx="4109884" cy="1661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Tömbtároló ( </a:t>
            </a:r>
            <a:r>
              <a:rPr lang="hu-HU" dirty="0" err="1"/>
              <a:t>array</a:t>
            </a:r>
            <a:r>
              <a:rPr lang="hu-HU" dirty="0"/>
              <a:t> </a:t>
            </a:r>
            <a:r>
              <a:rPr lang="hu-HU" dirty="0" err="1"/>
              <a:t>storage</a:t>
            </a:r>
            <a:r>
              <a:rPr lang="hu-HU" dirty="0"/>
              <a:t>)</a:t>
            </a:r>
          </a:p>
          <a:p>
            <a:pPr lvl="1"/>
            <a:r>
              <a:rPr lang="hu-HU" sz="1900" dirty="0"/>
              <a:t>a tömb elemeit tartalmazó memóriacelláknak a memóriában folytonos sorozata</a:t>
            </a:r>
          </a:p>
        </p:txBody>
      </p:sp>
      <p:sp>
        <p:nvSpPr>
          <p:cNvPr id="9" name="Összeadás jele 8">
            <a:extLst>
              <a:ext uri="{FF2B5EF4-FFF2-40B4-BE49-F238E27FC236}">
                <a16:creationId xmlns:a16="http://schemas.microsoft.com/office/drawing/2014/main" id="{0D343889-2C95-E545-A09E-B41AF30409DD}"/>
              </a:ext>
            </a:extLst>
          </p:cNvPr>
          <p:cNvSpPr/>
          <p:nvPr/>
        </p:nvSpPr>
        <p:spPr>
          <a:xfrm>
            <a:off x="6226025" y="1939424"/>
            <a:ext cx="481781" cy="49161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852A2B8-458D-9A98-BD9C-6C52B173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128" y="3428217"/>
            <a:ext cx="6281136" cy="322596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94168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9625DE-1FE3-AB42-3068-D196CF77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08" y="238328"/>
            <a:ext cx="6911544" cy="695635"/>
          </a:xfrm>
        </p:spPr>
        <p:txBody>
          <a:bodyPr>
            <a:noAutofit/>
          </a:bodyPr>
          <a:lstStyle/>
          <a:p>
            <a:r>
              <a:rPr lang="hu-HU" dirty="0"/>
              <a:t>Tömb deklaráció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AE84942-F241-432B-87A1-AFC08BCDCA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30478" y="1089498"/>
                <a:ext cx="9772546" cy="5605216"/>
              </a:xfrm>
            </p:spPr>
            <p:txBody>
              <a:bodyPr>
                <a:normAutofit/>
              </a:bodyPr>
              <a:lstStyle/>
              <a:p>
                <a:r>
                  <a:rPr lang="hu-HU" sz="2200" b="1" i="1" dirty="0"/>
                  <a:t>A</a:t>
                </a:r>
                <a:r>
                  <a:rPr lang="hu-HU" sz="2200" b="1" dirty="0"/>
                  <a:t> : </a:t>
                </a:r>
                <a14:m>
                  <m:oMath xmlns:m="http://schemas.openxmlformats.org/officeDocument/2006/math">
                    <m:r>
                      <a:rPr lang="hu-HU" sz="22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𝓣</m:t>
                    </m:r>
                  </m:oMath>
                </a14:m>
                <a:r>
                  <a:rPr lang="hu-HU" sz="2200" b="1" dirty="0"/>
                  <a:t>[</a:t>
                </a:r>
                <a:r>
                  <a:rPr lang="hu-HU" sz="2200" b="1" i="1" dirty="0"/>
                  <a:t>n</a:t>
                </a:r>
                <a:r>
                  <a:rPr lang="hu-HU" sz="2200" b="1" dirty="0"/>
                  <a:t>] </a:t>
                </a:r>
                <a:r>
                  <a:rPr lang="hu-HU" sz="2200" dirty="0"/>
                  <a:t>deklaráció kiértékelése </a:t>
                </a:r>
              </a:p>
              <a:p>
                <a:pPr lvl="1"/>
                <a:r>
                  <a:rPr lang="hu-HU" sz="1800" dirty="0"/>
                  <a:t>Létrehoz: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hu-HU" sz="1600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 sz="1600" dirty="0"/>
                  <a:t> elemtípusú, </a:t>
                </a:r>
                <a:r>
                  <a:rPr lang="hu-HU" sz="1600" i="1" dirty="0"/>
                  <a:t>n</a:t>
                </a:r>
                <a:r>
                  <a:rPr lang="hu-HU" sz="1600" dirty="0"/>
                  <a:t> elemű tömbtárolót (</a:t>
                </a:r>
                <a:r>
                  <a:rPr lang="hu-HU" sz="1600" i="1" dirty="0"/>
                  <a:t>n</a:t>
                </a:r>
                <a:r>
                  <a:rPr lang="hu-HU" sz="1600" dirty="0"/>
                  <a:t> ∈ </a:t>
                </a:r>
                <a14:m>
                  <m:oMath xmlns:m="http://schemas.openxmlformats.org/officeDocument/2006/math">
                    <m:r>
                      <a:rPr lang="hu-HU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sz="1600" dirty="0"/>
                  <a:t>)</a:t>
                </a:r>
              </a:p>
              <a:p>
                <a:pPr lvl="2"/>
                <a:r>
                  <a:rPr lang="hu-HU" sz="1600" i="1" dirty="0"/>
                  <a:t>A</a:t>
                </a:r>
                <a:r>
                  <a:rPr lang="hu-HU" sz="1600" dirty="0"/>
                  <a:t> : </a:t>
                </a:r>
                <a14:m>
                  <m:oMath xmlns:m="http://schemas.openxmlformats.org/officeDocument/2006/math">
                    <m:r>
                      <a:rPr lang="hu-HU" sz="1600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 sz="1600" dirty="0"/>
                  <a:t>[] típusú tömbhivatkozást</a:t>
                </a:r>
              </a:p>
              <a:p>
                <a:pPr lvl="1"/>
                <a:r>
                  <a:rPr lang="hu-HU" sz="1800" dirty="0"/>
                  <a:t>Élettartam: a deklarációt tartalmazó programblokk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600" dirty="0"/>
                  <a:t>befejeződésekor a tömbhivatkozással együtt a tömbtároló is automatikusan törlődik</a:t>
                </a:r>
              </a:p>
              <a:p>
                <a:r>
                  <a:rPr lang="hu-HU" b="1" i="1" dirty="0"/>
                  <a:t>B/k</a:t>
                </a:r>
                <a:r>
                  <a:rPr lang="hu-HU" b="1" dirty="0"/>
                  <a:t> : </a:t>
                </a:r>
                <a14:m>
                  <m:oMath xmlns:m="http://schemas.openxmlformats.org/officeDocument/2006/math">
                    <m:r>
                      <a:rPr lang="hu-HU" b="1" i="1" smtClean="0">
                        <a:latin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hu-HU" b="1" dirty="0"/>
                  <a:t>[</a:t>
                </a:r>
                <a:r>
                  <a:rPr lang="hu-HU" b="1" i="1" dirty="0"/>
                  <a:t>n</a:t>
                </a:r>
                <a:r>
                  <a:rPr lang="hu-HU" b="1" dirty="0"/>
                  <a:t>] </a:t>
                </a:r>
                <a:r>
                  <a:rPr lang="hu-HU" dirty="0"/>
                  <a:t>deklaráció jelentése: </a:t>
                </a:r>
              </a:p>
              <a:p>
                <a:pPr lvl="1"/>
                <a:r>
                  <a:rPr lang="hu-HU" i="1" dirty="0"/>
                  <a:t>B</a:t>
                </a:r>
                <a:r>
                  <a:rPr lang="hu-HU" dirty="0"/>
                  <a:t> tömb hossza: </a:t>
                </a:r>
                <a:r>
                  <a:rPr lang="hu-HU" i="1" dirty="0"/>
                  <a:t>n</a:t>
                </a:r>
              </a:p>
              <a:p>
                <a:pPr lvl="1"/>
                <a:r>
                  <a:rPr lang="hu-HU" dirty="0"/>
                  <a:t>Kezdőindex: </a:t>
                </a:r>
                <a:r>
                  <a:rPr lang="hu-HU" i="1" dirty="0"/>
                  <a:t>k </a:t>
                </a:r>
                <a:r>
                  <a:rPr lang="hu-HU" dirty="0"/>
                  <a:t>(</a:t>
                </a:r>
                <a:r>
                  <a:rPr lang="hu-HU" i="1" dirty="0"/>
                  <a:t>k</a:t>
                </a:r>
                <a:r>
                  <a:rPr lang="hu-HU" dirty="0"/>
                  <a:t> ∈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u-HU" dirty="0"/>
              </a:p>
              <a:p>
                <a:pPr lvl="1"/>
                <a:r>
                  <a:rPr lang="hu-HU" i="1" dirty="0"/>
                  <a:t>B</a:t>
                </a:r>
                <a:r>
                  <a:rPr lang="hu-HU" dirty="0"/>
                  <a:t>[</a:t>
                </a:r>
                <a:r>
                  <a:rPr lang="hu-HU" i="1" dirty="0"/>
                  <a:t>k</a:t>
                </a:r>
                <a:r>
                  <a:rPr lang="hu-HU" dirty="0"/>
                  <a:t>] =</a:t>
                </a:r>
                <a:r>
                  <a:rPr lang="pt-BR" dirty="0"/>
                  <a:t>∗</a:t>
                </a:r>
                <a:r>
                  <a:rPr lang="hu-HU" i="1" dirty="0"/>
                  <a:t>B.pointer</a:t>
                </a:r>
                <a:r>
                  <a:rPr lang="pt-BR" dirty="0"/>
                  <a:t>, és </a:t>
                </a:r>
                <a:r>
                  <a:rPr lang="hu-HU" i="1" dirty="0"/>
                  <a:t>B</a:t>
                </a:r>
                <a:r>
                  <a:rPr lang="hu-HU" dirty="0"/>
                  <a:t>[</a:t>
                </a:r>
                <a:r>
                  <a:rPr lang="hu-HU" i="1" dirty="0"/>
                  <a:t>i</a:t>
                </a:r>
                <a:r>
                  <a:rPr lang="hu-HU" dirty="0"/>
                  <a:t>]=</a:t>
                </a:r>
                <a:r>
                  <a:rPr lang="pt-BR" dirty="0"/>
                  <a:t>∗(</a:t>
                </a:r>
                <a:r>
                  <a:rPr lang="hu-HU" i="1" dirty="0"/>
                  <a:t>B.pointer</a:t>
                </a:r>
                <a:r>
                  <a:rPr lang="pt-BR" dirty="0"/>
                  <a:t> + </a:t>
                </a:r>
                <a:r>
                  <a:rPr lang="pt-BR" i="1" dirty="0"/>
                  <a:t>i</a:t>
                </a:r>
                <a:r>
                  <a:rPr lang="hu-HU" dirty="0"/>
                  <a:t>-</a:t>
                </a:r>
                <a:r>
                  <a:rPr lang="hu-HU" i="1" dirty="0"/>
                  <a:t>k</a:t>
                </a:r>
                <a:r>
                  <a:rPr lang="pt-BR" dirty="0"/>
                  <a:t>), ahol </a:t>
                </a:r>
                <a:r>
                  <a:rPr lang="pt-BR" i="1" dirty="0"/>
                  <a:t>i</a:t>
                </a:r>
                <a:r>
                  <a:rPr lang="pt-BR" dirty="0"/>
                  <a:t> ∈ [</a:t>
                </a:r>
                <a:r>
                  <a:rPr lang="hu-HU" i="1" dirty="0" err="1"/>
                  <a:t>k..k</a:t>
                </a:r>
                <a:r>
                  <a:rPr lang="hu-HU" i="1" dirty="0"/>
                  <a:t>+</a:t>
                </a:r>
                <a:r>
                  <a:rPr lang="pt-BR" i="1" dirty="0"/>
                  <a:t>n</a:t>
                </a:r>
                <a:r>
                  <a:rPr lang="pt-BR" dirty="0"/>
                  <a:t>).</a:t>
                </a:r>
                <a:endParaRPr lang="hu-HU" dirty="0"/>
              </a:p>
              <a:p>
                <a:r>
                  <a:rPr lang="hu-HU" dirty="0"/>
                  <a:t>Új tömb-objektum dinamikus létrehozása, törlése:</a:t>
                </a:r>
              </a:p>
              <a:p>
                <a:pPr lvl="1"/>
                <a:r>
                  <a:rPr lang="hu-HU" b="1" i="1" dirty="0"/>
                  <a:t>P</a:t>
                </a:r>
                <a:r>
                  <a:rPr lang="hu-HU" b="1" dirty="0"/>
                  <a:t> := </a:t>
                </a:r>
                <a:r>
                  <a:rPr lang="hu-HU" b="1" dirty="0" err="1"/>
                  <a:t>new</a:t>
                </a:r>
                <a:r>
                  <a:rPr lang="hu-HU" b="1" dirty="0"/>
                  <a:t> </a:t>
                </a:r>
                <a14:m>
                  <m:oMath xmlns:m="http://schemas.openxmlformats.org/officeDocument/2006/math">
                    <m:r>
                      <a:rPr lang="hu-HU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𝓣</m:t>
                    </m:r>
                  </m:oMath>
                </a14:m>
                <a:r>
                  <a:rPr lang="hu-HU" b="1" dirty="0"/>
                  <a:t>[</a:t>
                </a:r>
                <a:r>
                  <a:rPr lang="hu-HU" b="1" i="1" dirty="0"/>
                  <a:t>n</a:t>
                </a:r>
                <a:r>
                  <a:rPr lang="hu-HU" b="1" dirty="0"/>
                  <a:t>]</a:t>
                </a:r>
                <a:r>
                  <a:rPr lang="hu-HU" dirty="0"/>
                  <a:t> </a:t>
                </a:r>
              </a:p>
              <a:p>
                <a:pPr lvl="1"/>
                <a:r>
                  <a:rPr lang="hu-HU" b="1" dirty="0" err="1"/>
                  <a:t>delete</a:t>
                </a:r>
                <a:r>
                  <a:rPr lang="hu-HU" b="1" dirty="0"/>
                  <a:t> </a:t>
                </a:r>
                <a:r>
                  <a:rPr lang="hu-HU" b="1" i="1" dirty="0"/>
                  <a:t>P</a:t>
                </a: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AE84942-F241-432B-87A1-AFC08BCDCA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0478" y="1089498"/>
                <a:ext cx="9772546" cy="5605216"/>
              </a:xfrm>
              <a:blipFill>
                <a:blip r:embed="rId3"/>
                <a:stretch>
                  <a:fillRect l="-1622" t="-2938" b="-293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>
            <a:extLst>
              <a:ext uri="{FF2B5EF4-FFF2-40B4-BE49-F238E27FC236}">
                <a16:creationId xmlns:a16="http://schemas.microsoft.com/office/drawing/2014/main" id="{69492565-9665-99EF-0ACF-4EC28E144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288" y="163286"/>
            <a:ext cx="3934903" cy="25709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80179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C93785-7C35-0AFB-78BB-84070917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32" y="272375"/>
            <a:ext cx="10018713" cy="938719"/>
          </a:xfrm>
        </p:spPr>
        <p:txBody>
          <a:bodyPr/>
          <a:lstStyle/>
          <a:p>
            <a:r>
              <a:rPr lang="hu-HU" dirty="0"/>
              <a:t>Résztömb és tömbhivatkozás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7B4BF46-0500-CFAB-AA25-90B477B844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313234"/>
                <a:ext cx="5091588" cy="5272391"/>
              </a:xfrm>
            </p:spPr>
            <p:txBody>
              <a:bodyPr>
                <a:normAutofit/>
              </a:bodyPr>
              <a:lstStyle/>
              <a:p>
                <a:r>
                  <a:rPr lang="hu-HU" dirty="0"/>
                  <a:t>A 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u-HU" dirty="0"/>
                  <a:t>elemtípusú tömbökre hivatkozó </a:t>
                </a:r>
                <a:r>
                  <a:rPr lang="hu-HU" i="1" dirty="0"/>
                  <a:t>P</a:t>
                </a:r>
                <a:r>
                  <a:rPr lang="hu-HU" dirty="0"/>
                  <a:t> pointer deklarálása:</a:t>
                </a:r>
              </a:p>
              <a:p>
                <a:pPr lvl="1"/>
                <a:r>
                  <a:rPr lang="hu-HU" i="1" dirty="0"/>
                  <a:t>P</a:t>
                </a:r>
                <a:r>
                  <a:rPr lang="hu-HU" dirty="0"/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[]  (vagy </a:t>
                </a:r>
                <a:r>
                  <a:rPr lang="hu-HU" i="1" dirty="0"/>
                  <a:t>Q</a:t>
                </a:r>
                <a:r>
                  <a:rPr lang="hu-HU" dirty="0"/>
                  <a:t>/</a:t>
                </a:r>
                <a:r>
                  <a:rPr lang="hu-HU" i="1" dirty="0"/>
                  <a:t>k</a:t>
                </a:r>
                <a:r>
                  <a:rPr lang="hu-HU" dirty="0"/>
                  <a:t> 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[])</a:t>
                </a:r>
              </a:p>
              <a:p>
                <a:pPr lvl="1"/>
                <a:r>
                  <a:rPr lang="hu-HU" dirty="0"/>
                  <a:t>Ezután a </a:t>
                </a:r>
                <a:r>
                  <a:rPr lang="hu-HU" i="1" dirty="0"/>
                  <a:t>P</a:t>
                </a:r>
                <a:r>
                  <a:rPr lang="hu-HU" dirty="0"/>
                  <a:t> pointer inicializálható pl. a </a:t>
                </a:r>
                <a:r>
                  <a:rPr lang="hu-HU" i="1" dirty="0"/>
                  <a:t>P</a:t>
                </a:r>
                <a:r>
                  <a:rPr lang="hu-HU" dirty="0"/>
                  <a:t> := </a:t>
                </a:r>
                <a:r>
                  <a:rPr lang="hu-HU" i="1" dirty="0"/>
                  <a:t>A</a:t>
                </a:r>
                <a:r>
                  <a:rPr lang="hu-HU" dirty="0"/>
                  <a:t> értékadó utasítással</a:t>
                </a:r>
              </a:p>
              <a:p>
                <a:pPr lvl="1"/>
                <a:r>
                  <a:rPr lang="hu-HU" i="1" dirty="0"/>
                  <a:t>P</a:t>
                </a:r>
                <a:r>
                  <a:rPr lang="hu-HU" dirty="0"/>
                  <a:t>[1] := 5 =&gt;  </a:t>
                </a:r>
                <a:r>
                  <a:rPr lang="hu-HU" i="1" dirty="0"/>
                  <a:t>A</a:t>
                </a:r>
                <a:r>
                  <a:rPr lang="hu-HU" dirty="0"/>
                  <a:t>[1]= 5</a:t>
                </a:r>
              </a:p>
              <a:p>
                <a:r>
                  <a:rPr lang="hu-HU" sz="1800" b="0" i="0" u="none" strike="noStrike" baseline="0" dirty="0"/>
                  <a:t>A tömbhivatkozások résztömböket is azonosíthatnak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: </a:t>
                </a:r>
                <a:r>
                  <a:rPr lang="hu-HU" sz="1600" dirty="0">
                    <a:effectLst/>
                    <a:ea typeface="Aptos" panose="020B0004020202020204" pitchFamily="34" charset="0"/>
                    <a:cs typeface="Cambria Math" panose="02040503050406030204" pitchFamily="18" charset="0"/>
                  </a:rPr>
                  <a:t>ℤ 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[5] = ⟨2, 3, 5, 7, 11⟩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: </a:t>
                </a:r>
                <a:r>
                  <a:rPr lang="hu-HU" sz="1600" dirty="0">
                    <a:effectLst/>
                    <a:ea typeface="Aptos" panose="020B0004020202020204" pitchFamily="34" charset="0"/>
                    <a:cs typeface="Cambria Math" panose="02040503050406030204" pitchFamily="18" charset="0"/>
                  </a:rPr>
                  <a:t>ℤ 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[]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:= </a:t>
                </a: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[1 . . 4)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hu-HU" sz="16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16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[1 . . 3] = ⟨3, 5, 7⟩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7B4BF46-0500-CFAB-AA25-90B477B844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313234"/>
                <a:ext cx="5091588" cy="5272391"/>
              </a:xfrm>
              <a:blipFill>
                <a:blip r:embed="rId2"/>
                <a:stretch>
                  <a:fillRect l="-2990" r="-26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artalom helye 2">
            <a:extLst>
              <a:ext uri="{FF2B5EF4-FFF2-40B4-BE49-F238E27FC236}">
                <a16:creationId xmlns:a16="http://schemas.microsoft.com/office/drawing/2014/main" id="{6B314505-7C1F-A25F-B526-58637A3AA201}"/>
              </a:ext>
            </a:extLst>
          </p:cNvPr>
          <p:cNvSpPr txBox="1">
            <a:spLocks/>
          </p:cNvSpPr>
          <p:nvPr/>
        </p:nvSpPr>
        <p:spPr>
          <a:xfrm>
            <a:off x="6692630" y="1387813"/>
            <a:ext cx="4962793" cy="5272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[1] := 19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[1] és</a:t>
            </a: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A[2] ugyanazt a memóriacellát jelölik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[2] = 19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=⟨2, 3, 19, 7, 11⟩, </a:t>
            </a: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= ⟨3, 19, 7⟩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:= </a:t>
            </a: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[1 . . </a:t>
            </a:r>
            <a:r>
              <a:rPr lang="hu-HU" sz="1600" i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.length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Levágjuk a </a:t>
            </a: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által hivatkozott résztömb 1. elemét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= ⟨19, 7⟩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az  A tömböt nem módosítja</a:t>
            </a:r>
          </a:p>
        </p:txBody>
      </p:sp>
    </p:spTree>
    <p:extLst>
      <p:ext uri="{BB962C8B-B14F-4D97-AF65-F5344CB8AC3E}">
        <p14:creationId xmlns:p14="http://schemas.microsoft.com/office/powerpoint/2010/main" val="3587177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ndolatbuborék: felhő 6">
            <a:extLst>
              <a:ext uri="{FF2B5EF4-FFF2-40B4-BE49-F238E27FC236}">
                <a16:creationId xmlns:a16="http://schemas.microsoft.com/office/drawing/2014/main" id="{D3D3B183-63FE-9D27-5674-EDE1636ADA69}"/>
              </a:ext>
            </a:extLst>
          </p:cNvPr>
          <p:cNvSpPr/>
          <p:nvPr/>
        </p:nvSpPr>
        <p:spPr>
          <a:xfrm rot="1752272">
            <a:off x="9705785" y="25879"/>
            <a:ext cx="2497580" cy="1614282"/>
          </a:xfrm>
          <a:prstGeom prst="cloudCallout">
            <a:avLst>
              <a:gd name="adj1" fmla="val -55456"/>
              <a:gd name="adj2" fmla="val 577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EED36C-5198-A26F-BCD6-BC8DE430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750" y="141466"/>
            <a:ext cx="9225238" cy="947057"/>
          </a:xfrm>
        </p:spPr>
        <p:txBody>
          <a:bodyPr>
            <a:normAutofit/>
          </a:bodyPr>
          <a:lstStyle/>
          <a:p>
            <a:r>
              <a:rPr lang="hu-HU" dirty="0"/>
              <a:t>Verem (</a:t>
            </a:r>
            <a:r>
              <a:rPr lang="hu-HU" dirty="0" err="1"/>
              <a:t>Stack</a:t>
            </a:r>
            <a:r>
              <a:rPr lang="hu-HU" dirty="0"/>
              <a:t>) adattípus</a:t>
            </a:r>
            <a:endParaRPr lang="hu-HU" sz="3300" dirty="0"/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429BF573-887C-B370-A814-5E17B4C35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1404" y="1344501"/>
            <a:ext cx="5923801" cy="743013"/>
          </a:xfrm>
        </p:spPr>
        <p:txBody>
          <a:bodyPr>
            <a:normAutofit fontScale="92500" lnSpcReduction="10000"/>
          </a:bodyPr>
          <a:lstStyle/>
          <a:p>
            <a:r>
              <a:rPr lang="hu-HU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Az utoljára benne eltárolt, és még benne lévő adat érhető el, illetve eltávolítható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1DBDE95-BEC7-95A6-F409-DF56B408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70" y="2458076"/>
            <a:ext cx="9537798" cy="410937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2276B87-E6A4-8621-FCD0-ACE66E05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69917">
            <a:off x="40203" y="365246"/>
            <a:ext cx="4328535" cy="19585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8520678-96BD-B58F-233C-D3A49FB12B8D}"/>
              </a:ext>
            </a:extLst>
          </p:cNvPr>
          <p:cNvSpPr txBox="1"/>
          <p:nvPr/>
        </p:nvSpPr>
        <p:spPr>
          <a:xfrm rot="1722582">
            <a:off x="10138687" y="126387"/>
            <a:ext cx="16995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 b="1" dirty="0">
                <a:solidFill>
                  <a:srgbClr val="C00000"/>
                </a:solidFill>
              </a:rPr>
              <a:t>LIFO</a:t>
            </a:r>
          </a:p>
          <a:p>
            <a:pPr algn="ctr"/>
            <a:r>
              <a:rPr lang="hu-HU" sz="2800" b="1" dirty="0">
                <a:solidFill>
                  <a:srgbClr val="C00000"/>
                </a:solidFill>
              </a:rPr>
              <a:t> (Last-In </a:t>
            </a:r>
            <a:br>
              <a:rPr lang="hu-HU" sz="2800" b="1" dirty="0">
                <a:solidFill>
                  <a:srgbClr val="C00000"/>
                </a:solidFill>
              </a:rPr>
            </a:br>
            <a:r>
              <a:rPr lang="hu-HU" sz="2800" b="1" dirty="0" err="1">
                <a:solidFill>
                  <a:srgbClr val="C00000"/>
                </a:solidFill>
              </a:rPr>
              <a:t>First</a:t>
            </a:r>
            <a:r>
              <a:rPr lang="hu-HU" sz="2800" b="1" dirty="0">
                <a:solidFill>
                  <a:srgbClr val="C00000"/>
                </a:solidFill>
              </a:rPr>
              <a:t>-Out)</a:t>
            </a:r>
          </a:p>
        </p:txBody>
      </p:sp>
    </p:spTree>
    <p:extLst>
      <p:ext uri="{BB962C8B-B14F-4D97-AF65-F5344CB8AC3E}">
        <p14:creationId xmlns:p14="http://schemas.microsoft.com/office/powerpoint/2010/main" val="1801604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37F51FB1-3B37-C01A-11F0-99BCB93B4913}"/>
              </a:ext>
            </a:extLst>
          </p:cNvPr>
          <p:cNvSpPr/>
          <p:nvPr/>
        </p:nvSpPr>
        <p:spPr>
          <a:xfrm>
            <a:off x="5887715" y="1168400"/>
            <a:ext cx="2768605" cy="2577464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függőleges 5">
            <a:extLst>
              <a:ext uri="{FF2B5EF4-FFF2-40B4-BE49-F238E27FC236}">
                <a16:creationId xmlns:a16="http://schemas.microsoft.com/office/drawing/2014/main" id="{98ED8D6C-A108-94A4-F7FA-BEF9AD3E7DC3}"/>
              </a:ext>
            </a:extLst>
          </p:cNvPr>
          <p:cNvSpPr/>
          <p:nvPr/>
        </p:nvSpPr>
        <p:spPr>
          <a:xfrm>
            <a:off x="4281056" y="1450709"/>
            <a:ext cx="1548246" cy="2365340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Folyamatábra: Dokumentum 2">
            <a:extLst>
              <a:ext uri="{FF2B5EF4-FFF2-40B4-BE49-F238E27FC236}">
                <a16:creationId xmlns:a16="http://schemas.microsoft.com/office/drawing/2014/main" id="{A4B97587-179E-4A24-9F48-234BAE297F15}"/>
              </a:ext>
            </a:extLst>
          </p:cNvPr>
          <p:cNvSpPr/>
          <p:nvPr/>
        </p:nvSpPr>
        <p:spPr>
          <a:xfrm rot="10800000">
            <a:off x="3988315" y="4083527"/>
            <a:ext cx="5154960" cy="2471058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48CA5C-E58F-2F44-037D-EA5A2404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3415"/>
            <a:ext cx="10018713" cy="947057"/>
          </a:xfrm>
        </p:spPr>
        <p:txBody>
          <a:bodyPr/>
          <a:lstStyle/>
          <a:p>
            <a:r>
              <a:rPr lang="hu-HU"/>
              <a:t>Verem példa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24E508-2AD1-2C73-5999-5C30D4F61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260" y="4351004"/>
            <a:ext cx="5888160" cy="2471060"/>
          </a:xfrm>
        </p:spPr>
        <p:txBody>
          <a:bodyPr/>
          <a:lstStyle/>
          <a:p>
            <a:r>
              <a:rPr lang="hu-HU"/>
              <a:t>Gyakorlati alkalmazása</a:t>
            </a:r>
          </a:p>
          <a:p>
            <a:pPr lvl="1"/>
            <a:r>
              <a:rPr lang="hu-HU"/>
              <a:t>CALL STACK</a:t>
            </a:r>
          </a:p>
          <a:p>
            <a:pPr lvl="1"/>
            <a:r>
              <a:rPr lang="hu-HU"/>
              <a:t>Kifejezések postfix formára hozása</a:t>
            </a:r>
          </a:p>
          <a:p>
            <a:pPr lvl="1"/>
            <a:r>
              <a:rPr lang="hu-HU"/>
              <a:t>Postfix forma kiértékelés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7AF0AFA4-9572-E709-C9D6-865528769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87" y="1664336"/>
            <a:ext cx="924054" cy="201958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Tartalom helye 3">
            <a:extLst>
              <a:ext uri="{FF2B5EF4-FFF2-40B4-BE49-F238E27FC236}">
                <a16:creationId xmlns:a16="http://schemas.microsoft.com/office/drawing/2014/main" id="{2FAFD70B-05B7-135D-714B-A442C1AD5694}"/>
              </a:ext>
            </a:extLst>
          </p:cNvPr>
          <p:cNvSpPr txBox="1">
            <a:spLocks/>
          </p:cNvSpPr>
          <p:nvPr/>
        </p:nvSpPr>
        <p:spPr>
          <a:xfrm>
            <a:off x="1898416" y="1005840"/>
            <a:ext cx="10018713" cy="3647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err="1"/>
              <a:t>Stack</a:t>
            </a:r>
            <a:r>
              <a:rPr lang="hu-HU" sz="2000"/>
              <a:t> (4)</a:t>
            </a:r>
          </a:p>
          <a:p>
            <a:r>
              <a:rPr lang="hu-HU" sz="2000" err="1"/>
              <a:t>push</a:t>
            </a:r>
            <a:r>
              <a:rPr lang="hu-HU" sz="2000"/>
              <a:t>(3)</a:t>
            </a:r>
          </a:p>
          <a:p>
            <a:r>
              <a:rPr lang="hu-HU" sz="2000" err="1"/>
              <a:t>push</a:t>
            </a:r>
            <a:r>
              <a:rPr lang="hu-HU" sz="2000"/>
              <a:t>(4)</a:t>
            </a:r>
          </a:p>
          <a:p>
            <a:r>
              <a:rPr lang="hu-HU" sz="2000" err="1"/>
              <a:t>push</a:t>
            </a:r>
            <a:r>
              <a:rPr lang="hu-HU" sz="2000"/>
              <a:t>(2)</a:t>
            </a:r>
          </a:p>
          <a:p>
            <a:r>
              <a:rPr lang="hu-HU" sz="2000" err="1"/>
              <a:t>push</a:t>
            </a:r>
            <a:r>
              <a:rPr lang="hu-HU" sz="2000"/>
              <a:t>(9)</a:t>
            </a:r>
          </a:p>
          <a:p>
            <a:r>
              <a:rPr lang="hu-HU" sz="2000"/>
              <a:t>pop() :9</a:t>
            </a:r>
            <a:endParaRPr lang="hu-HU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D6034CF0-B018-BDD1-3DAB-0761BEA90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944" y="1779742"/>
            <a:ext cx="771633" cy="162900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1" name="Szövegdoboz 20">
            <a:extLst>
              <a:ext uri="{FF2B5EF4-FFF2-40B4-BE49-F238E27FC236}">
                <a16:creationId xmlns:a16="http://schemas.microsoft.com/office/drawing/2014/main" id="{F69D3F88-3D3A-570E-D9D7-36A9A31C4C88}"/>
              </a:ext>
            </a:extLst>
          </p:cNvPr>
          <p:cNvSpPr txBox="1"/>
          <p:nvPr/>
        </p:nvSpPr>
        <p:spPr>
          <a:xfrm>
            <a:off x="7483542" y="2739027"/>
            <a:ext cx="5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=0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72795B31-FC01-CBCF-DF7A-9A448E328708}"/>
              </a:ext>
            </a:extLst>
          </p:cNvPr>
          <p:cNvSpPr txBox="1"/>
          <p:nvPr/>
        </p:nvSpPr>
        <p:spPr>
          <a:xfrm>
            <a:off x="7483541" y="2418108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=1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96404F1E-D251-DBA9-0F0D-BD1A6E708462}"/>
              </a:ext>
            </a:extLst>
          </p:cNvPr>
          <p:cNvSpPr txBox="1"/>
          <p:nvPr/>
        </p:nvSpPr>
        <p:spPr>
          <a:xfrm>
            <a:off x="7483540" y="2097189"/>
            <a:ext cx="674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=2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EB40AD19-359D-213B-5594-CD8ADFEB8C83}"/>
              </a:ext>
            </a:extLst>
          </p:cNvPr>
          <p:cNvSpPr txBox="1"/>
          <p:nvPr/>
        </p:nvSpPr>
        <p:spPr>
          <a:xfrm>
            <a:off x="7483539" y="1769013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=3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27F6F0BE-DDAC-9C8B-2C52-0AB9D9AE5143}"/>
              </a:ext>
            </a:extLst>
          </p:cNvPr>
          <p:cNvSpPr txBox="1"/>
          <p:nvPr/>
        </p:nvSpPr>
        <p:spPr>
          <a:xfrm>
            <a:off x="7483539" y="145070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=4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F4234D8-17A1-EE74-E1AC-B22F009473FD}"/>
              </a:ext>
            </a:extLst>
          </p:cNvPr>
          <p:cNvSpPr txBox="1"/>
          <p:nvPr/>
        </p:nvSpPr>
        <p:spPr>
          <a:xfrm>
            <a:off x="4895129" y="322407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3</a:t>
            </a:r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7D6329FF-4755-9D85-1E8E-7EF068E00D22}"/>
              </a:ext>
            </a:extLst>
          </p:cNvPr>
          <p:cNvSpPr txBox="1"/>
          <p:nvPr/>
        </p:nvSpPr>
        <p:spPr>
          <a:xfrm>
            <a:off x="4925609" y="29091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4</a:t>
            </a:r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88AD7135-AB64-7B5C-9337-3C466BE99145}"/>
              </a:ext>
            </a:extLst>
          </p:cNvPr>
          <p:cNvSpPr txBox="1"/>
          <p:nvPr/>
        </p:nvSpPr>
        <p:spPr>
          <a:xfrm>
            <a:off x="6679461" y="268281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3</a:t>
            </a:r>
            <a:endParaRPr lang="hu-HU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C1CFB082-AEE0-5480-BFA3-B12B105E3C3F}"/>
              </a:ext>
            </a:extLst>
          </p:cNvPr>
          <p:cNvSpPr txBox="1"/>
          <p:nvPr/>
        </p:nvSpPr>
        <p:spPr>
          <a:xfrm>
            <a:off x="6679460" y="2379979"/>
            <a:ext cx="3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4</a:t>
            </a:r>
            <a:endParaRPr lang="hu-HU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B7196943-8326-0BB4-F1D4-28DFA20EF52A}"/>
              </a:ext>
            </a:extLst>
          </p:cNvPr>
          <p:cNvSpPr txBox="1"/>
          <p:nvPr/>
        </p:nvSpPr>
        <p:spPr>
          <a:xfrm>
            <a:off x="4949234" y="256319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2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0F6EB2D1-BA3A-4CD3-DF7D-EF6CB4A633DD}"/>
              </a:ext>
            </a:extLst>
          </p:cNvPr>
          <p:cNvSpPr txBox="1"/>
          <p:nvPr/>
        </p:nvSpPr>
        <p:spPr>
          <a:xfrm>
            <a:off x="6679460" y="2077146"/>
            <a:ext cx="357394" cy="372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2</a:t>
            </a:r>
            <a:endParaRPr lang="hu-HU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806CC373-DC3A-3FCC-4262-28F7F4C5AFC7}"/>
              </a:ext>
            </a:extLst>
          </p:cNvPr>
          <p:cNvSpPr txBox="1"/>
          <p:nvPr/>
        </p:nvSpPr>
        <p:spPr>
          <a:xfrm>
            <a:off x="4963661" y="22716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9</a:t>
            </a:r>
            <a:endParaRPr lang="hu-HU"/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371936D-96CE-B976-4AB0-CE0CC35365E0}"/>
              </a:ext>
            </a:extLst>
          </p:cNvPr>
          <p:cNvSpPr txBox="1"/>
          <p:nvPr/>
        </p:nvSpPr>
        <p:spPr>
          <a:xfrm>
            <a:off x="6679460" y="1769013"/>
            <a:ext cx="385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9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152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  <p:bldP spid="4" grpId="0" build="p"/>
      <p:bldP spid="12" grpId="0" uiExpand="1" build="p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4" grpId="2"/>
      <p:bldP spid="25" grpId="0"/>
      <p:bldP spid="25" grpId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2" grpId="1"/>
      <p:bldP spid="33" grpId="0"/>
      <p:bldP spid="3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ADD32B98-EDBD-1329-8E5E-48968850AD50}"/>
              </a:ext>
            </a:extLst>
          </p:cNvPr>
          <p:cNvSpPr/>
          <p:nvPr/>
        </p:nvSpPr>
        <p:spPr>
          <a:xfrm>
            <a:off x="2052321" y="782321"/>
            <a:ext cx="4846320" cy="3708400"/>
          </a:xfrm>
          <a:prstGeom prst="horizontalScroll">
            <a:avLst>
              <a:gd name="adj" fmla="val 1343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EED36C-5198-A26F-BCD6-BC8DE430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57" y="126331"/>
            <a:ext cx="6627608" cy="947057"/>
          </a:xfrm>
        </p:spPr>
        <p:txBody>
          <a:bodyPr/>
          <a:lstStyle/>
          <a:p>
            <a:r>
              <a:rPr lang="hu-HU"/>
              <a:t>Verem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DEEBEE-2ABA-40E8-09A0-B6BE5240D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40" y="1274543"/>
            <a:ext cx="8561469" cy="2859306"/>
          </a:xfrm>
        </p:spPr>
        <p:txBody>
          <a:bodyPr>
            <a:normAutofit/>
          </a:bodyPr>
          <a:lstStyle/>
          <a:p>
            <a:r>
              <a:rPr lang="hu-HU" sz="2200" b="0" u="none" strike="noStrike" baseline="0"/>
              <a:t>Műveletidő: </a:t>
            </a:r>
            <a:r>
              <a:rPr lang="el-GR" sz="1800" b="0" i="0" u="none" strike="noStrike" baseline="0"/>
              <a:t>Θ(1)</a:t>
            </a:r>
            <a:endParaRPr lang="hu-HU" sz="1800" b="0" i="0" u="none" strike="noStrike" baseline="0"/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1800" b="0" u="none" strike="noStrike" baseline="0"/>
              <a:t>Nem tartalmaz ciklust / rekurziót</a:t>
            </a:r>
          </a:p>
          <a:p>
            <a:r>
              <a:rPr lang="hu-HU" sz="2200" err="1"/>
              <a:t>Push</a:t>
            </a:r>
            <a:r>
              <a:rPr lang="hu-HU" sz="2200" b="0" u="none" strike="noStrike" baseline="0"/>
              <a:t> művelet:</a:t>
            </a:r>
          </a:p>
          <a:p>
            <a:pPr lvl="2"/>
            <a:r>
              <a:rPr lang="hu-HU" b="0" i="1" u="none" strike="noStrike" baseline="0" err="1"/>
              <a:t>mT</a:t>
            </a:r>
            <a:r>
              <a:rPr lang="hu-HU" b="0" i="1" u="none" strike="noStrike" baseline="0"/>
              <a:t>(n)</a:t>
            </a:r>
            <a:r>
              <a:rPr lang="hu-HU" b="0" i="0" u="none" strike="noStrike" baseline="0"/>
              <a:t> ∈ </a:t>
            </a:r>
            <a:r>
              <a:rPr lang="el-GR" b="0" i="0" u="none" strike="noStrike" baseline="0"/>
              <a:t>Θ(1) </a:t>
            </a:r>
            <a:endParaRPr lang="hu-HU" b="0" i="0" u="none" strike="noStrike" baseline="0"/>
          </a:p>
          <a:p>
            <a:pPr lvl="2"/>
            <a:r>
              <a:rPr lang="hu-HU" b="0" i="1" u="none" strike="noStrike" baseline="0"/>
              <a:t>MT(n)</a:t>
            </a:r>
            <a:r>
              <a:rPr lang="hu-HU" b="0" i="0" u="none" strike="noStrike" baseline="0"/>
              <a:t> ∈ </a:t>
            </a:r>
            <a:r>
              <a:rPr lang="el-GR" b="0" i="0" u="none" strike="noStrike" baseline="0"/>
              <a:t>Θ(</a:t>
            </a:r>
            <a:r>
              <a:rPr lang="hu-HU" b="0" i="0" u="none" strike="noStrike" baseline="0"/>
              <a:t>n)</a:t>
            </a:r>
            <a:r>
              <a:rPr lang="hu-HU"/>
              <a:t> </a:t>
            </a:r>
            <a:r>
              <a:rPr lang="hu-HU" b="0" i="0" u="none" strike="noStrike" baseline="0"/>
              <a:t> </a:t>
            </a:r>
          </a:p>
          <a:p>
            <a:pPr lvl="2"/>
            <a:r>
              <a:rPr lang="hu-HU" b="0" i="1" u="none" strike="noStrike" baseline="0"/>
              <a:t>AT(n)</a:t>
            </a:r>
            <a:r>
              <a:rPr lang="hu-HU" b="0" i="0" u="none" strike="noStrike" baseline="0"/>
              <a:t> ∈ </a:t>
            </a:r>
            <a:r>
              <a:rPr lang="el-GR" b="0" i="0" u="none" strike="noStrike" baseline="0"/>
              <a:t>Θ(1)</a:t>
            </a:r>
            <a:endParaRPr lang="hu-HU" b="0" i="0" u="none" strike="noStrike" baseline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9F943BE-3A12-1FF1-E19D-0FEF10CA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092" y="645443"/>
            <a:ext cx="3514608" cy="19685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75F97020-96BD-CEC7-1FB6-B411DF80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0" y="4351633"/>
            <a:ext cx="4030229" cy="215445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BF56F82-5F06-AB43-3583-E3330410B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548" y="3041095"/>
            <a:ext cx="3514608" cy="17218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E6FCF5F-1D56-6C11-E0E6-5FA2FD682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9548" y="5190037"/>
            <a:ext cx="3529520" cy="118522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7812F79-F4B8-3218-FA28-D133536AE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299" y="955424"/>
            <a:ext cx="1152134" cy="1240144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FE01AE08-72D0-17B2-A304-3E43BCC561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954" y="3041095"/>
            <a:ext cx="876422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67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F13449-8347-07E5-CE16-F39AE5B7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19" y="121921"/>
            <a:ext cx="9806304" cy="1876212"/>
          </a:xfrm>
        </p:spPr>
        <p:txBody>
          <a:bodyPr>
            <a:normAutofit/>
          </a:bodyPr>
          <a:lstStyle/>
          <a:p>
            <a:r>
              <a:rPr lang="hu-HU"/>
              <a:t>Példa a verem használatára: </a:t>
            </a:r>
            <a:br>
              <a:rPr lang="hu-HU"/>
            </a:br>
            <a:r>
              <a:rPr lang="hu-HU" sz="3200" b="1">
                <a:solidFill>
                  <a:srgbClr val="C00000"/>
                </a:solidFill>
              </a:rPr>
              <a:t>Az input adatok kiírása fordított sorrendben</a:t>
            </a:r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506367A-94D0-5D96-154E-AD0CEE04D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240" y="2095488"/>
            <a:ext cx="3632789" cy="359835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A55591-C86C-30CC-60B6-D284DA4FE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720" y="1998133"/>
            <a:ext cx="9806303" cy="4358211"/>
          </a:xfrm>
        </p:spPr>
        <p:txBody>
          <a:bodyPr>
            <a:normAutofit/>
          </a:bodyPr>
          <a:lstStyle/>
          <a:p>
            <a:r>
              <a:rPr lang="hu-HU" err="1"/>
              <a:t>read</a:t>
            </a:r>
            <a:r>
              <a:rPr lang="hu-HU"/>
              <a:t>(&amp;</a:t>
            </a:r>
            <a:r>
              <a:rPr lang="hu-HU" i="1"/>
              <a:t>x</a:t>
            </a:r>
            <a:r>
              <a:rPr lang="hu-HU"/>
              <a:t>:</a:t>
            </a:r>
            <a:r>
              <a:rPr lang="hu-HU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𝒯</a:t>
            </a:r>
            <a:r>
              <a:rPr lang="hu-HU"/>
              <a:t>):</a:t>
            </a:r>
            <a:r>
              <a:rPr lang="hu-HU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𝔹</a:t>
            </a:r>
            <a:r>
              <a:rPr lang="hu-HU"/>
              <a:t> függvény</a:t>
            </a:r>
          </a:p>
          <a:p>
            <a:pPr lvl="1"/>
            <a:r>
              <a:rPr lang="hu-HU"/>
              <a:t>a kurrens inputról olvas</a:t>
            </a:r>
          </a:p>
          <a:p>
            <a:pPr lvl="1"/>
            <a:r>
              <a:rPr lang="hu-HU"/>
              <a:t>sikeres (visszatérés: igaz)</a:t>
            </a:r>
          </a:p>
          <a:p>
            <a:pPr lvl="2"/>
            <a:r>
              <a:rPr lang="hu-HU"/>
              <a:t>nincs még vége az inputnak</a:t>
            </a:r>
          </a:p>
          <a:p>
            <a:pPr lvl="2"/>
            <a:r>
              <a:rPr lang="hu-HU"/>
              <a:t>beolvassa </a:t>
            </a:r>
            <a:r>
              <a:rPr lang="hu-HU" i="1"/>
              <a:t>x</a:t>
            </a:r>
            <a:r>
              <a:rPr lang="hu-HU"/>
              <a:t>-be a következő input adatot</a:t>
            </a:r>
          </a:p>
          <a:p>
            <a:pPr lvl="1"/>
            <a:r>
              <a:rPr lang="hu-HU"/>
              <a:t>Sikertelen (visszatérés: hamis):</a:t>
            </a:r>
          </a:p>
          <a:p>
            <a:pPr lvl="2"/>
            <a:r>
              <a:rPr lang="hu-HU"/>
              <a:t>vége van az inputnak</a:t>
            </a:r>
          </a:p>
          <a:p>
            <a:pPr lvl="2"/>
            <a:r>
              <a:rPr lang="hu-HU"/>
              <a:t>x értéke definiálatlan</a:t>
            </a:r>
          </a:p>
          <a:p>
            <a:r>
              <a:rPr lang="hu-HU" err="1"/>
              <a:t>write</a:t>
            </a:r>
            <a:r>
              <a:rPr lang="hu-HU"/>
              <a:t>(</a:t>
            </a:r>
            <a:r>
              <a:rPr lang="hu-HU" i="1"/>
              <a:t>x</a:t>
            </a:r>
            <a:r>
              <a:rPr lang="hu-HU"/>
              <a:t>): a kurrens outputra írja </a:t>
            </a:r>
            <a:r>
              <a:rPr lang="hu-HU" i="1"/>
              <a:t>x</a:t>
            </a:r>
            <a:r>
              <a:rPr lang="hu-HU"/>
              <a:t> értékét </a:t>
            </a:r>
          </a:p>
        </p:txBody>
      </p:sp>
    </p:spTree>
    <p:extLst>
      <p:ext uri="{BB962C8B-B14F-4D97-AF65-F5344CB8AC3E}">
        <p14:creationId xmlns:p14="http://schemas.microsoft.com/office/powerpoint/2010/main" val="550257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7CF9A4-50B5-9752-DF1A-C6D60C0D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16840"/>
            <a:ext cx="10018713" cy="949960"/>
          </a:xfrm>
        </p:spPr>
        <p:txBody>
          <a:bodyPr>
            <a:normAutofit/>
          </a:bodyPr>
          <a:lstStyle/>
          <a:p>
            <a:r>
              <a:rPr lang="hu-HU" dirty="0"/>
              <a:t>Példa a verem használatára: </a:t>
            </a:r>
            <a:r>
              <a:rPr lang="hu-HU" b="1" dirty="0">
                <a:solidFill>
                  <a:srgbClr val="C00000"/>
                </a:solidFill>
              </a:rPr>
              <a:t>Lengyel forma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A7D41C-3D58-632D-F46B-63CF329AC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300480"/>
            <a:ext cx="4895055" cy="5008879"/>
          </a:xfrm>
        </p:spPr>
        <p:txBody>
          <a:bodyPr anchor="ctr">
            <a:normAutofit fontScale="25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hu-HU" sz="9600">
                <a:solidFill>
                  <a:srgbClr val="33333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Aritmetikai kifejezés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 err="1">
                <a:solidFill>
                  <a:srgbClr val="333333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Infix</a:t>
            </a:r>
            <a:r>
              <a:rPr lang="hu-HU" sz="7200">
                <a:solidFill>
                  <a:srgbClr val="333333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alak: 4+5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>
                <a:solidFill>
                  <a:srgbClr val="33333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Prefix alak: +4 5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>
                <a:solidFill>
                  <a:srgbClr val="333333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Postfix alak: 4 5 +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hu-HU" sz="9600">
                <a:solidFill>
                  <a:srgbClr val="33333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Lengyel forma: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Egy aritmetikai kifejezés postfix alakja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 i="0">
                <a:solidFill>
                  <a:srgbClr val="333333"/>
                </a:solidFill>
                <a:effectLst/>
              </a:rPr>
              <a:t> Jan </a:t>
            </a:r>
            <a:r>
              <a:rPr lang="hu-HU" sz="7200" i="0" err="1">
                <a:solidFill>
                  <a:srgbClr val="333333"/>
                </a:solidFill>
                <a:effectLst/>
              </a:rPr>
              <a:t>Łukasiweicz</a:t>
            </a:r>
            <a:r>
              <a:rPr lang="hu-HU" sz="7200" i="0">
                <a:solidFill>
                  <a:srgbClr val="33333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1920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 i="0" err="1">
                <a:solidFill>
                  <a:srgbClr val="333333"/>
                </a:solidFill>
                <a:effectLst/>
              </a:rPr>
              <a:t>Reverse</a:t>
            </a:r>
            <a:r>
              <a:rPr lang="hu-HU" sz="7200" i="0">
                <a:solidFill>
                  <a:srgbClr val="333333"/>
                </a:solidFill>
                <a:effectLst/>
              </a:rPr>
              <a:t> </a:t>
            </a:r>
            <a:r>
              <a:rPr lang="hu-HU" sz="7200" i="0" err="1">
                <a:solidFill>
                  <a:srgbClr val="333333"/>
                </a:solidFill>
                <a:effectLst/>
              </a:rPr>
              <a:t>Polish</a:t>
            </a:r>
            <a:r>
              <a:rPr lang="hu-HU" sz="7200" i="0">
                <a:solidFill>
                  <a:srgbClr val="333333"/>
                </a:solidFill>
                <a:effectLst/>
              </a:rPr>
              <a:t> </a:t>
            </a:r>
            <a:r>
              <a:rPr lang="hu-HU" sz="7200" i="0" err="1">
                <a:solidFill>
                  <a:srgbClr val="333333"/>
                </a:solidFill>
                <a:effectLst/>
              </a:rPr>
              <a:t>Notation</a:t>
            </a:r>
            <a:endParaRPr lang="hu-HU" sz="7200" i="0">
              <a:solidFill>
                <a:srgbClr val="333333"/>
              </a:solidFill>
              <a:effectLst/>
            </a:endParaRP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r>
              <a:rPr lang="hu-HU" sz="7200" b="0">
                <a:solidFill>
                  <a:srgbClr val="000000"/>
                </a:solidFill>
                <a:effectLst/>
              </a:rPr>
              <a:t>Nem</a:t>
            </a:r>
            <a:r>
              <a:rPr lang="hu-HU" sz="7200" b="0" i="0">
                <a:solidFill>
                  <a:srgbClr val="000000"/>
                </a:solidFill>
                <a:effectLst/>
              </a:rPr>
              <a:t> tartalmaz zárójeleket </a:t>
            </a:r>
          </a:p>
          <a:p>
            <a:pPr lvl="1" algn="just">
              <a:lnSpc>
                <a:spcPct val="120000"/>
              </a:lnSpc>
              <a:spcAft>
                <a:spcPts val="800"/>
              </a:spcAft>
            </a:pPr>
            <a:endParaRPr lang="hu-HU" sz="600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endParaRPr lang="hu-HU" sz="660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9FFB8E2-DEE3-77C3-A435-49532DE34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7760" y="1137920"/>
            <a:ext cx="5781040" cy="5171439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Operandusok: </a:t>
            </a:r>
          </a:p>
          <a:p>
            <a:pPr lvl="1">
              <a:lnSpc>
                <a:spcPct val="120000"/>
              </a:lnSpc>
              <a:spcAft>
                <a:spcPts val="1800"/>
              </a:spcAft>
            </a:pPr>
            <a:r>
              <a:rPr lang="hu-HU" sz="1800">
                <a:effectLst/>
                <a:ea typeface="Calibri" panose="020F0502020204030204" pitchFamily="34" charset="0"/>
              </a:rPr>
              <a:t>változó, konstans, postfix kifejezés</a:t>
            </a:r>
          </a:p>
          <a:p>
            <a:pPr lvl="1">
              <a:lnSpc>
                <a:spcPct val="120000"/>
              </a:lnSpc>
              <a:spcAft>
                <a:spcPts val="1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sorrendje nem változik, az </a:t>
            </a:r>
            <a:r>
              <a:rPr lang="hu-HU" sz="180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infix</a:t>
            </a:r>
            <a:r>
              <a:rPr lang="hu-HU" sz="18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kifejezéshez képest</a:t>
            </a:r>
          </a:p>
          <a:p>
            <a:pPr lvl="1">
              <a:lnSpc>
                <a:spcPct val="120000"/>
              </a:lnSpc>
              <a:spcAft>
                <a:spcPts val="1800"/>
              </a:spcAft>
            </a:pPr>
            <a:r>
              <a:rPr lang="hu-HU" sz="1800">
                <a:effectLst/>
                <a:ea typeface="Calibri" panose="020F0502020204030204" pitchFamily="34" charset="0"/>
              </a:rPr>
              <a:t>Minden operátort közvetlen megelőznek az operandusai</a:t>
            </a:r>
            <a:endParaRPr lang="hu-HU" sz="180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Operátorok </a:t>
            </a:r>
          </a:p>
          <a:p>
            <a:pPr lvl="1">
              <a:lnSpc>
                <a:spcPct val="120000"/>
              </a:lnSpc>
              <a:spcAft>
                <a:spcPts val="1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Műveleti jelek</a:t>
            </a:r>
          </a:p>
          <a:p>
            <a:pPr lvl="1">
              <a:lnSpc>
                <a:spcPct val="120000"/>
              </a:lnSpc>
              <a:spcAft>
                <a:spcPts val="1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Az elvégzésük sorrendjében szerepelnek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2354177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A70936-1810-D79F-C611-19DF5B1C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71" y="189079"/>
            <a:ext cx="10018713" cy="1234440"/>
          </a:xfrm>
        </p:spPr>
        <p:txBody>
          <a:bodyPr/>
          <a:lstStyle/>
          <a:p>
            <a:r>
              <a:rPr lang="hu-HU" dirty="0"/>
              <a:t>Operátorok </a:t>
            </a:r>
            <a:r>
              <a:rPr lang="hu-HU" dirty="0" err="1"/>
              <a:t>precedenciája</a:t>
            </a:r>
            <a:r>
              <a:rPr lang="hu-HU" dirty="0"/>
              <a:t> és asszociativitása</a:t>
            </a:r>
          </a:p>
        </p:txBody>
      </p:sp>
      <p:sp>
        <p:nvSpPr>
          <p:cNvPr id="7" name="Téglalap: szamárfül 6">
            <a:extLst>
              <a:ext uri="{FF2B5EF4-FFF2-40B4-BE49-F238E27FC236}">
                <a16:creationId xmlns:a16="http://schemas.microsoft.com/office/drawing/2014/main" id="{F2BD8530-E3C9-2375-9B6D-A11E6FFE03A9}"/>
              </a:ext>
            </a:extLst>
          </p:cNvPr>
          <p:cNvSpPr/>
          <p:nvPr/>
        </p:nvSpPr>
        <p:spPr>
          <a:xfrm>
            <a:off x="2513612" y="5485255"/>
            <a:ext cx="8542073" cy="1304887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artalom helye 3">
            <a:extLst>
              <a:ext uri="{FF2B5EF4-FFF2-40B4-BE49-F238E27FC236}">
                <a16:creationId xmlns:a16="http://schemas.microsoft.com/office/drawing/2014/main" id="{88A59F68-01ED-65B7-9687-D9F755D15D71}"/>
              </a:ext>
            </a:extLst>
          </p:cNvPr>
          <p:cNvSpPr txBox="1">
            <a:spLocks/>
          </p:cNvSpPr>
          <p:nvPr/>
        </p:nvSpPr>
        <p:spPr>
          <a:xfrm>
            <a:off x="2789499" y="5638800"/>
            <a:ext cx="8323306" cy="1030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Asszocativitás</a:t>
            </a:r>
            <a:r>
              <a:rPr lang="hu-HU" dirty="0"/>
              <a:t>:</a:t>
            </a:r>
          </a:p>
          <a:p>
            <a:pPr lvl="1"/>
            <a:r>
              <a:rPr lang="hu-HU" dirty="0"/>
              <a:t>Az azonos </a:t>
            </a:r>
            <a:r>
              <a:rPr lang="hu-HU" dirty="0" err="1"/>
              <a:t>precedenciájú</a:t>
            </a:r>
            <a:r>
              <a:rPr lang="hu-HU" dirty="0"/>
              <a:t> operátorokat tartalmazó kifejezésekben a kiértékelés iránya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FF2C7E8-F625-EC15-3F64-495F41F9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58" y="1315978"/>
            <a:ext cx="8617688" cy="3997701"/>
          </a:xfrm>
          <a:prstGeom prst="roundRect">
            <a:avLst>
              <a:gd name="adj" fmla="val 1415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63924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E6CF6772-B797-E0E2-2393-998EDB2C0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" b="213"/>
          <a:stretch/>
        </p:blipFill>
        <p:spPr>
          <a:xfrm>
            <a:off x="2580689" y="187036"/>
            <a:ext cx="8786966" cy="5704627"/>
          </a:xfrm>
          <a:prstGeom prst="roundRect">
            <a:avLst>
              <a:gd name="adj" fmla="val 1415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D6B37D9C-F313-6A28-E76D-3FDFF5332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89" y="6003925"/>
            <a:ext cx="8786966" cy="667039"/>
          </a:xfr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Ha a </a:t>
            </a:r>
            <a:r>
              <a:rPr lang="en-US" sz="1800" dirty="0" err="1"/>
              <a:t>kifejezés</a:t>
            </a:r>
            <a:r>
              <a:rPr lang="en-US" sz="1800" dirty="0"/>
              <a:t> </a:t>
            </a:r>
            <a:r>
              <a:rPr lang="en-US" sz="1800" dirty="0" err="1"/>
              <a:t>valamennyi</a:t>
            </a:r>
            <a:r>
              <a:rPr lang="en-US" sz="1800" dirty="0"/>
              <a:t> </a:t>
            </a:r>
            <a:r>
              <a:rPr lang="en-US" sz="1800" dirty="0" err="1"/>
              <a:t>karakterét</a:t>
            </a:r>
            <a:r>
              <a:rPr lang="en-US" sz="1800" dirty="0"/>
              <a:t> </a:t>
            </a:r>
            <a:r>
              <a:rPr lang="en-US" sz="1800" dirty="0" err="1"/>
              <a:t>feldolgoztuk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=&gt; a </a:t>
            </a:r>
            <a:r>
              <a:rPr lang="en-US" sz="1800" dirty="0" err="1"/>
              <a:t>vermet</a:t>
            </a:r>
            <a:r>
              <a:rPr lang="en-US" sz="1800" dirty="0"/>
              <a:t> </a:t>
            </a:r>
            <a:r>
              <a:rPr lang="en-US" sz="1800" dirty="0" err="1"/>
              <a:t>kiürítjük</a:t>
            </a:r>
            <a:r>
              <a:rPr lang="en-US" sz="1800" dirty="0"/>
              <a:t> </a:t>
            </a:r>
            <a:r>
              <a:rPr lang="en-US" sz="1800" dirty="0" err="1"/>
              <a:t>az</a:t>
            </a:r>
            <a:r>
              <a:rPr lang="en-US" sz="1800" dirty="0"/>
              <a:t> </a:t>
            </a:r>
            <a:r>
              <a:rPr lang="en-US" sz="1800" dirty="0" err="1"/>
              <a:t>outputra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54482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389989-8372-202C-70CC-5BA1B071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313" y="552525"/>
            <a:ext cx="10018713" cy="1010919"/>
          </a:xfrm>
        </p:spPr>
        <p:txBody>
          <a:bodyPr anchor="t">
            <a:normAutofit fontScale="90000"/>
          </a:bodyPr>
          <a:lstStyle/>
          <a:p>
            <a:r>
              <a:rPr lang="hu-HU" sz="3600" dirty="0"/>
              <a:t>Lengyel forma algoritmusváz </a:t>
            </a:r>
            <a:br>
              <a:rPr lang="hu-HU" sz="3600" dirty="0"/>
            </a:b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Lengyel forma előállítása: </a:t>
            </a:r>
            <a:r>
              <a:rPr lang="hu-HU" sz="3600" kern="100" dirty="0" err="1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Shunting</a:t>
            </a: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-yard algoritmus</a:t>
            </a:r>
            <a:br>
              <a:rPr lang="hu-HU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6F63ED-B146-F2D3-43E1-D712A88C5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0" y="1721224"/>
            <a:ext cx="9471023" cy="479133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a soron következő karakter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Operandus: → outputra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Operátor: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BJ t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í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pus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ú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→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ü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í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 a vermet az outputra 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az els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ő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 &lt; 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precedenci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Aptos" panose="020B0004020202020204" pitchFamily="34" charset="0"/>
              </a:rPr>
              <a:t>ú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oper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torig (ezt m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 nem bele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é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rtve) 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ilyen nincs =&gt; a verem alj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ig 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( -t l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  =&gt; meg</a:t>
            </a:r>
            <a:r>
              <a:rPr lang="hu-HU" sz="18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á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ll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→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verembe</a:t>
            </a:r>
          </a:p>
        </p:txBody>
      </p:sp>
    </p:spTree>
    <p:extLst>
      <p:ext uri="{BB962C8B-B14F-4D97-AF65-F5344CB8AC3E}">
        <p14:creationId xmlns:p14="http://schemas.microsoft.com/office/powerpoint/2010/main" val="2101021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5022-B001-9945-7B5F-4547243E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D64832-30B5-C6D6-7237-9F4E2F38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71" y="208281"/>
            <a:ext cx="10018713" cy="1010919"/>
          </a:xfrm>
        </p:spPr>
        <p:txBody>
          <a:bodyPr anchor="t">
            <a:normAutofit fontScale="90000"/>
          </a:bodyPr>
          <a:lstStyle/>
          <a:p>
            <a:r>
              <a:rPr lang="hu-HU" sz="3600" dirty="0"/>
              <a:t>Lengyel forma algoritmusváz</a:t>
            </a:r>
            <a:br>
              <a:rPr lang="hu-HU" sz="3600" dirty="0"/>
            </a:b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Lengyel forma előállítása: </a:t>
            </a:r>
            <a:r>
              <a:rPr lang="hu-HU" sz="3600" kern="100" dirty="0" err="1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Shunting</a:t>
            </a: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-yard algoritmus</a:t>
            </a:r>
            <a:br>
              <a:rPr lang="hu-HU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0845DC-6B36-A55F-6A7E-1719D9618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0" y="1341120"/>
            <a:ext cx="9906000" cy="5171440"/>
          </a:xfrm>
        </p:spPr>
        <p:txBody>
          <a:bodyPr>
            <a:normAutofit fontScale="92500" lnSpcReduction="10000"/>
          </a:bodyPr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JB t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í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pus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ú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→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ü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hu-HU" sz="20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í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 a vermet az outputra 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az első nálánál </a:t>
            </a:r>
            <a:r>
              <a:rPr lang="hu-H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≤</a:t>
            </a:r>
            <a:r>
              <a:rPr lang="hu-HU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precedenciájú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operátorig (ezt már nem beleértve)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 ilyen  nincs =&gt; a verem aljáig </a:t>
            </a:r>
          </a:p>
          <a:p>
            <a:pPr lvl="4">
              <a:lnSpc>
                <a:spcPct val="107000"/>
              </a:lnSpc>
              <a:spcAft>
                <a:spcPts val="800"/>
              </a:spcAft>
            </a:pPr>
            <a:r>
              <a:rPr lang="hu-HU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( -t lát  =&gt; megáll</a:t>
            </a:r>
          </a:p>
          <a:p>
            <a:pPr marL="1714500" lvl="3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→ verembe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 :→ verembe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): </a:t>
            </a:r>
          </a:p>
          <a:p>
            <a:pPr marL="1714500" lvl="3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→ üríti a vermet az outputra a következő ( -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ig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Kiveszi a ( -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</a:t>
            </a:r>
            <a:r>
              <a:rPr lang="hu-H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de azt nem írja az outputra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a kifejezés valamennyi karakterét feldolgoztuk </a:t>
            </a:r>
            <a:b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=&gt; a vermet kiürítjük az outputra</a:t>
            </a:r>
          </a:p>
        </p:txBody>
      </p:sp>
    </p:spTree>
    <p:extLst>
      <p:ext uri="{BB962C8B-B14F-4D97-AF65-F5344CB8AC3E}">
        <p14:creationId xmlns:p14="http://schemas.microsoft.com/office/powerpoint/2010/main" val="2822770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ECA6AD-B3DE-0C33-A82B-737A79F4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32" y="0"/>
            <a:ext cx="11710828" cy="988670"/>
          </a:xfrm>
        </p:spPr>
        <p:txBody>
          <a:bodyPr>
            <a:normAutofit/>
          </a:bodyPr>
          <a:lstStyle/>
          <a:p>
            <a:r>
              <a:rPr lang="hu-HU" sz="3600" kern="100" dirty="0">
                <a:ea typeface="Aptos" panose="020B0004020202020204" pitchFamily="34" charset="0"/>
                <a:cs typeface="Times New Roman" panose="02020603050405020304" pitchFamily="18" charset="0"/>
              </a:rPr>
              <a:t>Lengyel forma előállítása: </a:t>
            </a:r>
            <a:r>
              <a:rPr lang="hu-HU" sz="36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Shunting</a:t>
            </a:r>
            <a:r>
              <a:rPr lang="hu-HU" sz="3600" kern="100" dirty="0">
                <a:ea typeface="Aptos" panose="020B0004020202020204" pitchFamily="34" charset="0"/>
                <a:cs typeface="Times New Roman" panose="02020603050405020304" pitchFamily="18" charset="0"/>
              </a:rPr>
              <a:t>-yard algoritmus</a:t>
            </a:r>
            <a:endParaRPr lang="hu-HU" sz="36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6AAE444-9D10-77CC-933C-8D7FC2A8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02" y="988670"/>
            <a:ext cx="9176097" cy="5736152"/>
          </a:xfrm>
          <a:prstGeom prst="roundRect">
            <a:avLst>
              <a:gd name="adj" fmla="val 3268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73263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1E1A1173-E82C-0D33-DD8F-EE7C940F960D}"/>
              </a:ext>
            </a:extLst>
          </p:cNvPr>
          <p:cNvSpPr/>
          <p:nvPr/>
        </p:nvSpPr>
        <p:spPr>
          <a:xfrm>
            <a:off x="896454" y="5741834"/>
            <a:ext cx="9692640" cy="892646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447597FC-C693-5579-F086-7E0F3ACAB997}"/>
              </a:ext>
            </a:extLst>
          </p:cNvPr>
          <p:cNvSpPr/>
          <p:nvPr/>
        </p:nvSpPr>
        <p:spPr>
          <a:xfrm>
            <a:off x="772160" y="2113280"/>
            <a:ext cx="9692640" cy="668872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">
            <a:extLst>
              <a:ext uri="{FF2B5EF4-FFF2-40B4-BE49-F238E27FC236}">
                <a16:creationId xmlns:a16="http://schemas.microsoft.com/office/drawing/2014/main" id="{1F8C45D5-07FF-4930-9D91-13A90BD7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19060"/>
          </a:xfrm>
        </p:spPr>
        <p:txBody>
          <a:bodyPr>
            <a:normAutofit/>
          </a:bodyPr>
          <a:lstStyle/>
          <a:p>
            <a:r>
              <a:rPr lang="hu-HU" dirty="0"/>
              <a:t>Lengyel formára hozás lejátszása</a:t>
            </a:r>
          </a:p>
        </p:txBody>
      </p:sp>
      <p:sp>
        <p:nvSpPr>
          <p:cNvPr id="10" name="Tartalom">
            <a:extLst>
              <a:ext uri="{FF2B5EF4-FFF2-40B4-BE49-F238E27FC236}">
                <a16:creationId xmlns:a16="http://schemas.microsoft.com/office/drawing/2014/main" id="{A21EC124-B3D3-487A-A5BA-66ECD988B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258" y="1637407"/>
            <a:ext cx="8595360" cy="4649656"/>
          </a:xfrm>
        </p:spPr>
        <p:txBody>
          <a:bodyPr anchor="t">
            <a:normAutofit/>
          </a:bodyPr>
          <a:lstStyle/>
          <a:p>
            <a:r>
              <a:rPr lang="hu-HU" err="1"/>
              <a:t>Infix</a:t>
            </a:r>
            <a:r>
              <a:rPr lang="hu-HU"/>
              <a:t> alak:</a:t>
            </a:r>
          </a:p>
          <a:p>
            <a:pPr marL="0" indent="0">
              <a:buNone/>
            </a:pPr>
            <a:endParaRPr lang="hu-HU"/>
          </a:p>
          <a:p>
            <a:r>
              <a:rPr lang="hu-HU"/>
              <a:t>Verem:</a:t>
            </a:r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 sz="600"/>
          </a:p>
          <a:p>
            <a:r>
              <a:rPr lang="hu-HU"/>
              <a:t>Lengyel forma:</a:t>
            </a:r>
          </a:p>
        </p:txBody>
      </p:sp>
      <p:graphicFrame>
        <p:nvGraphicFramePr>
          <p:cNvPr id="13" name="INFIX ALAK">
            <a:extLst>
              <a:ext uri="{FF2B5EF4-FFF2-40B4-BE49-F238E27FC236}">
                <a16:creationId xmlns:a16="http://schemas.microsoft.com/office/drawing/2014/main" id="{2C89856A-FA80-4214-B587-D2C228B23F89}"/>
              </a:ext>
            </a:extLst>
          </p:cNvPr>
          <p:cNvGraphicFramePr>
            <a:graphicFrameLocks/>
          </p:cNvGraphicFramePr>
          <p:nvPr/>
        </p:nvGraphicFramePr>
        <p:xfrm>
          <a:off x="1261872" y="2219325"/>
          <a:ext cx="89280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27613742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4816924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7333650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664121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0315746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8722888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320079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300502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011655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108556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3191238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1634105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982458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792896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818232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9212613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6953432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528894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054876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2763554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9478366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0516959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79374932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8017643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796995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3096863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567306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271197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6873485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485939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38711708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=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^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^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94842"/>
                  </a:ext>
                </a:extLst>
              </a:tr>
            </a:tbl>
          </a:graphicData>
        </a:graphic>
      </p:graphicFrame>
      <p:graphicFrame>
        <p:nvGraphicFramePr>
          <p:cNvPr id="3" name="LENGYEL FORMA 1">
            <a:extLst>
              <a:ext uri="{FF2B5EF4-FFF2-40B4-BE49-F238E27FC236}">
                <a16:creationId xmlns:a16="http://schemas.microsoft.com/office/drawing/2014/main" id="{3FFD084D-782E-4144-A33C-36DA7BFC519B}"/>
              </a:ext>
            </a:extLst>
          </p:cNvPr>
          <p:cNvGraphicFramePr>
            <a:graphicFrameLocks noGrp="1"/>
          </p:cNvGraphicFramePr>
          <p:nvPr/>
        </p:nvGraphicFramePr>
        <p:xfrm>
          <a:off x="1260273" y="5954494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7" name="LENGYEL FORMA 2">
            <a:extLst>
              <a:ext uri="{FF2B5EF4-FFF2-40B4-BE49-F238E27FC236}">
                <a16:creationId xmlns:a16="http://schemas.microsoft.com/office/drawing/2014/main" id="{2E6BF042-EB94-4FAC-A26B-D3BC6286A5BD}"/>
              </a:ext>
            </a:extLst>
          </p:cNvPr>
          <p:cNvGraphicFramePr>
            <a:graphicFrameLocks noGrp="1"/>
          </p:cNvGraphicFramePr>
          <p:nvPr/>
        </p:nvGraphicFramePr>
        <p:xfrm>
          <a:off x="1615797" y="595551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8" name="LENGYEL FORMA 3">
            <a:extLst>
              <a:ext uri="{FF2B5EF4-FFF2-40B4-BE49-F238E27FC236}">
                <a16:creationId xmlns:a16="http://schemas.microsoft.com/office/drawing/2014/main" id="{D7744B17-0670-48A9-B32F-64A795DFB652}"/>
              </a:ext>
            </a:extLst>
          </p:cNvPr>
          <p:cNvGraphicFramePr>
            <a:graphicFrameLocks noGrp="1"/>
          </p:cNvGraphicFramePr>
          <p:nvPr/>
        </p:nvGraphicFramePr>
        <p:xfrm>
          <a:off x="1972348" y="595551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6" name="LENGYEL FORMA 4">
            <a:extLst>
              <a:ext uri="{FF2B5EF4-FFF2-40B4-BE49-F238E27FC236}">
                <a16:creationId xmlns:a16="http://schemas.microsoft.com/office/drawing/2014/main" id="{1E9B3836-E1A4-49D4-AD58-BB8AF85D9E1C}"/>
              </a:ext>
            </a:extLst>
          </p:cNvPr>
          <p:cNvGraphicFramePr>
            <a:graphicFrameLocks noGrp="1"/>
          </p:cNvGraphicFramePr>
          <p:nvPr/>
        </p:nvGraphicFramePr>
        <p:xfrm>
          <a:off x="2327169" y="59636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7" name="LENGYEL FORMA 5">
            <a:extLst>
              <a:ext uri="{FF2B5EF4-FFF2-40B4-BE49-F238E27FC236}">
                <a16:creationId xmlns:a16="http://schemas.microsoft.com/office/drawing/2014/main" id="{BA54F7F4-867A-4E27-BECB-9C531C07522E}"/>
              </a:ext>
            </a:extLst>
          </p:cNvPr>
          <p:cNvGraphicFramePr>
            <a:graphicFrameLocks noGrp="1"/>
          </p:cNvGraphicFramePr>
          <p:nvPr/>
        </p:nvGraphicFramePr>
        <p:xfrm>
          <a:off x="2672004" y="5955519"/>
          <a:ext cx="356400" cy="429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29406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5" name="LENGYEL FORMA 6">
            <a:extLst>
              <a:ext uri="{FF2B5EF4-FFF2-40B4-BE49-F238E27FC236}">
                <a16:creationId xmlns:a16="http://schemas.microsoft.com/office/drawing/2014/main" id="{FCE57668-B784-4181-A5C7-818E8694C534}"/>
              </a:ext>
            </a:extLst>
          </p:cNvPr>
          <p:cNvGraphicFramePr>
            <a:graphicFrameLocks noGrp="1"/>
          </p:cNvGraphicFramePr>
          <p:nvPr/>
        </p:nvGraphicFramePr>
        <p:xfrm>
          <a:off x="3027099" y="59636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4" name="LENGYEL FORMA 7">
            <a:extLst>
              <a:ext uri="{FF2B5EF4-FFF2-40B4-BE49-F238E27FC236}">
                <a16:creationId xmlns:a16="http://schemas.microsoft.com/office/drawing/2014/main" id="{1D88E43D-7595-448C-B26F-78BDBDDC1EFF}"/>
              </a:ext>
            </a:extLst>
          </p:cNvPr>
          <p:cNvGraphicFramePr>
            <a:graphicFrameLocks noGrp="1"/>
          </p:cNvGraphicFramePr>
          <p:nvPr/>
        </p:nvGraphicFramePr>
        <p:xfrm>
          <a:off x="3383499" y="59636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3" name="LENGYEL FORMA 8">
            <a:extLst>
              <a:ext uri="{FF2B5EF4-FFF2-40B4-BE49-F238E27FC236}">
                <a16:creationId xmlns:a16="http://schemas.microsoft.com/office/drawing/2014/main" id="{53217A9F-9A8A-4EBC-B62D-76D446E35B6B}"/>
              </a:ext>
            </a:extLst>
          </p:cNvPr>
          <p:cNvGraphicFramePr>
            <a:graphicFrameLocks noGrp="1"/>
          </p:cNvGraphicFramePr>
          <p:nvPr/>
        </p:nvGraphicFramePr>
        <p:xfrm>
          <a:off x="3746451" y="5948384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2" name="LENGYEL FORMA 9">
            <a:extLst>
              <a:ext uri="{FF2B5EF4-FFF2-40B4-BE49-F238E27FC236}">
                <a16:creationId xmlns:a16="http://schemas.microsoft.com/office/drawing/2014/main" id="{EEE69753-DF9B-4FD6-95F1-819B5657CE24}"/>
              </a:ext>
            </a:extLst>
          </p:cNvPr>
          <p:cNvGraphicFramePr>
            <a:graphicFrameLocks noGrp="1"/>
          </p:cNvGraphicFramePr>
          <p:nvPr/>
        </p:nvGraphicFramePr>
        <p:xfrm>
          <a:off x="4095058" y="5969736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1" name="LENGYEL FORMA 10">
            <a:extLst>
              <a:ext uri="{FF2B5EF4-FFF2-40B4-BE49-F238E27FC236}">
                <a16:creationId xmlns:a16="http://schemas.microsoft.com/office/drawing/2014/main" id="{7D062D55-8F52-4EF8-BA9A-B6A2A3C0874D}"/>
              </a:ext>
            </a:extLst>
          </p:cNvPr>
          <p:cNvGraphicFramePr>
            <a:graphicFrameLocks noGrp="1"/>
          </p:cNvGraphicFramePr>
          <p:nvPr/>
        </p:nvGraphicFramePr>
        <p:xfrm>
          <a:off x="4441440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30" name="LENGYEL FORMA 11">
            <a:extLst>
              <a:ext uri="{FF2B5EF4-FFF2-40B4-BE49-F238E27FC236}">
                <a16:creationId xmlns:a16="http://schemas.microsoft.com/office/drawing/2014/main" id="{D79D751D-13C9-432A-8455-94DA3D5E781A}"/>
              </a:ext>
            </a:extLst>
          </p:cNvPr>
          <p:cNvGraphicFramePr>
            <a:graphicFrameLocks noGrp="1"/>
          </p:cNvGraphicFramePr>
          <p:nvPr/>
        </p:nvGraphicFramePr>
        <p:xfrm>
          <a:off x="4796590" y="5962601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9" name="LENGYEL FORMA 12">
            <a:extLst>
              <a:ext uri="{FF2B5EF4-FFF2-40B4-BE49-F238E27FC236}">
                <a16:creationId xmlns:a16="http://schemas.microsoft.com/office/drawing/2014/main" id="{F192B5DE-F6EE-41F8-A948-DED0EAFD7EE0}"/>
              </a:ext>
            </a:extLst>
          </p:cNvPr>
          <p:cNvGraphicFramePr>
            <a:graphicFrameLocks noGrp="1"/>
          </p:cNvGraphicFramePr>
          <p:nvPr/>
        </p:nvGraphicFramePr>
        <p:xfrm>
          <a:off x="5149515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8" name="LENGYEL FORMA 13">
            <a:extLst>
              <a:ext uri="{FF2B5EF4-FFF2-40B4-BE49-F238E27FC236}">
                <a16:creationId xmlns:a16="http://schemas.microsoft.com/office/drawing/2014/main" id="{B7450146-2B4A-4216-92DC-0DD3001EACC4}"/>
              </a:ext>
            </a:extLst>
          </p:cNvPr>
          <p:cNvGraphicFramePr>
            <a:graphicFrameLocks noGrp="1"/>
          </p:cNvGraphicFramePr>
          <p:nvPr/>
        </p:nvGraphicFramePr>
        <p:xfrm>
          <a:off x="5503953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7" name="LENGYEL FORMA 14">
            <a:extLst>
              <a:ext uri="{FF2B5EF4-FFF2-40B4-BE49-F238E27FC236}">
                <a16:creationId xmlns:a16="http://schemas.microsoft.com/office/drawing/2014/main" id="{CA7279DC-B892-4FF7-8804-B4CA6CB337D3}"/>
              </a:ext>
            </a:extLst>
          </p:cNvPr>
          <p:cNvGraphicFramePr>
            <a:graphicFrameLocks noGrp="1"/>
          </p:cNvGraphicFramePr>
          <p:nvPr/>
        </p:nvGraphicFramePr>
        <p:xfrm>
          <a:off x="5854522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^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6" name="LENGYEL FORMA 15">
            <a:extLst>
              <a:ext uri="{FF2B5EF4-FFF2-40B4-BE49-F238E27FC236}">
                <a16:creationId xmlns:a16="http://schemas.microsoft.com/office/drawing/2014/main" id="{1D1E7C25-189F-471F-9B6C-641999AF87FD}"/>
              </a:ext>
            </a:extLst>
          </p:cNvPr>
          <p:cNvGraphicFramePr>
            <a:graphicFrameLocks noGrp="1"/>
          </p:cNvGraphicFramePr>
          <p:nvPr/>
        </p:nvGraphicFramePr>
        <p:xfrm>
          <a:off x="6208404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^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5" name="LENGYEL FORMA 16">
            <a:extLst>
              <a:ext uri="{FF2B5EF4-FFF2-40B4-BE49-F238E27FC236}">
                <a16:creationId xmlns:a16="http://schemas.microsoft.com/office/drawing/2014/main" id="{429BEFA8-0145-425B-A099-96C43F185DD6}"/>
              </a:ext>
            </a:extLst>
          </p:cNvPr>
          <p:cNvGraphicFramePr>
            <a:graphicFrameLocks noGrp="1"/>
          </p:cNvGraphicFramePr>
          <p:nvPr/>
        </p:nvGraphicFramePr>
        <p:xfrm>
          <a:off x="6563499" y="5977896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4" name="LENGYEL FORMA 17">
            <a:extLst>
              <a:ext uri="{FF2B5EF4-FFF2-40B4-BE49-F238E27FC236}">
                <a16:creationId xmlns:a16="http://schemas.microsoft.com/office/drawing/2014/main" id="{E48200FA-C149-4A01-81EA-BD5C93F09C61}"/>
              </a:ext>
            </a:extLst>
          </p:cNvPr>
          <p:cNvGraphicFramePr>
            <a:graphicFrameLocks noGrp="1"/>
          </p:cNvGraphicFramePr>
          <p:nvPr/>
        </p:nvGraphicFramePr>
        <p:xfrm>
          <a:off x="6924463" y="595555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3" name="LENGYEL FORMA 18">
            <a:extLst>
              <a:ext uri="{FF2B5EF4-FFF2-40B4-BE49-F238E27FC236}">
                <a16:creationId xmlns:a16="http://schemas.microsoft.com/office/drawing/2014/main" id="{1276E222-F7D4-4505-A1D9-7895BE8621B5}"/>
              </a:ext>
            </a:extLst>
          </p:cNvPr>
          <p:cNvGraphicFramePr>
            <a:graphicFrameLocks noGrp="1"/>
          </p:cNvGraphicFramePr>
          <p:nvPr/>
        </p:nvGraphicFramePr>
        <p:xfrm>
          <a:off x="7281530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1" name="LENGYEL FORMA 19">
            <a:extLst>
              <a:ext uri="{FF2B5EF4-FFF2-40B4-BE49-F238E27FC236}">
                <a16:creationId xmlns:a16="http://schemas.microsoft.com/office/drawing/2014/main" id="{542914E0-D0BC-4A05-A9E2-DB44E94FEA70}"/>
              </a:ext>
            </a:extLst>
          </p:cNvPr>
          <p:cNvGraphicFramePr>
            <a:graphicFrameLocks noGrp="1"/>
          </p:cNvGraphicFramePr>
          <p:nvPr/>
        </p:nvGraphicFramePr>
        <p:xfrm>
          <a:off x="7637414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k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20" name="LENGYEL FORMA 20">
            <a:extLst>
              <a:ext uri="{FF2B5EF4-FFF2-40B4-BE49-F238E27FC236}">
                <a16:creationId xmlns:a16="http://schemas.microsoft.com/office/drawing/2014/main" id="{52AD18D8-3CD1-4061-9B13-F2407334B38E}"/>
              </a:ext>
            </a:extLst>
          </p:cNvPr>
          <p:cNvGraphicFramePr>
            <a:graphicFrameLocks noGrp="1"/>
          </p:cNvGraphicFramePr>
          <p:nvPr/>
        </p:nvGraphicFramePr>
        <p:xfrm>
          <a:off x="7990901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19" name="LENGYEL FORMA 21">
            <a:extLst>
              <a:ext uri="{FF2B5EF4-FFF2-40B4-BE49-F238E27FC236}">
                <a16:creationId xmlns:a16="http://schemas.microsoft.com/office/drawing/2014/main" id="{92FDD8AB-F6B4-4D19-B4FE-F54BE9CE560C}"/>
              </a:ext>
            </a:extLst>
          </p:cNvPr>
          <p:cNvGraphicFramePr>
            <a:graphicFrameLocks noGrp="1"/>
          </p:cNvGraphicFramePr>
          <p:nvPr/>
        </p:nvGraphicFramePr>
        <p:xfrm>
          <a:off x="8348635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18" name="LENGYEL FORMA 22">
            <a:extLst>
              <a:ext uri="{FF2B5EF4-FFF2-40B4-BE49-F238E27FC236}">
                <a16:creationId xmlns:a16="http://schemas.microsoft.com/office/drawing/2014/main" id="{E96A1883-288F-4507-BA72-EA7C8BCFD48B}"/>
              </a:ext>
            </a:extLst>
          </p:cNvPr>
          <p:cNvGraphicFramePr>
            <a:graphicFrameLocks noGrp="1"/>
          </p:cNvGraphicFramePr>
          <p:nvPr/>
        </p:nvGraphicFramePr>
        <p:xfrm>
          <a:off x="8718140" y="5972179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17" name="LENGYEL FORMA 23">
            <a:extLst>
              <a:ext uri="{FF2B5EF4-FFF2-40B4-BE49-F238E27FC236}">
                <a16:creationId xmlns:a16="http://schemas.microsoft.com/office/drawing/2014/main" id="{0B6D1A58-5DF1-48AB-9DFB-CB6A7A84B35B}"/>
              </a:ext>
            </a:extLst>
          </p:cNvPr>
          <p:cNvGraphicFramePr>
            <a:graphicFrameLocks noGrp="1"/>
          </p:cNvGraphicFramePr>
          <p:nvPr/>
        </p:nvGraphicFramePr>
        <p:xfrm>
          <a:off x="9071382" y="5977896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16" name="LENGYEL FORMA 24">
            <a:extLst>
              <a:ext uri="{FF2B5EF4-FFF2-40B4-BE49-F238E27FC236}">
                <a16:creationId xmlns:a16="http://schemas.microsoft.com/office/drawing/2014/main" id="{182C051A-F537-4FDE-87BF-A53EBBE248C4}"/>
              </a:ext>
            </a:extLst>
          </p:cNvPr>
          <p:cNvGraphicFramePr>
            <a:graphicFrameLocks noGrp="1"/>
          </p:cNvGraphicFramePr>
          <p:nvPr/>
        </p:nvGraphicFramePr>
        <p:xfrm>
          <a:off x="9404022" y="5940317"/>
          <a:ext cx="424213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213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15" name="LENGYEL FORMA 25">
            <a:extLst>
              <a:ext uri="{FF2B5EF4-FFF2-40B4-BE49-F238E27FC236}">
                <a16:creationId xmlns:a16="http://schemas.microsoft.com/office/drawing/2014/main" id="{36118948-1AAF-4771-A79B-876DF62691EE}"/>
              </a:ext>
            </a:extLst>
          </p:cNvPr>
          <p:cNvGraphicFramePr>
            <a:graphicFrameLocks noGrp="1"/>
          </p:cNvGraphicFramePr>
          <p:nvPr/>
        </p:nvGraphicFramePr>
        <p:xfrm>
          <a:off x="9832861" y="5956937"/>
          <a:ext cx="356400" cy="4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49258891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=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951580"/>
                  </a:ext>
                </a:extLst>
              </a:tr>
            </a:tbl>
          </a:graphicData>
        </a:graphic>
      </p:graphicFrame>
      <p:graphicFrame>
        <p:nvGraphicFramePr>
          <p:cNvPr id="72" name="VEREM START">
            <a:extLst>
              <a:ext uri="{FF2B5EF4-FFF2-40B4-BE49-F238E27FC236}">
                <a16:creationId xmlns:a16="http://schemas.microsoft.com/office/drawing/2014/main" id="{B5E630C6-DFE9-4AF8-8279-0A08CC322A7F}"/>
              </a:ext>
            </a:extLst>
          </p:cNvPr>
          <p:cNvGraphicFramePr>
            <a:graphicFrameLocks noGrp="1"/>
          </p:cNvGraphicFramePr>
          <p:nvPr/>
        </p:nvGraphicFramePr>
        <p:xfrm>
          <a:off x="1272930" y="3127993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10984157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4935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4214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4475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4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0327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4954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93944"/>
                  </a:ext>
                </a:extLst>
              </a:tr>
            </a:tbl>
          </a:graphicData>
        </a:graphic>
      </p:graphicFrame>
      <p:graphicFrame>
        <p:nvGraphicFramePr>
          <p:cNvPr id="41" name="VEREM 1">
            <a:extLst>
              <a:ext uri="{FF2B5EF4-FFF2-40B4-BE49-F238E27FC236}">
                <a16:creationId xmlns:a16="http://schemas.microsoft.com/office/drawing/2014/main" id="{22F369E5-3F85-4446-844B-4ECD28C39DCE}"/>
              </a:ext>
            </a:extLst>
          </p:cNvPr>
          <p:cNvGraphicFramePr>
            <a:graphicFrameLocks noGrp="1"/>
          </p:cNvGraphicFramePr>
          <p:nvPr/>
        </p:nvGraphicFramePr>
        <p:xfrm>
          <a:off x="1573267" y="3126210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8" name="VEREM 2">
            <a:extLst>
              <a:ext uri="{FF2B5EF4-FFF2-40B4-BE49-F238E27FC236}">
                <a16:creationId xmlns:a16="http://schemas.microsoft.com/office/drawing/2014/main" id="{BDCA7D4A-C7B2-4EC5-B1D8-28D8BC35BA49}"/>
              </a:ext>
            </a:extLst>
          </p:cNvPr>
          <p:cNvGraphicFramePr>
            <a:graphicFrameLocks noGrp="1"/>
          </p:cNvGraphicFramePr>
          <p:nvPr/>
        </p:nvGraphicFramePr>
        <p:xfrm>
          <a:off x="2149267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3" name="VEREM 3">
            <a:extLst>
              <a:ext uri="{FF2B5EF4-FFF2-40B4-BE49-F238E27FC236}">
                <a16:creationId xmlns:a16="http://schemas.microsoft.com/office/drawing/2014/main" id="{A8E2FE17-50D8-4608-958A-BB25289EDD41}"/>
              </a:ext>
            </a:extLst>
          </p:cNvPr>
          <p:cNvGraphicFramePr>
            <a:graphicFrameLocks noGrp="1"/>
          </p:cNvGraphicFramePr>
          <p:nvPr/>
        </p:nvGraphicFramePr>
        <p:xfrm>
          <a:off x="2723828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5" name="VEREM 4">
            <a:extLst>
              <a:ext uri="{FF2B5EF4-FFF2-40B4-BE49-F238E27FC236}">
                <a16:creationId xmlns:a16="http://schemas.microsoft.com/office/drawing/2014/main" id="{B96BB9CE-B05E-431A-9F57-9B35C12B93A2}"/>
              </a:ext>
            </a:extLst>
          </p:cNvPr>
          <p:cNvGraphicFramePr>
            <a:graphicFrameLocks noGrp="1"/>
          </p:cNvGraphicFramePr>
          <p:nvPr/>
        </p:nvGraphicFramePr>
        <p:xfrm>
          <a:off x="3008977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5" name="VEREM 5">
            <a:extLst>
              <a:ext uri="{FF2B5EF4-FFF2-40B4-BE49-F238E27FC236}">
                <a16:creationId xmlns:a16="http://schemas.microsoft.com/office/drawing/2014/main" id="{280AB604-B00E-41F0-87BD-2B68329FFFCA}"/>
              </a:ext>
            </a:extLst>
          </p:cNvPr>
          <p:cNvGraphicFramePr>
            <a:graphicFrameLocks noGrp="1"/>
          </p:cNvGraphicFramePr>
          <p:nvPr/>
        </p:nvGraphicFramePr>
        <p:xfrm>
          <a:off x="3592404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4" name="VEREM 6">
            <a:extLst>
              <a:ext uri="{FF2B5EF4-FFF2-40B4-BE49-F238E27FC236}">
                <a16:creationId xmlns:a16="http://schemas.microsoft.com/office/drawing/2014/main" id="{7DB286FC-3D4D-4631-B5ED-B5FA44AA30CB}"/>
              </a:ext>
            </a:extLst>
          </p:cNvPr>
          <p:cNvGraphicFramePr>
            <a:graphicFrameLocks noGrp="1"/>
          </p:cNvGraphicFramePr>
          <p:nvPr/>
        </p:nvGraphicFramePr>
        <p:xfrm>
          <a:off x="4170153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6" name="VEREM 7">
            <a:extLst>
              <a:ext uri="{FF2B5EF4-FFF2-40B4-BE49-F238E27FC236}">
                <a16:creationId xmlns:a16="http://schemas.microsoft.com/office/drawing/2014/main" id="{D4353BD2-5DC9-48DE-9391-2EDFDF50F603}"/>
              </a:ext>
            </a:extLst>
          </p:cNvPr>
          <p:cNvGraphicFramePr>
            <a:graphicFrameLocks noGrp="1"/>
          </p:cNvGraphicFramePr>
          <p:nvPr/>
        </p:nvGraphicFramePr>
        <p:xfrm>
          <a:off x="4455302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5" name="VEREM 8">
            <a:extLst>
              <a:ext uri="{FF2B5EF4-FFF2-40B4-BE49-F238E27FC236}">
                <a16:creationId xmlns:a16="http://schemas.microsoft.com/office/drawing/2014/main" id="{EBFD8C63-185F-4CDF-9BD2-022C73FFB1C3}"/>
              </a:ext>
            </a:extLst>
          </p:cNvPr>
          <p:cNvGraphicFramePr>
            <a:graphicFrameLocks noGrp="1"/>
          </p:cNvGraphicFramePr>
          <p:nvPr/>
        </p:nvGraphicFramePr>
        <p:xfrm>
          <a:off x="5041137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1" name="VEREM 9">
            <a:extLst>
              <a:ext uri="{FF2B5EF4-FFF2-40B4-BE49-F238E27FC236}">
                <a16:creationId xmlns:a16="http://schemas.microsoft.com/office/drawing/2014/main" id="{3A7CAB45-127E-4A33-8A25-3A38E3C91729}"/>
              </a:ext>
            </a:extLst>
          </p:cNvPr>
          <p:cNvGraphicFramePr>
            <a:graphicFrameLocks noGrp="1"/>
          </p:cNvGraphicFramePr>
          <p:nvPr/>
        </p:nvGraphicFramePr>
        <p:xfrm>
          <a:off x="5617872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4" name="VEREM 10">
            <a:extLst>
              <a:ext uri="{FF2B5EF4-FFF2-40B4-BE49-F238E27FC236}">
                <a16:creationId xmlns:a16="http://schemas.microsoft.com/office/drawing/2014/main" id="{B5B11FFB-1BE0-4A45-9565-FC51439A30B2}"/>
              </a:ext>
            </a:extLst>
          </p:cNvPr>
          <p:cNvGraphicFramePr>
            <a:graphicFrameLocks noGrp="1"/>
          </p:cNvGraphicFramePr>
          <p:nvPr/>
        </p:nvGraphicFramePr>
        <p:xfrm>
          <a:off x="5902149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0" name="VEREM 11">
            <a:extLst>
              <a:ext uri="{FF2B5EF4-FFF2-40B4-BE49-F238E27FC236}">
                <a16:creationId xmlns:a16="http://schemas.microsoft.com/office/drawing/2014/main" id="{E1B25025-3033-4094-9560-782E5A3AEF13}"/>
              </a:ext>
            </a:extLst>
          </p:cNvPr>
          <p:cNvGraphicFramePr>
            <a:graphicFrameLocks noGrp="1"/>
          </p:cNvGraphicFramePr>
          <p:nvPr/>
        </p:nvGraphicFramePr>
        <p:xfrm>
          <a:off x="6474651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8" name="VEREM 12">
            <a:extLst>
              <a:ext uri="{FF2B5EF4-FFF2-40B4-BE49-F238E27FC236}">
                <a16:creationId xmlns:a16="http://schemas.microsoft.com/office/drawing/2014/main" id="{E5B68C57-8384-42AA-BD8D-CE7B57CFC2A5}"/>
              </a:ext>
            </a:extLst>
          </p:cNvPr>
          <p:cNvGraphicFramePr>
            <a:graphicFrameLocks noGrp="1"/>
          </p:cNvGraphicFramePr>
          <p:nvPr/>
        </p:nvGraphicFramePr>
        <p:xfrm>
          <a:off x="7055709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6" name="VEREM 13">
            <a:extLst>
              <a:ext uri="{FF2B5EF4-FFF2-40B4-BE49-F238E27FC236}">
                <a16:creationId xmlns:a16="http://schemas.microsoft.com/office/drawing/2014/main" id="{B46ED2C1-2E0D-492C-9DD8-0E6AF36755C8}"/>
              </a:ext>
            </a:extLst>
          </p:cNvPr>
          <p:cNvGraphicFramePr>
            <a:graphicFrameLocks noGrp="1"/>
          </p:cNvGraphicFramePr>
          <p:nvPr/>
        </p:nvGraphicFramePr>
        <p:xfrm>
          <a:off x="7343534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3" name="VEREM 14">
            <a:extLst>
              <a:ext uri="{FF2B5EF4-FFF2-40B4-BE49-F238E27FC236}">
                <a16:creationId xmlns:a16="http://schemas.microsoft.com/office/drawing/2014/main" id="{39F6D4BB-9BF6-455E-92DD-634C89212934}"/>
              </a:ext>
            </a:extLst>
          </p:cNvPr>
          <p:cNvGraphicFramePr>
            <a:graphicFrameLocks noGrp="1"/>
          </p:cNvGraphicFramePr>
          <p:nvPr/>
        </p:nvGraphicFramePr>
        <p:xfrm>
          <a:off x="7921788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0" name="VEREM 15">
            <a:extLst>
              <a:ext uri="{FF2B5EF4-FFF2-40B4-BE49-F238E27FC236}">
                <a16:creationId xmlns:a16="http://schemas.microsoft.com/office/drawing/2014/main" id="{AA1F89A2-01C1-4701-9AD2-C4B5292F7B42}"/>
              </a:ext>
            </a:extLst>
          </p:cNvPr>
          <p:cNvGraphicFramePr>
            <a:graphicFrameLocks noGrp="1"/>
          </p:cNvGraphicFramePr>
          <p:nvPr/>
        </p:nvGraphicFramePr>
        <p:xfrm>
          <a:off x="8209788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2" name="VEREM 16">
            <a:extLst>
              <a:ext uri="{FF2B5EF4-FFF2-40B4-BE49-F238E27FC236}">
                <a16:creationId xmlns:a16="http://schemas.microsoft.com/office/drawing/2014/main" id="{CE5AABB6-9E1D-450B-893B-9D55DF26D2F4}"/>
              </a:ext>
            </a:extLst>
          </p:cNvPr>
          <p:cNvGraphicFramePr>
            <a:graphicFrameLocks noGrp="1"/>
          </p:cNvGraphicFramePr>
          <p:nvPr/>
        </p:nvGraphicFramePr>
        <p:xfrm>
          <a:off x="8795522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7" name="VEREM 17">
            <a:extLst>
              <a:ext uri="{FF2B5EF4-FFF2-40B4-BE49-F238E27FC236}">
                <a16:creationId xmlns:a16="http://schemas.microsoft.com/office/drawing/2014/main" id="{096498FC-1744-4B62-99FC-BA26A6E7F8C8}"/>
              </a:ext>
            </a:extLst>
          </p:cNvPr>
          <p:cNvGraphicFramePr>
            <a:graphicFrameLocks noGrp="1"/>
          </p:cNvGraphicFramePr>
          <p:nvPr/>
        </p:nvGraphicFramePr>
        <p:xfrm>
          <a:off x="9367841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8" name="VEREM 18">
            <a:extLst>
              <a:ext uri="{FF2B5EF4-FFF2-40B4-BE49-F238E27FC236}">
                <a16:creationId xmlns:a16="http://schemas.microsoft.com/office/drawing/2014/main" id="{F509107B-7699-4B30-8CAA-2675A08707EA}"/>
              </a:ext>
            </a:extLst>
          </p:cNvPr>
          <p:cNvGraphicFramePr>
            <a:graphicFrameLocks noGrp="1"/>
          </p:cNvGraphicFramePr>
          <p:nvPr/>
        </p:nvGraphicFramePr>
        <p:xfrm>
          <a:off x="9654337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71" name="VEREM END">
            <a:extLst>
              <a:ext uri="{FF2B5EF4-FFF2-40B4-BE49-F238E27FC236}">
                <a16:creationId xmlns:a16="http://schemas.microsoft.com/office/drawing/2014/main" id="{641A3E88-6A0F-41C2-8014-A067CDB6D79D}"/>
              </a:ext>
            </a:extLst>
          </p:cNvPr>
          <p:cNvGraphicFramePr>
            <a:graphicFrameLocks noGrp="1"/>
          </p:cNvGraphicFramePr>
          <p:nvPr/>
        </p:nvGraphicFramePr>
        <p:xfrm>
          <a:off x="9940160" y="3121247"/>
          <a:ext cx="216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10984157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4935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4214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4475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4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0327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4954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93944"/>
                  </a:ext>
                </a:extLst>
              </a:tr>
            </a:tbl>
          </a:graphicData>
        </a:graphic>
      </p:graphicFrame>
      <p:graphicFrame>
        <p:nvGraphicFramePr>
          <p:cNvPr id="73" name="CURRENT">
            <a:extLst>
              <a:ext uri="{FF2B5EF4-FFF2-40B4-BE49-F238E27FC236}">
                <a16:creationId xmlns:a16="http://schemas.microsoft.com/office/drawing/2014/main" id="{2E724FB2-C9A1-47B4-B7DA-F74886980E5A}"/>
              </a:ext>
            </a:extLst>
          </p:cNvPr>
          <p:cNvGraphicFramePr>
            <a:graphicFrameLocks noGrp="1"/>
          </p:cNvGraphicFramePr>
          <p:nvPr/>
        </p:nvGraphicFramePr>
        <p:xfrm>
          <a:off x="1261872" y="2227696"/>
          <a:ext cx="288000" cy="4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723258545"/>
                    </a:ext>
                  </a:extLst>
                </a:gridCol>
              </a:tblGrid>
              <a:tr h="424800"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84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2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416 L 0.02513 0.0039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13 0.00393 L 0.04896 0.0039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96 0.00393 L 0.07253 0.003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53 0.0037 L 0.09675 0.003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75 0.0037 L 0.12032 0.0034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32 0.00347 L 0.14388 0.00324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8 0.0044 L 0.16784 0.0041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784 0.00416 L 0.19141 0.00393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141 0.00393 L 0.21498 0.0037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498 0.0037 L 0.23855 0.00347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55 0.00347 L 0.26211 0.00324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11 0.00324 L 0.28568 0.00301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568 0.00301 L 0.30925 0.00277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782 0.00254 L 0.33138 0.00231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38 0.00231 L 0.35495 0.00208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495 0.00208 L 0.37852 0.00185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52 0.00185 L 0.40209 0.00162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09 0.00162 L 0.42566 0.00139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566 0.00139 L 0.44922 0.00115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922 0.00115 L 0.47279 0.00092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50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279 0.00092 L 0.49636 0.00069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000"/>
                            </p:stCondLst>
                            <p:childTnLst>
                              <p:par>
                                <p:cTn id="2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636 0.00069 L 0.51993 0.00046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000"/>
                            </p:stCondLst>
                            <p:childTnLst>
                              <p:par>
                                <p:cTn id="2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993 0.00046 L 0.54349 0.00023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349 0.00023 L 0.56706 2.96296E-6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0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706 2.96296E-6 L 0.59063 -0.00023 " pathEditMode="relative" rAng="0" ptsTypes="AA">
                                      <p:cBhvr>
                                        <p:cTn id="24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154 0.00115 L 0.61511 0.00092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0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511 0.00092 L 0.63868 0.00069 " pathEditMode="relative" rAng="0" ptsTypes="AA">
                                      <p:cBhvr>
                                        <p:cTn id="25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3868 0.00069 L 0.66224 0.00046 " pathEditMode="relative" rAng="0" ptsTypes="AA">
                                      <p:cBhvr>
                                        <p:cTn id="25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5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0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5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6224 0.00046 L 0.68568 0.00023 " pathEditMode="relative" rAng="0" ptsTypes="AA">
                                      <p:cBhvr>
                                        <p:cTn id="27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8568 0.00023 L 0.70912 2.96296E-6 " pathEditMode="relative" rAng="0" ptsTypes="AA">
                                      <p:cBhvr>
                                        <p:cTn id="28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0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2500"/>
                            </p:stCondLst>
                            <p:childTnLst>
                              <p:par>
                                <p:cTn id="2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000"/>
                            </p:stCondLst>
                            <p:childTnLst>
                              <p:par>
                                <p:cTn id="2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3500"/>
                            </p:stCondLst>
                            <p:childTnLst>
                              <p:par>
                                <p:cTn id="3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4000"/>
                            </p:stCondLst>
                            <p:childTnLst>
                              <p:par>
                                <p:cTn id="3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08DA-8F65-DA02-CC97-CDC1A165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9B3E0E-771B-123F-2D25-2B834F75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33" y="0"/>
            <a:ext cx="10018713" cy="1010919"/>
          </a:xfrm>
        </p:spPr>
        <p:txBody>
          <a:bodyPr anchor="t">
            <a:normAutofit fontScale="90000"/>
          </a:bodyPr>
          <a:lstStyle/>
          <a:p>
            <a:r>
              <a:rPr lang="hu-HU" sz="3600" dirty="0"/>
              <a:t>Lengyel forma kiértékelése algoritmusváz </a:t>
            </a:r>
            <a:br>
              <a:rPr lang="hu-HU" sz="3600" dirty="0"/>
            </a:b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Lengyel forma </a:t>
            </a:r>
            <a:r>
              <a:rPr lang="hu-HU" sz="3600" dirty="0">
                <a:solidFill>
                  <a:srgbClr val="C00000"/>
                </a:solidFill>
              </a:rPr>
              <a:t>kiértékelése</a:t>
            </a: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hu-HU" sz="3600" kern="100" dirty="0" err="1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evalRPN</a:t>
            </a:r>
            <a:r>
              <a:rPr lang="hu-HU" sz="36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algoritmus</a:t>
            </a:r>
            <a:br>
              <a:rPr lang="hu-HU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98B6E3-5A54-02A8-7621-D5B9603EC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699" y="1409429"/>
            <a:ext cx="5185922" cy="4631447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a soron következő karakter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Operandus értékét: → </a:t>
            </a:r>
            <a:r>
              <a:rPr lang="hu-HU" sz="2400" kern="100">
                <a:ea typeface="Aptos" panose="020B0004020202020204" pitchFamily="34" charset="0"/>
                <a:cs typeface="Times New Roman" panose="02020603050405020304" pitchFamily="18" charset="0"/>
              </a:rPr>
              <a:t>verembe</a:t>
            </a:r>
            <a:r>
              <a:rPr lang="hu-HU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aritású o</a:t>
            </a:r>
            <a:r>
              <a:rPr lang="hu-HU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perátor (op): 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kiveszünk </a:t>
            </a:r>
            <a:r>
              <a:rPr lang="hu-HU" sz="24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elemet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20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hu-HU" sz="20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. . . , </a:t>
            </a:r>
            <a:r>
              <a:rPr lang="hu-HU" sz="20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hu-HU" sz="20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endParaRPr lang="hu-HU" sz="24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Visszatesszük: </a:t>
            </a:r>
            <a:r>
              <a:rPr lang="hu-HU" sz="2400">
                <a:ea typeface="Aptos" panose="020B0004020202020204" pitchFamily="34" charset="0"/>
                <a:cs typeface="Times New Roman" panose="02020603050405020304" pitchFamily="18" charset="0"/>
              </a:rPr>
              <a:t>op</a:t>
            </a: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(x</a:t>
            </a:r>
            <a:r>
              <a:rPr lang="hu-HU" sz="2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. . . , x</a:t>
            </a:r>
            <a:r>
              <a:rPr lang="hu-HU" sz="2400" baseline="-250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hu-HU" sz="24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értékét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Végül:  a veremben csak a </a:t>
            </a:r>
            <a:r>
              <a:rPr lang="hu-HU" sz="2800">
                <a:ea typeface="Aptos" panose="020B0004020202020204" pitchFamily="34" charset="0"/>
                <a:cs typeface="Times New Roman" panose="02020603050405020304" pitchFamily="18" charset="0"/>
              </a:rPr>
              <a:t>kifejezés értéke</a:t>
            </a:r>
            <a:r>
              <a:rPr lang="hu-HU" sz="28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lesz</a:t>
            </a:r>
            <a:endParaRPr lang="hu-HU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5B22453-40D5-7135-D49C-D3CBABF9C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" r="413"/>
          <a:stretch/>
        </p:blipFill>
        <p:spPr>
          <a:xfrm>
            <a:off x="6658941" y="1158581"/>
            <a:ext cx="4240360" cy="5589565"/>
          </a:xfrm>
          <a:prstGeom prst="roundRect">
            <a:avLst>
              <a:gd name="adj" fmla="val 8512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97214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0E8816-7E1C-F43B-488B-84A46177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34" y="2654348"/>
            <a:ext cx="5009086" cy="1752599"/>
          </a:xfrm>
        </p:spPr>
        <p:txBody>
          <a:bodyPr/>
          <a:lstStyle/>
          <a:p>
            <a:r>
              <a:rPr lang="hu-HU" dirty="0"/>
              <a:t>Lengyel forma kiértékelése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20988AA-8CE1-4653-EC98-167035981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8913" y="490959"/>
            <a:ext cx="4704702" cy="6079379"/>
          </a:xfrm>
          <a:prstGeom prst="roundRect">
            <a:avLst>
              <a:gd name="adj" fmla="val 9665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609660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04F9-2EF6-5501-9DDD-F355BF66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2BF63027-6F8D-7AD0-8B5B-9A92682CFCF8}"/>
              </a:ext>
            </a:extLst>
          </p:cNvPr>
          <p:cNvSpPr/>
          <p:nvPr/>
        </p:nvSpPr>
        <p:spPr>
          <a:xfrm>
            <a:off x="3734970" y="1826516"/>
            <a:ext cx="2912381" cy="981557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3DCA2EF5-A8FF-961C-C484-FF08E2C7A6D1}"/>
              </a:ext>
            </a:extLst>
          </p:cNvPr>
          <p:cNvSpPr/>
          <p:nvPr/>
        </p:nvSpPr>
        <p:spPr>
          <a:xfrm>
            <a:off x="3645647" y="5636507"/>
            <a:ext cx="999280" cy="892646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">
            <a:extLst>
              <a:ext uri="{FF2B5EF4-FFF2-40B4-BE49-F238E27FC236}">
                <a16:creationId xmlns:a16="http://schemas.microsoft.com/office/drawing/2014/main" id="{968CA399-EAD1-A4D0-D7D3-4AF4305C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19060"/>
          </a:xfrm>
        </p:spPr>
        <p:txBody>
          <a:bodyPr>
            <a:normAutofit/>
          </a:bodyPr>
          <a:lstStyle/>
          <a:p>
            <a:r>
              <a:rPr lang="hu-HU"/>
              <a:t>Lengyel forma kiértékelésének lejátszása*</a:t>
            </a:r>
          </a:p>
        </p:txBody>
      </p:sp>
      <p:sp>
        <p:nvSpPr>
          <p:cNvPr id="10" name="Tartalom">
            <a:extLst>
              <a:ext uri="{FF2B5EF4-FFF2-40B4-BE49-F238E27FC236}">
                <a16:creationId xmlns:a16="http://schemas.microsoft.com/office/drawing/2014/main" id="{26445AB8-FD2C-61D7-138F-AC7A2E9FF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258" y="1637407"/>
            <a:ext cx="8595360" cy="4649656"/>
          </a:xfrm>
        </p:spPr>
        <p:txBody>
          <a:bodyPr anchor="t">
            <a:normAutofit/>
          </a:bodyPr>
          <a:lstStyle/>
          <a:p>
            <a:r>
              <a:rPr lang="hu-HU" err="1"/>
              <a:t>Infix</a:t>
            </a:r>
            <a:r>
              <a:rPr lang="hu-HU"/>
              <a:t> alak:</a:t>
            </a:r>
          </a:p>
          <a:p>
            <a:pPr marL="0" indent="0">
              <a:buNone/>
            </a:pPr>
            <a:endParaRPr lang="hu-HU"/>
          </a:p>
          <a:p>
            <a:r>
              <a:rPr lang="hu-HU"/>
              <a:t>Verem:</a:t>
            </a:r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 sz="600"/>
          </a:p>
          <a:p>
            <a:r>
              <a:rPr lang="hu-HU"/>
              <a:t>Végeredmény:</a:t>
            </a:r>
          </a:p>
        </p:txBody>
      </p:sp>
      <p:graphicFrame>
        <p:nvGraphicFramePr>
          <p:cNvPr id="72" name="VEREM START">
            <a:extLst>
              <a:ext uri="{FF2B5EF4-FFF2-40B4-BE49-F238E27FC236}">
                <a16:creationId xmlns:a16="http://schemas.microsoft.com/office/drawing/2014/main" id="{47DF29E9-FDE6-F7AA-AB5B-7418B806A40B}"/>
              </a:ext>
            </a:extLst>
          </p:cNvPr>
          <p:cNvGraphicFramePr>
            <a:graphicFrameLocks noGrp="1"/>
          </p:cNvGraphicFramePr>
          <p:nvPr/>
        </p:nvGraphicFramePr>
        <p:xfrm>
          <a:off x="1272930" y="3160792"/>
          <a:ext cx="31146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68">
                  <a:extLst>
                    <a:ext uri="{9D8B030D-6E8A-4147-A177-3AD203B41FA5}">
                      <a16:colId xmlns:a16="http://schemas.microsoft.com/office/drawing/2014/main" val="109841570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49351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421445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44751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4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032798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49548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93944"/>
                  </a:ext>
                </a:extLst>
              </a:tr>
            </a:tbl>
          </a:graphicData>
        </a:graphic>
      </p:graphicFrame>
      <p:graphicFrame>
        <p:nvGraphicFramePr>
          <p:cNvPr id="41" name="VEREM 1">
            <a:extLst>
              <a:ext uri="{FF2B5EF4-FFF2-40B4-BE49-F238E27FC236}">
                <a16:creationId xmlns:a16="http://schemas.microsoft.com/office/drawing/2014/main" id="{8800D214-9BF5-291E-C6D5-2E18D3EB0D41}"/>
              </a:ext>
            </a:extLst>
          </p:cNvPr>
          <p:cNvGraphicFramePr>
            <a:graphicFrameLocks noGrp="1"/>
          </p:cNvGraphicFramePr>
          <p:nvPr/>
        </p:nvGraphicFramePr>
        <p:xfrm>
          <a:off x="1725667" y="3159009"/>
          <a:ext cx="286013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13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8" name="VEREM 2">
            <a:extLst>
              <a:ext uri="{FF2B5EF4-FFF2-40B4-BE49-F238E27FC236}">
                <a16:creationId xmlns:a16="http://schemas.microsoft.com/office/drawing/2014/main" id="{B3B0E3F5-75EF-208D-9D66-2C8A75556421}"/>
              </a:ext>
            </a:extLst>
          </p:cNvPr>
          <p:cNvGraphicFramePr>
            <a:graphicFrameLocks noGrp="1"/>
          </p:cNvGraphicFramePr>
          <p:nvPr/>
        </p:nvGraphicFramePr>
        <p:xfrm>
          <a:off x="2149267" y="3154046"/>
          <a:ext cx="31146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68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64" name="VEREM 6">
            <a:extLst>
              <a:ext uri="{FF2B5EF4-FFF2-40B4-BE49-F238E27FC236}">
                <a16:creationId xmlns:a16="http://schemas.microsoft.com/office/drawing/2014/main" id="{BA3A86E9-368B-BD97-C6D6-9149D415F776}"/>
              </a:ext>
            </a:extLst>
          </p:cNvPr>
          <p:cNvGraphicFramePr>
            <a:graphicFrameLocks noGrp="1"/>
          </p:cNvGraphicFramePr>
          <p:nvPr/>
        </p:nvGraphicFramePr>
        <p:xfrm>
          <a:off x="3935935" y="3154046"/>
          <a:ext cx="45021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218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44" name="VEREM 10">
            <a:extLst>
              <a:ext uri="{FF2B5EF4-FFF2-40B4-BE49-F238E27FC236}">
                <a16:creationId xmlns:a16="http://schemas.microsoft.com/office/drawing/2014/main" id="{8B34BF3F-D2A3-B6B5-CEA5-9F6E0A272D00}"/>
              </a:ext>
            </a:extLst>
          </p:cNvPr>
          <p:cNvGraphicFramePr>
            <a:graphicFrameLocks noGrp="1"/>
          </p:cNvGraphicFramePr>
          <p:nvPr/>
        </p:nvGraphicFramePr>
        <p:xfrm>
          <a:off x="5902149" y="3154046"/>
          <a:ext cx="39084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42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3" name="VEREM 14">
            <a:extLst>
              <a:ext uri="{FF2B5EF4-FFF2-40B4-BE49-F238E27FC236}">
                <a16:creationId xmlns:a16="http://schemas.microsoft.com/office/drawing/2014/main" id="{A032C033-2F29-CDB0-04E7-621CC6987606}"/>
              </a:ext>
            </a:extLst>
          </p:cNvPr>
          <p:cNvGraphicFramePr>
            <a:graphicFrameLocks noGrp="1"/>
          </p:cNvGraphicFramePr>
          <p:nvPr/>
        </p:nvGraphicFramePr>
        <p:xfrm>
          <a:off x="6647352" y="3154046"/>
          <a:ext cx="39084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42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50" name="VEREM 15">
            <a:extLst>
              <a:ext uri="{FF2B5EF4-FFF2-40B4-BE49-F238E27FC236}">
                <a16:creationId xmlns:a16="http://schemas.microsoft.com/office/drawing/2014/main" id="{B61EA485-21A7-F0B4-0BEE-ACC1BECBBD8E}"/>
              </a:ext>
            </a:extLst>
          </p:cNvPr>
          <p:cNvGraphicFramePr>
            <a:graphicFrameLocks noGrp="1"/>
          </p:cNvGraphicFramePr>
          <p:nvPr/>
        </p:nvGraphicFramePr>
        <p:xfrm>
          <a:off x="8149504" y="3143019"/>
          <a:ext cx="42747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476">
                  <a:extLst>
                    <a:ext uri="{9D8B030D-6E8A-4147-A177-3AD203B41FA5}">
                      <a16:colId xmlns:a16="http://schemas.microsoft.com/office/drawing/2014/main" val="25781701"/>
                    </a:ext>
                  </a:extLst>
                </a:gridCol>
              </a:tblGrid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98392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4030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58690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2134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465076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endParaRPr lang="hu-H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1604"/>
                  </a:ext>
                </a:extLst>
              </a:tr>
              <a:tr h="276407">
                <a:tc>
                  <a:txBody>
                    <a:bodyPr/>
                    <a:lstStyle/>
                    <a:p>
                      <a:pPr algn="ctr"/>
                      <a:r>
                        <a:rPr lang="hu-HU" sz="1400"/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28805"/>
                  </a:ext>
                </a:extLst>
              </a:tr>
            </a:tbl>
          </a:graphicData>
        </a:graphic>
      </p:graphicFrame>
      <p:graphicFrame>
        <p:nvGraphicFramePr>
          <p:cNvPr id="73" name="CURRENT">
            <a:extLst>
              <a:ext uri="{FF2B5EF4-FFF2-40B4-BE49-F238E27FC236}">
                <a16:creationId xmlns:a16="http://schemas.microsoft.com/office/drawing/2014/main" id="{C391DE19-FB95-7745-8404-CE4B510A9FB6}"/>
              </a:ext>
            </a:extLst>
          </p:cNvPr>
          <p:cNvGraphicFramePr>
            <a:graphicFrameLocks noGrp="1"/>
          </p:cNvGraphicFramePr>
          <p:nvPr/>
        </p:nvGraphicFramePr>
        <p:xfrm>
          <a:off x="4001287" y="2081652"/>
          <a:ext cx="288000" cy="4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723258545"/>
                    </a:ext>
                  </a:extLst>
                </a:gridCol>
              </a:tblGrid>
              <a:tr h="424800">
                <a:tc>
                  <a:txBody>
                    <a:bodyPr/>
                    <a:lstStyle/>
                    <a:p>
                      <a:pPr algn="ctr"/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843936"/>
                  </a:ext>
                </a:extLst>
              </a:tr>
            </a:tbl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BFBA23A5-80DC-0922-F390-197530064FB5}"/>
              </a:ext>
            </a:extLst>
          </p:cNvPr>
          <p:cNvSpPr txBox="1"/>
          <p:nvPr/>
        </p:nvSpPr>
        <p:spPr>
          <a:xfrm>
            <a:off x="2672004" y="335280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>
                <a:solidFill>
                  <a:schemeClr val="dk1"/>
                </a:solidFill>
              </a:rPr>
              <a:t>*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67E2C0E-08A8-D9E6-3C41-807F43F0D238}"/>
              </a:ext>
            </a:extLst>
          </p:cNvPr>
          <p:cNvSpPr txBox="1"/>
          <p:nvPr/>
        </p:nvSpPr>
        <p:spPr>
          <a:xfrm>
            <a:off x="2672004" y="3722132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=4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B2882CD-61A5-4556-ED51-46754ADADD45}"/>
              </a:ext>
            </a:extLst>
          </p:cNvPr>
          <p:cNvSpPr txBox="1"/>
          <p:nvPr/>
        </p:nvSpPr>
        <p:spPr>
          <a:xfrm>
            <a:off x="2663258" y="4045673"/>
            <a:ext cx="457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a</a:t>
            </a:r>
            <a:r>
              <a:rPr lang="hu-HU" sz="1400">
                <a:solidFill>
                  <a:schemeClr val="dk1"/>
                </a:solidFill>
              </a:rPr>
              <a:t>=8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CDFB4A0-B12C-1763-8E7D-C881C7EE3572}"/>
              </a:ext>
            </a:extLst>
          </p:cNvPr>
          <p:cNvSpPr txBox="1"/>
          <p:nvPr/>
        </p:nvSpPr>
        <p:spPr>
          <a:xfrm>
            <a:off x="2620107" y="4430819"/>
            <a:ext cx="72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a</a:t>
            </a:r>
            <a:r>
              <a:rPr lang="hu-HU" sz="1400">
                <a:solidFill>
                  <a:schemeClr val="dk1"/>
                </a:solidFill>
              </a:rPr>
              <a:t>*</a:t>
            </a:r>
            <a:r>
              <a:rPr lang="hu-HU" sz="1400" i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=32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D03DCAB-9D61-7A7D-573A-512723150985}"/>
              </a:ext>
            </a:extLst>
          </p:cNvPr>
          <p:cNvSpPr txBox="1"/>
          <p:nvPr/>
        </p:nvSpPr>
        <p:spPr>
          <a:xfrm>
            <a:off x="4907204" y="3342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>
                <a:solidFill>
                  <a:schemeClr val="dk1"/>
                </a:solidFill>
              </a:rPr>
              <a:t>+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8ADF396-A139-1D85-81B7-4158EE989E63}"/>
              </a:ext>
            </a:extLst>
          </p:cNvPr>
          <p:cNvSpPr txBox="1"/>
          <p:nvPr/>
        </p:nvSpPr>
        <p:spPr>
          <a:xfrm>
            <a:off x="4907204" y="3711972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=32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E5E9E18E-FEE0-6C2E-D308-870D794FE265}"/>
              </a:ext>
            </a:extLst>
          </p:cNvPr>
          <p:cNvSpPr txBox="1"/>
          <p:nvPr/>
        </p:nvSpPr>
        <p:spPr>
          <a:xfrm>
            <a:off x="4898458" y="4035513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a</a:t>
            </a:r>
            <a:r>
              <a:rPr lang="hu-HU" sz="1400">
                <a:solidFill>
                  <a:schemeClr val="dk1"/>
                </a:solidFill>
              </a:rPr>
              <a:t>=6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EAE3632B-7C34-11A9-6359-86BA749299F2}"/>
              </a:ext>
            </a:extLst>
          </p:cNvPr>
          <p:cNvSpPr txBox="1"/>
          <p:nvPr/>
        </p:nvSpPr>
        <p:spPr>
          <a:xfrm>
            <a:off x="4855307" y="4420659"/>
            <a:ext cx="726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 err="1">
                <a:solidFill>
                  <a:schemeClr val="dk1"/>
                </a:solidFill>
              </a:rPr>
              <a:t>a</a:t>
            </a:r>
            <a:r>
              <a:rPr lang="hu-HU" sz="1400" err="1">
                <a:solidFill>
                  <a:schemeClr val="dk1"/>
                </a:solidFill>
              </a:rPr>
              <a:t>+</a:t>
            </a:r>
            <a:r>
              <a:rPr lang="hu-HU" sz="1400" i="1" err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=38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30A322E5-52D3-C265-2ED0-6FBACC64F686}"/>
              </a:ext>
            </a:extLst>
          </p:cNvPr>
          <p:cNvSpPr txBox="1"/>
          <p:nvPr/>
        </p:nvSpPr>
        <p:spPr>
          <a:xfrm>
            <a:off x="7345604" y="33528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>
                <a:solidFill>
                  <a:schemeClr val="dk1"/>
                </a:solidFill>
              </a:rPr>
              <a:t>-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46EB5A67-9F37-C162-1A2D-86C2FF135B18}"/>
              </a:ext>
            </a:extLst>
          </p:cNvPr>
          <p:cNvSpPr txBox="1"/>
          <p:nvPr/>
        </p:nvSpPr>
        <p:spPr>
          <a:xfrm>
            <a:off x="7345604" y="37221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=5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BA6BDBEB-3BE9-A35C-E8AC-0B3C6FE482DA}"/>
              </a:ext>
            </a:extLst>
          </p:cNvPr>
          <p:cNvSpPr txBox="1"/>
          <p:nvPr/>
        </p:nvSpPr>
        <p:spPr>
          <a:xfrm>
            <a:off x="7336858" y="4045673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a</a:t>
            </a:r>
            <a:r>
              <a:rPr lang="hu-HU" sz="1400">
                <a:solidFill>
                  <a:schemeClr val="dk1"/>
                </a:solidFill>
              </a:rPr>
              <a:t>=38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185C666C-E0E5-AA3B-6DF1-A87AB5C6CE4E}"/>
              </a:ext>
            </a:extLst>
          </p:cNvPr>
          <p:cNvSpPr txBox="1"/>
          <p:nvPr/>
        </p:nvSpPr>
        <p:spPr>
          <a:xfrm>
            <a:off x="3935935" y="5882775"/>
            <a:ext cx="418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>
                <a:solidFill>
                  <a:schemeClr val="dk1"/>
                </a:solidFill>
              </a:rPr>
              <a:t>33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B64995CC-57F8-DD02-4474-1A195C20893F}"/>
              </a:ext>
            </a:extLst>
          </p:cNvPr>
          <p:cNvSpPr txBox="1"/>
          <p:nvPr/>
        </p:nvSpPr>
        <p:spPr>
          <a:xfrm>
            <a:off x="7321665" y="4396642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i="1">
                <a:solidFill>
                  <a:schemeClr val="dk1"/>
                </a:solidFill>
              </a:rPr>
              <a:t>a</a:t>
            </a:r>
            <a:r>
              <a:rPr lang="hu-HU" sz="1400">
                <a:solidFill>
                  <a:schemeClr val="dk1"/>
                </a:solidFill>
              </a:rPr>
              <a:t>-</a:t>
            </a:r>
            <a:r>
              <a:rPr lang="hu-HU" sz="1400" i="1">
                <a:solidFill>
                  <a:schemeClr val="dk1"/>
                </a:solidFill>
              </a:rPr>
              <a:t>b</a:t>
            </a:r>
            <a:r>
              <a:rPr lang="hu-HU" sz="1400">
                <a:solidFill>
                  <a:schemeClr val="dk1"/>
                </a:solidFill>
              </a:rPr>
              <a:t>=33</a:t>
            </a:r>
          </a:p>
        </p:txBody>
      </p:sp>
      <p:graphicFrame>
        <p:nvGraphicFramePr>
          <p:cNvPr id="61" name="Táblázat 60">
            <a:extLst>
              <a:ext uri="{FF2B5EF4-FFF2-40B4-BE49-F238E27FC236}">
                <a16:creationId xmlns:a16="http://schemas.microsoft.com/office/drawing/2014/main" id="{3D677DCF-E79D-E8D2-4ABF-10D70E0B01B0}"/>
              </a:ext>
            </a:extLst>
          </p:cNvPr>
          <p:cNvGraphicFramePr>
            <a:graphicFrameLocks noGrp="1"/>
          </p:cNvGraphicFramePr>
          <p:nvPr/>
        </p:nvGraphicFramePr>
        <p:xfrm>
          <a:off x="3935935" y="2065858"/>
          <a:ext cx="2075980" cy="51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">
                  <a:extLst>
                    <a:ext uri="{9D8B030D-6E8A-4147-A177-3AD203B41FA5}">
                      <a16:colId xmlns:a16="http://schemas.microsoft.com/office/drawing/2014/main" val="24632934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998592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159750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0286123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795771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73220222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31974922"/>
                    </a:ext>
                  </a:extLst>
                </a:gridCol>
              </a:tblGrid>
              <a:tr h="514781"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5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70227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417 L 0.02513 0.0039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13 0.00394 L 0.04896 0.0039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96 0.00394 L 0.07253 0.003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53 0.0037 L 0.09675 0.003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75 0.0037 L 0.12032 0.0034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32 0.00347 L 0.14388 0.00324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5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8" grpId="0"/>
      <p:bldP spid="9" grpId="0"/>
      <p:bldP spid="11" grpId="0"/>
      <p:bldP spid="12" grpId="0"/>
      <p:bldP spid="14" grpId="0"/>
      <p:bldP spid="22" grpId="0"/>
      <p:bldP spid="39" grpId="0"/>
      <p:bldP spid="52" grpId="0"/>
      <p:bldP spid="54" grpId="0"/>
      <p:bldP spid="56" grpId="0"/>
      <p:bldP spid="57" grpId="0"/>
      <p:bldP spid="5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EED36C-5198-A26F-BCD6-BC8DE430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415" y="104660"/>
            <a:ext cx="5997169" cy="719021"/>
          </a:xfrm>
        </p:spPr>
        <p:txBody>
          <a:bodyPr/>
          <a:lstStyle/>
          <a:p>
            <a:r>
              <a:rPr lang="hu-HU" dirty="0"/>
              <a:t>Sor (</a:t>
            </a:r>
            <a:r>
              <a:rPr lang="hu-HU" dirty="0" err="1"/>
              <a:t>Queue</a:t>
            </a:r>
            <a:r>
              <a:rPr lang="hu-HU" dirty="0"/>
              <a:t>) adattípus: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8005DC5-FB64-B42B-7CAA-7307FAD63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42" y="1781983"/>
            <a:ext cx="9106689" cy="481625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36E166E-2925-03A7-BE51-680E35B6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60524">
            <a:off x="120445" y="607229"/>
            <a:ext cx="3049707" cy="87963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Gondolatbuborék: felhő 10">
            <a:extLst>
              <a:ext uri="{FF2B5EF4-FFF2-40B4-BE49-F238E27FC236}">
                <a16:creationId xmlns:a16="http://schemas.microsoft.com/office/drawing/2014/main" id="{5E311475-C0B0-6B13-CD5E-D7CC2419A454}"/>
              </a:ext>
            </a:extLst>
          </p:cNvPr>
          <p:cNvSpPr/>
          <p:nvPr/>
        </p:nvSpPr>
        <p:spPr>
          <a:xfrm rot="1752272">
            <a:off x="9619596" y="-26585"/>
            <a:ext cx="2497580" cy="1614282"/>
          </a:xfrm>
          <a:prstGeom prst="cloudCallout">
            <a:avLst>
              <a:gd name="adj1" fmla="val -73707"/>
              <a:gd name="adj2" fmla="val 4803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FD32D1B-7630-7CE5-F9F0-FCDD958EBD4D}"/>
              </a:ext>
            </a:extLst>
          </p:cNvPr>
          <p:cNvSpPr txBox="1"/>
          <p:nvPr/>
        </p:nvSpPr>
        <p:spPr>
          <a:xfrm rot="1722582">
            <a:off x="10052498" y="73923"/>
            <a:ext cx="16995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 b="1" dirty="0">
                <a:solidFill>
                  <a:srgbClr val="C00000"/>
                </a:solidFill>
              </a:rPr>
              <a:t>FIFO</a:t>
            </a:r>
          </a:p>
          <a:p>
            <a:pPr algn="ctr"/>
            <a:r>
              <a:rPr lang="hu-HU" sz="2800" b="1" dirty="0">
                <a:solidFill>
                  <a:srgbClr val="C00000"/>
                </a:solidFill>
              </a:rPr>
              <a:t> (</a:t>
            </a:r>
            <a:r>
              <a:rPr lang="hu-HU" sz="2800" b="1" dirty="0" err="1">
                <a:solidFill>
                  <a:srgbClr val="C00000"/>
                </a:solidFill>
              </a:rPr>
              <a:t>First</a:t>
            </a:r>
            <a:r>
              <a:rPr lang="hu-HU" sz="2800" b="1" dirty="0">
                <a:solidFill>
                  <a:srgbClr val="C00000"/>
                </a:solidFill>
              </a:rPr>
              <a:t>-In </a:t>
            </a:r>
            <a:br>
              <a:rPr lang="hu-HU" sz="2800" b="1" dirty="0">
                <a:solidFill>
                  <a:srgbClr val="C00000"/>
                </a:solidFill>
              </a:rPr>
            </a:br>
            <a:r>
              <a:rPr lang="hu-HU" sz="2800" b="1" dirty="0" err="1">
                <a:solidFill>
                  <a:srgbClr val="C00000"/>
                </a:solidFill>
              </a:rPr>
              <a:t>First</a:t>
            </a:r>
            <a:r>
              <a:rPr lang="hu-HU" sz="2800" b="1" dirty="0">
                <a:solidFill>
                  <a:srgbClr val="C00000"/>
                </a:solidFill>
              </a:rPr>
              <a:t>-Out)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9179AD-AE1A-C04E-3A85-8421A9E5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0578" y="718476"/>
            <a:ext cx="5923801" cy="743013"/>
          </a:xfrm>
        </p:spPr>
        <p:txBody>
          <a:bodyPr>
            <a:normAutofit fontScale="70000" lnSpcReduction="20000"/>
          </a:bodyPr>
          <a:lstStyle/>
          <a:p>
            <a:r>
              <a:rPr lang="hu-HU" dirty="0"/>
              <a:t>a még benne lévő adatok közül adott pillanatban csak a legrégebben benne eltárolt érhető el, illetve törölhető.</a:t>
            </a:r>
          </a:p>
        </p:txBody>
      </p:sp>
    </p:spTree>
    <p:extLst>
      <p:ext uri="{BB962C8B-B14F-4D97-AF65-F5344CB8AC3E}">
        <p14:creationId xmlns:p14="http://schemas.microsoft.com/office/powerpoint/2010/main" val="2635766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CA39-AD3B-2A2E-DE6F-DBC85E92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240C5E51-3697-4087-01C0-F850B5D585AF}"/>
              </a:ext>
            </a:extLst>
          </p:cNvPr>
          <p:cNvSpPr/>
          <p:nvPr/>
        </p:nvSpPr>
        <p:spPr>
          <a:xfrm>
            <a:off x="8361680" y="1066800"/>
            <a:ext cx="3037840" cy="1975827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Folyamatábra: Dokumentum 36">
            <a:extLst>
              <a:ext uri="{FF2B5EF4-FFF2-40B4-BE49-F238E27FC236}">
                <a16:creationId xmlns:a16="http://schemas.microsoft.com/office/drawing/2014/main" id="{EBFB7B03-EA05-53B8-8E29-2462823D2651}"/>
              </a:ext>
            </a:extLst>
          </p:cNvPr>
          <p:cNvSpPr/>
          <p:nvPr/>
        </p:nvSpPr>
        <p:spPr>
          <a:xfrm rot="10800000">
            <a:off x="3047999" y="3042627"/>
            <a:ext cx="7207055" cy="3683292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artalom helye 3">
            <a:extLst>
              <a:ext uri="{FF2B5EF4-FFF2-40B4-BE49-F238E27FC236}">
                <a16:creationId xmlns:a16="http://schemas.microsoft.com/office/drawing/2014/main" id="{FCCD4574-CC8D-473B-DB4C-2C1500FD0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624" y="3376415"/>
            <a:ext cx="6968580" cy="348158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hu-HU" dirty="0"/>
              <a:t>			Gyakorlati alkalmazása</a:t>
            </a:r>
          </a:p>
          <a:p>
            <a:r>
              <a:rPr lang="hu-HU" dirty="0"/>
              <a:t>IO pufferek</a:t>
            </a:r>
          </a:p>
          <a:p>
            <a:r>
              <a:rPr lang="hu-HU" dirty="0"/>
              <a:t>Ügyfélszolgálati programok (üzletek, bankok)</a:t>
            </a:r>
          </a:p>
          <a:p>
            <a:r>
              <a:rPr lang="hu-HU" dirty="0"/>
              <a:t>Folyamatütemezés</a:t>
            </a:r>
          </a:p>
          <a:p>
            <a:r>
              <a:rPr lang="hu-HU" dirty="0"/>
              <a:t>Fák </a:t>
            </a:r>
            <a:r>
              <a:rPr lang="hu-HU" dirty="0" err="1"/>
              <a:t>szintenkénti</a:t>
            </a:r>
            <a:r>
              <a:rPr lang="hu-HU" dirty="0"/>
              <a:t> bejárása</a:t>
            </a:r>
          </a:p>
          <a:p>
            <a:r>
              <a:rPr lang="hu-HU" dirty="0"/>
              <a:t>Szélességi keresés gráfokon</a:t>
            </a:r>
          </a:p>
          <a:p>
            <a:r>
              <a:rPr lang="hu-HU" dirty="0"/>
              <a:t>Legrövidebb út keresése a legáltalánosabb esetben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2045CA7E-B742-1FCA-C5C6-056497F40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978" y="1915657"/>
            <a:ext cx="1752845" cy="6954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8C3133E-C2BC-1CEC-7463-48A4F36A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3415"/>
            <a:ext cx="10018713" cy="947057"/>
          </a:xfrm>
        </p:spPr>
        <p:txBody>
          <a:bodyPr/>
          <a:lstStyle/>
          <a:p>
            <a:r>
              <a:rPr lang="hu-HU"/>
              <a:t>Sor példa</a:t>
            </a:r>
          </a:p>
        </p:txBody>
      </p:sp>
      <p:sp>
        <p:nvSpPr>
          <p:cNvPr id="12" name="Tartalom helye 3">
            <a:extLst>
              <a:ext uri="{FF2B5EF4-FFF2-40B4-BE49-F238E27FC236}">
                <a16:creationId xmlns:a16="http://schemas.microsoft.com/office/drawing/2014/main" id="{0084D16E-629C-B526-1B45-56DA55DB48EB}"/>
              </a:ext>
            </a:extLst>
          </p:cNvPr>
          <p:cNvSpPr txBox="1">
            <a:spLocks/>
          </p:cNvSpPr>
          <p:nvPr/>
        </p:nvSpPr>
        <p:spPr>
          <a:xfrm>
            <a:off x="1756177" y="1450710"/>
            <a:ext cx="2429744" cy="2244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err="1"/>
              <a:t>Queue</a:t>
            </a:r>
            <a:r>
              <a:rPr lang="hu-HU" sz="2000"/>
              <a:t> (4)</a:t>
            </a:r>
          </a:p>
          <a:p>
            <a:r>
              <a:rPr lang="hu-HU" sz="2000"/>
              <a:t>add(3)</a:t>
            </a:r>
          </a:p>
          <a:p>
            <a:r>
              <a:rPr lang="hu-HU" sz="2000"/>
              <a:t>add(4)</a:t>
            </a:r>
          </a:p>
          <a:p>
            <a:r>
              <a:rPr lang="hu-HU" sz="2000" err="1"/>
              <a:t>rem</a:t>
            </a:r>
            <a:r>
              <a:rPr lang="hu-HU" sz="2000"/>
              <a:t>(): 3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4BB7549C-2BAD-90CE-E556-73881C6B2C48}"/>
              </a:ext>
            </a:extLst>
          </p:cNvPr>
          <p:cNvSpPr txBox="1"/>
          <p:nvPr/>
        </p:nvSpPr>
        <p:spPr>
          <a:xfrm>
            <a:off x="8773871" y="1279174"/>
            <a:ext cx="5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=0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3AA70C43-5D31-763D-D583-F9B293517087}"/>
              </a:ext>
            </a:extLst>
          </p:cNvPr>
          <p:cNvSpPr txBox="1"/>
          <p:nvPr/>
        </p:nvSpPr>
        <p:spPr>
          <a:xfrm>
            <a:off x="9321332" y="1281580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=1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06C65D9-7B63-1EAC-C95A-B579B21E3C0C}"/>
              </a:ext>
            </a:extLst>
          </p:cNvPr>
          <p:cNvSpPr txBox="1"/>
          <p:nvPr/>
        </p:nvSpPr>
        <p:spPr>
          <a:xfrm>
            <a:off x="9930231" y="1299443"/>
            <a:ext cx="674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=2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E9E31F8B-9E1D-9BCC-BFB5-48279489154C}"/>
              </a:ext>
            </a:extLst>
          </p:cNvPr>
          <p:cNvSpPr txBox="1"/>
          <p:nvPr/>
        </p:nvSpPr>
        <p:spPr>
          <a:xfrm>
            <a:off x="10447840" y="128424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=3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6FA6539F-22E4-3507-D694-3AAE7C7B8336}"/>
              </a:ext>
            </a:extLst>
          </p:cNvPr>
          <p:cNvSpPr txBox="1"/>
          <p:nvPr/>
        </p:nvSpPr>
        <p:spPr>
          <a:xfrm>
            <a:off x="8849956" y="259352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k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176E5FDA-94D4-1932-CCCD-C1FF5A272B52}"/>
              </a:ext>
            </a:extLst>
          </p:cNvPr>
          <p:cNvSpPr txBox="1"/>
          <p:nvPr/>
        </p:nvSpPr>
        <p:spPr>
          <a:xfrm>
            <a:off x="8844642" y="218485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3</a:t>
            </a:r>
            <a:endParaRPr lang="hu-HU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BFA1C38D-8EAC-4E80-3AFA-C40CF780B3ED}"/>
              </a:ext>
            </a:extLst>
          </p:cNvPr>
          <p:cNvSpPr txBox="1"/>
          <p:nvPr/>
        </p:nvSpPr>
        <p:spPr>
          <a:xfrm>
            <a:off x="9220744" y="2161003"/>
            <a:ext cx="3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4</a:t>
            </a:r>
            <a:endParaRPr lang="hu-HU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0DAD02E5-AC7B-1EAB-42C9-456435468D97}"/>
              </a:ext>
            </a:extLst>
          </p:cNvPr>
          <p:cNvSpPr txBox="1"/>
          <p:nvPr/>
        </p:nvSpPr>
        <p:spPr>
          <a:xfrm>
            <a:off x="9668827" y="2189659"/>
            <a:ext cx="357394" cy="372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2</a:t>
            </a:r>
            <a:endParaRPr lang="hu-HU"/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4AAA0616-A003-AE61-D189-6FDF60F1EDAF}"/>
              </a:ext>
            </a:extLst>
          </p:cNvPr>
          <p:cNvSpPr txBox="1"/>
          <p:nvPr/>
        </p:nvSpPr>
        <p:spPr>
          <a:xfrm>
            <a:off x="10062273" y="2176541"/>
            <a:ext cx="385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9</a:t>
            </a:r>
            <a:endParaRPr lang="hu-HU"/>
          </a:p>
        </p:txBody>
      </p:sp>
      <p:sp>
        <p:nvSpPr>
          <p:cNvPr id="10" name="Tartalom helye 3">
            <a:extLst>
              <a:ext uri="{FF2B5EF4-FFF2-40B4-BE49-F238E27FC236}">
                <a16:creationId xmlns:a16="http://schemas.microsoft.com/office/drawing/2014/main" id="{6611A668-AE2C-990B-4589-363F04EE137F}"/>
              </a:ext>
            </a:extLst>
          </p:cNvPr>
          <p:cNvSpPr txBox="1">
            <a:spLocks/>
          </p:cNvSpPr>
          <p:nvPr/>
        </p:nvSpPr>
        <p:spPr>
          <a:xfrm>
            <a:off x="4524377" y="1446111"/>
            <a:ext cx="2429744" cy="208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err="1"/>
              <a:t>rem</a:t>
            </a:r>
            <a:r>
              <a:rPr lang="hu-HU" sz="2000"/>
              <a:t>(): 4</a:t>
            </a:r>
          </a:p>
          <a:p>
            <a:r>
              <a:rPr lang="hu-HU" sz="2000"/>
              <a:t> add(2)</a:t>
            </a:r>
          </a:p>
          <a:p>
            <a:r>
              <a:rPr lang="hu-HU" sz="2000"/>
              <a:t>add(9)</a:t>
            </a:r>
          </a:p>
          <a:p>
            <a:r>
              <a:rPr lang="hu-HU" sz="2000"/>
              <a:t>add(7)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3644B02E-F697-555E-3837-E332E8271063}"/>
              </a:ext>
            </a:extLst>
          </p:cNvPr>
          <p:cNvSpPr txBox="1"/>
          <p:nvPr/>
        </p:nvSpPr>
        <p:spPr>
          <a:xfrm>
            <a:off x="9670122" y="259872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k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DB1FFFFA-590B-AE0B-5641-B47D819011C0}"/>
              </a:ext>
            </a:extLst>
          </p:cNvPr>
          <p:cNvSpPr txBox="1"/>
          <p:nvPr/>
        </p:nvSpPr>
        <p:spPr>
          <a:xfrm>
            <a:off x="9276205" y="260181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k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0648CA0F-7224-9541-90CC-44A6A7CAC3C8}"/>
              </a:ext>
            </a:extLst>
          </p:cNvPr>
          <p:cNvSpPr txBox="1"/>
          <p:nvPr/>
        </p:nvSpPr>
        <p:spPr>
          <a:xfrm>
            <a:off x="8847608" y="2184851"/>
            <a:ext cx="385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/>
              <a:t>7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220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 animBg="1"/>
      <p:bldP spid="38" grpId="0" uiExpand="1" build="p"/>
      <p:bldP spid="12" grpId="0" uiExpand="1" build="p"/>
      <p:bldP spid="21" grpId="0" uiExpand="1"/>
      <p:bldP spid="21" grpId="1" uiExpand="1"/>
      <p:bldP spid="21" grpId="2"/>
      <p:bldP spid="21" grpId="3"/>
      <p:bldP spid="22" grpId="0" uiExpand="1"/>
      <p:bldP spid="22" grpId="1" uiExpand="1"/>
      <p:bldP spid="22" grpId="2"/>
      <p:bldP spid="22" grpId="3"/>
      <p:bldP spid="22" grpId="4"/>
      <p:bldP spid="22" grpId="5"/>
      <p:bldP spid="23" grpId="0" uiExpand="1"/>
      <p:bldP spid="23" grpId="1"/>
      <p:bldP spid="23" grpId="2"/>
      <p:bldP spid="23" grpId="3"/>
      <p:bldP spid="23" grpId="4"/>
      <p:bldP spid="24" grpId="0"/>
      <p:bldP spid="24" grpId="1"/>
      <p:bldP spid="25" grpId="0" uiExpand="1"/>
      <p:bldP spid="25" grpId="1"/>
      <p:bldP spid="28" grpId="0" uiExpand="1"/>
      <p:bldP spid="28" grpId="1"/>
      <p:bldP spid="29" grpId="0" uiExpand="1"/>
      <p:bldP spid="29" grpId="1" uiExpand="1"/>
      <p:bldP spid="31" grpId="0"/>
      <p:bldP spid="33" grpId="0"/>
      <p:bldP spid="10" grpId="0" uiExpand="1" build="p"/>
      <p:bldP spid="13" grpId="0" uiExpand="1"/>
      <p:bldP spid="14" grpId="0"/>
      <p:bldP spid="14" grpId="1" uiExpand="1"/>
      <p:bldP spid="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2ED7C1D4-AEF3-54B2-9F3D-250A07A99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699" y="151350"/>
            <a:ext cx="2535249" cy="692357"/>
          </a:xfrm>
          <a:prstGeom prst="rect">
            <a:avLst/>
          </a:prstGeom>
        </p:spPr>
      </p:pic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ACA74E8C-3997-0759-912C-6B0A4A747CD4}"/>
              </a:ext>
            </a:extLst>
          </p:cNvPr>
          <p:cNvSpPr/>
          <p:nvPr/>
        </p:nvSpPr>
        <p:spPr>
          <a:xfrm>
            <a:off x="1899920" y="665015"/>
            <a:ext cx="3423620" cy="2697481"/>
          </a:xfrm>
          <a:prstGeom prst="horizontalScroll">
            <a:avLst>
              <a:gd name="adj" fmla="val 1048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EED36C-5198-A26F-BCD6-BC8DE430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59" y="0"/>
            <a:ext cx="3799840" cy="1048123"/>
          </a:xfrm>
        </p:spPr>
        <p:txBody>
          <a:bodyPr/>
          <a:lstStyle/>
          <a:p>
            <a:r>
              <a:rPr lang="hu-HU" dirty="0"/>
              <a:t>Sor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DEEBEE-2ABA-40E8-09A0-B6BE5240D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8834" y="756455"/>
            <a:ext cx="3596640" cy="2514600"/>
          </a:xfrm>
        </p:spPr>
        <p:txBody>
          <a:bodyPr>
            <a:normAutofit/>
          </a:bodyPr>
          <a:lstStyle/>
          <a:p>
            <a:r>
              <a:rPr lang="hu-HU" sz="2200" b="0" u="none" strike="noStrike" baseline="0" dirty="0"/>
              <a:t>Műveletidő: </a:t>
            </a:r>
            <a:r>
              <a:rPr lang="el-GR" sz="1800" b="0" i="0" u="none" strike="noStrike" baseline="0" dirty="0"/>
              <a:t>Θ(1)</a:t>
            </a:r>
            <a:endParaRPr lang="hu-HU" sz="2200" b="0" u="none" strike="noStrike" baseline="0" dirty="0"/>
          </a:p>
          <a:p>
            <a:r>
              <a:rPr lang="hu-HU" sz="2200" b="0" u="none" strike="noStrike" baseline="0" dirty="0"/>
              <a:t>Add művelet</a:t>
            </a:r>
          </a:p>
          <a:p>
            <a:pPr lvl="2"/>
            <a:r>
              <a:rPr lang="hu-HU" b="0" i="1" u="none" strike="noStrike" baseline="0" dirty="0" err="1"/>
              <a:t>mT</a:t>
            </a:r>
            <a:r>
              <a:rPr lang="hu-HU" b="0" i="1" u="none" strike="noStrike" baseline="0" dirty="0"/>
              <a:t>(n)</a:t>
            </a:r>
            <a:r>
              <a:rPr lang="hu-HU" b="0" i="0" u="none" strike="noStrike" baseline="0" dirty="0"/>
              <a:t> ∈ </a:t>
            </a:r>
            <a:r>
              <a:rPr lang="el-GR" b="0" i="0" u="none" strike="noStrike" baseline="0" dirty="0"/>
              <a:t>Θ(1) </a:t>
            </a:r>
            <a:endParaRPr lang="hu-HU" b="0" i="0" u="none" strike="noStrike" baseline="0" dirty="0"/>
          </a:p>
          <a:p>
            <a:pPr lvl="2"/>
            <a:r>
              <a:rPr lang="hu-HU" b="0" i="1" u="none" strike="noStrike" baseline="0" dirty="0"/>
              <a:t>MT(n)</a:t>
            </a:r>
            <a:r>
              <a:rPr lang="hu-HU" b="0" i="0" u="none" strike="noStrike" baseline="0" dirty="0"/>
              <a:t> ∈ </a:t>
            </a:r>
            <a:r>
              <a:rPr lang="el-GR" b="0" i="0" u="none" strike="noStrike" baseline="0" dirty="0"/>
              <a:t>Θ(</a:t>
            </a:r>
            <a:r>
              <a:rPr lang="hu-HU" b="0" i="0" u="none" strike="noStrike" baseline="0" dirty="0"/>
              <a:t>n)</a:t>
            </a:r>
            <a:r>
              <a:rPr lang="hu-HU" dirty="0"/>
              <a:t> </a:t>
            </a:r>
            <a:r>
              <a:rPr lang="hu-HU" b="0" i="0" u="none" strike="noStrike" baseline="0" dirty="0"/>
              <a:t> </a:t>
            </a:r>
          </a:p>
          <a:p>
            <a:pPr lvl="2"/>
            <a:r>
              <a:rPr lang="hu-HU" b="0" i="1" u="none" strike="noStrike" baseline="0" dirty="0"/>
              <a:t>AT(n)</a:t>
            </a:r>
            <a:r>
              <a:rPr lang="hu-HU" b="0" i="0" u="none" strike="noStrike" baseline="0" dirty="0"/>
              <a:t> ∈ </a:t>
            </a:r>
            <a:r>
              <a:rPr lang="el-GR" b="0" i="0" u="none" strike="noStrike" baseline="0" dirty="0"/>
              <a:t>Θ(1)</a:t>
            </a:r>
            <a:endParaRPr lang="hu-HU" b="0" i="0" u="none" strike="noStrike" baseline="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48A3CCF-18DD-74A4-A41A-1113C5B6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92971"/>
            <a:ext cx="5919134" cy="215843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1F58336-493E-5CAB-700A-C904CD940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34" y="1860802"/>
            <a:ext cx="5396229" cy="230574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1A321CAD-0C03-1851-9C91-70E7D4C82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019" y="306598"/>
            <a:ext cx="4150732" cy="137309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B3503E72-CCDB-300E-37CC-FEB95CDC5756}"/>
              </a:ext>
            </a:extLst>
          </p:cNvPr>
          <p:cNvSpPr txBox="1">
            <a:spLocks/>
          </p:cNvSpPr>
          <p:nvPr/>
        </p:nvSpPr>
        <p:spPr>
          <a:xfrm>
            <a:off x="1071180" y="3202635"/>
            <a:ext cx="9648589" cy="15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200" dirty="0" err="1"/>
              <a:t>doubleFullQueueArray</a:t>
            </a:r>
            <a:r>
              <a:rPr lang="hu-HU" sz="2200" dirty="0"/>
              <a:t>(</a:t>
            </a:r>
            <a:r>
              <a:rPr lang="hu-HU" sz="2200" i="1" dirty="0"/>
              <a:t>Z</a:t>
            </a:r>
            <a:r>
              <a:rPr lang="hu-HU" sz="2200" dirty="0"/>
              <a:t>, </a:t>
            </a:r>
            <a:r>
              <a:rPr lang="hu-HU" sz="2200" i="1" dirty="0"/>
              <a:t>k</a:t>
            </a:r>
            <a:r>
              <a:rPr lang="hu-HU" sz="2200" dirty="0"/>
              <a:t>) </a:t>
            </a:r>
          </a:p>
          <a:p>
            <a:pPr lvl="1"/>
            <a:r>
              <a:rPr lang="hu-HU" sz="1800" dirty="0"/>
              <a:t>ha már tele van a tömb -&gt; cserélje le </a:t>
            </a:r>
            <a:br>
              <a:rPr lang="hu-HU" sz="1800" dirty="0"/>
            </a:br>
            <a:r>
              <a:rPr lang="hu-HU" sz="1800" dirty="0"/>
              <a:t>nagyobbra, pontosan kétszer akkorára!</a:t>
            </a:r>
          </a:p>
          <a:p>
            <a:pPr lvl="2"/>
            <a:endParaRPr lang="hu-HU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F27C1A42-A333-1B93-26BC-E67B1A245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653" y="4420452"/>
            <a:ext cx="2682472" cy="228619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907665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70918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22187"/>
            <a:ext cx="10188881" cy="3750012"/>
          </a:xfrm>
        </p:spPr>
        <p:txBody>
          <a:bodyPr>
            <a:normAutofit/>
          </a:bodyPr>
          <a:lstStyle/>
          <a:p>
            <a:pPr algn="just"/>
            <a:r>
              <a:rPr lang="hu-HU" sz="2800" dirty="0"/>
              <a:t>Adja meg a </a:t>
            </a:r>
            <a:r>
              <a:rPr lang="hu-HU" sz="2800" dirty="0" err="1"/>
              <a:t>Stack</a:t>
            </a:r>
            <a:r>
              <a:rPr lang="hu-HU" sz="2800" dirty="0"/>
              <a:t> osztály – tömbös reprezentációra alapozott – leírását, a metódusok </a:t>
            </a:r>
            <a:r>
              <a:rPr lang="hu-HU" sz="2800" dirty="0" err="1"/>
              <a:t>struktogramjaival</a:t>
            </a:r>
            <a:r>
              <a:rPr lang="hu-HU" sz="2800" dirty="0"/>
              <a:t> együtt! </a:t>
            </a:r>
          </a:p>
          <a:p>
            <a:pPr lvl="1" algn="just"/>
            <a:r>
              <a:rPr lang="hu-HU" sz="2400" dirty="0"/>
              <a:t>Mennyi a verem egyes műveleteinek a futási ideje? Miért?</a:t>
            </a:r>
          </a:p>
          <a:p>
            <a:pPr algn="just"/>
            <a:r>
              <a:rPr lang="hu-HU" sz="2800" dirty="0"/>
              <a:t>Adja meg a </a:t>
            </a:r>
            <a:r>
              <a:rPr lang="hu-HU" sz="2800" dirty="0" err="1"/>
              <a:t>Queue</a:t>
            </a:r>
            <a:r>
              <a:rPr lang="hu-HU" sz="2800" dirty="0"/>
              <a:t> osztály – tömbös reprezentációra alapozott – leírását, a metódusok </a:t>
            </a:r>
            <a:r>
              <a:rPr lang="hu-HU" sz="2800" dirty="0" err="1"/>
              <a:t>struktogramjaival</a:t>
            </a:r>
            <a:r>
              <a:rPr lang="hu-HU" sz="2800" dirty="0"/>
              <a:t> együtt! </a:t>
            </a:r>
          </a:p>
          <a:p>
            <a:pPr lvl="1" algn="just"/>
            <a:r>
              <a:rPr lang="hu-HU" sz="2400" dirty="0"/>
              <a:t>Mennyi a verem egyes műveleteinek a futási ideje? Miért?</a:t>
            </a:r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2485464"/>
          </a:xfrm>
        </p:spPr>
        <p:txBody>
          <a:bodyPr anchor="ctr">
            <a:normAutofit/>
          </a:bodyPr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5401" y="3219443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 dirty="0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83628" y="4153213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dirty="0">
                <a:latin typeface="F30"/>
              </a:rPr>
              <a:t>e</a:t>
            </a:r>
            <a:r>
              <a:rPr lang="hu-HU" sz="2000" b="0" i="0" u="none" strike="noStrike" baseline="0" dirty="0">
                <a:latin typeface="F30"/>
              </a:rPr>
              <a:t>lőadásjegyzete alapján készült.</a:t>
            </a:r>
            <a:endParaRPr lang="hu-HU" sz="20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0A62217-3BFF-A0C5-3F84-313F862F643B}"/>
              </a:ext>
            </a:extLst>
          </p:cNvPr>
          <p:cNvSpPr txBox="1"/>
          <p:nvPr/>
        </p:nvSpPr>
        <p:spPr>
          <a:xfrm>
            <a:off x="4900395" y="4759042"/>
            <a:ext cx="71812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+mj-lt"/>
              </a:rPr>
              <a:t>További felhasznált irodalom: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hu-HU" altLang="hu-H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dr</a:t>
            </a: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hu-HU" altLang="hu-H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Póder</a:t>
            </a: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Margit f. docens Rendszer- és Szoftvertechnológia Tanszék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 (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n.d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.).  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  <a:hlinkClick r:id="rId3"/>
              </a:rPr>
              <a:t>https://slideplayer.hu/slide/2140789/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(2025. 01. 30.)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hu-HU" altLang="hu-H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oktatas:programozas:algoritmusok:lengyelforma</a:t>
            </a: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[</a:t>
            </a:r>
            <a:r>
              <a:rPr kumimoji="0" lang="hu-HU" altLang="hu-H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szit</a:t>
            </a: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]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 (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n.d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.). 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  <a:hlinkClick r:id="rId4"/>
              </a:rPr>
              <a:t>https://szit.hu/doku.php?id=oktatas:programozas:algoritmusok:lengyelforma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(2025. 01. 30.)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Prezi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W. O. (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.). </a:t>
            </a: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Lengyel-Forma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prezi.com. 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https://prezi.com/p/150uth61cj1u/lengyel-forma/</a:t>
            </a:r>
            <a:r>
              <a:rPr kumimoji="0" lang="hu-HU" altLang="hu-H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hu-HU" altLang="hu-H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(2025. 01. 30.)</a:t>
            </a:r>
            <a:endParaRPr kumimoji="0" lang="hu-HU" altLang="hu-H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hu-HU" altLang="hu-HU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Lengyel forma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n.d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.). 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https://people.inf.elte.hu/veanna/alg1/segedanyagok/LengyelForma/index.htm</a:t>
            </a:r>
            <a:r>
              <a:rPr kumimoji="0" lang="hu-HU" altLang="hu-H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(2025. 01. 30.)</a:t>
            </a:r>
            <a:endParaRPr kumimoji="0" lang="hu-HU" altLang="hu-H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7"/>
              </a:rPr>
              <a:t>https://ntibi.web.elte.hu/programozas/elmelet/Lengyel-forma.pdf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(2025. 01. 30.)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54808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58477</TotalTime>
  <Words>2676</Words>
  <Application>Microsoft Office PowerPoint</Application>
  <PresentationFormat>Szélesvásznú</PresentationFormat>
  <Paragraphs>508</Paragraphs>
  <Slides>37</Slides>
  <Notes>3</Notes>
  <HiddenSlides>3</HiddenSlides>
  <MMClips>0</MMClips>
  <ScaleCrop>false</ScaleCrop>
  <HeadingPairs>
    <vt:vector size="6" baseType="variant">
      <vt:variant>
        <vt:lpstr>Használt betűtípusok</vt:lpstr>
      </vt:variant>
      <vt:variant>
        <vt:i4>13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37</vt:i4>
      </vt:variant>
    </vt:vector>
  </HeadingPairs>
  <TitlesOfParts>
    <vt:vector size="51" baseType="lpstr">
      <vt:lpstr>Aptos</vt:lpstr>
      <vt:lpstr>Arial</vt:lpstr>
      <vt:lpstr>Calibri</vt:lpstr>
      <vt:lpstr>Cambria Math</vt:lpstr>
      <vt:lpstr>CMMI12</vt:lpstr>
      <vt:lpstr>CMR12</vt:lpstr>
      <vt:lpstr>Corbel</vt:lpstr>
      <vt:lpstr>F29</vt:lpstr>
      <vt:lpstr>F30</vt:lpstr>
      <vt:lpstr>F83</vt:lpstr>
      <vt:lpstr>MSBM10</vt:lpstr>
      <vt:lpstr>Times New Roman</vt:lpstr>
      <vt:lpstr>Wingdings</vt:lpstr>
      <vt:lpstr>Parallax</vt:lpstr>
      <vt:lpstr>Algoritmusok és adatszerkezetek I. 1. Előadás</vt:lpstr>
      <vt:lpstr>Ajánlott irodalom</vt:lpstr>
      <vt:lpstr>Néhány alapvető jelölés</vt:lpstr>
      <vt:lpstr>Néhány alapvető jelölés</vt:lpstr>
      <vt:lpstr>Változók</vt:lpstr>
      <vt:lpstr>A struktogramok paraméterlistái</vt:lpstr>
      <vt:lpstr>Adatáramlás: Érték vs. Cím szerinti szerinti átadás</vt:lpstr>
      <vt:lpstr>Eljárások, függvények, ciklusok, rekurzió</vt:lpstr>
      <vt:lpstr>PowerPoint-bemutató</vt:lpstr>
      <vt:lpstr>PowerPoint-bemutató</vt:lpstr>
      <vt:lpstr>Algoritmusok, mint gépezetek</vt:lpstr>
      <vt:lpstr>Algoritmus, elő- és utófeltétel</vt:lpstr>
      <vt:lpstr>Algoritmus, elő- és utófeltétel</vt:lpstr>
      <vt:lpstr>Elemi adatszerkezetek és adattípusok</vt:lpstr>
      <vt:lpstr>Elemi adatszerkezetek és adattípusok</vt:lpstr>
      <vt:lpstr>PowerPoint-bemutató</vt:lpstr>
      <vt:lpstr>Tömb deklaráció</vt:lpstr>
      <vt:lpstr>Résztömb és tömbhivatkozás</vt:lpstr>
      <vt:lpstr>Verem (Stack) adattípus</vt:lpstr>
      <vt:lpstr>Verem példa</vt:lpstr>
      <vt:lpstr>Verem műveletek</vt:lpstr>
      <vt:lpstr>Példa a verem használatára:  Az input adatok kiírása fordított sorrendben</vt:lpstr>
      <vt:lpstr>Példa a verem használatára: Lengyel forma</vt:lpstr>
      <vt:lpstr>Operátorok precedenciája és asszociativitása</vt:lpstr>
      <vt:lpstr>PowerPoint-bemutató</vt:lpstr>
      <vt:lpstr>Lengyel forma algoritmusváz  Lengyel forma előállítása: Shunting-yard algoritmus </vt:lpstr>
      <vt:lpstr>Lengyel forma algoritmusváz Lengyel forma előállítása: Shunting-yard algoritmus </vt:lpstr>
      <vt:lpstr>Lengyel forma előállítása: Shunting-yard algoritmus</vt:lpstr>
      <vt:lpstr>Lengyel formára hozás lejátszása</vt:lpstr>
      <vt:lpstr>Lengyel forma kiértékelése algoritmusváz  Lengyel forma kiértékelése: evalRPN algoritmus </vt:lpstr>
      <vt:lpstr>Lengyel forma kiértékelése</vt:lpstr>
      <vt:lpstr>Lengyel forma kiértékelésének lejátszása*</vt:lpstr>
      <vt:lpstr>Sor (Queue) adattípus:</vt:lpstr>
      <vt:lpstr>Sor példa</vt:lpstr>
      <vt:lpstr>Sor műveletek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177</cp:revision>
  <dcterms:created xsi:type="dcterms:W3CDTF">2022-02-02T14:32:23Z</dcterms:created>
  <dcterms:modified xsi:type="dcterms:W3CDTF">2026-07-15T11:35:23Z</dcterms:modified>
</cp:coreProperties>
</file>