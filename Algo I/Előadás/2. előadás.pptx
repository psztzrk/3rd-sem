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notesMasterIdLst>
    <p:notesMasterId r:id="rId31"/>
  </p:notesMasterIdLst>
  <p:sldIdLst>
    <p:sldId id="270" r:id="rId2"/>
    <p:sldId id="260" r:id="rId3"/>
    <p:sldId id="264" r:id="rId4"/>
    <p:sldId id="297" r:id="rId5"/>
    <p:sldId id="281" r:id="rId6"/>
    <p:sldId id="293" r:id="rId7"/>
    <p:sldId id="282" r:id="rId8"/>
    <p:sldId id="283" r:id="rId9"/>
    <p:sldId id="284" r:id="rId10"/>
    <p:sldId id="308" r:id="rId11"/>
    <p:sldId id="309" r:id="rId12"/>
    <p:sldId id="310" r:id="rId13"/>
    <p:sldId id="285" r:id="rId14"/>
    <p:sldId id="286" r:id="rId15"/>
    <p:sldId id="287" r:id="rId16"/>
    <p:sldId id="288" r:id="rId17"/>
    <p:sldId id="311" r:id="rId18"/>
    <p:sldId id="312" r:id="rId19"/>
    <p:sldId id="313" r:id="rId20"/>
    <p:sldId id="314" r:id="rId21"/>
    <p:sldId id="275" r:id="rId22"/>
    <p:sldId id="276" r:id="rId23"/>
    <p:sldId id="268" r:id="rId24"/>
    <p:sldId id="269" r:id="rId25"/>
    <p:sldId id="280" r:id="rId26"/>
    <p:sldId id="315" r:id="rId27"/>
    <p:sldId id="307" r:id="rId28"/>
    <p:sldId id="305" r:id="rId29"/>
    <p:sldId id="277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87D1FB29-8B10-4706-921A-AE3025686D22}">
          <p14:sldIdLst>
            <p14:sldId id="270"/>
          </p14:sldIdLst>
        </p14:section>
        <p14:section name="Láncolt listák vs Tömbök" id="{A52E32FB-9E40-4661-8022-9723C8BBEE80}">
          <p14:sldIdLst>
            <p14:sldId id="260"/>
          </p14:sldIdLst>
        </p14:section>
        <p14:section name="Egyirányú listák (one-way or singly linked lists)" id="{9B6AE35A-FF13-47C8-918A-E32F1988DDCB}">
          <p14:sldIdLst>
            <p14:sldId id="264"/>
            <p14:sldId id="297"/>
            <p14:sldId id="281"/>
            <p14:sldId id="293"/>
            <p14:sldId id="282"/>
            <p14:sldId id="283"/>
            <p14:sldId id="284"/>
            <p14:sldId id="308"/>
            <p14:sldId id="309"/>
            <p14:sldId id="310"/>
            <p14:sldId id="285"/>
            <p14:sldId id="286"/>
            <p14:sldId id="287"/>
            <p14:sldId id="288"/>
            <p14:sldId id="311"/>
            <p14:sldId id="312"/>
            <p14:sldId id="313"/>
            <p14:sldId id="314"/>
            <p14:sldId id="275"/>
            <p14:sldId id="276"/>
            <p14:sldId id="268"/>
            <p14:sldId id="269"/>
            <p14:sldId id="280"/>
            <p14:sldId id="315"/>
            <p14:sldId id="307"/>
            <p14:sldId id="305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67285D-7510-4D5C-803C-FBEAAA39BF2F}" v="5" dt="2026-02-09T20:11:51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ácsné Pusztai Kinga" userId="1282fdc4-838f-4805-a47a-02b770215156" providerId="ADAL" clId="{5C5F7C30-6626-4CCB-81FA-ED1C19E6AEFD}"/>
    <pc:docChg chg="undo custSel addSld delSld modSld sldOrd addSection delSection modSection">
      <pc:chgData name="Kovácsné Pusztai Kinga" userId="1282fdc4-838f-4805-a47a-02b770215156" providerId="ADAL" clId="{5C5F7C30-6626-4CCB-81FA-ED1C19E6AEFD}" dt="2026-02-09T20:14:12.122" v="122" actId="2696"/>
      <pc:docMkLst>
        <pc:docMk/>
      </pc:docMkLst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1801604989" sldId="259"/>
        </pc:sldMkLst>
      </pc:sldChg>
      <pc:sldChg chg="add del">
        <pc:chgData name="Kovácsné Pusztai Kinga" userId="1282fdc4-838f-4805-a47a-02b770215156" providerId="ADAL" clId="{5C5F7C30-6626-4CCB-81FA-ED1C19E6AEFD}" dt="2026-02-09T19:49:05.776" v="4" actId="47"/>
        <pc:sldMkLst>
          <pc:docMk/>
          <pc:sldMk cId="2707263692" sldId="260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2678767853" sldId="261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2621525434" sldId="262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3945078764" sldId="263"/>
        </pc:sldMkLst>
      </pc:sldChg>
      <pc:sldChg chg="del">
        <pc:chgData name="Kovácsné Pusztai Kinga" userId="1282fdc4-838f-4805-a47a-02b770215156" providerId="ADAL" clId="{5C5F7C30-6626-4CCB-81FA-ED1C19E6AEFD}" dt="2026-02-09T20:14:12.122" v="122" actId="2696"/>
        <pc:sldMkLst>
          <pc:docMk/>
          <pc:sldMk cId="460112926" sldId="266"/>
        </pc:sldMkLst>
      </pc:sldChg>
      <pc:sldChg chg="del">
        <pc:chgData name="Kovácsné Pusztai Kinga" userId="1282fdc4-838f-4805-a47a-02b770215156" providerId="ADAL" clId="{5C5F7C30-6626-4CCB-81FA-ED1C19E6AEFD}" dt="2026-02-09T20:14:12.122" v="122" actId="2696"/>
        <pc:sldMkLst>
          <pc:docMk/>
          <pc:sldMk cId="2210224838" sldId="267"/>
        </pc:sldMkLst>
      </pc:sldChg>
      <pc:sldChg chg="add">
        <pc:chgData name="Kovácsné Pusztai Kinga" userId="1282fdc4-838f-4805-a47a-02b770215156" providerId="ADAL" clId="{5C5F7C30-6626-4CCB-81FA-ED1C19E6AEFD}" dt="2026-02-09T19:49:19.018" v="5"/>
        <pc:sldMkLst>
          <pc:docMk/>
          <pc:sldMk cId="3025187045" sldId="268"/>
        </pc:sldMkLst>
      </pc:sldChg>
      <pc:sldChg chg="add">
        <pc:chgData name="Kovácsné Pusztai Kinga" userId="1282fdc4-838f-4805-a47a-02b770215156" providerId="ADAL" clId="{5C5F7C30-6626-4CCB-81FA-ED1C19E6AEFD}" dt="2026-02-09T19:49:19.018" v="5"/>
        <pc:sldMkLst>
          <pc:docMk/>
          <pc:sldMk cId="2111671007" sldId="269"/>
        </pc:sldMkLst>
      </pc:sldChg>
      <pc:sldChg chg="modSp mod">
        <pc:chgData name="Kovácsné Pusztai Kinga" userId="1282fdc4-838f-4805-a47a-02b770215156" providerId="ADAL" clId="{5C5F7C30-6626-4CCB-81FA-ED1C19E6AEFD}" dt="2026-02-09T20:00:12.359" v="20" actId="20577"/>
        <pc:sldMkLst>
          <pc:docMk/>
          <pc:sldMk cId="2431493244" sldId="270"/>
        </pc:sldMkLst>
        <pc:spChg chg="mod">
          <ac:chgData name="Kovácsné Pusztai Kinga" userId="1282fdc4-838f-4805-a47a-02b770215156" providerId="ADAL" clId="{5C5F7C30-6626-4CCB-81FA-ED1C19E6AEFD}" dt="2026-02-09T20:00:12.359" v="20" actId="20577"/>
          <ac:spMkLst>
            <pc:docMk/>
            <pc:sldMk cId="2431493244" sldId="270"/>
            <ac:spMk id="3" creationId="{00000000-0000-0000-0000-000000000000}"/>
          </ac:spMkLst>
        </pc:spChg>
      </pc:sldChg>
      <pc:sldChg chg="add">
        <pc:chgData name="Kovácsné Pusztai Kinga" userId="1282fdc4-838f-4805-a47a-02b770215156" providerId="ADAL" clId="{5C5F7C30-6626-4CCB-81FA-ED1C19E6AEFD}" dt="2026-02-09T19:49:19.018" v="5"/>
        <pc:sldMkLst>
          <pc:docMk/>
          <pc:sldMk cId="2570128719" sldId="275"/>
        </pc:sldMkLst>
      </pc:sldChg>
      <pc:sldChg chg="add">
        <pc:chgData name="Kovácsné Pusztai Kinga" userId="1282fdc4-838f-4805-a47a-02b770215156" providerId="ADAL" clId="{5C5F7C30-6626-4CCB-81FA-ED1C19E6AEFD}" dt="2026-02-09T19:49:19.018" v="5"/>
        <pc:sldMkLst>
          <pc:docMk/>
          <pc:sldMk cId="2248306033" sldId="276"/>
        </pc:sldMkLst>
      </pc:sldChg>
      <pc:sldChg chg="addSp delSp modSp mod">
        <pc:chgData name="Kovácsné Pusztai Kinga" userId="1282fdc4-838f-4805-a47a-02b770215156" providerId="ADAL" clId="{5C5F7C30-6626-4CCB-81FA-ED1C19E6AEFD}" dt="2026-02-09T20:09:17.448" v="111" actId="1076"/>
        <pc:sldMkLst>
          <pc:docMk/>
          <pc:sldMk cId="548089129" sldId="277"/>
        </pc:sldMkLst>
        <pc:spChg chg="mod">
          <ac:chgData name="Kovácsné Pusztai Kinga" userId="1282fdc4-838f-4805-a47a-02b770215156" providerId="ADAL" clId="{5C5F7C30-6626-4CCB-81FA-ED1C19E6AEFD}" dt="2026-02-09T20:08:58.065" v="109" actId="1035"/>
          <ac:spMkLst>
            <pc:docMk/>
            <pc:sldMk cId="548089129" sldId="277"/>
            <ac:spMk id="2" creationId="{ABF61895-45AB-51B6-C9CB-6F5A07F2E42D}"/>
          </ac:spMkLst>
        </pc:spChg>
        <pc:spChg chg="add del">
          <ac:chgData name="Kovácsné Pusztai Kinga" userId="1282fdc4-838f-4805-a47a-02b770215156" providerId="ADAL" clId="{5C5F7C30-6626-4CCB-81FA-ED1C19E6AEFD}" dt="2026-02-09T20:08:17.979" v="31" actId="21"/>
          <ac:spMkLst>
            <pc:docMk/>
            <pc:sldMk cId="548089129" sldId="277"/>
            <ac:spMk id="3" creationId="{00A62217-3BFF-A0C5-3F84-313F862F643B}"/>
          </ac:spMkLst>
        </pc:spChg>
        <pc:spChg chg="mod">
          <ac:chgData name="Kovácsné Pusztai Kinga" userId="1282fdc4-838f-4805-a47a-02b770215156" providerId="ADAL" clId="{5C5F7C30-6626-4CCB-81FA-ED1C19E6AEFD}" dt="2026-02-09T20:09:10.365" v="110" actId="1076"/>
          <ac:spMkLst>
            <pc:docMk/>
            <pc:sldMk cId="548089129" sldId="277"/>
            <ac:spMk id="4" creationId="{8F251FD5-D2E8-68E0-BD0A-F68C306E9286}"/>
          </ac:spMkLst>
        </pc:spChg>
        <pc:spChg chg="mod">
          <ac:chgData name="Kovácsné Pusztai Kinga" userId="1282fdc4-838f-4805-a47a-02b770215156" providerId="ADAL" clId="{5C5F7C30-6626-4CCB-81FA-ED1C19E6AEFD}" dt="2026-02-09T20:09:17.448" v="111" actId="1076"/>
          <ac:spMkLst>
            <pc:docMk/>
            <pc:sldMk cId="548089129" sldId="277"/>
            <ac:spMk id="5" creationId="{745FFA0C-393D-A955-DE5F-405BE088C839}"/>
          </ac:spMkLst>
        </pc:spChg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2244582942" sldId="280"/>
        </pc:sldMkLst>
      </pc:sldChg>
      <pc:sldChg chg="add">
        <pc:chgData name="Kovácsné Pusztai Kinga" userId="1282fdc4-838f-4805-a47a-02b770215156" providerId="ADAL" clId="{5C5F7C30-6626-4CCB-81FA-ED1C19E6AEFD}" dt="2026-02-09T19:49:19.018" v="5"/>
        <pc:sldMkLst>
          <pc:docMk/>
          <pc:sldMk cId="2262765231" sldId="280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2635766278" sldId="289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21060272" sldId="291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550257165" sldId="292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2260364847" sldId="295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3472209903" sldId="296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1893240279" sldId="298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2354177768" sldId="299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2101021875" sldId="300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163924334" sldId="301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1897214680" sldId="303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731702276" sldId="304"/>
        </pc:sldMkLst>
      </pc:sldChg>
      <pc:sldChg chg="del">
        <pc:chgData name="Kovácsné Pusztai Kinga" userId="1282fdc4-838f-4805-a47a-02b770215156" providerId="ADAL" clId="{5C5F7C30-6626-4CCB-81FA-ED1C19E6AEFD}" dt="2026-02-09T19:48:58.033" v="0" actId="47"/>
        <pc:sldMkLst>
          <pc:docMk/>
          <pc:sldMk cId="2822770312" sldId="305"/>
        </pc:sldMkLst>
      </pc:sldChg>
      <pc:sldChg chg="modSp add mod ord">
        <pc:chgData name="Kovácsné Pusztai Kinga" userId="1282fdc4-838f-4805-a47a-02b770215156" providerId="ADAL" clId="{5C5F7C30-6626-4CCB-81FA-ED1C19E6AEFD}" dt="2026-02-09T20:11:42.090" v="117" actId="27636"/>
        <pc:sldMkLst>
          <pc:docMk/>
          <pc:sldMk cId="2972061227" sldId="305"/>
        </pc:sldMkLst>
        <pc:spChg chg="mod">
          <ac:chgData name="Kovácsné Pusztai Kinga" userId="1282fdc4-838f-4805-a47a-02b770215156" providerId="ADAL" clId="{5C5F7C30-6626-4CCB-81FA-ED1C19E6AEFD}" dt="2026-02-09T20:05:09.049" v="27" actId="1076"/>
          <ac:spMkLst>
            <pc:docMk/>
            <pc:sldMk cId="2972061227" sldId="305"/>
            <ac:spMk id="2" creationId="{7CE3E27B-C0D2-687C-91E9-AA51A4534E39}"/>
          </ac:spMkLst>
        </pc:spChg>
        <pc:spChg chg="mod">
          <ac:chgData name="Kovácsné Pusztai Kinga" userId="1282fdc4-838f-4805-a47a-02b770215156" providerId="ADAL" clId="{5C5F7C30-6626-4CCB-81FA-ED1C19E6AEFD}" dt="2026-02-09T20:11:42.090" v="117" actId="27636"/>
          <ac:spMkLst>
            <pc:docMk/>
            <pc:sldMk cId="2972061227" sldId="305"/>
            <ac:spMk id="3" creationId="{B2253D2E-D2FA-577A-E1F7-B012A9D79A3A}"/>
          </ac:spMkLst>
        </pc:spChg>
      </pc:sldChg>
      <pc:sldChg chg="modSp del mod">
        <pc:chgData name="Kovácsné Pusztai Kinga" userId="1282fdc4-838f-4805-a47a-02b770215156" providerId="ADAL" clId="{5C5F7C30-6626-4CCB-81FA-ED1C19E6AEFD}" dt="2026-02-09T20:09:35.556" v="112" actId="2696"/>
        <pc:sldMkLst>
          <pc:docMk/>
          <pc:sldMk cId="48050062" sldId="307"/>
        </pc:sldMkLst>
        <pc:spChg chg="mod">
          <ac:chgData name="Kovácsné Pusztai Kinga" userId="1282fdc4-838f-4805-a47a-02b770215156" providerId="ADAL" clId="{5C5F7C30-6626-4CCB-81FA-ED1C19E6AEFD}" dt="2026-02-09T20:04:33.301" v="22" actId="27636"/>
          <ac:spMkLst>
            <pc:docMk/>
            <pc:sldMk cId="48050062" sldId="307"/>
            <ac:spMk id="3" creationId="{B2253D2E-D2FA-577A-E1F7-B012A9D79A3A}"/>
          </ac:spMkLst>
        </pc:spChg>
      </pc:sldChg>
      <pc:sldChg chg="modSp add mod">
        <pc:chgData name="Kovácsné Pusztai Kinga" userId="1282fdc4-838f-4805-a47a-02b770215156" providerId="ADAL" clId="{5C5F7C30-6626-4CCB-81FA-ED1C19E6AEFD}" dt="2026-02-09T20:11:56.026" v="121" actId="27636"/>
        <pc:sldMkLst>
          <pc:docMk/>
          <pc:sldMk cId="1201313729" sldId="307"/>
        </pc:sldMkLst>
        <pc:spChg chg="mod">
          <ac:chgData name="Kovácsné Pusztai Kinga" userId="1282fdc4-838f-4805-a47a-02b770215156" providerId="ADAL" clId="{5C5F7C30-6626-4CCB-81FA-ED1C19E6AEFD}" dt="2026-02-09T20:11:56.026" v="121" actId="27636"/>
          <ac:spMkLst>
            <pc:docMk/>
            <pc:sldMk cId="1201313729" sldId="307"/>
            <ac:spMk id="3" creationId="{D90ABF4C-2B63-82A7-C9A3-5B72A2B9BB8C}"/>
          </ac:spMkLst>
        </pc:spChg>
      </pc:sldChg>
      <pc:sldChg chg="add">
        <pc:chgData name="Kovácsné Pusztai Kinga" userId="1282fdc4-838f-4805-a47a-02b770215156" providerId="ADAL" clId="{5C5F7C30-6626-4CCB-81FA-ED1C19E6AEFD}" dt="2026-02-09T19:49:19.018" v="5"/>
        <pc:sldMkLst>
          <pc:docMk/>
          <pc:sldMk cId="3430509559" sldId="311"/>
        </pc:sldMkLst>
      </pc:sldChg>
      <pc:sldChg chg="add">
        <pc:chgData name="Kovácsné Pusztai Kinga" userId="1282fdc4-838f-4805-a47a-02b770215156" providerId="ADAL" clId="{5C5F7C30-6626-4CCB-81FA-ED1C19E6AEFD}" dt="2026-02-09T19:49:19.018" v="5"/>
        <pc:sldMkLst>
          <pc:docMk/>
          <pc:sldMk cId="553315828" sldId="312"/>
        </pc:sldMkLst>
      </pc:sldChg>
      <pc:sldChg chg="add">
        <pc:chgData name="Kovácsné Pusztai Kinga" userId="1282fdc4-838f-4805-a47a-02b770215156" providerId="ADAL" clId="{5C5F7C30-6626-4CCB-81FA-ED1C19E6AEFD}" dt="2026-02-09T19:49:19.018" v="5"/>
        <pc:sldMkLst>
          <pc:docMk/>
          <pc:sldMk cId="3559369040" sldId="313"/>
        </pc:sldMkLst>
      </pc:sldChg>
      <pc:sldChg chg="add">
        <pc:chgData name="Kovácsné Pusztai Kinga" userId="1282fdc4-838f-4805-a47a-02b770215156" providerId="ADAL" clId="{5C5F7C30-6626-4CCB-81FA-ED1C19E6AEFD}" dt="2026-02-09T19:49:19.018" v="5"/>
        <pc:sldMkLst>
          <pc:docMk/>
          <pc:sldMk cId="3179000418" sldId="314"/>
        </pc:sldMkLst>
      </pc:sldChg>
      <pc:sldChg chg="add">
        <pc:chgData name="Kovácsné Pusztai Kinga" userId="1282fdc4-838f-4805-a47a-02b770215156" providerId="ADAL" clId="{5C5F7C30-6626-4CCB-81FA-ED1C19E6AEFD}" dt="2026-02-09T19:49:19.018" v="5"/>
        <pc:sldMkLst>
          <pc:docMk/>
          <pc:sldMk cId="2900579702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7546A-40B5-46DE-8836-62C90E449146}" type="datetimeFigureOut">
              <a:rPr lang="hu-HU" smtClean="0"/>
              <a:t>2026. 02. 09.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21B28-6841-4135-87A6-CA9569874F8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0444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C1D8E-BE55-4D42-A9B7-00C5B8ADBA63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1593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C1D8E-BE55-4D42-A9B7-00C5B8ADBA63}" type="slidenum">
              <a:rPr lang="hu-HU" smtClean="0"/>
              <a:t>25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1844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49.png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20" y="10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/>
              <a:t>Algoritmusok és adatszerkezetek I.</a:t>
            </a:r>
            <a:br>
              <a:rPr lang="hu-HU" b="1"/>
            </a:br>
            <a:r>
              <a:rPr lang="hu-HU" b="1"/>
              <a:t>2.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170611" y="3996266"/>
            <a:ext cx="5332411" cy="1662853"/>
          </a:xfrm>
        </p:spPr>
        <p:txBody>
          <a:bodyPr>
            <a:normAutofit/>
          </a:bodyPr>
          <a:lstStyle/>
          <a:p>
            <a:r>
              <a:rPr lang="hu-HU" sz="3200" b="1" dirty="0">
                <a:solidFill>
                  <a:srgbClr val="C00000"/>
                </a:solidFill>
              </a:rPr>
              <a:t>Láncolás, egyirányú listák. Sor megvalósítása listával. </a:t>
            </a:r>
            <a:r>
              <a:rPr lang="hu-HU" sz="3200" b="1" dirty="0">
                <a:solidFill>
                  <a:srgbClr val="C00000"/>
                </a:solidFill>
                <a:latin typeface="Calibri" panose="020F0502020204030204" pitchFamily="34" charset="0"/>
              </a:rPr>
              <a:t>Kétirányú listák.</a:t>
            </a:r>
            <a:endParaRPr lang="hu-HU" sz="3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hu-HU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B553DD-D3B7-5DC7-6460-9C97230B2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84380"/>
          </a:xfrm>
        </p:spPr>
        <p:txBody>
          <a:bodyPr>
            <a:normAutofit/>
          </a:bodyPr>
          <a:lstStyle/>
          <a:p>
            <a:r>
              <a:rPr lang="hu-HU"/>
              <a:t>Lineáris adatszerkezetek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F7EC754-A2B4-5915-120C-9FA74CB0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92727"/>
            <a:ext cx="10018713" cy="1877009"/>
          </a:xfrm>
        </p:spPr>
        <p:txBody>
          <a:bodyPr/>
          <a:lstStyle/>
          <a:p>
            <a:pPr marL="2743200" lvl="6" indent="0">
              <a:buNone/>
            </a:pPr>
            <a:r>
              <a:rPr lang="hu-HU"/>
              <a:t>		</a:t>
            </a:r>
            <a:r>
              <a:rPr lang="hu-HU" sz="4000"/>
              <a:t>	</a:t>
            </a:r>
            <a:r>
              <a:rPr lang="hu-HU" sz="3600">
                <a:solidFill>
                  <a:srgbClr val="C00000"/>
                </a:solidFill>
              </a:rPr>
              <a:t>Tömbök </a:t>
            </a:r>
            <a:r>
              <a:rPr lang="hu-HU" sz="3600" err="1">
                <a:solidFill>
                  <a:srgbClr val="C00000"/>
                </a:solidFill>
              </a:rPr>
              <a:t>vs</a:t>
            </a:r>
            <a:r>
              <a:rPr lang="hu-HU" sz="3600">
                <a:solidFill>
                  <a:srgbClr val="C00000"/>
                </a:solidFill>
              </a:rPr>
              <a:t>.	Listák</a:t>
            </a:r>
          </a:p>
          <a:p>
            <a:r>
              <a:rPr lang="hu-HU" sz="2200" i="1"/>
              <a:t>MT</a:t>
            </a:r>
            <a:r>
              <a:rPr lang="hu-HU" sz="2200"/>
              <a:t>(beszúrás / törlés adott pozícióra): </a:t>
            </a:r>
            <a:r>
              <a:rPr lang="el-GR" sz="2200" b="0" i="0" u="none" strike="noStrike" baseline="0"/>
              <a:t>Θ</a:t>
            </a:r>
            <a:r>
              <a:rPr lang="hu-HU" sz="2200"/>
              <a:t>(</a:t>
            </a:r>
            <a:r>
              <a:rPr lang="hu-HU" sz="2200" i="1"/>
              <a:t>n</a:t>
            </a:r>
            <a:r>
              <a:rPr lang="hu-HU" sz="2200"/>
              <a:t>)			</a:t>
            </a:r>
            <a:r>
              <a:rPr lang="el-GR" sz="2200" b="0" i="0" u="none" strike="noStrike" baseline="0"/>
              <a:t> </a:t>
            </a:r>
            <a:r>
              <a:rPr lang="hu-HU" sz="2200" b="0" i="0" u="none" strike="noStrike" baseline="0"/>
              <a:t>  </a:t>
            </a:r>
            <a:r>
              <a:rPr lang="el-GR" sz="2200" b="0" i="0" u="none" strike="noStrike" baseline="0"/>
              <a:t>Θ(1)</a:t>
            </a:r>
            <a:endParaRPr lang="hu-HU" sz="2200"/>
          </a:p>
          <a:p>
            <a:r>
              <a:rPr lang="hu-HU" sz="2200" b="0" i="1" u="none" strike="noStrike" baseline="0"/>
              <a:t>MT</a:t>
            </a:r>
            <a:r>
              <a:rPr lang="hu-HU" sz="2200" b="0" i="0" u="none" strike="noStrike" baseline="0"/>
              <a:t>(egy elemének elérése): 			</a:t>
            </a:r>
            <a:r>
              <a:rPr lang="el-GR" sz="2200" b="0" i="0" u="none" strike="noStrike" baseline="0"/>
              <a:t>Θ(1) </a:t>
            </a:r>
            <a:r>
              <a:rPr lang="hu-HU" sz="2200" b="0" i="0" u="none" strike="noStrike" baseline="0"/>
              <a:t>			   </a:t>
            </a:r>
            <a:r>
              <a:rPr lang="el-GR" sz="2200" b="0" i="0" u="none" strike="noStrike" baseline="0"/>
              <a:t>Θ(</a:t>
            </a:r>
            <a:r>
              <a:rPr lang="hu-HU" sz="2200" i="1"/>
              <a:t>n</a:t>
            </a:r>
            <a:r>
              <a:rPr lang="hu-HU" sz="2200" b="0" i="0" u="none" strike="noStrike" baseline="0"/>
              <a:t>)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A8CAD8FE-EACF-3B1F-438C-C0DA53C28389}"/>
              </a:ext>
            </a:extLst>
          </p:cNvPr>
          <p:cNvSpPr txBox="1">
            <a:spLocks/>
          </p:cNvSpPr>
          <p:nvPr/>
        </p:nvSpPr>
        <p:spPr>
          <a:xfrm>
            <a:off x="1305555" y="3737298"/>
            <a:ext cx="10018713" cy="9843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/>
              <a:t>Láncolt listák (Linked </a:t>
            </a:r>
            <a:r>
              <a:rPr lang="hu-HU" err="1"/>
              <a:t>Lists</a:t>
            </a:r>
            <a:r>
              <a:rPr lang="hu-HU"/>
              <a:t>) fajtái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1ADBB24A-85A7-D99F-8203-5C07247AF8B8}"/>
              </a:ext>
            </a:extLst>
          </p:cNvPr>
          <p:cNvSpPr txBox="1">
            <a:spLocks/>
          </p:cNvSpPr>
          <p:nvPr/>
        </p:nvSpPr>
        <p:spPr>
          <a:xfrm>
            <a:off x="1860645" y="4588043"/>
            <a:ext cx="10018713" cy="187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u-HU" sz="2200"/>
              <a:t>Egyirányú – </a:t>
            </a:r>
            <a:r>
              <a:rPr lang="hu-HU" sz="2200" err="1"/>
              <a:t>kétirányú</a:t>
            </a:r>
            <a:endParaRPr lang="hu-HU" sz="2200"/>
          </a:p>
          <a:p>
            <a:pPr lvl="1"/>
            <a:r>
              <a:rPr lang="hu-HU" sz="1800"/>
              <a:t>Mozgás: csak a lista elejétől </a:t>
            </a:r>
            <a:r>
              <a:rPr lang="hu-HU" sz="1800" err="1"/>
              <a:t>vs</a:t>
            </a:r>
            <a:r>
              <a:rPr lang="hu-HU" sz="1800"/>
              <a:t> vissza felé is (több memória, utasítás)</a:t>
            </a:r>
          </a:p>
          <a:p>
            <a:r>
              <a:rPr lang="hu-HU" sz="2200"/>
              <a:t>Fejelemes- fejelem nélküli</a:t>
            </a:r>
          </a:p>
        </p:txBody>
      </p:sp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971E8E3C-58CA-9ED3-DD83-1BAC1D2CA047}"/>
              </a:ext>
            </a:extLst>
          </p:cNvPr>
          <p:cNvSpPr/>
          <p:nvPr/>
        </p:nvSpPr>
        <p:spPr>
          <a:xfrm>
            <a:off x="1305555" y="2387600"/>
            <a:ext cx="8112765" cy="1349698"/>
          </a:xfrm>
          <a:prstGeom prst="horizontalScroll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7263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D11371-7915-3BD3-6461-2C1E18E86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3440" y="1081068"/>
            <a:ext cx="9379583" cy="5614372"/>
          </a:xfrm>
        </p:spPr>
        <p:txBody>
          <a:bodyPr anchor="t">
            <a:normAutofit/>
          </a:bodyPr>
          <a:lstStyle/>
          <a:p>
            <a:pPr algn="l"/>
            <a:r>
              <a:rPr lang="hu-HU" sz="2200" b="0" i="0" u="none" strike="noStrike" baseline="0" dirty="0"/>
              <a:t>Egyszerű egyirányú listák (</a:t>
            </a:r>
            <a:r>
              <a:rPr lang="hu-HU" sz="2200" b="0" i="1" u="none" strike="noStrike" baseline="0" dirty="0"/>
              <a:t>S1L</a:t>
            </a:r>
            <a:r>
              <a:rPr lang="hu-HU" sz="2200" b="0" i="0" u="none" strike="noStrike" baseline="0" dirty="0"/>
              <a:t> = </a:t>
            </a:r>
            <a:r>
              <a:rPr lang="hu-HU" sz="2200" b="0" i="0" u="none" strike="noStrike" baseline="0" dirty="0" err="1"/>
              <a:t>Simple</a:t>
            </a:r>
            <a:r>
              <a:rPr lang="hu-HU" sz="2200" b="0" i="0" u="none" strike="noStrike" baseline="0" dirty="0"/>
              <a:t> </a:t>
            </a:r>
            <a:r>
              <a:rPr lang="hu-HU" sz="2200" dirty="0" err="1"/>
              <a:t>O</a:t>
            </a:r>
            <a:r>
              <a:rPr lang="hu-HU" sz="2200" b="0" i="0" u="none" strike="noStrike" baseline="0" dirty="0" err="1"/>
              <a:t>ne-way</a:t>
            </a:r>
            <a:r>
              <a:rPr lang="hu-HU" sz="2200" b="0" i="0" u="none" strike="noStrike" baseline="0" dirty="0"/>
              <a:t> List) </a:t>
            </a:r>
            <a:endParaRPr lang="hu-HU" sz="2200" dirty="0"/>
          </a:p>
          <a:p>
            <a:pPr algn="l"/>
            <a:endParaRPr lang="hu-HU" sz="1600" b="0" i="0" u="none" strike="noStrike" baseline="0" dirty="0"/>
          </a:p>
          <a:p>
            <a:pPr algn="l"/>
            <a:endParaRPr lang="hu-HU" sz="1600" b="0" i="0" u="none" strike="noStrike" baseline="0" dirty="0"/>
          </a:p>
          <a:p>
            <a:pPr algn="l"/>
            <a:endParaRPr lang="hu-HU" sz="1600" b="0" i="0" u="none" strike="noStrike" baseline="0" dirty="0"/>
          </a:p>
          <a:p>
            <a:pPr algn="l"/>
            <a:r>
              <a:rPr lang="hu-HU" sz="2200" b="0" i="0" u="none" strike="noStrike" baseline="0" dirty="0"/>
              <a:t>F</a:t>
            </a:r>
            <a:r>
              <a:rPr lang="en-US" sz="2200" b="0" i="0" u="none" strike="noStrike" baseline="0" dirty="0" err="1"/>
              <a:t>ejelemes</a:t>
            </a:r>
            <a:r>
              <a:rPr lang="en-US" sz="2200" b="0" i="0" u="none" strike="noStrike" baseline="0" dirty="0"/>
              <a:t> </a:t>
            </a:r>
            <a:r>
              <a:rPr lang="en-US" sz="2200" b="0" i="0" u="none" strike="noStrike" baseline="0" dirty="0" err="1"/>
              <a:t>egyirányú</a:t>
            </a:r>
            <a:r>
              <a:rPr lang="en-US" sz="2200" b="0" i="0" u="none" strike="noStrike" baseline="0" dirty="0"/>
              <a:t> </a:t>
            </a:r>
            <a:r>
              <a:rPr lang="en-US" sz="2200" b="0" i="0" u="none" strike="noStrike" baseline="0" dirty="0" err="1"/>
              <a:t>listák</a:t>
            </a:r>
            <a:r>
              <a:rPr lang="en-US" sz="2200" b="0" i="0" u="none" strike="noStrike" baseline="0" dirty="0"/>
              <a:t> (</a:t>
            </a:r>
            <a:r>
              <a:rPr lang="en-US" sz="2200" b="0" i="1" u="none" strike="noStrike" baseline="0" dirty="0"/>
              <a:t>H1L</a:t>
            </a:r>
            <a:r>
              <a:rPr lang="en-US" sz="2200" b="0" i="0" u="none" strike="noStrike" baseline="0" dirty="0"/>
              <a:t> =</a:t>
            </a:r>
            <a:r>
              <a:rPr lang="hu-HU" sz="2200" b="0" i="0" u="none" strike="noStrike" baseline="0" dirty="0"/>
              <a:t> </a:t>
            </a:r>
            <a:r>
              <a:rPr lang="en-US" sz="2200" dirty="0"/>
              <a:t>One-way List with Header node</a:t>
            </a:r>
            <a:r>
              <a:rPr lang="hu-HU" sz="2200" dirty="0"/>
              <a:t>)</a:t>
            </a:r>
            <a:endParaRPr lang="hu-HU" sz="2200" b="0" i="0" u="none" strike="noStrike" baseline="0" dirty="0"/>
          </a:p>
          <a:p>
            <a:pPr algn="l"/>
            <a:endParaRPr lang="hu-HU" sz="1600" b="0" i="0" u="none" strike="noStrike" baseline="0" dirty="0"/>
          </a:p>
          <a:p>
            <a:pPr algn="l"/>
            <a:endParaRPr lang="hu-HU" sz="1600" b="0" i="0" u="none" strike="noStrike" baseline="0" dirty="0"/>
          </a:p>
          <a:p>
            <a:pPr algn="l"/>
            <a:endParaRPr lang="hu-HU" sz="1600" b="0" i="0" u="none" strike="noStrike" baseline="0" dirty="0"/>
          </a:p>
          <a:p>
            <a:pPr algn="l"/>
            <a:r>
              <a:rPr lang="hu-HU" sz="2200" b="0" i="0" u="none" strike="noStrike" baseline="0" dirty="0"/>
              <a:t>Végelemes egyirányú listák</a:t>
            </a:r>
            <a:br>
              <a:rPr lang="hu-HU" sz="2200" b="0" i="0" u="none" strike="noStrike" baseline="0" dirty="0"/>
            </a:br>
            <a:br>
              <a:rPr lang="hu-HU" sz="2200" b="0" i="0" u="none" strike="noStrike" baseline="0" dirty="0"/>
            </a:br>
            <a:endParaRPr lang="hu-HU" sz="2200" b="0" i="0" u="none" strike="noStrike" baseline="0" dirty="0"/>
          </a:p>
          <a:p>
            <a:pPr algn="l"/>
            <a:r>
              <a:rPr lang="hu-HU" sz="2200" dirty="0"/>
              <a:t>C</a:t>
            </a:r>
            <a:r>
              <a:rPr lang="hu-HU" sz="2200" b="0" i="0" u="none" strike="noStrike" baseline="0" dirty="0"/>
              <a:t>iklikus egyirányú listák</a:t>
            </a:r>
          </a:p>
        </p:txBody>
      </p:sp>
      <p:sp>
        <p:nvSpPr>
          <p:cNvPr id="12" name="Kettős hullám 11">
            <a:extLst>
              <a:ext uri="{FF2B5EF4-FFF2-40B4-BE49-F238E27FC236}">
                <a16:creationId xmlns:a16="http://schemas.microsoft.com/office/drawing/2014/main" id="{8B681639-8D01-025F-1007-3D8559A33D58}"/>
              </a:ext>
            </a:extLst>
          </p:cNvPr>
          <p:cNvSpPr/>
          <p:nvPr/>
        </p:nvSpPr>
        <p:spPr>
          <a:xfrm>
            <a:off x="3049586" y="4723906"/>
            <a:ext cx="3982981" cy="685101"/>
          </a:xfrm>
          <a:prstGeom prst="doubleWav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Kettős hullám 9">
            <a:extLst>
              <a:ext uri="{FF2B5EF4-FFF2-40B4-BE49-F238E27FC236}">
                <a16:creationId xmlns:a16="http://schemas.microsoft.com/office/drawing/2014/main" id="{530406AE-145A-4906-1226-B32CAC875E36}"/>
              </a:ext>
            </a:extLst>
          </p:cNvPr>
          <p:cNvSpPr/>
          <p:nvPr/>
        </p:nvSpPr>
        <p:spPr>
          <a:xfrm>
            <a:off x="3049586" y="5776932"/>
            <a:ext cx="7140894" cy="1046902"/>
          </a:xfrm>
          <a:prstGeom prst="doubleWav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Kettős hullám 5">
            <a:extLst>
              <a:ext uri="{FF2B5EF4-FFF2-40B4-BE49-F238E27FC236}">
                <a16:creationId xmlns:a16="http://schemas.microsoft.com/office/drawing/2014/main" id="{908E7A9F-BE2B-C089-0038-039D037A8C02}"/>
              </a:ext>
            </a:extLst>
          </p:cNvPr>
          <p:cNvSpPr/>
          <p:nvPr/>
        </p:nvSpPr>
        <p:spPr>
          <a:xfrm>
            <a:off x="2984746" y="3110233"/>
            <a:ext cx="5834134" cy="1170889"/>
          </a:xfrm>
          <a:prstGeom prst="doubleWav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Kettős hullám 3">
            <a:extLst>
              <a:ext uri="{FF2B5EF4-FFF2-40B4-BE49-F238E27FC236}">
                <a16:creationId xmlns:a16="http://schemas.microsoft.com/office/drawing/2014/main" id="{80FF5C1E-4B50-4C1A-3CD5-B59486995827}"/>
              </a:ext>
            </a:extLst>
          </p:cNvPr>
          <p:cNvSpPr/>
          <p:nvPr/>
        </p:nvSpPr>
        <p:spPr>
          <a:xfrm>
            <a:off x="2984746" y="1502926"/>
            <a:ext cx="5834134" cy="1087874"/>
          </a:xfrm>
          <a:prstGeom prst="doubleWav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8A406B2-6D22-9DB5-4AFC-F4444001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2307"/>
            <a:ext cx="10018713" cy="779106"/>
          </a:xfrm>
        </p:spPr>
        <p:txBody>
          <a:bodyPr/>
          <a:lstStyle/>
          <a:p>
            <a:r>
              <a:rPr lang="en-US" err="1"/>
              <a:t>Egyirányú</a:t>
            </a:r>
            <a:r>
              <a:rPr lang="en-US"/>
              <a:t> </a:t>
            </a:r>
            <a:r>
              <a:rPr lang="en-US" err="1"/>
              <a:t>listák</a:t>
            </a:r>
            <a:r>
              <a:rPr lang="en-US"/>
              <a:t> (one-way or singly linked lists)</a:t>
            </a:r>
            <a:endParaRPr lang="hu-HU"/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0F197F8B-E5C4-9B9C-E445-6A620296F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574" y="1666182"/>
            <a:ext cx="4877481" cy="695422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0FB7F910-FD1F-06BE-AA3B-A0240985A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574" y="3367018"/>
            <a:ext cx="4534533" cy="657317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044B0EBD-622E-10F7-CA85-0058A705D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746" y="4844466"/>
            <a:ext cx="3848637" cy="628738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B438E27-8378-B6B6-FD6E-A29781FD0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8659" y="5950604"/>
            <a:ext cx="6782747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756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B5997-125D-F294-A4DF-91141B5F6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354E3A-809E-1C11-EA42-59A935FE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47176"/>
            <a:ext cx="10018713" cy="779106"/>
          </a:xfrm>
        </p:spPr>
        <p:txBody>
          <a:bodyPr>
            <a:normAutofit/>
          </a:bodyPr>
          <a:lstStyle/>
          <a:p>
            <a:r>
              <a:rPr lang="en-US" err="1"/>
              <a:t>Egyirányú</a:t>
            </a:r>
            <a:r>
              <a:rPr lang="en-US"/>
              <a:t> </a:t>
            </a:r>
            <a:r>
              <a:rPr lang="en-US" err="1"/>
              <a:t>listák</a:t>
            </a:r>
            <a:r>
              <a:rPr lang="en-US"/>
              <a:t> </a:t>
            </a:r>
            <a:r>
              <a:rPr lang="hu-HU"/>
              <a:t>elemeinek osztálya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570D44-93A6-6D2C-7BA5-9FF36FFBA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8241" y="3667760"/>
            <a:ext cx="9074783" cy="3011508"/>
          </a:xfrm>
        </p:spPr>
        <p:txBody>
          <a:bodyPr anchor="t">
            <a:normAutofit fontScale="85000" lnSpcReduction="20000"/>
          </a:bodyPr>
          <a:lstStyle/>
          <a:p>
            <a:pPr marL="0" indent="0" algn="l">
              <a:buNone/>
            </a:pPr>
            <a:endParaRPr lang="hu-HU" sz="2200" b="0" i="0" u="none" strike="noStrike" baseline="0"/>
          </a:p>
          <a:p>
            <a:r>
              <a:rPr lang="hu-HU" sz="3200" i="1"/>
              <a:t>p</a:t>
            </a:r>
            <a:r>
              <a:rPr lang="hu-HU" sz="3200"/>
              <a:t> : E1* - pointer</a:t>
            </a:r>
            <a:r>
              <a:rPr lang="hu-HU" sz="3200" b="0" i="0" u="none" strike="noStrike" baseline="0"/>
              <a:t>: </a:t>
            </a:r>
          </a:p>
          <a:p>
            <a:pPr lvl="1"/>
            <a:r>
              <a:rPr lang="hu-HU" sz="2800" b="0" i="0" u="none" strike="noStrike" baseline="0"/>
              <a:t>E1 </a:t>
            </a:r>
            <a:r>
              <a:rPr lang="pt-BR" sz="2800" b="0" i="0" u="none" strike="noStrike" baseline="0"/>
              <a:t>típusú objektum címét</a:t>
            </a:r>
            <a:r>
              <a:rPr lang="hu-HU" sz="2800" b="0" i="0" u="none" strike="noStrike" baseline="0"/>
              <a:t> tartalmazhatja (vagy     )</a:t>
            </a:r>
          </a:p>
          <a:p>
            <a:pPr lvl="1"/>
            <a:r>
              <a:rPr lang="hu-HU" sz="2800"/>
              <a:t>A mutatott objektum: *</a:t>
            </a:r>
            <a:r>
              <a:rPr lang="hu-HU" sz="2800" i="1"/>
              <a:t>p</a:t>
            </a:r>
          </a:p>
          <a:p>
            <a:pPr lvl="2"/>
            <a:r>
              <a:rPr lang="hu-HU" sz="2600"/>
              <a:t>Mezői (adattagjai):</a:t>
            </a:r>
          </a:p>
          <a:p>
            <a:pPr lvl="3"/>
            <a:r>
              <a:rPr lang="hu-HU" sz="2400"/>
              <a:t>(*</a:t>
            </a:r>
            <a:r>
              <a:rPr lang="hu-HU" sz="2400" i="1"/>
              <a:t>p</a:t>
            </a:r>
            <a:r>
              <a:rPr lang="hu-HU" sz="2400"/>
              <a:t>)</a:t>
            </a:r>
            <a:r>
              <a:rPr lang="hu-HU" sz="2400" i="1"/>
              <a:t>.</a:t>
            </a:r>
            <a:r>
              <a:rPr lang="hu-HU" sz="2400" i="1" err="1"/>
              <a:t>key</a:t>
            </a:r>
            <a:r>
              <a:rPr lang="hu-HU" sz="2400"/>
              <a:t> / </a:t>
            </a:r>
            <a:r>
              <a:rPr lang="hu-HU" sz="2400" i="1"/>
              <a:t>p-&gt;</a:t>
            </a:r>
            <a:r>
              <a:rPr lang="hu-HU" sz="2400" i="1" err="1"/>
              <a:t>key</a:t>
            </a:r>
            <a:endParaRPr lang="hu-HU" sz="2400" i="1"/>
          </a:p>
          <a:p>
            <a:pPr lvl="3"/>
            <a:r>
              <a:rPr lang="hu-HU" sz="2400"/>
              <a:t>(*</a:t>
            </a:r>
            <a:r>
              <a:rPr lang="hu-HU" sz="2400" i="1"/>
              <a:t>p</a:t>
            </a:r>
            <a:r>
              <a:rPr lang="hu-HU" sz="2400"/>
              <a:t>)</a:t>
            </a:r>
            <a:r>
              <a:rPr lang="hu-HU" sz="2400" i="1"/>
              <a:t>.</a:t>
            </a:r>
            <a:r>
              <a:rPr lang="hu-HU" sz="2400" i="1" err="1"/>
              <a:t>next</a:t>
            </a:r>
            <a:r>
              <a:rPr lang="hu-HU" sz="2400"/>
              <a:t> / </a:t>
            </a:r>
            <a:r>
              <a:rPr lang="hu-HU" sz="2400" i="1"/>
              <a:t>p-&gt;</a:t>
            </a:r>
            <a:r>
              <a:rPr lang="hu-HU" sz="2400" i="1" err="1"/>
              <a:t>next</a:t>
            </a:r>
            <a:r>
              <a:rPr lang="hu-HU" sz="2400"/>
              <a:t> 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84C3457A-1701-16C4-E066-6681EB3A6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724" y="1466638"/>
            <a:ext cx="4814967" cy="1962362"/>
          </a:xfrm>
          <a:prstGeom prst="roundRect">
            <a:avLst>
              <a:gd name="adj" fmla="val 5202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88AB96FB-EDFD-630C-4E38-D8B17DBB8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237" y="4615164"/>
            <a:ext cx="247685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84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ettős hullám 9">
            <a:extLst>
              <a:ext uri="{FF2B5EF4-FFF2-40B4-BE49-F238E27FC236}">
                <a16:creationId xmlns:a16="http://schemas.microsoft.com/office/drawing/2014/main" id="{4EC93B6A-C3EC-76FE-54E9-8C06A38A2E46}"/>
              </a:ext>
            </a:extLst>
          </p:cNvPr>
          <p:cNvSpPr/>
          <p:nvPr/>
        </p:nvSpPr>
        <p:spPr>
          <a:xfrm>
            <a:off x="3930773" y="2741380"/>
            <a:ext cx="3895725" cy="1039230"/>
          </a:xfrm>
          <a:prstGeom prst="doubleWav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BD9E178C-62E8-1779-86F6-81D1C7406A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80011" y="2146001"/>
                <a:ext cx="10018713" cy="4556302"/>
              </a:xfrm>
            </p:spPr>
            <p:txBody>
              <a:bodyPr anchor="t">
                <a:normAutofit/>
              </a:bodyPr>
              <a:lstStyle/>
              <a:p>
                <a:r>
                  <a:rPr lang="hu-HU" sz="2000" i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</a:t>
                </a:r>
                <a:r>
                  <a:rPr lang="hu-HU" sz="2000" baseline="-250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hu-HU" sz="20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-&gt;</a:t>
                </a:r>
                <a:r>
                  <a:rPr lang="hu-HU" sz="2000" i="1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key</a:t>
                </a:r>
                <a:r>
                  <a:rPr lang="hu-HU" sz="20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=9; </a:t>
                </a:r>
                <a:r>
                  <a:rPr lang="hu-HU" sz="2000" i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</a:t>
                </a:r>
                <a:r>
                  <a:rPr lang="hu-HU" sz="2000" baseline="-250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hu-HU" sz="20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-&gt;</a:t>
                </a:r>
                <a:r>
                  <a:rPr lang="hu-HU" sz="2000" i="1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next</a:t>
                </a:r>
                <a:r>
                  <a:rPr lang="hu-HU" sz="20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-&gt;</a:t>
                </a:r>
                <a:r>
                  <a:rPr lang="hu-HU" sz="2000" i="1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key</a:t>
                </a:r>
                <a:r>
                  <a:rPr lang="hu-HU" sz="20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=1; </a:t>
                </a:r>
                <a:r>
                  <a:rPr lang="hu-HU" sz="2000" i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</a:t>
                </a:r>
                <a:r>
                  <a:rPr lang="hu-HU" sz="2000" baseline="-250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hu-HU" sz="20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-&gt;</a:t>
                </a:r>
                <a:r>
                  <a:rPr lang="hu-HU" sz="2000" i="1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next</a:t>
                </a:r>
                <a:r>
                  <a:rPr lang="hu-HU" sz="20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-&gt;</a:t>
                </a:r>
                <a:r>
                  <a:rPr lang="hu-HU" sz="2000" i="1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next</a:t>
                </a:r>
                <a:r>
                  <a:rPr lang="hu-HU" sz="20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hu-HU" sz="2000" i="1">
                  <a:effectLst/>
                  <a:ea typeface="CMR12"/>
                  <a:cs typeface="CMR12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hu-HU" sz="2000" i="1">
                  <a:effectLst/>
                  <a:ea typeface="CMR12"/>
                  <a:cs typeface="CMR12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hu-HU" sz="2000" i="1" smtClean="0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𝑝</m:t>
                    </m:r>
                    <m:r>
                      <a:rPr lang="hu-HU" sz="2000" i="1" smtClean="0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=</m:t>
                    </m:r>
                  </m:oMath>
                </a14:m>
                <a:r>
                  <a:rPr lang="hu-HU" sz="20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endParaRPr lang="hu-HU" sz="20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r>
                  <a:rPr lang="hu-HU" sz="1800" i="1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hu-HU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hibás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u-HU" sz="1800" i="1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hu-HU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-&gt;</a:t>
                </a:r>
                <a:r>
                  <a:rPr lang="hu-HU" sz="1800" i="1" err="1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next</a:t>
                </a:r>
                <a:r>
                  <a:rPr lang="hu-HU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hu-HU" sz="1800" i="1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hu-HU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-&gt;</a:t>
                </a:r>
                <a:r>
                  <a:rPr lang="hu-HU" sz="1800" i="1" err="1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key</a:t>
                </a:r>
                <a:r>
                  <a:rPr lang="hu-HU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hibásak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futási hiba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Ha </a:t>
                </a:r>
                <a:r>
                  <a:rPr lang="hu-HU" sz="2000" i="1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hu-HU" sz="20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pointernek nem adunk értéket</a:t>
                </a:r>
                <a:endParaRPr lang="hu-HU" sz="20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:r>
                  <a:rPr lang="hu-HU" sz="1800" i="1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p; p</a:t>
                </a:r>
                <a:r>
                  <a:rPr lang="hu-HU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-&gt;</a:t>
                </a:r>
                <a:r>
                  <a:rPr lang="hu-HU" sz="1800" i="1" err="1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next</a:t>
                </a:r>
                <a:r>
                  <a:rPr lang="hu-HU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hu-HU" sz="1800" i="1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hu-HU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-&gt;</a:t>
                </a:r>
                <a:r>
                  <a:rPr lang="hu-HU" sz="1800" i="1" err="1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key</a:t>
                </a:r>
                <a:r>
                  <a:rPr lang="hu-HU" sz="18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definiálatlanok</a:t>
                </a:r>
                <a:endParaRPr lang="hu-HU" sz="18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hu-HU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BD9E178C-62E8-1779-86F6-81D1C7406A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80011" y="2146001"/>
                <a:ext cx="10018713" cy="4556302"/>
              </a:xfrm>
              <a:blipFill>
                <a:blip r:embed="rId2"/>
                <a:stretch>
                  <a:fillRect l="-1156" t="-3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ím 1">
            <a:extLst>
              <a:ext uri="{FF2B5EF4-FFF2-40B4-BE49-F238E27FC236}">
                <a16:creationId xmlns:a16="http://schemas.microsoft.com/office/drawing/2014/main" id="{C19B226B-446A-CBB9-8B6B-469E8B649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790" y="818698"/>
            <a:ext cx="10018713" cy="774032"/>
          </a:xfrm>
        </p:spPr>
        <p:txBody>
          <a:bodyPr>
            <a:normAutofit fontScale="90000"/>
          </a:bodyPr>
          <a:lstStyle/>
          <a:p>
            <a:r>
              <a:rPr lang="hu-HU" sz="4000" b="0" i="0" u="none" strike="noStrike" baseline="0">
                <a:latin typeface="F78"/>
              </a:rPr>
              <a:t>Egyszerű egyirányú listák (S1L = </a:t>
            </a:r>
            <a:r>
              <a:rPr lang="hu-HU" sz="4000" b="0" i="0" u="none" strike="noStrike" baseline="0" err="1">
                <a:latin typeface="F78"/>
              </a:rPr>
              <a:t>Simple</a:t>
            </a:r>
            <a:r>
              <a:rPr lang="hu-HU" sz="4000" b="0" i="0" u="none" strike="noStrike" baseline="0">
                <a:latin typeface="F78"/>
              </a:rPr>
              <a:t> 1-way List)</a:t>
            </a:r>
            <a:endParaRPr lang="hu-HU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59465C01-63B6-59F3-D56D-CDEC9E9F9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724" y="2929840"/>
            <a:ext cx="3675821" cy="66231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7B8626C5-0C16-FCEB-1AA4-BC8C4C6F8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367" y="2216476"/>
            <a:ext cx="287592" cy="30066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3E6E4D7-A2B1-7F9B-FCB2-1B2BEBBA4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2735" y="3669270"/>
            <a:ext cx="302817" cy="26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29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7509AAC6-40C5-FFE4-B5EF-90917FBC949D}"/>
              </a:ext>
            </a:extLst>
          </p:cNvPr>
          <p:cNvSpPr/>
          <p:nvPr/>
        </p:nvSpPr>
        <p:spPr>
          <a:xfrm>
            <a:off x="1867152" y="5187315"/>
            <a:ext cx="3771648" cy="1152525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BD9E178C-62E8-1779-86F6-81D1C7406A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80011" y="1239321"/>
                <a:ext cx="5748549" cy="5462982"/>
              </a:xfrm>
            </p:spPr>
            <p:txBody>
              <a:bodyPr anchor="t"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S1L_length(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L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:E1*):</a:t>
                </a:r>
                <a14:m>
                  <m:oMath xmlns:m="http://schemas.openxmlformats.org/officeDocument/2006/math"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L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 paraméter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absztrakt (logikai) szinten: lista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L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:E1*: a függvény által elvégzett számítás helyességének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előfeltétele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konkrét (fizikai) szinten: </a:t>
                </a:r>
                <a:br>
                  <a:rPr lang="hu-HU" dirty="0">
                    <a:effectLst/>
                    <a:ea typeface="Calibri" panose="020F0502020204030204" pitchFamily="34" charset="0"/>
                    <a:cs typeface="F29"/>
                  </a:rPr>
                </a:b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memóriacím, ami a listát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azonosítja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Műveletigény: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n: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az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L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lista hossza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a ciklus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iterációt végez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b="1" i="1" dirty="0">
                    <a:effectLst/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b="1" i="1" baseline="-25000" dirty="0">
                    <a:effectLst/>
                    <a:ea typeface="Calibri" panose="020F0502020204030204" pitchFamily="34" charset="0"/>
                    <a:cs typeface="CMMI8"/>
                  </a:rPr>
                  <a:t>S</a:t>
                </a:r>
                <a:r>
                  <a:rPr lang="hu-HU" b="1" i="1" baseline="-25000" dirty="0">
                    <a:effectLst/>
                    <a:ea typeface="Calibri" panose="020F0502020204030204" pitchFamily="34" charset="0"/>
                    <a:cs typeface="CMR8"/>
                  </a:rPr>
                  <a:t>1</a:t>
                </a:r>
                <a:r>
                  <a:rPr lang="hu-HU" b="1" i="1" baseline="-25000" dirty="0">
                    <a:effectLst/>
                    <a:ea typeface="Calibri" panose="020F0502020204030204" pitchFamily="34" charset="0"/>
                    <a:cs typeface="CMMI8"/>
                  </a:rPr>
                  <a:t>L</a:t>
                </a:r>
                <a:r>
                  <a:rPr lang="hu-HU" b="1" i="1" baseline="-25000" dirty="0">
                    <a:effectLst/>
                    <a:ea typeface="Calibri" panose="020F0502020204030204" pitchFamily="34" charset="0"/>
                    <a:cs typeface="F84"/>
                  </a:rPr>
                  <a:t>_</a:t>
                </a:r>
                <a:r>
                  <a:rPr lang="hu-HU" b="1" i="1" baseline="-25000" dirty="0">
                    <a:effectLst/>
                    <a:ea typeface="Calibri" panose="020F0502020204030204" pitchFamily="34" charset="0"/>
                    <a:cs typeface="CMMI8"/>
                  </a:rPr>
                  <a:t>length</a:t>
                </a:r>
                <a:r>
                  <a:rPr lang="hu-HU" b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b="1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b="1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b="1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b="1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b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b="1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b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endParaRPr lang="hu-HU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BD9E178C-62E8-1779-86F6-81D1C7406A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80011" y="1239321"/>
                <a:ext cx="5748549" cy="5462982"/>
              </a:xfrm>
              <a:blipFill>
                <a:blip r:embed="rId2"/>
                <a:stretch>
                  <a:fillRect l="-1697" t="-2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ím 1">
            <a:extLst>
              <a:ext uri="{FF2B5EF4-FFF2-40B4-BE49-F238E27FC236}">
                <a16:creationId xmlns:a16="http://schemas.microsoft.com/office/drawing/2014/main" id="{C19B226B-446A-CBB9-8B6B-469E8B649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97051"/>
            <a:ext cx="10018713" cy="774032"/>
          </a:xfrm>
        </p:spPr>
        <p:txBody>
          <a:bodyPr/>
          <a:lstStyle/>
          <a:p>
            <a:r>
              <a:rPr lang="hu-HU" sz="4000" b="0" i="0" u="none" strike="noStrike" baseline="0">
                <a:latin typeface="F78"/>
              </a:rPr>
              <a:t>Példa: egyszerű egyirányú lista (S1L) hossza</a:t>
            </a:r>
            <a:endParaRPr lang="hu-HU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AE2F9A8B-5D78-3779-21B6-55BD2D450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36" y="1945053"/>
            <a:ext cx="3167657" cy="296789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041584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kercs: vízszintes 7">
            <a:extLst>
              <a:ext uri="{FF2B5EF4-FFF2-40B4-BE49-F238E27FC236}">
                <a16:creationId xmlns:a16="http://schemas.microsoft.com/office/drawing/2014/main" id="{BD6D2938-3B79-E528-4661-81A856ADA2B1}"/>
              </a:ext>
            </a:extLst>
          </p:cNvPr>
          <p:cNvSpPr/>
          <p:nvPr/>
        </p:nvSpPr>
        <p:spPr>
          <a:xfrm>
            <a:off x="2110261" y="5412974"/>
            <a:ext cx="3053343" cy="1152525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463045" y="1574119"/>
                <a:ext cx="10018713" cy="4832809"/>
              </a:xfrm>
            </p:spPr>
            <p:txBody>
              <a:bodyPr anchor="t">
                <a:normAutofit/>
              </a:bodyPr>
              <a:lstStyle/>
              <a:p>
                <a:r>
                  <a:rPr lang="hu-HU" dirty="0"/>
                  <a:t>Mindig tartalmaznak egy fejelemet</a:t>
                </a:r>
              </a:p>
              <a:p>
                <a:pPr lvl="1"/>
                <a:r>
                  <a:rPr lang="pt-BR" dirty="0"/>
                  <a:t>A fejelemére mutató</a:t>
                </a:r>
                <a:r>
                  <a:rPr lang="hu-HU" dirty="0"/>
                  <a:t> </a:t>
                </a:r>
                <a:r>
                  <a:rPr lang="de-DE" dirty="0" err="1"/>
                  <a:t>pointer</a:t>
                </a:r>
                <a:r>
                  <a:rPr lang="de-DE" dirty="0"/>
                  <a:t> </a:t>
                </a:r>
                <a:r>
                  <a:rPr lang="de-DE" dirty="0" err="1"/>
                  <a:t>azonosítja</a:t>
                </a:r>
                <a:endParaRPr lang="hu-HU" dirty="0"/>
              </a:p>
              <a:p>
                <a:pPr lvl="1"/>
                <a:r>
                  <a:rPr lang="de-DE" dirty="0"/>
                  <a:t>Key </a:t>
                </a:r>
                <a:r>
                  <a:rPr lang="de-DE" dirty="0" err="1"/>
                  <a:t>mez</a:t>
                </a:r>
                <a:r>
                  <a:rPr lang="hu-HU" dirty="0"/>
                  <a:t>ő: definiálatlan</a:t>
                </a:r>
              </a:p>
              <a:p>
                <a:pPr lvl="1"/>
                <a:r>
                  <a:rPr lang="hu-HU" dirty="0" err="1"/>
                  <a:t>Next</a:t>
                </a:r>
                <a:r>
                  <a:rPr lang="de-DE" dirty="0"/>
                  <a:t> </a:t>
                </a:r>
                <a:r>
                  <a:rPr lang="de-DE" dirty="0" err="1"/>
                  <a:t>pointere</a:t>
                </a:r>
                <a:r>
                  <a:rPr lang="hu-HU" dirty="0"/>
                  <a:t>: </a:t>
                </a:r>
                <a:r>
                  <a:rPr lang="de-DE" dirty="0"/>
                  <a:t>a H1L-nek </a:t>
                </a:r>
                <a:r>
                  <a:rPr lang="de-DE" dirty="0" err="1"/>
                  <a:t>megfelel</a:t>
                </a:r>
                <a:r>
                  <a:rPr lang="hu-HU" dirty="0"/>
                  <a:t>ő</a:t>
                </a:r>
                <a:r>
                  <a:rPr lang="de-DE" dirty="0"/>
                  <a:t> </a:t>
                </a:r>
                <a:r>
                  <a:rPr lang="hu-HU" dirty="0"/>
                  <a:t> </a:t>
                </a:r>
                <a:r>
                  <a:rPr lang="de-DE" dirty="0"/>
                  <a:t>S1L-t </a:t>
                </a:r>
                <a:r>
                  <a:rPr lang="de-DE" dirty="0" err="1"/>
                  <a:t>azonosítja</a:t>
                </a:r>
                <a:endParaRPr lang="hu-HU" dirty="0"/>
              </a:p>
              <a:p>
                <a:r>
                  <a:rPr lang="hu-HU" dirty="0"/>
                  <a:t>Üres H1L:</a:t>
                </a:r>
              </a:p>
              <a:p>
                <a:pPr lvl="1"/>
                <a:r>
                  <a:rPr lang="en-US" dirty="0"/>
                  <a:t>van </a:t>
                </a:r>
                <a:r>
                  <a:rPr lang="en-US" dirty="0" err="1"/>
                  <a:t>fejeleme</a:t>
                </a:r>
                <a:endParaRPr lang="hu-HU" dirty="0"/>
              </a:p>
              <a:p>
                <a:pPr lvl="2"/>
                <a:r>
                  <a:rPr lang="en-US" dirty="0"/>
                  <a:t>next </a:t>
                </a:r>
                <a:r>
                  <a:rPr lang="en-US" dirty="0" err="1"/>
                  <a:t>pointere</a:t>
                </a:r>
                <a:r>
                  <a:rPr lang="hu-HU" dirty="0"/>
                  <a:t> </a:t>
                </a:r>
                <a14:m>
                  <m:oMath xmlns:m="http://schemas.openxmlformats.org/officeDocument/2006/math">
                    <m:r>
                      <a:rPr lang="hu-HU" i="1" smtClean="0">
                        <a:latin typeface="Cambria Math" panose="02040503050406030204" pitchFamily="18" charset="0"/>
                      </a:rPr>
                      <m:t>⊘</m:t>
                    </m:r>
                  </m:oMath>
                </a14:m>
                <a:endParaRPr lang="hu-HU" dirty="0"/>
              </a:p>
              <a:p>
                <a:pPr lvl="1"/>
                <a:r>
                  <a:rPr lang="hu-HU" dirty="0"/>
                  <a:t>(</a:t>
                </a:r>
                <a:r>
                  <a:rPr lang="hu-HU" i="1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L</a:t>
                </a:r>
                <a:r>
                  <a:rPr lang="hu-HU" baseline="-250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hu-HU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-&gt;</a:t>
                </a:r>
                <a:r>
                  <a:rPr lang="hu-HU" i="1" dirty="0" err="1">
                    <a:ea typeface="Calibri" panose="020F0502020204030204" pitchFamily="34" charset="0"/>
                    <a:cs typeface="Times New Roman" panose="02020603050405020304" pitchFamily="18" charset="0"/>
                  </a:rPr>
                  <a:t>key</a:t>
                </a:r>
                <a:r>
                  <a:rPr lang="hu-HU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: definiálatlan; </a:t>
                </a:r>
                <a:r>
                  <a:rPr lang="hu-HU" i="1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L</a:t>
                </a:r>
                <a:r>
                  <a:rPr lang="hu-HU" baseline="-250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hu-HU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-&gt;</a:t>
                </a:r>
                <a:r>
                  <a:rPr lang="hu-HU" i="1" dirty="0" err="1">
                    <a:ea typeface="Calibri" panose="020F0502020204030204" pitchFamily="34" charset="0"/>
                    <a:cs typeface="Times New Roman" panose="02020603050405020304" pitchFamily="18" charset="0"/>
                  </a:rPr>
                  <a:t>next</a:t>
                </a:r>
                <a:r>
                  <a:rPr lang="hu-HU" i="1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:r>
                  <a:rPr lang="hu-HU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u-HU" i="1" smtClean="0">
                        <a:latin typeface="Cambria Math" panose="02040503050406030204" pitchFamily="18" charset="0"/>
                      </a:rPr>
                      <m:t>⊘</m:t>
                    </m:r>
                  </m:oMath>
                </a14:m>
                <a:r>
                  <a:rPr lang="hu-HU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 )</a:t>
                </a:r>
              </a:p>
              <a:p>
                <a:pPr>
                  <a:lnSpc>
                    <a:spcPct val="107000"/>
                  </a:lnSpc>
                </a:pPr>
                <a:r>
                  <a:rPr lang="hu-HU" dirty="0"/>
                  <a:t>H1L_length(</a:t>
                </a:r>
                <a:r>
                  <a:rPr lang="hu-HU" i="1" dirty="0"/>
                  <a:t>H</a:t>
                </a:r>
                <a:r>
                  <a:rPr lang="hu-HU" dirty="0"/>
                  <a:t>:E1*):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endParaRPr lang="hu-HU" dirty="0"/>
              </a:p>
              <a:p>
                <a:pPr marL="457200" lvl="1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b="1" i="1" dirty="0">
                    <a:ea typeface="Calibri" panose="020F0502020204030204" pitchFamily="34" charset="0"/>
                    <a:cs typeface="CMMI12"/>
                  </a:rPr>
                  <a:t>	</a:t>
                </a:r>
                <a:r>
                  <a:rPr lang="hu-HU" sz="2400" b="1" i="1" dirty="0">
                    <a:ea typeface="Calibri" panose="020F0502020204030204" pitchFamily="34" charset="0"/>
                    <a:cs typeface="CMMI12"/>
                  </a:rPr>
                  <a:t>T</a:t>
                </a:r>
                <a:r>
                  <a:rPr lang="hu-HU" sz="2400" b="1" i="1" baseline="-25000" dirty="0">
                    <a:ea typeface="Calibri" panose="020F0502020204030204" pitchFamily="34" charset="0"/>
                    <a:cs typeface="CMMI8"/>
                  </a:rPr>
                  <a:t>H</a:t>
                </a:r>
                <a:r>
                  <a:rPr lang="hu-HU" sz="2400" b="1" i="1" baseline="-25000" dirty="0">
                    <a:ea typeface="Calibri" panose="020F0502020204030204" pitchFamily="34" charset="0"/>
                    <a:cs typeface="CMR8"/>
                  </a:rPr>
                  <a:t>1</a:t>
                </a:r>
                <a:r>
                  <a:rPr lang="hu-HU" sz="2400" b="1" i="1" baseline="-25000" dirty="0">
                    <a:ea typeface="Calibri" panose="020F0502020204030204" pitchFamily="34" charset="0"/>
                    <a:cs typeface="CMMI8"/>
                  </a:rPr>
                  <a:t>L</a:t>
                </a:r>
                <a:r>
                  <a:rPr lang="hu-HU" sz="2400" b="1" i="1" baseline="-25000" dirty="0">
                    <a:ea typeface="Calibri" panose="020F0502020204030204" pitchFamily="34" charset="0"/>
                    <a:cs typeface="F84"/>
                  </a:rPr>
                  <a:t>_</a:t>
                </a:r>
                <a:r>
                  <a:rPr lang="hu-HU" sz="2400" b="1" i="1" baseline="-25000" dirty="0">
                    <a:ea typeface="Calibri" panose="020F0502020204030204" pitchFamily="34" charset="0"/>
                    <a:cs typeface="CMMI8"/>
                  </a:rPr>
                  <a:t>length</a:t>
                </a:r>
                <a:r>
                  <a:rPr lang="hu-HU" sz="2400" b="1" dirty="0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b="1" i="1" dirty="0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b="1" dirty="0"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2400" b="1" dirty="0"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sz="2400" b="1" dirty="0"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400" b="1" dirty="0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b="1" i="1" dirty="0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b="1" dirty="0">
                    <a:ea typeface="Calibri" panose="020F0502020204030204" pitchFamily="34" charset="0"/>
                    <a:cs typeface="CMR12"/>
                  </a:rPr>
                  <a:t>)</a:t>
                </a:r>
                <a:endParaRPr lang="hu-HU" sz="2400" b="1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:endParaRPr lang="hu-H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:endParaRPr lang="de-DE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63045" y="1574119"/>
                <a:ext cx="10018713" cy="4832809"/>
              </a:xfrm>
              <a:blipFill>
                <a:blip r:embed="rId2"/>
                <a:stretch>
                  <a:fillRect l="-1522" t="-3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Kettős hullám 9">
            <a:extLst>
              <a:ext uri="{FF2B5EF4-FFF2-40B4-BE49-F238E27FC236}">
                <a16:creationId xmlns:a16="http://schemas.microsoft.com/office/drawing/2014/main" id="{5AB4BAAE-EAE8-0D0B-128F-0021A3D5F562}"/>
              </a:ext>
            </a:extLst>
          </p:cNvPr>
          <p:cNvSpPr/>
          <p:nvPr/>
        </p:nvSpPr>
        <p:spPr>
          <a:xfrm>
            <a:off x="7405695" y="3793224"/>
            <a:ext cx="2428240" cy="887638"/>
          </a:xfrm>
          <a:prstGeom prst="doubleWav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585838" y="292501"/>
            <a:ext cx="10018713" cy="988974"/>
          </a:xfrm>
        </p:spPr>
        <p:txBody>
          <a:bodyPr>
            <a:normAutofit fontScale="90000"/>
          </a:bodyPr>
          <a:lstStyle/>
          <a:p>
            <a:r>
              <a:rPr lang="de-DE" err="1"/>
              <a:t>Fejelemes</a:t>
            </a:r>
            <a:r>
              <a:rPr lang="de-DE"/>
              <a:t> </a:t>
            </a:r>
            <a:r>
              <a:rPr lang="de-DE" err="1"/>
              <a:t>listák</a:t>
            </a:r>
            <a:r>
              <a:rPr lang="de-DE"/>
              <a:t> (H1L</a:t>
            </a:r>
            <a:r>
              <a:rPr lang="hu-HU"/>
              <a:t> = </a:t>
            </a:r>
            <a:r>
              <a:rPr lang="hu-HU" err="1"/>
              <a:t>Header</a:t>
            </a:r>
            <a:r>
              <a:rPr lang="hu-HU"/>
              <a:t> </a:t>
            </a:r>
            <a:r>
              <a:rPr lang="hu-HU" err="1"/>
              <a:t>node</a:t>
            </a:r>
            <a:r>
              <a:rPr lang="hu-HU"/>
              <a:t> + 1-way List</a:t>
            </a:r>
            <a:r>
              <a:rPr lang="de-DE"/>
              <a:t>)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591" y="3996086"/>
            <a:ext cx="1876687" cy="495369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966" y="5283881"/>
            <a:ext cx="4172532" cy="100979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706839CE-E942-2E39-5A69-CE8CEFA012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6653" y="4432544"/>
            <a:ext cx="238158" cy="238158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D530B65A-B2E3-81C9-1819-1847BC9AFB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2940" y="4842597"/>
            <a:ext cx="219106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730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0" y="273949"/>
            <a:ext cx="10018713" cy="969745"/>
          </a:xfrm>
        </p:spPr>
        <p:txBody>
          <a:bodyPr/>
          <a:lstStyle/>
          <a:p>
            <a:r>
              <a:rPr lang="de-DE" err="1"/>
              <a:t>Egyirányú</a:t>
            </a:r>
            <a:r>
              <a:rPr lang="de-DE"/>
              <a:t> </a:t>
            </a:r>
            <a:r>
              <a:rPr lang="de-DE" err="1"/>
              <a:t>listák</a:t>
            </a:r>
            <a:r>
              <a:rPr lang="de-DE"/>
              <a:t> </a:t>
            </a:r>
            <a:r>
              <a:rPr lang="hu-HU"/>
              <a:t>alapműveletei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126156"/>
                <a:ext cx="10018713" cy="5621153"/>
              </a:xfrm>
            </p:spPr>
            <p:txBody>
              <a:bodyPr anchor="t">
                <a:normAutofit fontScale="92500" lnSpcReduction="10000"/>
              </a:bodyPr>
              <a:lstStyle/>
              <a:p>
                <a:r>
                  <a:rPr lang="de-DE" err="1"/>
                  <a:t>Egyirányú</a:t>
                </a:r>
                <a:r>
                  <a:rPr lang="de-DE"/>
                  <a:t> </a:t>
                </a:r>
                <a:r>
                  <a:rPr lang="de-DE" err="1"/>
                  <a:t>listák</a:t>
                </a:r>
                <a:r>
                  <a:rPr lang="de-DE"/>
                  <a:t> </a:t>
                </a:r>
                <a:r>
                  <a:rPr lang="de-DE" err="1"/>
                  <a:t>kezelése</a:t>
                </a:r>
                <a:endParaRPr lang="hu-HU"/>
              </a:p>
              <a:p>
                <a:pPr lvl="1"/>
                <a:r>
                  <a:rPr lang="hu-HU"/>
                  <a:t>Listaelemek megfelelő átláncolása</a:t>
                </a:r>
              </a:p>
              <a:p>
                <a:pPr lvl="2"/>
                <a:r>
                  <a:rPr lang="hu-HU"/>
                  <a:t>Kerüljük a felesleges adatmozgatást</a:t>
                </a:r>
              </a:p>
              <a:p>
                <a:pPr lvl="2"/>
                <a:r>
                  <a:rPr lang="hu-HU"/>
                  <a:t>Járulékos adatok</a:t>
                </a:r>
              </a:p>
              <a:p>
                <a:r>
                  <a:rPr lang="hu-HU"/>
                  <a:t>Listába szúrás</a:t>
                </a:r>
              </a:p>
              <a:p>
                <a:pPr lvl="1"/>
                <a:r>
                  <a:rPr lang="en-US"/>
                  <a:t>∗</a:t>
                </a:r>
                <a:r>
                  <a:rPr lang="hu-HU"/>
                  <a:t>p eleme után fűzi a </a:t>
                </a:r>
                <a:r>
                  <a:rPr lang="en-US"/>
                  <a:t>∗</a:t>
                </a:r>
                <a:r>
                  <a:rPr lang="hu-HU"/>
                  <a:t>q objektumot </a:t>
                </a:r>
              </a:p>
              <a:p>
                <a:pPr lvl="1"/>
                <a:r>
                  <a:rPr lang="hu-HU"/>
                  <a:t>végrehajtása előtt </a:t>
                </a:r>
                <a:r>
                  <a:rPr lang="en-US"/>
                  <a:t>∗</a:t>
                </a:r>
                <a:r>
                  <a:rPr lang="hu-HU"/>
                  <a:t>q nincs listába fűzve </a:t>
                </a:r>
              </a:p>
              <a:p>
                <a:pPr lvl="1"/>
                <a:r>
                  <a:rPr lang="hu-HU" i="1"/>
                  <a:t>T</a:t>
                </a:r>
                <a:r>
                  <a:rPr lang="hu-HU"/>
                  <a:t> </a:t>
                </a:r>
                <a:r>
                  <a:rPr lang="en-US"/>
                  <a:t>∈ Θ</a:t>
                </a:r>
                <a:r>
                  <a:rPr lang="hu-HU"/>
                  <a:t>(1)</a:t>
                </a:r>
              </a:p>
              <a:p>
                <a:r>
                  <a:rPr lang="hu-HU"/>
                  <a:t>Kifűzés listából</a:t>
                </a:r>
              </a:p>
              <a:p>
                <a:pPr lvl="1"/>
                <a:r>
                  <a:rPr lang="hu-HU"/>
                  <a:t>EF: </a:t>
                </a:r>
                <a:r>
                  <a:rPr lang="en-US"/>
                  <a:t>∗</a:t>
                </a:r>
                <a:r>
                  <a:rPr lang="hu-HU"/>
                  <a:t>p és </a:t>
                </a:r>
                <a:r>
                  <a:rPr lang="en-US"/>
                  <a:t>∗</a:t>
                </a:r>
                <a:r>
                  <a:rPr lang="hu-HU"/>
                  <a:t>q valamely egyirányú lista </a:t>
                </a:r>
                <a:br>
                  <a:rPr lang="hu-HU"/>
                </a:br>
                <a:r>
                  <a:rPr lang="hu-HU"/>
                  <a:t>egymás utáni elemei</a:t>
                </a:r>
              </a:p>
              <a:p>
                <a:pPr lvl="2"/>
                <a:r>
                  <a:rPr lang="hu-HU" i="1"/>
                  <a:t>p</a:t>
                </a:r>
                <a:r>
                  <a:rPr lang="hu-HU"/>
                  <a:t> </a:t>
                </a:r>
                <a:r>
                  <a:rPr lang="en-US"/>
                  <a:t>→</a:t>
                </a:r>
                <a:r>
                  <a:rPr lang="hu-HU" i="1" err="1"/>
                  <a:t>next</a:t>
                </a:r>
                <a:r>
                  <a:rPr lang="hu-HU"/>
                  <a:t> = </a:t>
                </a:r>
                <a:r>
                  <a:rPr lang="hu-HU" i="1"/>
                  <a:t>q</a:t>
                </a:r>
                <a:r>
                  <a:rPr lang="hu-HU"/>
                  <a:t> ≠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⊘</m:t>
                    </m:r>
                  </m:oMath>
                </a14:m>
                <a:endParaRPr lang="hu-HU"/>
              </a:p>
              <a:p>
                <a:pPr lvl="1"/>
                <a:r>
                  <a:rPr lang="hu-HU" i="1"/>
                  <a:t>T</a:t>
                </a:r>
                <a:r>
                  <a:rPr lang="hu-HU"/>
                  <a:t> </a:t>
                </a:r>
                <a:r>
                  <a:rPr lang="en-US"/>
                  <a:t>∈ Θ</a:t>
                </a:r>
                <a:r>
                  <a:rPr lang="hu-HU"/>
                  <a:t>(1). </a:t>
                </a:r>
              </a:p>
              <a:p>
                <a:pPr lvl="1"/>
                <a:r>
                  <a:rPr lang="hu-HU"/>
                  <a:t>átfűzésnél a </a:t>
                </a:r>
                <a:r>
                  <a:rPr lang="hu-HU" i="1" err="1"/>
                  <a:t>q</a:t>
                </a:r>
                <a:r>
                  <a:rPr lang="hu-HU" err="1"/>
                  <a:t>→</a:t>
                </a:r>
                <a:r>
                  <a:rPr lang="hu-HU" i="1" err="1"/>
                  <a:t>next</a:t>
                </a:r>
                <a:r>
                  <a:rPr lang="hu-HU"/>
                  <a:t>≔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⊘</m:t>
                    </m:r>
                  </m:oMath>
                </a14:m>
                <a:r>
                  <a:rPr lang="hu-HU"/>
                  <a:t> elhagyható</a:t>
                </a:r>
              </a:p>
              <a:p>
                <a:endParaRPr lang="de-DE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126156"/>
                <a:ext cx="10018713" cy="5621153"/>
              </a:xfrm>
              <a:blipFill>
                <a:blip r:embed="rId2"/>
                <a:stretch>
                  <a:fillRect l="-1338" t="-3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32" y="1959485"/>
            <a:ext cx="4953691" cy="167663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384" y="4113313"/>
            <a:ext cx="5296639" cy="214342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cxnSp>
        <p:nvCxnSpPr>
          <p:cNvPr id="7" name="Egyenes összekötő nyíllal 6"/>
          <p:cNvCxnSpPr/>
          <p:nvPr/>
        </p:nvCxnSpPr>
        <p:spPr>
          <a:xfrm flipV="1">
            <a:off x="4581625" y="2695074"/>
            <a:ext cx="1703672" cy="327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nyíllal 8"/>
          <p:cNvCxnSpPr/>
          <p:nvPr/>
        </p:nvCxnSpPr>
        <p:spPr>
          <a:xfrm flipV="1">
            <a:off x="4581625" y="4562375"/>
            <a:ext cx="1309036" cy="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Kép 9">
            <a:extLst>
              <a:ext uri="{FF2B5EF4-FFF2-40B4-BE49-F238E27FC236}">
                <a16:creationId xmlns:a16="http://schemas.microsoft.com/office/drawing/2014/main" id="{D4AD8521-022D-B733-67A0-206E95271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1003" y="5448052"/>
            <a:ext cx="257211" cy="257211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F085CC35-F5B3-AB11-B3A1-31E2A97485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1785" y="6173002"/>
            <a:ext cx="304843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43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551688" y="368168"/>
            <a:ext cx="10018713" cy="1094874"/>
          </a:xfrm>
        </p:spPr>
        <p:txBody>
          <a:bodyPr/>
          <a:lstStyle/>
          <a:p>
            <a:r>
              <a:rPr lang="de-DE" err="1"/>
              <a:t>Egyirányú</a:t>
            </a:r>
            <a:r>
              <a:rPr lang="de-DE"/>
              <a:t> </a:t>
            </a:r>
            <a:r>
              <a:rPr lang="de-DE" err="1"/>
              <a:t>listák</a:t>
            </a:r>
            <a:r>
              <a:rPr lang="de-DE"/>
              <a:t> </a:t>
            </a:r>
            <a:r>
              <a:rPr lang="hu-HU"/>
              <a:t>további műveletei</a:t>
            </a:r>
            <a:endParaRPr lang="de-DE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484310" y="1896177"/>
            <a:ext cx="10292872" cy="4475746"/>
          </a:xfrm>
        </p:spPr>
        <p:txBody>
          <a:bodyPr anchor="t">
            <a:normAutofit/>
          </a:bodyPr>
          <a:lstStyle/>
          <a:p>
            <a:r>
              <a:rPr lang="hu-HU" dirty="0"/>
              <a:t>Fejelemes egyirányú listák (H1L) </a:t>
            </a:r>
          </a:p>
          <a:p>
            <a:pPr lvl="1"/>
            <a:r>
              <a:rPr lang="hu-HU" dirty="0"/>
              <a:t>Az alapműveletek segítségével minden összetett listamódosító művelet megadható</a:t>
            </a:r>
          </a:p>
          <a:p>
            <a:r>
              <a:rPr lang="hu-HU" dirty="0"/>
              <a:t>Egyszerű egyirányú listák (S1L) 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Elem (*q) beszúrása a lista legelejére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Első elem kifűzésére 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514" y="4411620"/>
            <a:ext cx="3766522" cy="196030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289" y="4280309"/>
            <a:ext cx="5799893" cy="209161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9AE69D0D-B16D-BD3D-CF78-C73FC674198B}"/>
              </a:ext>
            </a:extLst>
          </p:cNvPr>
          <p:cNvSpPr txBox="1"/>
          <p:nvPr/>
        </p:nvSpPr>
        <p:spPr>
          <a:xfrm>
            <a:off x="1703595" y="4137021"/>
            <a:ext cx="43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>
                <a:solidFill>
                  <a:schemeClr val="accent1"/>
                </a:solidFill>
              </a:rPr>
              <a:t>1.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E6FEC27-4410-37E4-4C78-C730E6A400DD}"/>
              </a:ext>
            </a:extLst>
          </p:cNvPr>
          <p:cNvSpPr txBox="1"/>
          <p:nvPr/>
        </p:nvSpPr>
        <p:spPr>
          <a:xfrm>
            <a:off x="6096000" y="3910977"/>
            <a:ext cx="43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>
                <a:solidFill>
                  <a:schemeClr val="accent1"/>
                </a:solidFill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36104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E41E98-00D3-C49A-D8C8-2044A9991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639" y="482441"/>
            <a:ext cx="7047657" cy="1152526"/>
          </a:xfrm>
        </p:spPr>
        <p:txBody>
          <a:bodyPr>
            <a:noAutofit/>
          </a:bodyPr>
          <a:lstStyle/>
          <a:p>
            <a:r>
              <a:rPr lang="hu-HU" dirty="0"/>
              <a:t>Műveletek egyirányú listákon: Keresés*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5B243DB-4793-E2C0-297E-CE03AA248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590" y="2186939"/>
            <a:ext cx="5564883" cy="2484121"/>
          </a:xfrm>
        </p:spPr>
        <p:txBody>
          <a:bodyPr/>
          <a:lstStyle/>
          <a:p>
            <a:r>
              <a:rPr lang="hu-HU" dirty="0"/>
              <a:t>Sikeres keresés:</a:t>
            </a:r>
          </a:p>
          <a:p>
            <a:pPr lvl="1"/>
            <a:r>
              <a:rPr lang="hu-HU" i="1" dirty="0"/>
              <a:t>p</a:t>
            </a:r>
            <a:r>
              <a:rPr lang="hu-HU" dirty="0"/>
              <a:t>=Az első </a:t>
            </a:r>
            <a:r>
              <a:rPr lang="hu-HU" i="1" dirty="0"/>
              <a:t>k</a:t>
            </a:r>
            <a:r>
              <a:rPr lang="hu-HU" dirty="0"/>
              <a:t> kulcsú elem címe</a:t>
            </a:r>
          </a:p>
          <a:p>
            <a:r>
              <a:rPr lang="hu-HU" dirty="0"/>
              <a:t>Sikertelen keresés:</a:t>
            </a:r>
          </a:p>
          <a:p>
            <a:pPr lvl="1"/>
            <a:r>
              <a:rPr lang="hu-HU" i="1" dirty="0"/>
              <a:t>p=</a:t>
            </a:r>
            <a:r>
              <a:rPr lang="hu-HU" dirty="0"/>
              <a:t> </a:t>
            </a:r>
            <a:r>
              <a:rPr lang="hu-H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hu-HU" dirty="0"/>
          </a:p>
          <a:p>
            <a:pPr lvl="1"/>
            <a:endParaRPr lang="hu-HU" dirty="0"/>
          </a:p>
        </p:txBody>
      </p:sp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AD265143-4981-17B1-CB53-53B2F5C3F333}"/>
              </a:ext>
            </a:extLst>
          </p:cNvPr>
          <p:cNvSpPr/>
          <p:nvPr/>
        </p:nvSpPr>
        <p:spPr>
          <a:xfrm>
            <a:off x="1994130" y="4443409"/>
            <a:ext cx="2709950" cy="1152525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800" b="1" i="1" dirty="0">
                <a:ea typeface="Calibri" panose="020F0502020204030204" pitchFamily="34" charset="0"/>
                <a:cs typeface="CMMI12"/>
              </a:rPr>
              <a:t>Műveletigény: </a:t>
            </a:r>
            <a:r>
              <a:rPr lang="hu-HU" b="1" dirty="0">
                <a:ea typeface="Calibri" panose="020F0502020204030204" pitchFamily="34" charset="0"/>
                <a:cs typeface="CMSY10"/>
              </a:rPr>
              <a:t>O</a:t>
            </a:r>
            <a:r>
              <a:rPr lang="hu-HU" sz="1800" b="1" dirty="0">
                <a:ea typeface="Calibri" panose="020F0502020204030204" pitchFamily="34" charset="0"/>
                <a:cs typeface="CMR12"/>
              </a:rPr>
              <a:t>(</a:t>
            </a:r>
            <a:r>
              <a:rPr lang="hu-HU" sz="1800" b="1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sz="1800" b="1" dirty="0">
                <a:ea typeface="Calibri" panose="020F0502020204030204" pitchFamily="34" charset="0"/>
                <a:cs typeface="CMR12"/>
              </a:rPr>
              <a:t>)</a:t>
            </a:r>
            <a:endParaRPr lang="hu-HU" sz="18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A51244D2-8D5F-D8FD-C8EF-43C53AB1E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271" y="3840418"/>
            <a:ext cx="266737" cy="285790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CB004671-3D5F-C748-1F1E-CAADA2108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749" y="2385617"/>
            <a:ext cx="2784971" cy="2957415"/>
          </a:xfrm>
          <a:prstGeom prst="roundRect">
            <a:avLst>
              <a:gd name="adj" fmla="val 4380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589F12A4-0239-E2BC-534B-AFDD0D583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761" y="2385617"/>
            <a:ext cx="2875067" cy="2909602"/>
          </a:xfrm>
          <a:prstGeom prst="roundRect">
            <a:avLst>
              <a:gd name="adj" fmla="val 4380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209288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1D783-F527-EDC8-A081-5A6FADE4D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1EF04D-B7C0-5973-73B6-66CF464AB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710" y="207674"/>
            <a:ext cx="10209250" cy="777846"/>
          </a:xfrm>
        </p:spPr>
        <p:txBody>
          <a:bodyPr>
            <a:noAutofit/>
          </a:bodyPr>
          <a:lstStyle/>
          <a:p>
            <a:r>
              <a:rPr lang="hu-HU" dirty="0"/>
              <a:t>Műveletek egyirányú listákon: Beszúrás*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A452367-29C6-9A6F-3F6F-96B03D05D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590" y="1778000"/>
            <a:ext cx="5564883" cy="3555999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Egyedi kulcsok</a:t>
            </a:r>
          </a:p>
          <a:p>
            <a:pPr lvl="1"/>
            <a:r>
              <a:rPr lang="hu-HU" dirty="0"/>
              <a:t>Ismétlődés nem megengedett</a:t>
            </a:r>
          </a:p>
          <a:p>
            <a:r>
              <a:rPr lang="hu-HU" dirty="0"/>
              <a:t>Két futó pointer </a:t>
            </a:r>
          </a:p>
          <a:p>
            <a:pPr lvl="1"/>
            <a:r>
              <a:rPr lang="hu-HU" i="1" dirty="0" err="1"/>
              <a:t>pe</a:t>
            </a:r>
            <a:r>
              <a:rPr lang="hu-HU" dirty="0"/>
              <a:t>: </a:t>
            </a:r>
            <a:r>
              <a:rPr lang="hu-HU" i="1" dirty="0"/>
              <a:t>p </a:t>
            </a:r>
            <a:r>
              <a:rPr lang="hu-HU" dirty="0"/>
              <a:t>előtti elem</a:t>
            </a:r>
            <a:endParaRPr lang="hu-HU" i="1" dirty="0"/>
          </a:p>
          <a:p>
            <a:r>
              <a:rPr lang="hu-HU" dirty="0"/>
              <a:t>Sikeres keresés:</a:t>
            </a:r>
          </a:p>
          <a:p>
            <a:pPr lvl="1"/>
            <a:r>
              <a:rPr lang="hu-HU" dirty="0"/>
              <a:t>Nincs beszúrás -&gt;</a:t>
            </a:r>
            <a:r>
              <a:rPr lang="hu-HU" dirty="0" err="1"/>
              <a:t>False</a:t>
            </a:r>
            <a:endParaRPr lang="hu-HU" dirty="0"/>
          </a:p>
          <a:p>
            <a:r>
              <a:rPr lang="hu-HU" dirty="0"/>
              <a:t>Sikertelen keresés:</a:t>
            </a:r>
          </a:p>
          <a:p>
            <a:pPr lvl="1"/>
            <a:r>
              <a:rPr lang="hu-HU" dirty="0"/>
              <a:t>Beszúrás utolsó elemnek -&gt;</a:t>
            </a:r>
            <a:r>
              <a:rPr lang="hu-HU" dirty="0" err="1"/>
              <a:t>True</a:t>
            </a:r>
            <a:endParaRPr lang="hu-HU" dirty="0"/>
          </a:p>
        </p:txBody>
      </p:sp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4E99BAA0-7D5D-9946-95D7-F4079BD021DA}"/>
              </a:ext>
            </a:extLst>
          </p:cNvPr>
          <p:cNvSpPr/>
          <p:nvPr/>
        </p:nvSpPr>
        <p:spPr>
          <a:xfrm>
            <a:off x="2715490" y="5410835"/>
            <a:ext cx="2709950" cy="1152525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800" b="1" i="1" dirty="0">
                <a:ea typeface="Calibri" panose="020F0502020204030204" pitchFamily="34" charset="0"/>
                <a:cs typeface="CMMI12"/>
              </a:rPr>
              <a:t>Műveletigény: </a:t>
            </a:r>
            <a:r>
              <a:rPr lang="hu-HU" b="1" dirty="0">
                <a:ea typeface="Calibri" panose="020F0502020204030204" pitchFamily="34" charset="0"/>
                <a:cs typeface="CMSY10"/>
              </a:rPr>
              <a:t>O</a:t>
            </a:r>
            <a:r>
              <a:rPr lang="hu-HU" sz="1800" b="1" dirty="0">
                <a:ea typeface="Calibri" panose="020F0502020204030204" pitchFamily="34" charset="0"/>
                <a:cs typeface="CMR12"/>
              </a:rPr>
              <a:t>(</a:t>
            </a:r>
            <a:r>
              <a:rPr lang="hu-HU" sz="1800" b="1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sz="1800" b="1" dirty="0">
                <a:ea typeface="Calibri" panose="020F0502020204030204" pitchFamily="34" charset="0"/>
                <a:cs typeface="CMR12"/>
              </a:rPr>
              <a:t>)</a:t>
            </a:r>
            <a:endParaRPr lang="hu-HU" sz="18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9F410782-CEC9-1E38-23B8-31488F86E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351" y="1262629"/>
            <a:ext cx="3057569" cy="5325766"/>
          </a:xfrm>
          <a:prstGeom prst="roundRect">
            <a:avLst>
              <a:gd name="adj" fmla="val 4380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FD4D290B-1274-735B-DA9A-AC9160827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918" y="1236358"/>
            <a:ext cx="2819794" cy="5325218"/>
          </a:xfrm>
          <a:prstGeom prst="roundRect">
            <a:avLst>
              <a:gd name="adj" fmla="val 4380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030980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BC8B8-D8A9-FEDB-12DD-580F9E33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777467-0C42-7F3B-B5D2-16A74CC0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710" y="207674"/>
            <a:ext cx="9884130" cy="1152526"/>
          </a:xfrm>
        </p:spPr>
        <p:txBody>
          <a:bodyPr>
            <a:noAutofit/>
          </a:bodyPr>
          <a:lstStyle/>
          <a:p>
            <a:r>
              <a:rPr lang="hu-HU" dirty="0"/>
              <a:t>Műveletek egyirányú listákon: Törlés*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FCED180-A1FB-9A79-2664-8F2648E95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023" y="1772816"/>
            <a:ext cx="5564883" cy="3555999"/>
          </a:xfrm>
        </p:spPr>
        <p:txBody>
          <a:bodyPr>
            <a:normAutofit/>
          </a:bodyPr>
          <a:lstStyle/>
          <a:p>
            <a:r>
              <a:rPr lang="hu-HU" dirty="0"/>
              <a:t>Két futó pointer </a:t>
            </a:r>
          </a:p>
          <a:p>
            <a:pPr lvl="1"/>
            <a:r>
              <a:rPr lang="hu-HU" i="1" dirty="0" err="1"/>
              <a:t>pe</a:t>
            </a:r>
            <a:r>
              <a:rPr lang="hu-HU" dirty="0"/>
              <a:t>: </a:t>
            </a:r>
            <a:r>
              <a:rPr lang="hu-HU" i="1" dirty="0"/>
              <a:t>p </a:t>
            </a:r>
            <a:r>
              <a:rPr lang="hu-HU" dirty="0"/>
              <a:t>előtti elem</a:t>
            </a:r>
            <a:endParaRPr lang="hu-HU" i="1" dirty="0"/>
          </a:p>
          <a:p>
            <a:r>
              <a:rPr lang="hu-HU" dirty="0"/>
              <a:t>Sikertelen keresés:</a:t>
            </a:r>
          </a:p>
          <a:p>
            <a:pPr lvl="1"/>
            <a:r>
              <a:rPr lang="hu-HU" dirty="0"/>
              <a:t>Nincs törlés -&gt;</a:t>
            </a:r>
            <a:r>
              <a:rPr lang="hu-HU" dirty="0" err="1"/>
              <a:t>False</a:t>
            </a:r>
            <a:endParaRPr lang="hu-HU" dirty="0"/>
          </a:p>
          <a:p>
            <a:r>
              <a:rPr lang="hu-HU" dirty="0"/>
              <a:t>Sikeres keresés:</a:t>
            </a:r>
          </a:p>
          <a:p>
            <a:pPr lvl="1"/>
            <a:r>
              <a:rPr lang="hu-HU" dirty="0"/>
              <a:t>Kifűzés és törlés </a:t>
            </a:r>
            <a:br>
              <a:rPr lang="hu-HU" dirty="0"/>
            </a:br>
            <a:r>
              <a:rPr lang="hu-HU" dirty="0"/>
              <a:t>-&gt;</a:t>
            </a:r>
            <a:r>
              <a:rPr lang="hu-HU" dirty="0" err="1"/>
              <a:t>True</a:t>
            </a: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95ED05E-0531-191E-4E5C-137B46596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690" y="1597296"/>
            <a:ext cx="3967310" cy="4983792"/>
          </a:xfrm>
          <a:prstGeom prst="roundRect">
            <a:avLst>
              <a:gd name="adj" fmla="val 4380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AA238C2E-D315-D54D-094B-B571D2088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520" y="1552546"/>
            <a:ext cx="3486814" cy="5028542"/>
          </a:xfrm>
          <a:prstGeom prst="roundRect">
            <a:avLst>
              <a:gd name="adj" fmla="val 4380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2C20D37B-AD0E-1273-E6C6-712479EE92D0}"/>
              </a:ext>
            </a:extLst>
          </p:cNvPr>
          <p:cNvSpPr/>
          <p:nvPr/>
        </p:nvSpPr>
        <p:spPr>
          <a:xfrm>
            <a:off x="1586510" y="5053009"/>
            <a:ext cx="2534754" cy="1152525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800" b="1" i="1" dirty="0">
                <a:ea typeface="Calibri" panose="020F0502020204030204" pitchFamily="34" charset="0"/>
                <a:cs typeface="CMMI12"/>
              </a:rPr>
              <a:t>Műveletigény: </a:t>
            </a:r>
            <a:r>
              <a:rPr lang="hu-HU" b="1" dirty="0">
                <a:ea typeface="Calibri" panose="020F0502020204030204" pitchFamily="34" charset="0"/>
                <a:cs typeface="CMSY10"/>
              </a:rPr>
              <a:t>O</a:t>
            </a:r>
            <a:r>
              <a:rPr lang="hu-HU" sz="1800" b="1" dirty="0">
                <a:ea typeface="Calibri" panose="020F0502020204030204" pitchFamily="34" charset="0"/>
                <a:cs typeface="CMR12"/>
              </a:rPr>
              <a:t>(</a:t>
            </a:r>
            <a:r>
              <a:rPr lang="hu-HU" sz="1800" b="1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sz="1800" b="1" dirty="0">
                <a:ea typeface="Calibri" panose="020F0502020204030204" pitchFamily="34" charset="0"/>
                <a:cs typeface="CMR12"/>
              </a:rPr>
              <a:t>)</a:t>
            </a:r>
            <a:endParaRPr lang="hu-HU" sz="18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534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1" y="339292"/>
            <a:ext cx="10018713" cy="1037122"/>
          </a:xfrm>
        </p:spPr>
        <p:txBody>
          <a:bodyPr/>
          <a:lstStyle/>
          <a:p>
            <a:r>
              <a:rPr lang="hu-HU"/>
              <a:t>S1L és H1L összehasonlítása</a:t>
            </a:r>
            <a:endParaRPr lang="de-DE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772179" y="1376414"/>
            <a:ext cx="4607188" cy="576262"/>
          </a:xfrm>
        </p:spPr>
        <p:txBody>
          <a:bodyPr/>
          <a:lstStyle/>
          <a:p>
            <a:pPr algn="ctr"/>
            <a:r>
              <a:rPr lang="hu-HU" sz="3200"/>
              <a:t>S1L</a:t>
            </a:r>
            <a:endParaRPr lang="de-DE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484310" y="2182812"/>
            <a:ext cx="5260735" cy="3906016"/>
          </a:xfrm>
        </p:spPr>
        <p:txBody>
          <a:bodyPr>
            <a:normAutofit fontScale="92500" lnSpcReduction="10000"/>
          </a:bodyPr>
          <a:lstStyle/>
          <a:p>
            <a:r>
              <a:rPr lang="hu-HU" sz="2400"/>
              <a:t>Sok rövid lista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000"/>
              <a:t>Szignifikáns a tárigények különbsége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000"/>
              <a:t>Fejelemek allokálása és </a:t>
            </a:r>
            <a:r>
              <a:rPr lang="hu-HU" sz="2000" err="1"/>
              <a:t>deallokálása</a:t>
            </a:r>
            <a:r>
              <a:rPr lang="hu-HU" sz="2000"/>
              <a:t> a futási időt jelentősen megnövelheti </a:t>
            </a:r>
          </a:p>
          <a:p>
            <a:pPr lvl="1"/>
            <a:r>
              <a:rPr lang="hu-HU" sz="2000"/>
              <a:t>(pl. hasító táblák, összefésüléses rendezés) </a:t>
            </a:r>
          </a:p>
          <a:p>
            <a:r>
              <a:rPr lang="hu-HU" sz="2400"/>
              <a:t>Egy (rész)feladatban a listát mindig csak a legelején (~ </a:t>
            </a:r>
            <a:r>
              <a:rPr lang="hu-HU" sz="2400" err="1"/>
              <a:t>veremszerűen</a:t>
            </a:r>
            <a:r>
              <a:rPr lang="hu-HU" sz="2400"/>
              <a:t>) kell módosítani</a:t>
            </a:r>
            <a:endParaRPr lang="hu-HU" sz="2000"/>
          </a:p>
          <a:p>
            <a:r>
              <a:rPr lang="hu-HU" sz="2400"/>
              <a:t>A lista első eleme biztosan a helyén marad</a:t>
            </a:r>
            <a:endParaRPr lang="de-DE" sz="2400"/>
          </a:p>
          <a:p>
            <a:endParaRPr lang="de-DE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880486" y="1290587"/>
            <a:ext cx="4622537" cy="576262"/>
          </a:xfrm>
        </p:spPr>
        <p:txBody>
          <a:bodyPr/>
          <a:lstStyle/>
          <a:p>
            <a:pPr algn="ctr"/>
            <a:r>
              <a:rPr lang="hu-HU" sz="3200"/>
              <a:t>H1L</a:t>
            </a:r>
            <a:endParaRPr lang="de-DE"/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880486" y="2182812"/>
            <a:ext cx="4895056" cy="3608387"/>
          </a:xfrm>
        </p:spPr>
        <p:txBody>
          <a:bodyPr>
            <a:normAutofit fontScale="92500" lnSpcReduction="10000"/>
          </a:bodyPr>
          <a:lstStyle/>
          <a:p>
            <a:r>
              <a:rPr lang="hu-HU" sz="2400" dirty="0"/>
              <a:t>Kevesebb esetszétválasztás</a:t>
            </a:r>
          </a:p>
          <a:p>
            <a:pPr lvl="1"/>
            <a:r>
              <a:rPr lang="hu-HU" sz="2000" dirty="0"/>
              <a:t>Mindig valami után kell beszúrni</a:t>
            </a:r>
          </a:p>
          <a:p>
            <a:pPr lvl="1"/>
            <a:r>
              <a:rPr lang="hu-HU" sz="2000" dirty="0"/>
              <a:t>Mindig valami mögül kell kifűzni. </a:t>
            </a:r>
          </a:p>
          <a:p>
            <a:r>
              <a:rPr lang="hu-HU" sz="2400" dirty="0"/>
              <a:t>Eggyel több objektumot tartalmaz</a:t>
            </a:r>
          </a:p>
          <a:p>
            <a:pPr lvl="1"/>
            <a:r>
              <a:rPr lang="hu-HU" sz="2000" dirty="0"/>
              <a:t>Megnöveli a program tárigényét</a:t>
            </a:r>
          </a:p>
          <a:p>
            <a:r>
              <a:rPr lang="hu-HU" sz="2400" dirty="0"/>
              <a:t>Őrszem (</a:t>
            </a:r>
            <a:r>
              <a:rPr lang="hu-HU" sz="2400" dirty="0" err="1"/>
              <a:t>sentinel</a:t>
            </a:r>
            <a:r>
              <a:rPr lang="hu-HU" sz="2400" dirty="0"/>
              <a:t>): </a:t>
            </a:r>
          </a:p>
          <a:p>
            <a:pPr lvl="1"/>
            <a:r>
              <a:rPr lang="hu-HU" sz="2200" dirty="0"/>
              <a:t>fejelem, végelem</a:t>
            </a:r>
          </a:p>
          <a:p>
            <a:r>
              <a:rPr lang="hu-HU" sz="2400" dirty="0"/>
              <a:t>Végelem: pl. sorok </a:t>
            </a:r>
          </a:p>
          <a:p>
            <a:pPr lvl="1"/>
            <a:endParaRPr lang="hu-HU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3988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A281CA3C-58D5-A6F4-5A89-7F695AB5512B}"/>
              </a:ext>
            </a:extLst>
          </p:cNvPr>
          <p:cNvSpPr/>
          <p:nvPr/>
        </p:nvSpPr>
        <p:spPr>
          <a:xfrm>
            <a:off x="2743200" y="4730115"/>
            <a:ext cx="2824480" cy="1152525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ím 1"/>
              <p:cNvSpPr>
                <a:spLocks noGrp="1"/>
              </p:cNvSpPr>
              <p:nvPr>
                <p:ph type="title"/>
              </p:nvPr>
            </p:nvSpPr>
            <p:spPr>
              <a:xfrm>
                <a:off x="1484310" y="578920"/>
                <a:ext cx="10018713" cy="1037122"/>
              </a:xfrm>
            </p:spPr>
            <p:txBody>
              <a:bodyPr>
                <a:normAutofit/>
              </a:bodyPr>
              <a:lstStyle/>
              <a:p>
                <a:r>
                  <a:rPr lang="hu-HU" err="1"/>
                  <a:t>cut</a:t>
                </a:r>
                <a:r>
                  <a:rPr lang="hu-HU"/>
                  <a:t>(</a:t>
                </a:r>
                <a:r>
                  <a:rPr lang="hu-HU" i="1"/>
                  <a:t>L </a:t>
                </a:r>
                <a:r>
                  <a:rPr lang="hu-HU"/>
                  <a:t>: E1* ; </a:t>
                </a:r>
                <a:r>
                  <a:rPr lang="hu-HU" i="1"/>
                  <a:t>n </a:t>
                </a:r>
                <a:r>
                  <a:rPr lang="hu-HU"/>
                  <a:t>: 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hu-HU"/>
                  <a:t>) : E1*</a:t>
                </a:r>
                <a:endParaRPr lang="de-DE"/>
              </a:p>
            </p:txBody>
          </p:sp>
        </mc:Choice>
        <mc:Fallback xmlns="">
          <p:sp>
            <p:nvSpPr>
              <p:cNvPr id="2" name="Cím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484310" y="578920"/>
                <a:ext cx="10018713" cy="1037122"/>
              </a:xfrm>
              <a:blipFill>
                <a:blip r:embed="rId2"/>
                <a:stretch>
                  <a:fillRect b="-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484310" y="1830017"/>
            <a:ext cx="5503631" cy="4333874"/>
          </a:xfrm>
        </p:spPr>
        <p:txBody>
          <a:bodyPr/>
          <a:lstStyle/>
          <a:p>
            <a:r>
              <a:rPr lang="hu-HU" i="1" dirty="0"/>
              <a:t>L</a:t>
            </a:r>
            <a:r>
              <a:rPr lang="hu-HU" dirty="0"/>
              <a:t> kettévágása (L: S1L)</a:t>
            </a:r>
          </a:p>
          <a:p>
            <a:pPr lvl="1"/>
            <a:r>
              <a:rPr lang="hu-HU" dirty="0"/>
              <a:t>Az első </a:t>
            </a:r>
            <a:r>
              <a:rPr lang="hu-HU" i="1" dirty="0"/>
              <a:t>n</a:t>
            </a:r>
            <a:r>
              <a:rPr lang="hu-HU" dirty="0"/>
              <a:t> elemét hagyja </a:t>
            </a:r>
            <a:r>
              <a:rPr lang="hu-HU" i="1" dirty="0"/>
              <a:t>L</a:t>
            </a:r>
            <a:r>
              <a:rPr lang="hu-HU" dirty="0"/>
              <a:t>-ben</a:t>
            </a:r>
            <a:endParaRPr lang="hu-HU" sz="1600" dirty="0"/>
          </a:p>
          <a:p>
            <a:pPr lvl="1"/>
            <a:r>
              <a:rPr lang="hu-HU" dirty="0"/>
              <a:t>Visszaadja a lista levágott maradékát azonosító pointert</a:t>
            </a:r>
            <a:endParaRPr lang="hu-HU" sz="1600" dirty="0"/>
          </a:p>
          <a:p>
            <a:r>
              <a:rPr lang="hu-HU" dirty="0"/>
              <a:t>A listaelemek sorrendjét megtartja</a:t>
            </a:r>
          </a:p>
          <a:p>
            <a:endParaRPr lang="hu-HU" sz="2000" dirty="0"/>
          </a:p>
          <a:p>
            <a:pPr marL="0" lvl="2" indent="0" algn="ctr">
              <a:buNone/>
            </a:pPr>
            <a:r>
              <a:rPr lang="hu-HU" sz="2400" b="1" i="1" dirty="0" err="1">
                <a:ea typeface="Calibri" panose="020F0502020204030204" pitchFamily="34" charset="0"/>
                <a:cs typeface="CMMI12"/>
              </a:rPr>
              <a:t>T</a:t>
            </a:r>
            <a:r>
              <a:rPr lang="hu-HU" sz="2400" b="1" i="1" baseline="-25000" dirty="0" err="1">
                <a:ea typeface="Calibri" panose="020F0502020204030204" pitchFamily="34" charset="0"/>
                <a:cs typeface="CMMI8"/>
              </a:rPr>
              <a:t>cut</a:t>
            </a:r>
            <a:r>
              <a:rPr lang="hu-HU" sz="2400" b="1" dirty="0">
                <a:ea typeface="Calibri" panose="020F0502020204030204" pitchFamily="34" charset="0"/>
                <a:cs typeface="CMR12"/>
              </a:rPr>
              <a:t>(</a:t>
            </a:r>
            <a:r>
              <a:rPr lang="hu-HU" sz="2400" b="1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sz="2400" b="1" dirty="0">
                <a:ea typeface="Calibri" panose="020F0502020204030204" pitchFamily="34" charset="0"/>
                <a:cs typeface="CMR12"/>
              </a:rPr>
              <a:t>) </a:t>
            </a:r>
            <a:r>
              <a:rPr lang="en-US" sz="2400" b="1" dirty="0">
                <a:ea typeface="Calibri" panose="020F0502020204030204" pitchFamily="34" charset="0"/>
                <a:cs typeface="CMSY10"/>
              </a:rPr>
              <a:t>∈ </a:t>
            </a:r>
            <a:r>
              <a:rPr lang="en-US" sz="2400" b="1" dirty="0">
                <a:ea typeface="Calibri" panose="020F0502020204030204" pitchFamily="34" charset="0"/>
                <a:cs typeface="CMR12"/>
              </a:rPr>
              <a:t>Θ</a:t>
            </a:r>
            <a:r>
              <a:rPr lang="hu-HU" sz="2400" b="1" dirty="0">
                <a:ea typeface="Calibri" panose="020F0502020204030204" pitchFamily="34" charset="0"/>
                <a:cs typeface="CMR12"/>
              </a:rPr>
              <a:t>(</a:t>
            </a:r>
            <a:r>
              <a:rPr lang="hu-HU" sz="2400" b="1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sz="2400" b="1" dirty="0">
                <a:ea typeface="Calibri" panose="020F0502020204030204" pitchFamily="34" charset="0"/>
                <a:cs typeface="CMMI12"/>
              </a:rPr>
              <a:t>)</a:t>
            </a:r>
            <a:endParaRPr lang="hu-HU" sz="24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898" y="1830016"/>
            <a:ext cx="4429125" cy="433387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378468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B78D4A17-096D-0D66-4929-E3573FC9D92C}"/>
              </a:ext>
            </a:extLst>
          </p:cNvPr>
          <p:cNvSpPr/>
          <p:nvPr/>
        </p:nvSpPr>
        <p:spPr>
          <a:xfrm>
            <a:off x="7467600" y="1088757"/>
            <a:ext cx="3333396" cy="1524912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84310" y="420203"/>
            <a:ext cx="10018713" cy="1037122"/>
          </a:xfrm>
        </p:spPr>
        <p:txBody>
          <a:bodyPr>
            <a:normAutofit/>
          </a:bodyPr>
          <a:lstStyle/>
          <a:p>
            <a:r>
              <a:rPr lang="hu-HU"/>
              <a:t>H1L_read() : E1*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391005" y="1623616"/>
                <a:ext cx="10258636" cy="5392326"/>
              </a:xfrm>
            </p:spPr>
            <p:txBody>
              <a:bodyPr anchor="t">
                <a:normAutofit/>
              </a:bodyPr>
              <a:lstStyle/>
              <a:p>
                <a:pPr marL="285750" lvl="2"/>
                <a:r>
                  <a:rPr lang="hu-HU" sz="2400" b="0" i="0" u="none" strike="noStrike" baseline="0"/>
                  <a:t>Feladata:</a:t>
                </a:r>
              </a:p>
              <a:p>
                <a:pPr marL="628650" lvl="3"/>
                <a:r>
                  <a:rPr lang="hu-HU" sz="1800" b="0" i="0" u="none" strike="noStrike" baseline="0"/>
                  <a:t>beolvas egy adatsort a kurrens inputról </a:t>
                </a:r>
              </a:p>
              <a:p>
                <a:pPr marL="628650" lvl="3"/>
                <a:r>
                  <a:rPr lang="hu-HU" sz="1800" b="0" i="0" u="none" strike="noStrike" baseline="0"/>
                  <a:t>bemenet sorrendje szerint egy H1L-t épít belőlük </a:t>
                </a:r>
                <a:endParaRPr lang="hu-HU" sz="1800"/>
              </a:p>
              <a:p>
                <a:pPr marL="628650" lvl="3"/>
                <a:r>
                  <a:rPr lang="hu-HU" sz="1800" b="0" i="0" u="none" strike="noStrike" baseline="0"/>
                  <a:t>visszaadja a fejeleme címét 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err="1">
                    <a:ea typeface="Calibri" panose="020F0502020204030204" pitchFamily="34" charset="0"/>
                    <a:cs typeface="F29"/>
                  </a:rPr>
                  <a:t>read</a:t>
                </a:r>
                <a:r>
                  <a:rPr lang="hu-HU">
                    <a:ea typeface="Calibri" panose="020F0502020204030204" pitchFamily="34" charset="0"/>
                    <a:cs typeface="F29"/>
                  </a:rPr>
                  <a:t>(&amp;</a:t>
                </a:r>
                <a:r>
                  <a:rPr lang="hu-HU" i="1">
                    <a:ea typeface="Calibri" panose="020F0502020204030204" pitchFamily="34" charset="0"/>
                    <a:cs typeface="F29"/>
                  </a:rPr>
                  <a:t>x</a:t>
                </a:r>
                <a:r>
                  <a:rPr lang="hu-HU">
                    <a:ea typeface="Calibri" panose="020F0502020204030204" pitchFamily="34" charset="0"/>
                    <a:cs typeface="F29"/>
                  </a:rPr>
                  <a:t>:</a:t>
                </a:r>
                <a:r>
                  <a:rPr lang="hu-HU" i="1">
                    <a:ea typeface="Calibri" panose="020F0502020204030204" pitchFamily="34" charset="0"/>
                    <a:cs typeface="F29"/>
                  </a:rPr>
                  <a:t> </a:t>
                </a:r>
                <a14:m>
                  <m:oMath xmlns:m="http://schemas.openxmlformats.org/officeDocument/2006/math">
                    <m:r>
                      <a:rPr lang="hu-HU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𝒯</m:t>
                    </m:r>
                  </m:oMath>
                </a14:m>
                <a:r>
                  <a:rPr lang="hu-HU">
                    <a:ea typeface="Calibri" panose="020F0502020204030204" pitchFamily="34" charset="0"/>
                    <a:cs typeface="F29"/>
                  </a:rPr>
                  <a:t>):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𝔹</m:t>
                    </m:r>
                  </m:oMath>
                </a14:m>
                <a:r>
                  <a:rPr lang="hu-HU" i="1">
                    <a:ea typeface="Calibri" panose="020F0502020204030204" pitchFamily="34" charset="0"/>
                    <a:cs typeface="F29"/>
                  </a:rPr>
                  <a:t> </a:t>
                </a:r>
                <a:endParaRPr lang="hu-HU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a typeface="Calibri" panose="020F0502020204030204" pitchFamily="34" charset="0"/>
                    <a:cs typeface="F29"/>
                  </a:rPr>
                  <a:t>következő adat beolvasása </a:t>
                </a:r>
                <a:r>
                  <a:rPr lang="hu-HU" sz="1800" i="1">
                    <a:ea typeface="Calibri" panose="020F0502020204030204" pitchFamily="34" charset="0"/>
                    <a:cs typeface="CMMI12"/>
                  </a:rPr>
                  <a:t>x</a:t>
                </a:r>
                <a:r>
                  <a:rPr lang="hu-HU" sz="1800">
                    <a:ea typeface="Calibri" panose="020F0502020204030204" pitchFamily="34" charset="0"/>
                    <a:cs typeface="F29"/>
                  </a:rPr>
                  <a:t>-be</a:t>
                </a:r>
                <a:endParaRPr lang="hu-HU" sz="180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a typeface="Calibri" panose="020F0502020204030204" pitchFamily="34" charset="0"/>
                    <a:cs typeface="F29"/>
                  </a:rPr>
                  <a:t>igaz: </a:t>
                </a:r>
                <a:r>
                  <a:rPr lang="hu-HU">
                    <a:ea typeface="Calibri" panose="020F0502020204030204" pitchFamily="34" charset="0"/>
                    <a:cs typeface="F29"/>
                  </a:rPr>
                  <a:t>ha a beolvasás előtt még </a:t>
                </a:r>
                <a:br>
                  <a:rPr lang="hu-HU">
                    <a:ea typeface="Calibri" panose="020F0502020204030204" pitchFamily="34" charset="0"/>
                    <a:cs typeface="F29"/>
                  </a:rPr>
                </a:br>
                <a:r>
                  <a:rPr lang="hu-HU">
                    <a:ea typeface="Calibri" panose="020F0502020204030204" pitchFamily="34" charset="0"/>
                    <a:cs typeface="F29"/>
                  </a:rPr>
                  <a:t>volt adat a bemeneten</a:t>
                </a:r>
                <a:endParaRPr lang="hu-HU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a typeface="Calibri" panose="020F0502020204030204" pitchFamily="34" charset="0"/>
                    <a:cs typeface="F29"/>
                  </a:rPr>
                  <a:t>hamis: különben</a:t>
                </a:r>
                <a:br>
                  <a:rPr lang="hu-HU" sz="1800">
                    <a:ea typeface="Calibri" panose="020F0502020204030204" pitchFamily="34" charset="0"/>
                    <a:cs typeface="F29"/>
                  </a:rPr>
                </a:br>
                <a:r>
                  <a:rPr lang="hu-HU" sz="1800">
                    <a:ea typeface="Calibri" panose="020F0502020204030204" pitchFamily="34" charset="0"/>
                    <a:cs typeface="F29"/>
                  </a:rPr>
                  <a:t> (</a:t>
                </a:r>
                <a:r>
                  <a:rPr lang="hu-HU" sz="1800" i="1">
                    <a:ea typeface="Calibri" panose="020F0502020204030204" pitchFamily="34" charset="0"/>
                    <a:cs typeface="CMMI12"/>
                  </a:rPr>
                  <a:t>x</a:t>
                </a:r>
                <a:r>
                  <a:rPr lang="hu-HU" sz="180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>
                    <a:ea typeface="Calibri" panose="020F0502020204030204" pitchFamily="34" charset="0"/>
                    <a:cs typeface="F29"/>
                  </a:rPr>
                  <a:t>definiálatlan marad)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endParaRPr lang="hu-HU" sz="180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>
                    <a:ea typeface="Calibri" panose="020F0502020204030204" pitchFamily="34" charset="0"/>
                    <a:cs typeface="Times New Roman" panose="02020603050405020304" pitchFamily="18" charset="0"/>
                  </a:rPr>
                  <a:t>Feladat: Valósítsuk meg a </a:t>
                </a:r>
                <a:r>
                  <a:rPr lang="hu-HU" sz="1600" err="1">
                    <a:ea typeface="Calibri" panose="020F0502020204030204" pitchFamily="34" charset="0"/>
                    <a:cs typeface="Times New Roman" panose="02020603050405020304" pitchFamily="18" charset="0"/>
                  </a:rPr>
                  <a:t>Queue</a:t>
                </a:r>
                <a:r>
                  <a:rPr lang="hu-HU" sz="1600">
                    <a:ea typeface="Calibri" panose="020F0502020204030204" pitchFamily="34" charset="0"/>
                    <a:cs typeface="Times New Roman" panose="02020603050405020304" pitchFamily="18" charset="0"/>
                  </a:rPr>
                  <a:t> osztályt egyirányú, végelemes listával! //</a:t>
                </a:r>
                <a:r>
                  <a:rPr lang="hu-HU" sz="1600" err="1">
                    <a:ea typeface="Calibri" panose="020F0502020204030204" pitchFamily="34" charset="0"/>
                    <a:cs typeface="Times New Roman" panose="02020603050405020304" pitchFamily="18" charset="0"/>
                  </a:rPr>
                  <a:t>mo</a:t>
                </a:r>
                <a:r>
                  <a:rPr lang="hu-HU" sz="1600">
                    <a:ea typeface="Calibri" panose="020F0502020204030204" pitchFamily="34" charset="0"/>
                    <a:cs typeface="Times New Roman" panose="02020603050405020304" pitchFamily="18" charset="0"/>
                  </a:rPr>
                  <a:t>: 4. óra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1005" y="1623616"/>
                <a:ext cx="10258636" cy="5392326"/>
              </a:xfrm>
              <a:blipFill>
                <a:blip r:embed="rId2"/>
                <a:stretch>
                  <a:fillRect l="-1485" t="-3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Kép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461" y="3108812"/>
            <a:ext cx="5810562" cy="311935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4" name="Tartalom helye 2">
            <a:extLst>
              <a:ext uri="{FF2B5EF4-FFF2-40B4-BE49-F238E27FC236}">
                <a16:creationId xmlns:a16="http://schemas.microsoft.com/office/drawing/2014/main" id="{80AB8F04-43F5-98C9-ABD4-7024455ECDB6}"/>
              </a:ext>
            </a:extLst>
          </p:cNvPr>
          <p:cNvSpPr txBox="1">
            <a:spLocks/>
          </p:cNvSpPr>
          <p:nvPr/>
        </p:nvSpPr>
        <p:spPr>
          <a:xfrm>
            <a:off x="7585788" y="1623615"/>
            <a:ext cx="4063853" cy="44382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hu-HU" sz="2400" b="1" i="1" dirty="0">
                <a:ea typeface="Calibri" panose="020F0502020204030204" pitchFamily="34" charset="0"/>
                <a:cs typeface="CMMI12"/>
              </a:rPr>
              <a:t>T</a:t>
            </a:r>
            <a:r>
              <a:rPr lang="hu-HU" sz="2400" b="1" i="1" baseline="-25000" dirty="0">
                <a:ea typeface="Calibri" panose="020F0502020204030204" pitchFamily="34" charset="0"/>
                <a:cs typeface="CMMI8"/>
              </a:rPr>
              <a:t>H</a:t>
            </a:r>
            <a:r>
              <a:rPr lang="hu-HU" sz="2400" b="1" i="1" baseline="-25000" dirty="0">
                <a:ea typeface="Calibri" panose="020F0502020204030204" pitchFamily="34" charset="0"/>
                <a:cs typeface="CMR8"/>
              </a:rPr>
              <a:t>1</a:t>
            </a:r>
            <a:r>
              <a:rPr lang="hu-HU" sz="2400" b="1" i="1" baseline="-25000" dirty="0">
                <a:ea typeface="Calibri" panose="020F0502020204030204" pitchFamily="34" charset="0"/>
                <a:cs typeface="CMMI8"/>
              </a:rPr>
              <a:t>L</a:t>
            </a:r>
            <a:r>
              <a:rPr lang="hu-HU" sz="2400" b="1" i="1" baseline="-25000" dirty="0">
                <a:ea typeface="Calibri" panose="020F0502020204030204" pitchFamily="34" charset="0"/>
                <a:cs typeface="F84"/>
              </a:rPr>
              <a:t>_</a:t>
            </a:r>
            <a:r>
              <a:rPr lang="hu-HU" sz="2400" b="1" i="1" baseline="-25000" dirty="0">
                <a:ea typeface="Calibri" panose="020F0502020204030204" pitchFamily="34" charset="0"/>
                <a:cs typeface="CMMI8"/>
              </a:rPr>
              <a:t>read</a:t>
            </a:r>
            <a:r>
              <a:rPr lang="hu-HU" sz="2400" b="1" dirty="0">
                <a:ea typeface="Calibri" panose="020F0502020204030204" pitchFamily="34" charset="0"/>
                <a:cs typeface="CMR12"/>
              </a:rPr>
              <a:t>(</a:t>
            </a:r>
            <a:r>
              <a:rPr lang="hu-HU" sz="2400" b="1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sz="2400" b="1" dirty="0">
                <a:ea typeface="Calibri" panose="020F0502020204030204" pitchFamily="34" charset="0"/>
                <a:cs typeface="CMR12"/>
              </a:rPr>
              <a:t>) </a:t>
            </a:r>
            <a:r>
              <a:rPr lang="en-US" sz="2400" b="1" dirty="0">
                <a:ea typeface="Calibri" panose="020F0502020204030204" pitchFamily="34" charset="0"/>
                <a:cs typeface="CMSY10"/>
              </a:rPr>
              <a:t>∈ </a:t>
            </a:r>
            <a:r>
              <a:rPr lang="en-US" sz="2400" b="1" dirty="0">
                <a:ea typeface="Calibri" panose="020F0502020204030204" pitchFamily="34" charset="0"/>
                <a:cs typeface="CMR12"/>
              </a:rPr>
              <a:t>Θ</a:t>
            </a:r>
            <a:r>
              <a:rPr lang="hu-HU" sz="2400" b="1" dirty="0">
                <a:ea typeface="Calibri" panose="020F0502020204030204" pitchFamily="34" charset="0"/>
                <a:cs typeface="CMR12"/>
              </a:rPr>
              <a:t>(</a:t>
            </a:r>
            <a:r>
              <a:rPr lang="hu-HU" sz="2400" b="1" i="1" dirty="0">
                <a:ea typeface="Calibri" panose="020F0502020204030204" pitchFamily="34" charset="0"/>
                <a:cs typeface="CMMI12"/>
              </a:rPr>
              <a:t>n</a:t>
            </a:r>
            <a:r>
              <a:rPr lang="hu-HU" sz="2400" b="1" dirty="0">
                <a:ea typeface="Calibri" panose="020F0502020204030204" pitchFamily="34" charset="0"/>
                <a:cs typeface="CMR12"/>
              </a:rPr>
              <a:t>)</a:t>
            </a:r>
            <a:endParaRPr lang="hu-HU" sz="24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678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BA9C80-D52F-EE1D-C206-057F1E35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81947"/>
            <a:ext cx="10018713" cy="1133669"/>
          </a:xfrm>
        </p:spPr>
        <p:txBody>
          <a:bodyPr/>
          <a:lstStyle/>
          <a:p>
            <a:r>
              <a:rPr lang="hu-HU">
                <a:latin typeface="F48"/>
                <a:ea typeface="Calibri" panose="020F0502020204030204" pitchFamily="34" charset="0"/>
                <a:cs typeface="F48"/>
              </a:rPr>
              <a:t>Dinamikus </a:t>
            </a:r>
            <a:r>
              <a:rPr lang="hu-HU" sz="4000">
                <a:effectLst/>
                <a:latin typeface="F48"/>
                <a:ea typeface="Calibri" panose="020F0502020204030204" pitchFamily="34" charset="0"/>
                <a:cs typeface="F48"/>
              </a:rPr>
              <a:t>memóriagazdálkodás</a:t>
            </a:r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273607F0-0E69-E693-B37D-ECBA6DEA2E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328056"/>
                <a:ext cx="10018713" cy="4960777"/>
              </a:xfrm>
            </p:spPr>
            <p:txBody>
              <a:bodyPr anchor="t"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objektumok dinamikus létrehozása: 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F48"/>
                  </a:rPr>
                  <a:t>new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𝒯</m:t>
                    </m:r>
                  </m:oMath>
                </a14:m>
                <a:r>
                  <a:rPr lang="hu-HU" sz="2000" dirty="0">
                    <a:effectLst/>
                    <a:ea typeface="Calibri" panose="020F0502020204030204" pitchFamily="34" charset="0"/>
                    <a:cs typeface="EUSM10"/>
                  </a:rPr>
                  <a:t> 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hu-HU" sz="16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𝒯</m:t>
                    </m:r>
                  </m:oMath>
                </a14:m>
                <a:r>
                  <a:rPr lang="hu-HU" sz="1600" dirty="0">
                    <a:effectLst/>
                    <a:ea typeface="Calibri" panose="020F0502020204030204" pitchFamily="34" charset="0"/>
                    <a:cs typeface="EUSM10"/>
                  </a:rPr>
                  <a:t>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típusú objektumot hoz létre, és visszaadja a címét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helyfoglalás a memóriában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p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mutató 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a 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CMMI12"/>
                  </a:rPr>
                  <a:t>p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:= </a:t>
                </a:r>
                <a:r>
                  <a:rPr lang="hu-HU" sz="1600" dirty="0" err="1">
                    <a:effectLst/>
                    <a:ea typeface="Calibri" panose="020F0502020204030204" pitchFamily="34" charset="0"/>
                    <a:cs typeface="F48"/>
                  </a:rPr>
                  <a:t>new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EUSM10"/>
                  </a:rPr>
                  <a:t>T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utasítás végrehajtása előtt is létezik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400" dirty="0">
                    <a:effectLst/>
                    <a:ea typeface="Calibri" panose="020F0502020204030204" pitchFamily="34" charset="0"/>
                    <a:cs typeface="F29"/>
                  </a:rPr>
                  <a:t>a mutató deklarációjának kiértékelése hozza létre</a:t>
                </a:r>
                <a:endParaRPr lang="hu-H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hu-HU" sz="1800" dirty="0">
                  <a:ea typeface="Calibri" panose="020F0502020204030204" pitchFamily="34" charset="0"/>
                  <a:cs typeface="F29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Az absztrakt programokban: 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F29"/>
                  </a:rPr>
                  <a:t>new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 / 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F29"/>
                  </a:rPr>
                  <a:t>delete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 utasítások műveletigénye: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Konstans értékeknek ( </a:t>
                </a:r>
                <a:r>
                  <a:rPr lang="en-US" sz="16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MR12"/>
                  </a:rPr>
                  <a:t>(1)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-</a:t>
                </a:r>
                <a:r>
                  <a:rPr lang="hu-HU" sz="1600" dirty="0" err="1">
                    <a:effectLst/>
                    <a:ea typeface="Calibri" panose="020F0502020204030204" pitchFamily="34" charset="0"/>
                    <a:cs typeface="F29"/>
                  </a:rPr>
                  <a:t>nek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) vesszük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Valójában nem tudjuk, mennyi. 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A lehető legkevesebbet használjuk a </a:t>
                </a:r>
                <a:r>
                  <a:rPr lang="hu-HU" sz="1600" dirty="0" err="1">
                    <a:effectLst/>
                    <a:ea typeface="Calibri" panose="020F0502020204030204" pitchFamily="34" charset="0"/>
                    <a:cs typeface="F48"/>
                  </a:rPr>
                  <a:t>new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és a </a:t>
                </a:r>
                <a:r>
                  <a:rPr lang="hu-HU" sz="1600" dirty="0" err="1">
                    <a:effectLst/>
                    <a:ea typeface="Calibri" panose="020F0502020204030204" pitchFamily="34" charset="0"/>
                    <a:cs typeface="F48"/>
                  </a:rPr>
                  <a:t>delete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utasításokat. 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273607F0-0E69-E693-B37D-ECBA6DEA2E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328056"/>
                <a:ext cx="10018713" cy="4960777"/>
              </a:xfrm>
              <a:blipFill>
                <a:blip r:embed="rId2"/>
                <a:stretch>
                  <a:fillRect l="-1156" t="-294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artalom helye 2">
            <a:extLst>
              <a:ext uri="{FF2B5EF4-FFF2-40B4-BE49-F238E27FC236}">
                <a16:creationId xmlns:a16="http://schemas.microsoft.com/office/drawing/2014/main" id="{2BA7188F-37E6-E341-DFF7-AD1C35B9D764}"/>
              </a:ext>
            </a:extLst>
          </p:cNvPr>
          <p:cNvSpPr txBox="1">
            <a:spLocks/>
          </p:cNvSpPr>
          <p:nvPr/>
        </p:nvSpPr>
        <p:spPr>
          <a:xfrm>
            <a:off x="6493666" y="1328056"/>
            <a:ext cx="5098259" cy="49732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>
                <a:ea typeface="Calibri" panose="020F0502020204030204" pitchFamily="34" charset="0"/>
                <a:cs typeface="F29"/>
              </a:rPr>
              <a:t>objektumok dinamikus törlése: </a:t>
            </a:r>
            <a:r>
              <a:rPr lang="hu-HU" sz="2000" err="1">
                <a:ea typeface="Calibri" panose="020F0502020204030204" pitchFamily="34" charset="0"/>
                <a:cs typeface="F48"/>
              </a:rPr>
              <a:t>delete</a:t>
            </a:r>
            <a:r>
              <a:rPr lang="hu-HU" sz="2000">
                <a:ea typeface="Calibri" panose="020F0502020204030204" pitchFamily="34" charset="0"/>
                <a:cs typeface="F48"/>
              </a:rPr>
              <a:t> </a:t>
            </a:r>
            <a:r>
              <a:rPr lang="hu-HU" sz="2000" i="1">
                <a:ea typeface="Calibri" panose="020F0502020204030204" pitchFamily="34" charset="0"/>
                <a:cs typeface="CMMI12"/>
              </a:rPr>
              <a:t>p</a:t>
            </a:r>
            <a:endParaRPr lang="hu-HU" sz="20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i="1">
                <a:ea typeface="Calibri" panose="020F0502020204030204" pitchFamily="34" charset="0"/>
                <a:cs typeface="CMMI12"/>
              </a:rPr>
              <a:t>p</a:t>
            </a:r>
            <a:r>
              <a:rPr lang="hu-HU" sz="1600">
                <a:ea typeface="Calibri" panose="020F0502020204030204" pitchFamily="34" charset="0"/>
                <a:cs typeface="CMMI12"/>
              </a:rPr>
              <a:t> </a:t>
            </a:r>
            <a:r>
              <a:rPr lang="hu-HU" sz="1600">
                <a:ea typeface="CMMI12"/>
                <a:cs typeface="F29"/>
              </a:rPr>
              <a:t>mutató által hivatkozott objektumot törli</a:t>
            </a:r>
            <a:endParaRPr lang="hu-HU" sz="16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>
                <a:ea typeface="CMMI12"/>
                <a:cs typeface="F29"/>
              </a:rPr>
              <a:t>memória felszabadítása</a:t>
            </a:r>
            <a:endParaRPr lang="hu-HU" sz="16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hu-HU" sz="1600">
              <a:ea typeface="Calibri" panose="020F0502020204030204" pitchFamily="34" charset="0"/>
              <a:cs typeface="F48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600" err="1">
                <a:ea typeface="Calibri" panose="020F0502020204030204" pitchFamily="34" charset="0"/>
                <a:cs typeface="F48"/>
              </a:rPr>
              <a:t>delete</a:t>
            </a:r>
            <a:r>
              <a:rPr lang="hu-HU" sz="1600">
                <a:ea typeface="Calibri" panose="020F0502020204030204" pitchFamily="34" charset="0"/>
                <a:cs typeface="F48"/>
              </a:rPr>
              <a:t> </a:t>
            </a:r>
            <a:r>
              <a:rPr lang="hu-HU" sz="1600" i="1">
                <a:ea typeface="Calibri" panose="020F0502020204030204" pitchFamily="34" charset="0"/>
                <a:cs typeface="CMMI12"/>
              </a:rPr>
              <a:t>p</a:t>
            </a:r>
            <a:r>
              <a:rPr lang="hu-HU" sz="1600">
                <a:ea typeface="Calibri" panose="020F0502020204030204" pitchFamily="34" charset="0"/>
                <a:cs typeface="CMMI12"/>
              </a:rPr>
              <a:t> </a:t>
            </a:r>
            <a:r>
              <a:rPr lang="hu-HU" sz="1600">
                <a:ea typeface="Calibri" panose="020F0502020204030204" pitchFamily="34" charset="0"/>
                <a:cs typeface="F29"/>
              </a:rPr>
              <a:t>végrehajtása után is létezik</a:t>
            </a:r>
            <a:endParaRPr lang="hu-HU" sz="16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400">
                <a:ea typeface="Calibri" panose="020F0502020204030204" pitchFamily="34" charset="0"/>
                <a:cs typeface="F29"/>
              </a:rPr>
              <a:t>egészen az őt (automatikusan) deklaráló eljárás vagy függvény végrehajtásának befejezéséig</a:t>
            </a:r>
            <a:endParaRPr lang="hu-HU" sz="14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327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ADF31CA0-8F67-937D-F83E-55E992582231}"/>
              </a:ext>
            </a:extLst>
          </p:cNvPr>
          <p:cNvSpPr/>
          <p:nvPr/>
        </p:nvSpPr>
        <p:spPr>
          <a:xfrm>
            <a:off x="8487783" y="1656677"/>
            <a:ext cx="3281083" cy="2307961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29D4300-CBD5-54AA-7CC6-9AA02B2DE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078" y="2771"/>
            <a:ext cx="8956474" cy="1504335"/>
          </a:xfrm>
        </p:spPr>
        <p:txBody>
          <a:bodyPr>
            <a:normAutofit/>
          </a:bodyPr>
          <a:lstStyle/>
          <a:p>
            <a:r>
              <a:rPr lang="hu-HU" dirty="0"/>
              <a:t>Sor megvalósítása végelemes listával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CFDF426-1607-D876-D5A0-48C4C155B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0000"/>
            <a:ext cx="10199690" cy="522223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hu-HU" sz="2000" kern="0" dirty="0">
                <a:effectLst/>
                <a:ea typeface="Aptos" panose="020B0004020202020204" pitchFamily="34" charset="0"/>
                <a:cs typeface="F78"/>
              </a:rPr>
              <a:t>Va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lósítsuk meg a </a:t>
            </a:r>
            <a:r>
              <a:rPr lang="hu-HU" kern="0" dirty="0" err="1">
                <a:effectLst/>
                <a:ea typeface="Aptos" panose="020B0004020202020204" pitchFamily="34" charset="0"/>
                <a:cs typeface="F78"/>
              </a:rPr>
              <a:t>Queue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 osztályt egyirányú, végelemes listával! 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A listára két külső pointer mutat</a:t>
            </a:r>
          </a:p>
          <a:p>
            <a:pPr lvl="1">
              <a:lnSpc>
                <a:spcPct val="90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 </a:t>
            </a:r>
            <a:r>
              <a:rPr lang="hu-HU" i="1" kern="0" dirty="0" err="1">
                <a:effectLst/>
                <a:ea typeface="Aptos" panose="020B0004020202020204" pitchFamily="34" charset="0"/>
                <a:cs typeface="CMMI12"/>
              </a:rPr>
              <a:t>first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: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 az első elemre </a:t>
            </a:r>
          </a:p>
          <a:p>
            <a:pPr lvl="1">
              <a:lnSpc>
                <a:spcPct val="90000"/>
              </a:lnSpc>
              <a:spcAft>
                <a:spcPts val="800"/>
              </a:spcAft>
            </a:pPr>
            <a:r>
              <a:rPr lang="hu-HU" i="1" kern="0" dirty="0" err="1">
                <a:ea typeface="Aptos" panose="020B0004020202020204" pitchFamily="34" charset="0"/>
                <a:cs typeface="CMMI12"/>
              </a:rPr>
              <a:t>t</a:t>
            </a:r>
            <a:r>
              <a:rPr lang="hu-HU" i="1" kern="0" dirty="0" err="1">
                <a:effectLst/>
                <a:ea typeface="Aptos" panose="020B0004020202020204" pitchFamily="34" charset="0"/>
                <a:cs typeface="CMMI12"/>
              </a:rPr>
              <a:t>railer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: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 a (nemdefiniált kulcsú) végelemére</a:t>
            </a:r>
            <a:r>
              <a:rPr lang="hu-HU" sz="1800" kern="0" dirty="0">
                <a:effectLst/>
                <a:ea typeface="Aptos" panose="020B0004020202020204" pitchFamily="34" charset="0"/>
                <a:cs typeface="F78"/>
              </a:rPr>
              <a:t> 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A sor műveleteinek műveletigénye </a:t>
            </a:r>
            <a:r>
              <a:rPr lang="hu-HU" sz="1200" kern="0" dirty="0">
                <a:effectLst/>
                <a:ea typeface="Aptos" panose="020B0004020202020204" pitchFamily="34" charset="0"/>
                <a:cs typeface="F78"/>
              </a:rPr>
              <a:t> </a:t>
            </a:r>
            <a:endParaRPr lang="hu-HU" sz="1200" kern="0" dirty="0">
              <a:ea typeface="Aptos" panose="020B0004020202020204" pitchFamily="34" charset="0"/>
              <a:cs typeface="F78"/>
            </a:endParaRPr>
          </a:p>
          <a:p>
            <a:pPr lvl="1">
              <a:lnSpc>
                <a:spcPct val="90000"/>
              </a:lnSpc>
              <a:spcAft>
                <a:spcPts val="800"/>
              </a:spcAft>
            </a:pPr>
            <a:r>
              <a:rPr lang="hu-HU" kern="0" dirty="0" err="1">
                <a:effectLst/>
                <a:ea typeface="Aptos" panose="020B0004020202020204" pitchFamily="34" charset="0"/>
                <a:cs typeface="F78"/>
              </a:rPr>
              <a:t>setEmpty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() és a </a:t>
            </a:r>
            <a:r>
              <a:rPr lang="hu-HU" kern="0" dirty="0" err="1">
                <a:effectLst/>
                <a:ea typeface="Aptos" panose="020B0004020202020204" pitchFamily="34" charset="0"/>
                <a:cs typeface="F78"/>
              </a:rPr>
              <a:t>destruktor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 :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Θ(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n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)</a:t>
            </a:r>
          </a:p>
          <a:p>
            <a:pPr lvl="1">
              <a:lnSpc>
                <a:spcPct val="90000"/>
              </a:lnSpc>
              <a:spcAft>
                <a:spcPts val="800"/>
              </a:spcAft>
            </a:pPr>
            <a:r>
              <a:rPr lang="hu-HU" kern="0" dirty="0">
                <a:ea typeface="Aptos" panose="020B0004020202020204" pitchFamily="34" charset="0"/>
                <a:cs typeface="CMR12"/>
              </a:rPr>
              <a:t>többi: 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Θ(1) </a:t>
            </a:r>
            <a:endParaRPr lang="hu-HU" kern="0" dirty="0">
              <a:ea typeface="Aptos" panose="020B0004020202020204" pitchFamily="34" charset="0"/>
              <a:cs typeface="CMR12"/>
            </a:endParaRPr>
          </a:p>
          <a:p>
            <a:pPr lvl="2">
              <a:lnSpc>
                <a:spcPct val="90000"/>
              </a:lnSpc>
              <a:spcAft>
                <a:spcPts val="800"/>
              </a:spcAft>
            </a:pP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n</a:t>
            </a:r>
            <a:r>
              <a:rPr lang="hu-HU" kern="0" dirty="0">
                <a:effectLst/>
                <a:ea typeface="Aptos" panose="020B0004020202020204" pitchFamily="34" charset="0"/>
                <a:cs typeface="CMMI12"/>
              </a:rPr>
              <a:t> 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a kiürítendő sor hossza </a:t>
            </a:r>
          </a:p>
          <a:p>
            <a:pPr lvl="2">
              <a:lnSpc>
                <a:spcPct val="90000"/>
              </a:lnSpc>
              <a:spcAft>
                <a:spcPts val="800"/>
              </a:spcAft>
            </a:pPr>
            <a:r>
              <a:rPr lang="hu-HU" i="1" kern="0" dirty="0" err="1">
                <a:effectLst/>
                <a:ea typeface="Aptos" panose="020B0004020202020204" pitchFamily="34" charset="0"/>
                <a:cs typeface="F48"/>
              </a:rPr>
              <a:t>new</a:t>
            </a:r>
            <a:r>
              <a:rPr lang="hu-HU" kern="0" dirty="0">
                <a:effectLst/>
                <a:ea typeface="Aptos" panose="020B0004020202020204" pitchFamily="34" charset="0"/>
                <a:cs typeface="F48"/>
              </a:rPr>
              <a:t> 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és a </a:t>
            </a:r>
            <a:r>
              <a:rPr lang="hu-HU" i="1" kern="0" dirty="0" err="1">
                <a:effectLst/>
                <a:ea typeface="Aptos" panose="020B0004020202020204" pitchFamily="34" charset="0"/>
                <a:cs typeface="F48"/>
              </a:rPr>
              <a:t>delete</a:t>
            </a:r>
            <a:r>
              <a:rPr lang="hu-HU" kern="0" dirty="0">
                <a:effectLst/>
                <a:ea typeface="Aptos" panose="020B0004020202020204" pitchFamily="34" charset="0"/>
                <a:cs typeface="F48"/>
              </a:rPr>
              <a:t> 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utasítások: 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Θ(1)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hu-HU" kern="0" dirty="0" err="1">
                <a:ea typeface="Aptos" panose="020B0004020202020204" pitchFamily="34" charset="0"/>
                <a:cs typeface="F78"/>
              </a:rPr>
              <a:t>Tfh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. a </a:t>
            </a:r>
            <a:r>
              <a:rPr lang="hu-HU" kern="0" dirty="0" err="1">
                <a:effectLst/>
                <a:ea typeface="Aptos" panose="020B0004020202020204" pitchFamily="34" charset="0"/>
                <a:cs typeface="F48"/>
              </a:rPr>
              <a:t>new</a:t>
            </a:r>
            <a:r>
              <a:rPr lang="hu-HU" kern="0" dirty="0">
                <a:effectLst/>
                <a:ea typeface="Aptos" panose="020B0004020202020204" pitchFamily="34" charset="0"/>
                <a:cs typeface="F48"/>
              </a:rPr>
              <a:t> 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utasításokhoz</a:t>
            </a:r>
          </a:p>
          <a:p>
            <a:pPr lvl="1">
              <a:lnSpc>
                <a:spcPct val="90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elegendő a memória</a:t>
            </a:r>
          </a:p>
        </p:txBody>
      </p:sp>
      <p:pic>
        <p:nvPicPr>
          <p:cNvPr id="5" name="Kép 4" descr="A képen szöveg, képernyőkép, Betűtípus, szám látható&#10;&#10;Automatikusan generált leírás">
            <a:extLst>
              <a:ext uri="{FF2B5EF4-FFF2-40B4-BE49-F238E27FC236}">
                <a16:creationId xmlns:a16="http://schemas.microsoft.com/office/drawing/2014/main" id="{4C68DE2B-8138-0CC7-F599-225FF0648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581" y="4068778"/>
            <a:ext cx="6240990" cy="252760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EF67868-93C4-B414-BE0C-7F02E08AE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088" y="2044573"/>
            <a:ext cx="2345171" cy="184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09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D24963-78C2-67D7-33A7-B8D92505F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689" y="420486"/>
            <a:ext cx="10018713" cy="1063494"/>
          </a:xfrm>
        </p:spPr>
        <p:txBody>
          <a:bodyPr/>
          <a:lstStyle/>
          <a:p>
            <a:r>
              <a:rPr lang="hu-HU" dirty="0" err="1"/>
              <a:t>Queue</a:t>
            </a:r>
            <a:r>
              <a:rPr lang="hu-HU" dirty="0"/>
              <a:t> műveletek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F10836-5FBB-0468-E356-55A811F71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C5DBD34-4CA7-9491-5137-A646AB0FD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1428536"/>
            <a:ext cx="4434096" cy="178202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2F3B4B8-F117-AD90-7C50-7B95E37E0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756" y="3497381"/>
            <a:ext cx="4366243" cy="294013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E2DEF01-B70A-2723-B3BD-617A3D500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665" y="1538464"/>
            <a:ext cx="4734839" cy="138761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F8939026-A624-0F2A-5BB6-52343DA7E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1" y="3429000"/>
            <a:ext cx="3250360" cy="246143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553315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ettős hullám 5">
            <a:extLst>
              <a:ext uri="{FF2B5EF4-FFF2-40B4-BE49-F238E27FC236}">
                <a16:creationId xmlns:a16="http://schemas.microsoft.com/office/drawing/2014/main" id="{2A94B2A6-FA2E-8026-FB29-35F9F58D5B2E}"/>
              </a:ext>
            </a:extLst>
          </p:cNvPr>
          <p:cNvSpPr/>
          <p:nvPr/>
        </p:nvSpPr>
        <p:spPr>
          <a:xfrm>
            <a:off x="9043717" y="5353941"/>
            <a:ext cx="1897177" cy="1409251"/>
          </a:xfrm>
          <a:prstGeom prst="doubleWav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FCD446-8407-BCCC-C0E4-CBBA63DBE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26163"/>
            <a:ext cx="10018713" cy="4744561"/>
          </a:xfrm>
        </p:spPr>
        <p:txBody>
          <a:bodyPr>
            <a:normAutofit/>
          </a:bodyPr>
          <a:lstStyle/>
          <a:p>
            <a:pPr algn="l"/>
            <a:r>
              <a:rPr lang="hu-HU" sz="2200" b="0" i="0" u="none" strike="noStrike" baseline="0" dirty="0"/>
              <a:t>Egyszerű </a:t>
            </a:r>
            <a:r>
              <a:rPr lang="hu-HU" sz="2200" b="0" i="0" u="none" strike="noStrike" baseline="0" dirty="0" err="1"/>
              <a:t>kétirányú</a:t>
            </a:r>
            <a:r>
              <a:rPr lang="hu-HU" sz="2200" b="0" i="0" u="none" strike="noStrike" baseline="0" dirty="0"/>
              <a:t> listák (S2L = </a:t>
            </a:r>
            <a:r>
              <a:rPr lang="hu-HU" sz="2200" b="0" i="0" u="none" strike="noStrike" baseline="0" dirty="0" err="1"/>
              <a:t>Simple</a:t>
            </a:r>
            <a:r>
              <a:rPr lang="hu-HU" sz="2200" b="0" i="0" u="none" strike="noStrike" baseline="0" dirty="0"/>
              <a:t> </a:t>
            </a:r>
            <a:r>
              <a:rPr lang="hu-HU" sz="2200" b="0" i="0" u="none" strike="noStrike" baseline="0" dirty="0" err="1"/>
              <a:t>Two-way</a:t>
            </a:r>
            <a:r>
              <a:rPr lang="hu-HU" sz="2200" b="0" i="0" u="none" strike="noStrike" baseline="0" dirty="0"/>
              <a:t> List) </a:t>
            </a:r>
          </a:p>
          <a:p>
            <a:pPr lvl="1"/>
            <a:r>
              <a:rPr lang="hu-HU" sz="1800" b="0" i="0" u="none" strike="noStrike" baseline="0" dirty="0"/>
              <a:t>a lista módosításakor különbözőképpen kell kezelni:</a:t>
            </a:r>
          </a:p>
          <a:p>
            <a:pPr lvl="2"/>
            <a:r>
              <a:rPr lang="hu-HU" sz="1600" b="0" i="0" u="none" strike="noStrike" baseline="0" dirty="0"/>
              <a:t>a lista els</a:t>
            </a:r>
            <a:r>
              <a:rPr lang="hu-HU" sz="1600" dirty="0"/>
              <a:t>ő</a:t>
            </a:r>
            <a:r>
              <a:rPr lang="hu-HU" sz="1600" b="0" i="0" u="none" strike="noStrike" baseline="0" dirty="0"/>
              <a:t> / utolsó / közbüls</a:t>
            </a:r>
            <a:r>
              <a:rPr lang="hu-HU" sz="1600" dirty="0"/>
              <a:t>ő</a:t>
            </a:r>
            <a:r>
              <a:rPr lang="hu-HU" sz="1600" b="0" i="0" u="none" strike="noStrike" baseline="0" dirty="0"/>
              <a:t> elemeit</a:t>
            </a:r>
            <a:endParaRPr lang="hu-HU" sz="1600" dirty="0"/>
          </a:p>
          <a:p>
            <a:pPr lvl="1"/>
            <a:r>
              <a:rPr lang="hu-HU" sz="1800" dirty="0"/>
              <a:t>Hasító táblánál használjuk</a:t>
            </a:r>
          </a:p>
          <a:p>
            <a:pPr lvl="1"/>
            <a:endParaRPr lang="hu-HU" sz="1800" dirty="0"/>
          </a:p>
          <a:p>
            <a:pPr algn="l"/>
            <a:endParaRPr lang="hu-HU" sz="2200" dirty="0"/>
          </a:p>
          <a:p>
            <a:pPr algn="l"/>
            <a:endParaRPr lang="hu-HU" sz="2200" dirty="0"/>
          </a:p>
          <a:p>
            <a:pPr algn="l"/>
            <a:r>
              <a:rPr lang="hu-HU" sz="2200" b="0" i="0" u="none" strike="noStrike" baseline="0" dirty="0"/>
              <a:t>F</a:t>
            </a:r>
            <a:r>
              <a:rPr lang="en-US" sz="2200" b="0" i="0" u="none" strike="noStrike" baseline="0" dirty="0" err="1"/>
              <a:t>ejelemes</a:t>
            </a:r>
            <a:r>
              <a:rPr lang="en-US" sz="2200" b="0" i="0" u="none" strike="noStrike" baseline="0" dirty="0"/>
              <a:t> </a:t>
            </a:r>
            <a:r>
              <a:rPr lang="en-US" sz="2200" b="0" i="0" u="none" strike="noStrike" baseline="0" dirty="0" err="1"/>
              <a:t>ciklikus</a:t>
            </a:r>
            <a:r>
              <a:rPr lang="en-US" sz="2200" b="0" i="0" u="none" strike="noStrike" baseline="0" dirty="0"/>
              <a:t> </a:t>
            </a:r>
            <a:r>
              <a:rPr lang="en-US" sz="2200" b="0" i="0" u="none" strike="noStrike" baseline="0" dirty="0" err="1"/>
              <a:t>kétirányú</a:t>
            </a:r>
            <a:r>
              <a:rPr lang="en-US" sz="2200" b="0" i="0" u="none" strike="noStrike" baseline="0" dirty="0"/>
              <a:t> </a:t>
            </a:r>
            <a:r>
              <a:rPr lang="en-US" sz="2200" b="0" i="0" u="none" strike="noStrike" baseline="0" dirty="0" err="1"/>
              <a:t>listák</a:t>
            </a:r>
            <a:r>
              <a:rPr lang="en-US" sz="2200" b="0" i="0" u="none" strike="noStrike" baseline="0" dirty="0"/>
              <a:t> (C2L = Cyclic </a:t>
            </a:r>
            <a:r>
              <a:rPr lang="hu-HU" sz="2200" b="0" i="0" u="none" strike="noStrike" baseline="0" dirty="0" err="1"/>
              <a:t>Two</a:t>
            </a:r>
            <a:r>
              <a:rPr lang="en-US" sz="2200" b="0" i="0" u="none" strike="noStrike" baseline="0" dirty="0"/>
              <a:t>-way List with header)</a:t>
            </a:r>
            <a:endParaRPr lang="hu-HU" sz="2200" b="0" i="0" u="none" strike="noStrike" baseline="0" dirty="0"/>
          </a:p>
          <a:p>
            <a:pPr lvl="1"/>
            <a:r>
              <a:rPr lang="hu-HU" sz="1800" dirty="0"/>
              <a:t>Gyakoribb</a:t>
            </a:r>
          </a:p>
          <a:p>
            <a:pPr lvl="1"/>
            <a:r>
              <a:rPr lang="hu-HU" sz="1800" b="0" i="0" u="none" strike="noStrike" baseline="0" dirty="0"/>
              <a:t>listamódosító műveletek: </a:t>
            </a:r>
          </a:p>
          <a:p>
            <a:pPr lvl="2"/>
            <a:r>
              <a:rPr lang="hu-HU" sz="1600" b="0" i="0" u="none" strike="noStrike" baseline="0" dirty="0"/>
              <a:t>egyszerűbbek és hatékonyabbak</a:t>
            </a:r>
            <a:endParaRPr lang="hu-HU" sz="2000" dirty="0"/>
          </a:p>
        </p:txBody>
      </p:sp>
      <p:sp>
        <p:nvSpPr>
          <p:cNvPr id="5" name="Kettős hullám 4">
            <a:extLst>
              <a:ext uri="{FF2B5EF4-FFF2-40B4-BE49-F238E27FC236}">
                <a16:creationId xmlns:a16="http://schemas.microsoft.com/office/drawing/2014/main" id="{01043323-9A09-8079-C70F-DBE27D703F82}"/>
              </a:ext>
            </a:extLst>
          </p:cNvPr>
          <p:cNvSpPr/>
          <p:nvPr/>
        </p:nvSpPr>
        <p:spPr>
          <a:xfrm>
            <a:off x="2388198" y="3387313"/>
            <a:ext cx="6917167" cy="1409251"/>
          </a:xfrm>
          <a:prstGeom prst="doubleWav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BCE2ADE-CD4E-B66A-0445-8419A350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561" y="190500"/>
            <a:ext cx="10018713" cy="1752599"/>
          </a:xfrm>
        </p:spPr>
        <p:txBody>
          <a:bodyPr/>
          <a:lstStyle/>
          <a:p>
            <a:r>
              <a:rPr lang="hu-HU" dirty="0"/>
              <a:t>Kétirányú</a:t>
            </a:r>
            <a:r>
              <a:rPr lang="en-US" dirty="0"/>
              <a:t> l</a:t>
            </a:r>
            <a:r>
              <a:rPr lang="hu-HU" dirty="0" err="1"/>
              <a:t>isták</a:t>
            </a:r>
            <a:r>
              <a:rPr lang="en-US" dirty="0"/>
              <a:t> </a:t>
            </a:r>
            <a:br>
              <a:rPr lang="hu-HU" dirty="0"/>
            </a:br>
            <a:r>
              <a:rPr lang="en-US" dirty="0"/>
              <a:t>(</a:t>
            </a:r>
            <a:r>
              <a:rPr lang="hu-HU" dirty="0"/>
              <a:t>t</a:t>
            </a:r>
            <a:r>
              <a:rPr lang="en-US" dirty="0"/>
              <a:t>wo-way or doubly linked lists)</a:t>
            </a:r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DF297F7B-0A27-D896-F838-0A27048F6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53" y="3589415"/>
            <a:ext cx="6258259" cy="1000758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B6DCAF0-769C-931E-402B-C51E73BA6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9165" y="5582992"/>
            <a:ext cx="1430766" cy="94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69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D2D4F0-CED4-2B18-E52B-A4E1AEDB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80527"/>
            <a:ext cx="10336388" cy="1021702"/>
          </a:xfrm>
        </p:spPr>
        <p:txBody>
          <a:bodyPr>
            <a:normAutofit fontScale="90000"/>
          </a:bodyPr>
          <a:lstStyle/>
          <a:p>
            <a:r>
              <a:rPr lang="hu-HU" dirty="0">
                <a:latin typeface="F78"/>
              </a:rPr>
              <a:t>C</a:t>
            </a:r>
            <a:r>
              <a:rPr lang="en-US" sz="4000" b="0" i="0" u="none" strike="noStrike" baseline="0" dirty="0" err="1">
                <a:latin typeface="F78"/>
              </a:rPr>
              <a:t>iklikus</a:t>
            </a:r>
            <a:r>
              <a:rPr lang="en-US" sz="4000" b="0" i="0" u="none" strike="noStrike" baseline="0" dirty="0">
                <a:latin typeface="F78"/>
              </a:rPr>
              <a:t> </a:t>
            </a:r>
            <a:r>
              <a:rPr lang="en-US" sz="4000" b="0" i="0" u="none" strike="noStrike" baseline="0" dirty="0" err="1">
                <a:latin typeface="F78"/>
              </a:rPr>
              <a:t>kétirányú</a:t>
            </a:r>
            <a:r>
              <a:rPr lang="en-US" sz="4000" b="0" i="0" u="none" strike="noStrike" baseline="0" dirty="0">
                <a:latin typeface="F78"/>
              </a:rPr>
              <a:t> </a:t>
            </a:r>
            <a:r>
              <a:rPr lang="en-US" sz="4000" b="0" i="0" u="none" strike="noStrike" baseline="0" dirty="0" err="1">
                <a:latin typeface="F78"/>
              </a:rPr>
              <a:t>listák</a:t>
            </a:r>
            <a:r>
              <a:rPr lang="hu-HU" sz="4000" b="0" i="0" u="none" strike="noStrike" baseline="0" dirty="0">
                <a:latin typeface="F78"/>
              </a:rPr>
              <a:t> </a:t>
            </a:r>
            <a:r>
              <a:rPr lang="hu-HU" dirty="0"/>
              <a:t>(C2L) (</a:t>
            </a:r>
            <a:r>
              <a:rPr lang="hu-HU" dirty="0" err="1"/>
              <a:t>Cyclic</a:t>
            </a:r>
            <a:r>
              <a:rPr lang="hu-HU" dirty="0"/>
              <a:t> </a:t>
            </a:r>
            <a:r>
              <a:rPr lang="hu-HU" dirty="0" err="1"/>
              <a:t>Two-way</a:t>
            </a:r>
            <a:r>
              <a:rPr lang="hu-HU" dirty="0"/>
              <a:t> List)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D09602-1291-49D6-BD71-EADF18F92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5382" y="1266826"/>
            <a:ext cx="6805168" cy="5283264"/>
          </a:xfrm>
        </p:spPr>
        <p:txBody>
          <a:bodyPr>
            <a:noAutofit/>
          </a:bodyPr>
          <a:lstStyle/>
          <a:p>
            <a:r>
              <a:rPr lang="hu-HU" sz="2800" dirty="0"/>
              <a:t>Fejelemes </a:t>
            </a:r>
            <a:r>
              <a:rPr lang="hu-HU" sz="2800" dirty="0" err="1"/>
              <a:t>vs</a:t>
            </a:r>
            <a:r>
              <a:rPr lang="hu-HU" sz="2800" dirty="0"/>
              <a:t>. fejelem nélküli C2L</a:t>
            </a:r>
          </a:p>
          <a:p>
            <a:pPr lvl="1"/>
            <a:r>
              <a:rPr lang="hu-HU" sz="2400" dirty="0">
                <a:latin typeface="F29"/>
              </a:rPr>
              <a:t>Megegyeznek:</a:t>
            </a:r>
            <a:r>
              <a:rPr lang="hu-HU" sz="2400" b="0" i="0" u="none" strike="noStrike" baseline="0" dirty="0">
                <a:latin typeface="F29"/>
              </a:rPr>
              <a:t> </a:t>
            </a:r>
          </a:p>
          <a:p>
            <a:pPr lvl="2"/>
            <a:r>
              <a:rPr lang="hu-HU" sz="2400" b="0" i="0" u="none" strike="noStrike" baseline="0" dirty="0">
                <a:latin typeface="F29"/>
              </a:rPr>
              <a:t>a listák elemeinek osztálya (E2)</a:t>
            </a:r>
          </a:p>
          <a:p>
            <a:pPr lvl="2"/>
            <a:r>
              <a:rPr lang="hu-HU" sz="2400" dirty="0">
                <a:latin typeface="F29"/>
              </a:rPr>
              <a:t>alap</a:t>
            </a:r>
            <a:r>
              <a:rPr lang="hu-HU" sz="2400" b="0" i="0" u="none" strike="noStrike" baseline="0" dirty="0">
                <a:latin typeface="F29"/>
              </a:rPr>
              <a:t>vet</a:t>
            </a:r>
            <a:r>
              <a:rPr lang="hu-HU" sz="2400" dirty="0">
                <a:latin typeface="F29"/>
              </a:rPr>
              <a:t>ő</a:t>
            </a:r>
            <a:r>
              <a:rPr lang="hu-HU" sz="2400" b="0" i="0" u="none" strike="noStrike" baseline="0" dirty="0">
                <a:latin typeface="F29"/>
              </a:rPr>
              <a:t> listakezel</a:t>
            </a:r>
            <a:r>
              <a:rPr lang="hu-HU" sz="2400" dirty="0">
                <a:latin typeface="F29"/>
              </a:rPr>
              <a:t>ő</a:t>
            </a:r>
            <a:r>
              <a:rPr lang="hu-HU" sz="2400" b="0" i="0" u="none" strike="noStrike" baseline="0" dirty="0">
                <a:latin typeface="F29"/>
              </a:rPr>
              <a:t> műveleteik (</a:t>
            </a:r>
            <a:r>
              <a:rPr lang="hu-HU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Θ</a:t>
            </a:r>
            <a:r>
              <a:rPr lang="hu-HU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(1))</a:t>
            </a:r>
          </a:p>
          <a:p>
            <a:pPr lvl="1"/>
            <a:r>
              <a:rPr lang="hu-HU" sz="2400" b="0" i="0" u="none" strike="noStrike" baseline="0" dirty="0">
                <a:latin typeface="F29"/>
              </a:rPr>
              <a:t>Fejelem használatának előnye:</a:t>
            </a:r>
          </a:p>
          <a:p>
            <a:pPr lvl="2"/>
            <a:r>
              <a:rPr lang="hu-HU" sz="2400" b="0" i="0" u="none" strike="noStrike" baseline="0" dirty="0">
                <a:latin typeface="F29"/>
              </a:rPr>
              <a:t>Nem kell külön kezelni:</a:t>
            </a:r>
          </a:p>
          <a:p>
            <a:pPr lvl="3"/>
            <a:r>
              <a:rPr lang="hu-HU" sz="2400" b="0" i="0" u="none" strike="noStrike" baseline="0" dirty="0">
                <a:latin typeface="F29"/>
              </a:rPr>
              <a:t>az üres listába való beszúrást </a:t>
            </a:r>
          </a:p>
          <a:p>
            <a:pPr lvl="3"/>
            <a:r>
              <a:rPr lang="hu-HU" sz="2400" b="0" i="0" u="none" strike="noStrike" baseline="0" dirty="0">
                <a:latin typeface="F29"/>
              </a:rPr>
              <a:t>az utolsó listaelem törlését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hu-HU" sz="2400" b="0" i="0" u="none" strike="noStrike" baseline="0" dirty="0">
                <a:latin typeface="F29"/>
              </a:rPr>
              <a:t>Listakezelés tovább egyszerűsödik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0BC3A0E-9C46-CF5B-F40D-047DBA3EE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817" y="2896620"/>
            <a:ext cx="4160881" cy="148602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7" name="Tartalom helye 2">
            <a:extLst>
              <a:ext uri="{FF2B5EF4-FFF2-40B4-BE49-F238E27FC236}">
                <a16:creationId xmlns:a16="http://schemas.microsoft.com/office/drawing/2014/main" id="{A1A490E2-F0A9-1672-3A8D-DDB5A45C994D}"/>
              </a:ext>
            </a:extLst>
          </p:cNvPr>
          <p:cNvSpPr txBox="1">
            <a:spLocks/>
          </p:cNvSpPr>
          <p:nvPr/>
        </p:nvSpPr>
        <p:spPr>
          <a:xfrm>
            <a:off x="7650510" y="4118299"/>
            <a:ext cx="3608040" cy="1873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r>
              <a:rPr lang="hu-HU" sz="2800"/>
              <a:t>C2L: Fejelemes</a:t>
            </a:r>
          </a:p>
        </p:txBody>
      </p:sp>
    </p:spTree>
    <p:extLst>
      <p:ext uri="{BB962C8B-B14F-4D97-AF65-F5344CB8AC3E}">
        <p14:creationId xmlns:p14="http://schemas.microsoft.com/office/powerpoint/2010/main" val="3179000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AD1ED125-F747-F504-8C0E-FCC3FE342A13}"/>
              </a:ext>
            </a:extLst>
          </p:cNvPr>
          <p:cNvSpPr/>
          <p:nvPr/>
        </p:nvSpPr>
        <p:spPr>
          <a:xfrm>
            <a:off x="6096000" y="2578332"/>
            <a:ext cx="6000612" cy="1869177"/>
          </a:xfrm>
          <a:prstGeom prst="roundRect">
            <a:avLst>
              <a:gd name="adj" fmla="val 2472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595CAB2F-62BF-C38F-2F6D-11941F2735AC}"/>
              </a:ext>
            </a:extLst>
          </p:cNvPr>
          <p:cNvSpPr/>
          <p:nvPr/>
        </p:nvSpPr>
        <p:spPr>
          <a:xfrm>
            <a:off x="2269864" y="5495286"/>
            <a:ext cx="4303058" cy="1233718"/>
          </a:xfrm>
          <a:prstGeom prst="roundRect">
            <a:avLst>
              <a:gd name="adj" fmla="val 2800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Felirat: lefelé mutató nyíllal 4">
            <a:extLst>
              <a:ext uri="{FF2B5EF4-FFF2-40B4-BE49-F238E27FC236}">
                <a16:creationId xmlns:a16="http://schemas.microsoft.com/office/drawing/2014/main" id="{721EA21C-A706-DE85-56BC-4157AB1E19DF}"/>
              </a:ext>
            </a:extLst>
          </p:cNvPr>
          <p:cNvSpPr/>
          <p:nvPr/>
        </p:nvSpPr>
        <p:spPr>
          <a:xfrm>
            <a:off x="1484312" y="1340140"/>
            <a:ext cx="5371435" cy="4155146"/>
          </a:xfrm>
          <a:prstGeom prst="downArrowCallout">
            <a:avLst>
              <a:gd name="adj1" fmla="val 12672"/>
              <a:gd name="adj2" fmla="val 21795"/>
              <a:gd name="adj3" fmla="val 9243"/>
              <a:gd name="adj4" fmla="val 2899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3D2D4F0-CED4-2B18-E52B-A4E1AEDB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929" y="164351"/>
            <a:ext cx="5821558" cy="1021702"/>
          </a:xfrm>
        </p:spPr>
        <p:txBody>
          <a:bodyPr>
            <a:normAutofit/>
          </a:bodyPr>
          <a:lstStyle/>
          <a:p>
            <a:r>
              <a:rPr lang="hu-HU" b="0" i="0" u="none" strike="noStrike" baseline="0" dirty="0">
                <a:latin typeface="F29"/>
              </a:rPr>
              <a:t>Listakezel</a:t>
            </a:r>
            <a:r>
              <a:rPr lang="hu-HU" dirty="0">
                <a:latin typeface="F29"/>
              </a:rPr>
              <a:t>ő</a:t>
            </a:r>
            <a:r>
              <a:rPr lang="hu-HU" b="0" i="0" u="none" strike="noStrike" baseline="0" dirty="0">
                <a:latin typeface="F29"/>
              </a:rPr>
              <a:t> műveletek</a:t>
            </a:r>
            <a:endParaRPr lang="hu-HU" dirty="0"/>
          </a:p>
        </p:txBody>
      </p:sp>
      <p:pic>
        <p:nvPicPr>
          <p:cNvPr id="12" name="Tartalom helye 11">
            <a:extLst>
              <a:ext uri="{FF2B5EF4-FFF2-40B4-BE49-F238E27FC236}">
                <a16:creationId xmlns:a16="http://schemas.microsoft.com/office/drawing/2014/main" id="{CE09445F-BA43-55A5-DE81-9BD9BACD6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6557" y="5590459"/>
            <a:ext cx="3937068" cy="1041004"/>
          </a:xfr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EA47BC42-BF59-CCC2-D69A-BD7112179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962" y="119767"/>
            <a:ext cx="4034097" cy="232877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F84E46A-AB31-2776-500C-E5A906B4C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395" y="4545050"/>
            <a:ext cx="3748834" cy="218395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269E148B-F537-9C4B-28E6-F15579B3C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623" y="2849748"/>
            <a:ext cx="3678508" cy="212480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D11856E2-B077-84F6-351C-30661E35FD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2929" y="1362714"/>
            <a:ext cx="5342818" cy="1085827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02554340-6CBF-1241-6C7D-155F01843C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3625" y="2635724"/>
            <a:ext cx="5394483" cy="1074317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2398FC43-EC92-1E96-58D7-B0C3EFF8C9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3624" y="3839833"/>
            <a:ext cx="5549435" cy="53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28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lyamatábra: Másik feldolgozás 14">
            <a:extLst>
              <a:ext uri="{FF2B5EF4-FFF2-40B4-BE49-F238E27FC236}">
                <a16:creationId xmlns:a16="http://schemas.microsoft.com/office/drawing/2014/main" id="{9CFA4ACA-08E7-5AD7-A517-479021D387DF}"/>
              </a:ext>
            </a:extLst>
          </p:cNvPr>
          <p:cNvSpPr/>
          <p:nvPr/>
        </p:nvSpPr>
        <p:spPr>
          <a:xfrm>
            <a:off x="7422776" y="4823006"/>
            <a:ext cx="4421394" cy="91261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Folyamatábra: Másik feldolgozás 12">
            <a:extLst>
              <a:ext uri="{FF2B5EF4-FFF2-40B4-BE49-F238E27FC236}">
                <a16:creationId xmlns:a16="http://schemas.microsoft.com/office/drawing/2014/main" id="{17E37756-C5D2-5887-8D72-F2BC66F1B063}"/>
              </a:ext>
            </a:extLst>
          </p:cNvPr>
          <p:cNvSpPr/>
          <p:nvPr/>
        </p:nvSpPr>
        <p:spPr>
          <a:xfrm>
            <a:off x="7815466" y="5790462"/>
            <a:ext cx="4028704" cy="97891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Folyamatábra: Másik feldolgozás 10">
            <a:extLst>
              <a:ext uri="{FF2B5EF4-FFF2-40B4-BE49-F238E27FC236}">
                <a16:creationId xmlns:a16="http://schemas.microsoft.com/office/drawing/2014/main" id="{680E8895-FDC8-9FB5-2CB1-5555D30F4A74}"/>
              </a:ext>
            </a:extLst>
          </p:cNvPr>
          <p:cNvSpPr/>
          <p:nvPr/>
        </p:nvSpPr>
        <p:spPr>
          <a:xfrm>
            <a:off x="9815617" y="1197293"/>
            <a:ext cx="2128976" cy="1067538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olyamatábra: Másik feldolgozás 6">
            <a:extLst>
              <a:ext uri="{FF2B5EF4-FFF2-40B4-BE49-F238E27FC236}">
                <a16:creationId xmlns:a16="http://schemas.microsoft.com/office/drawing/2014/main" id="{5F291EB2-DACA-5612-1716-F6BB9371055E}"/>
              </a:ext>
            </a:extLst>
          </p:cNvPr>
          <p:cNvSpPr/>
          <p:nvPr/>
        </p:nvSpPr>
        <p:spPr>
          <a:xfrm>
            <a:off x="4696447" y="1171406"/>
            <a:ext cx="5039223" cy="1067538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8C1F8B1-FDF6-28CB-27B5-4363D275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98702"/>
            <a:ext cx="10018713" cy="909735"/>
          </a:xfrm>
        </p:spPr>
        <p:txBody>
          <a:bodyPr>
            <a:normAutofit/>
          </a:bodyPr>
          <a:lstStyle/>
          <a:p>
            <a:r>
              <a:rPr lang="hu-HU" dirty="0"/>
              <a:t>Példák C2L listákra: </a:t>
            </a:r>
            <a:r>
              <a:rPr lang="hu-HU" dirty="0" err="1"/>
              <a:t>splice</a:t>
            </a:r>
            <a:r>
              <a:rPr lang="hu-HU" dirty="0"/>
              <a:t> listaművelet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6A33A6-1C3C-B7A8-1A3A-6CAE925A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134" y="1047200"/>
            <a:ext cx="5940804" cy="5598159"/>
          </a:xfrm>
        </p:spPr>
        <p:txBody>
          <a:bodyPr>
            <a:normAutofit/>
          </a:bodyPr>
          <a:lstStyle/>
          <a:p>
            <a:pPr algn="just"/>
            <a:r>
              <a:rPr lang="hu-HU" b="0" i="0" u="none" strike="noStrike" baseline="0" dirty="0"/>
              <a:t>Előfeltétel:</a:t>
            </a:r>
          </a:p>
          <a:p>
            <a:pPr lvl="1"/>
            <a:r>
              <a:rPr lang="hu-HU" sz="1800" b="0" i="0" u="none" strike="noStrike" baseline="0" dirty="0"/>
              <a:t>∗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és ∗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 ugyanannak a </a:t>
            </a:r>
            <a:br>
              <a:rPr lang="hu-HU" sz="1800" b="0" i="0" u="none" strike="noStrike" baseline="0" dirty="0"/>
            </a:br>
            <a:r>
              <a:rPr lang="hu-HU" sz="1800" b="0" i="0" u="none" strike="noStrike" baseline="0" dirty="0"/>
              <a:t>C2L-nek az elemei</a:t>
            </a:r>
          </a:p>
          <a:p>
            <a:pPr lvl="1" algn="just"/>
            <a:r>
              <a:rPr lang="hu-HU" sz="1800" b="0" i="0" u="none" strike="noStrike" baseline="0" dirty="0"/>
              <a:t> ∗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után jön valahol ∗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 ( 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= 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 is lehet)</a:t>
            </a:r>
          </a:p>
          <a:p>
            <a:pPr lvl="1" algn="just"/>
            <a:r>
              <a:rPr lang="hu-HU" sz="1800" b="0" i="0" u="none" strike="noStrike" baseline="0" dirty="0"/>
              <a:t>a C2L [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, . . . , 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] </a:t>
            </a:r>
            <a:r>
              <a:rPr lang="pt-BR" sz="1800" b="0" i="0" u="none" strike="noStrike" baseline="0" dirty="0"/>
              <a:t>szakasza nem tartalmaz</a:t>
            </a:r>
            <a:r>
              <a:rPr lang="hu-HU" sz="1800" b="0" i="0" u="none" strike="noStrike" baseline="0" dirty="0"/>
              <a:t>:</a:t>
            </a:r>
          </a:p>
          <a:p>
            <a:pPr lvl="2" algn="just"/>
            <a:r>
              <a:rPr lang="pt-BR" sz="1600" b="0" i="0" u="none" strike="noStrike" baseline="0" dirty="0"/>
              <a:t>sem fejelemet</a:t>
            </a:r>
            <a:endParaRPr lang="hu-HU" sz="1600" b="0" i="0" u="none" strike="noStrike" baseline="0" dirty="0"/>
          </a:p>
          <a:p>
            <a:pPr lvl="2" algn="just"/>
            <a:r>
              <a:rPr lang="pt-BR" sz="1600" b="0" i="0" u="none" strike="noStrike" baseline="0" dirty="0"/>
              <a:t> sem a ∗</a:t>
            </a:r>
            <a:r>
              <a:rPr lang="pt-BR" sz="1600" b="0" i="1" u="none" strike="noStrike" baseline="0" dirty="0"/>
              <a:t>r</a:t>
            </a:r>
            <a:r>
              <a:rPr lang="pt-BR" sz="1600" b="0" i="0" u="none" strike="noStrike" baseline="0" dirty="0"/>
              <a:t> elemet</a:t>
            </a:r>
            <a:endParaRPr lang="hu-HU" sz="1600" b="0" i="0" u="none" strike="noStrike" baseline="0" dirty="0"/>
          </a:p>
          <a:p>
            <a:pPr lvl="1" algn="just"/>
            <a:r>
              <a:rPr lang="pt-BR" sz="1800" b="0" i="0" u="none" strike="noStrike" baseline="0" dirty="0"/>
              <a:t>∗</a:t>
            </a:r>
            <a:r>
              <a:rPr lang="pt-BR" sz="1800" b="0" i="1" u="none" strike="noStrike" baseline="0" dirty="0"/>
              <a:t>r</a:t>
            </a:r>
            <a:r>
              <a:rPr lang="pt-BR" sz="1800" b="0" i="0" u="none" strike="noStrike" baseline="0" dirty="0"/>
              <a:t> elem</a:t>
            </a:r>
            <a:r>
              <a:rPr lang="hu-HU" sz="1800" b="0" i="0" u="none" strike="noStrike" baseline="0" dirty="0"/>
              <a:t>: </a:t>
            </a:r>
            <a:r>
              <a:rPr lang="pt-BR" sz="1800" b="0" i="0" u="none" strike="noStrike" baseline="0" dirty="0"/>
              <a:t>ennek,</a:t>
            </a:r>
            <a:r>
              <a:rPr lang="hu-HU" sz="1800" b="0" i="0" u="none" strike="noStrike" baseline="0" dirty="0"/>
              <a:t> vagy</a:t>
            </a:r>
            <a:r>
              <a:rPr lang="nl-NL" sz="1800" b="0" i="0" u="none" strike="noStrike" baseline="0" dirty="0"/>
              <a:t> egy másik C2L-nek eleme</a:t>
            </a:r>
          </a:p>
          <a:p>
            <a:pPr algn="just"/>
            <a:r>
              <a:rPr lang="hu-HU" b="1" i="0" u="none" strike="noStrike" baseline="0" dirty="0" err="1"/>
              <a:t>splice</a:t>
            </a:r>
            <a:r>
              <a:rPr lang="hu-HU" b="1" i="0" u="none" strike="noStrike" baseline="0" dirty="0"/>
              <a:t>(</a:t>
            </a:r>
            <a:r>
              <a:rPr lang="hu-HU" b="1" i="1" u="none" strike="noStrike" baseline="0" dirty="0"/>
              <a:t>p</a:t>
            </a:r>
            <a:r>
              <a:rPr lang="hu-HU" b="1" i="0" u="none" strike="noStrike" baseline="0" dirty="0"/>
              <a:t>, </a:t>
            </a:r>
            <a:r>
              <a:rPr lang="hu-HU" b="1" i="1" u="none" strike="noStrike" baseline="0" dirty="0"/>
              <a:t>q</a:t>
            </a:r>
            <a:r>
              <a:rPr lang="hu-HU" b="1" i="0" u="none" strike="noStrike" baseline="0" dirty="0"/>
              <a:t>, </a:t>
            </a:r>
            <a:r>
              <a:rPr lang="hu-HU" b="1" i="1" u="none" strike="noStrike" baseline="0" dirty="0"/>
              <a:t>r</a:t>
            </a:r>
            <a:r>
              <a:rPr lang="hu-HU" b="1" i="0" u="none" strike="noStrike" baseline="0" dirty="0"/>
              <a:t>)</a:t>
            </a:r>
            <a:r>
              <a:rPr lang="hu-HU" b="0" i="0" u="none" strike="noStrike" baseline="0" dirty="0"/>
              <a:t> elemi listaművelet</a:t>
            </a:r>
          </a:p>
          <a:p>
            <a:pPr lvl="1" algn="just"/>
            <a:r>
              <a:rPr lang="hu-HU" sz="1800" b="0" i="0" u="none" strike="noStrike" baseline="0" dirty="0"/>
              <a:t>A fenti előfeltétellel</a:t>
            </a:r>
          </a:p>
          <a:p>
            <a:pPr lvl="1"/>
            <a:r>
              <a:rPr lang="hu-HU" sz="1800" b="0" i="0" u="none" strike="noStrike" baseline="0" dirty="0"/>
              <a:t> </a:t>
            </a:r>
            <a:r>
              <a:rPr lang="hu-HU" sz="1800" b="1" i="0" u="none" strike="noStrike" baseline="0" dirty="0"/>
              <a:t>C2L egy adott [</a:t>
            </a:r>
            <a:r>
              <a:rPr lang="hu-HU" sz="1800" b="1" i="1" u="none" strike="noStrike" baseline="0" dirty="0"/>
              <a:t>p</a:t>
            </a:r>
            <a:r>
              <a:rPr lang="hu-HU" sz="1800" b="1" i="0" u="none" strike="noStrike" baseline="0" dirty="0"/>
              <a:t>, . . . , </a:t>
            </a:r>
            <a:r>
              <a:rPr lang="hu-HU" sz="1800" b="1" i="1" u="none" strike="noStrike" baseline="0" dirty="0"/>
              <a:t>q</a:t>
            </a:r>
            <a:r>
              <a:rPr lang="hu-HU" sz="1800" b="1" i="0" u="none" strike="noStrike" baseline="0" dirty="0"/>
              <a:t>] szakaszát eltávolítja</a:t>
            </a:r>
          </a:p>
          <a:p>
            <a:pPr lvl="1" algn="just"/>
            <a:r>
              <a:rPr lang="hu-HU" sz="1800" b="1" i="0" u="none" strike="noStrike" baseline="0" dirty="0"/>
              <a:t>majd</a:t>
            </a:r>
            <a:r>
              <a:rPr lang="hu-HU" sz="1800" b="0" i="0" u="none" strike="noStrike" baseline="0" dirty="0"/>
              <a:t> az eltávolított szakaszt egy </a:t>
            </a:r>
            <a:r>
              <a:rPr lang="hu-HU" sz="1800" b="1" i="0" u="none" strike="noStrike" baseline="0" dirty="0"/>
              <a:t>∗</a:t>
            </a:r>
            <a:r>
              <a:rPr lang="hu-HU" sz="1800" b="1" i="1" u="none" strike="noStrike" baseline="0" dirty="0"/>
              <a:t>r</a:t>
            </a:r>
            <a:r>
              <a:rPr lang="hu-HU" sz="1800" b="1" i="0" u="none" strike="noStrike" baseline="0" dirty="0"/>
              <a:t> eleme elé fűzi </a:t>
            </a:r>
            <a:endParaRPr lang="hu-HU" sz="1800" b="0" i="0" u="none" strike="noStrike" baseline="0" dirty="0"/>
          </a:p>
          <a:p>
            <a:pPr lvl="1" algn="just"/>
            <a:endParaRPr lang="hu-HU" sz="800" b="0" i="0" u="none" strike="noStrike" baseline="0" dirty="0"/>
          </a:p>
          <a:p>
            <a:pPr marL="0" indent="0" algn="ctr">
              <a:buNone/>
            </a:pPr>
            <a:r>
              <a:rPr lang="hu-HU" sz="2000" b="1" i="0" u="none" strike="noStrike" baseline="0" dirty="0"/>
              <a:t>Műveletigény:</a:t>
            </a:r>
            <a:r>
              <a:rPr lang="hu-HU" sz="2000" b="0" i="0" u="none" strike="noStrike" baseline="0" dirty="0"/>
              <a:t> </a:t>
            </a:r>
            <a:r>
              <a:rPr lang="el-GR" sz="2000" b="1" i="0" u="none" strike="noStrike" baseline="0" dirty="0"/>
              <a:t>Θ(1)</a:t>
            </a:r>
            <a:endParaRPr lang="hu-HU" sz="2000" b="0" i="0" u="none" strike="noStrike" baseline="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5C412FA-EB24-8D67-47CB-8D0F86DB6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465" y="2437881"/>
            <a:ext cx="3888855" cy="228125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22F96D47-AFD6-6398-A40A-FB4E177E1329}"/>
              </a:ext>
            </a:extLst>
          </p:cNvPr>
          <p:cNvSpPr/>
          <p:nvPr/>
        </p:nvSpPr>
        <p:spPr>
          <a:xfrm>
            <a:off x="2951147" y="5948265"/>
            <a:ext cx="2850776" cy="909735"/>
          </a:xfrm>
          <a:prstGeom prst="horizontalScroll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3AB7087C-C256-D94D-9C13-848DB6B0B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410" y="1247372"/>
            <a:ext cx="4848902" cy="952633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4860B601-1AD4-2895-F7F2-B5EA6C07C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6548" y="1156755"/>
            <a:ext cx="2038635" cy="1066949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9DBDC1E2-BC2D-B719-52EB-BC34DAD9FF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5019" y="4796209"/>
            <a:ext cx="4220164" cy="1028844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C42537F1-0028-FECF-2EE6-EC677B8DB1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683" y="5851850"/>
            <a:ext cx="3848637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06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6A33A6-1C3C-B7A8-1A3A-6CAE925A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648" y="1119179"/>
            <a:ext cx="6389122" cy="4238054"/>
          </a:xfrm>
        </p:spPr>
        <p:txBody>
          <a:bodyPr anchor="t">
            <a:normAutofit fontScale="92500"/>
          </a:bodyPr>
          <a:lstStyle/>
          <a:p>
            <a:pPr algn="just"/>
            <a:r>
              <a:rPr lang="hu-HU" b="0" i="0" u="none" strike="noStrike" baseline="0" dirty="0"/>
              <a:t>Előfeltétel:</a:t>
            </a:r>
          </a:p>
          <a:p>
            <a:pPr lvl="1" algn="just"/>
            <a:r>
              <a:rPr lang="hu-HU" sz="1800" b="0" i="0" u="none" strike="noStrike" baseline="0" dirty="0"/>
              <a:t>∗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és ∗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 ugyanannak a C2L-nek az elemei</a:t>
            </a:r>
          </a:p>
          <a:p>
            <a:pPr lvl="1" algn="just"/>
            <a:r>
              <a:rPr lang="hu-HU" sz="1800" b="0" i="0" u="none" strike="noStrike" baseline="0" dirty="0"/>
              <a:t> ∗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után jön valahol ∗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 ( 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= 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 is lehet)</a:t>
            </a:r>
          </a:p>
          <a:p>
            <a:pPr lvl="1" algn="just"/>
            <a:r>
              <a:rPr lang="hu-HU" sz="1800" b="0" i="0" u="none" strike="noStrike" baseline="0" dirty="0"/>
              <a:t>[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, . . . , 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] </a:t>
            </a:r>
            <a:r>
              <a:rPr lang="pt-BR" sz="1800" b="0" i="0" u="none" strike="noStrike" baseline="0" dirty="0"/>
              <a:t>nem tartalmazza sem a fejelemet, sem a ∗</a:t>
            </a:r>
            <a:r>
              <a:rPr lang="pt-BR" sz="1800" b="0" i="1" u="none" strike="noStrike" baseline="0" dirty="0"/>
              <a:t>r</a:t>
            </a:r>
            <a:r>
              <a:rPr lang="pt-BR" sz="1800" b="0" i="0" u="none" strike="noStrike" baseline="0" dirty="0"/>
              <a:t> elemet</a:t>
            </a:r>
            <a:endParaRPr lang="hu-HU" sz="1800" b="0" i="0" u="none" strike="noStrike" baseline="0" dirty="0"/>
          </a:p>
          <a:p>
            <a:pPr lvl="1" algn="just"/>
            <a:r>
              <a:rPr lang="pt-BR" sz="1800" b="0" i="0" u="none" strike="noStrike" baseline="0" dirty="0"/>
              <a:t>∗</a:t>
            </a:r>
            <a:r>
              <a:rPr lang="pt-BR" sz="1800" b="0" i="1" u="none" strike="noStrike" baseline="0" dirty="0"/>
              <a:t>r</a:t>
            </a:r>
            <a:r>
              <a:rPr lang="pt-BR" sz="1800" b="0" i="0" u="none" strike="noStrike" baseline="0" dirty="0"/>
              <a:t> elem</a:t>
            </a:r>
            <a:r>
              <a:rPr lang="hu-HU" sz="1800" b="0" i="0" u="none" strike="noStrike" baseline="0" dirty="0"/>
              <a:t>: </a:t>
            </a:r>
            <a:r>
              <a:rPr lang="pt-BR" sz="1800" b="0" i="0" u="none" strike="noStrike" baseline="0" dirty="0"/>
              <a:t>ennek,</a:t>
            </a:r>
            <a:r>
              <a:rPr lang="hu-HU" sz="1800" b="0" i="0" u="none" strike="noStrike" baseline="0" dirty="0"/>
              <a:t> vagy</a:t>
            </a:r>
            <a:r>
              <a:rPr lang="nl-NL" sz="1800" b="0" i="0" u="none" strike="noStrike" baseline="0" dirty="0"/>
              <a:t> egy másik C2L-nek is lehet eleme</a:t>
            </a:r>
          </a:p>
          <a:p>
            <a:pPr algn="just"/>
            <a:r>
              <a:rPr lang="hu-HU" b="1" i="0" u="none" strike="noStrike" baseline="0" dirty="0" err="1"/>
              <a:t>append</a:t>
            </a:r>
            <a:r>
              <a:rPr lang="hu-HU" b="1" i="0" u="none" strike="noStrike" baseline="0" dirty="0"/>
              <a:t>(</a:t>
            </a:r>
            <a:r>
              <a:rPr lang="hu-HU" b="1" i="1" u="none" strike="noStrike" baseline="0" dirty="0"/>
              <a:t>L</a:t>
            </a:r>
            <a:r>
              <a:rPr lang="hu-HU" b="1" i="0" u="none" strike="noStrike" baseline="0" dirty="0"/>
              <a:t>,</a:t>
            </a:r>
            <a:r>
              <a:rPr lang="hu-HU" b="1" i="1" u="none" strike="noStrike" baseline="0" dirty="0"/>
              <a:t>H</a:t>
            </a:r>
            <a:r>
              <a:rPr lang="hu-HU" b="1" i="0" u="none" strike="noStrike" baseline="0" dirty="0"/>
              <a:t>)</a:t>
            </a:r>
            <a:r>
              <a:rPr lang="hu-HU" b="0" i="0" u="none" strike="noStrike" baseline="0" dirty="0"/>
              <a:t> eljárás</a:t>
            </a:r>
            <a:r>
              <a:rPr lang="hu-HU" sz="1800" dirty="0"/>
              <a:t> </a:t>
            </a:r>
          </a:p>
          <a:p>
            <a:pPr lvl="1" algn="just"/>
            <a:r>
              <a:rPr lang="hu-HU" sz="1800" b="1" i="0" u="none" strike="noStrike" baseline="0" dirty="0"/>
              <a:t>átfűzi az </a:t>
            </a:r>
            <a:r>
              <a:rPr lang="hu-HU" sz="1800" b="1" i="1" u="none" strike="noStrike" baseline="0" dirty="0"/>
              <a:t>L</a:t>
            </a:r>
            <a:r>
              <a:rPr lang="hu-HU" sz="1800" b="0" i="0" u="none" strike="noStrike" baseline="0" dirty="0"/>
              <a:t> C2L </a:t>
            </a:r>
            <a:r>
              <a:rPr lang="hu-HU" sz="1800" b="1" i="0" u="none" strike="noStrike" baseline="0" dirty="0"/>
              <a:t>végére a </a:t>
            </a:r>
            <a:r>
              <a:rPr lang="hu-HU" sz="1800" b="1" i="1" u="none" strike="noStrike" baseline="0" dirty="0"/>
              <a:t>H</a:t>
            </a:r>
            <a:r>
              <a:rPr lang="hu-HU" sz="1800" b="0" i="0" u="none" strike="noStrike" baseline="0" dirty="0"/>
              <a:t> C2L </a:t>
            </a:r>
            <a:r>
              <a:rPr lang="hu-HU" sz="1800" b="1" i="0" u="none" strike="noStrike" baseline="0" dirty="0"/>
              <a:t>elemeit</a:t>
            </a:r>
          </a:p>
          <a:p>
            <a:pPr lvl="1" algn="just"/>
            <a:r>
              <a:rPr lang="hu-HU" sz="1800" b="0" i="0" u="none" strike="noStrike" baseline="0" dirty="0"/>
              <a:t> </a:t>
            </a:r>
            <a:r>
              <a:rPr lang="hu-HU" sz="1800" dirty="0"/>
              <a:t>e</a:t>
            </a:r>
            <a:r>
              <a:rPr lang="hu-HU" sz="1800" b="0" i="0" u="none" strike="noStrike" baseline="0" dirty="0"/>
              <a:t>redeti sorrendben</a:t>
            </a:r>
          </a:p>
          <a:p>
            <a:pPr lvl="1" algn="just"/>
            <a:r>
              <a:rPr lang="hu-HU" sz="1800" dirty="0"/>
              <a:t>h</a:t>
            </a:r>
            <a:r>
              <a:rPr lang="hu-HU" sz="1800" b="0" i="0" u="none" strike="noStrike" baseline="0" dirty="0"/>
              <a:t>asználja a </a:t>
            </a:r>
            <a:r>
              <a:rPr lang="hu-HU" sz="1800" b="0" i="0" u="none" strike="noStrike" baseline="0" dirty="0" err="1"/>
              <a:t>slice</a:t>
            </a:r>
            <a:r>
              <a:rPr lang="hu-HU" sz="1800" b="0" i="0" u="none" strike="noStrike" baseline="0" dirty="0"/>
              <a:t>(</a:t>
            </a:r>
            <a:r>
              <a:rPr lang="hu-HU" sz="1800" i="1" dirty="0" err="1"/>
              <a:t>p</a:t>
            </a:r>
            <a:r>
              <a:rPr lang="hu-HU" sz="1800" dirty="0" err="1"/>
              <a:t>,</a:t>
            </a:r>
            <a:r>
              <a:rPr lang="hu-HU" sz="1800" i="1" dirty="0" err="1"/>
              <a:t>q</a:t>
            </a:r>
            <a:r>
              <a:rPr lang="hu-HU" sz="1800" dirty="0" err="1"/>
              <a:t>,</a:t>
            </a:r>
            <a:r>
              <a:rPr lang="hu-HU" sz="1800" i="1" dirty="0" err="1"/>
              <a:t>r</a:t>
            </a:r>
            <a:r>
              <a:rPr lang="hu-HU" sz="1800" dirty="0"/>
              <a:t>)</a:t>
            </a:r>
            <a:r>
              <a:rPr lang="hu-HU" sz="1800" b="0" i="0" u="none" strike="noStrike" baseline="0" dirty="0"/>
              <a:t> </a:t>
            </a:r>
          </a:p>
          <a:p>
            <a:pPr marL="0" indent="0" algn="ctr">
              <a:buNone/>
            </a:pPr>
            <a:r>
              <a:rPr lang="hu-HU" b="1" i="0" u="none" strike="noStrike" baseline="0" dirty="0"/>
              <a:t>Műveletigény:</a:t>
            </a:r>
            <a:r>
              <a:rPr lang="hu-HU" b="0" i="0" u="none" strike="noStrike" baseline="0" dirty="0"/>
              <a:t> </a:t>
            </a:r>
            <a:r>
              <a:rPr lang="el-GR" b="1" i="0" u="none" strike="noStrike" baseline="0" dirty="0"/>
              <a:t>Θ(1)</a:t>
            </a:r>
            <a:endParaRPr lang="hu-HU" b="0" i="0" u="none" strike="noStrike" baseline="0" dirty="0"/>
          </a:p>
        </p:txBody>
      </p:sp>
      <p:sp>
        <p:nvSpPr>
          <p:cNvPr id="6" name="Téglalap: fazettás 5">
            <a:extLst>
              <a:ext uri="{FF2B5EF4-FFF2-40B4-BE49-F238E27FC236}">
                <a16:creationId xmlns:a16="http://schemas.microsoft.com/office/drawing/2014/main" id="{C6F209F8-32AD-5FFA-0FD7-A87F0B1B0A17}"/>
              </a:ext>
            </a:extLst>
          </p:cNvPr>
          <p:cNvSpPr/>
          <p:nvPr/>
        </p:nvSpPr>
        <p:spPr>
          <a:xfrm>
            <a:off x="1258644" y="5367991"/>
            <a:ext cx="10822193" cy="1500767"/>
          </a:xfrm>
          <a:prstGeom prst="bevel">
            <a:avLst>
              <a:gd name="adj" fmla="val 8916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E74715AE-F929-F0B8-54C8-2178366F3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164" y="5783689"/>
            <a:ext cx="4891357" cy="72464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78C1F8B1-FDF6-28CB-27B5-4363D275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911" y="342627"/>
            <a:ext cx="8939849" cy="909735"/>
          </a:xfrm>
        </p:spPr>
        <p:txBody>
          <a:bodyPr>
            <a:normAutofit/>
          </a:bodyPr>
          <a:lstStyle/>
          <a:p>
            <a:r>
              <a:rPr lang="hu-HU"/>
              <a:t>Példák C2L listákra: </a:t>
            </a:r>
            <a:r>
              <a:rPr lang="hu-HU" err="1"/>
              <a:t>append</a:t>
            </a:r>
            <a:r>
              <a:rPr lang="hu-HU"/>
              <a:t> eljárás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D41882A-3A17-1194-2624-4D68EF853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092" y="3756598"/>
            <a:ext cx="5517358" cy="128027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BC1C5B89-AC08-46F2-6B4D-379CF4C064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944" y="1256742"/>
            <a:ext cx="3538506" cy="207573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1F4D1CA0-D8C6-C09D-CC87-F32653078F87}"/>
              </a:ext>
            </a:extLst>
          </p:cNvPr>
          <p:cNvSpPr txBox="1"/>
          <p:nvPr/>
        </p:nvSpPr>
        <p:spPr>
          <a:xfrm>
            <a:off x="7651834" y="544358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p1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D2364ADC-CE19-8E41-7DC9-2BBF9899EE28}"/>
              </a:ext>
            </a:extLst>
          </p:cNvPr>
          <p:cNvSpPr txBox="1"/>
          <p:nvPr/>
        </p:nvSpPr>
        <p:spPr>
          <a:xfrm>
            <a:off x="2287321" y="5443546"/>
            <a:ext cx="2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D23C5EDB-B719-A0F4-302A-6EB67E15C200}"/>
              </a:ext>
            </a:extLst>
          </p:cNvPr>
          <p:cNvSpPr txBox="1"/>
          <p:nvPr/>
        </p:nvSpPr>
        <p:spPr>
          <a:xfrm>
            <a:off x="11283523" y="5443589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q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ED11A45C-4665-39D4-F764-FD0A22510475}"/>
              </a:ext>
            </a:extLst>
          </p:cNvPr>
          <p:cNvSpPr txBox="1"/>
          <p:nvPr/>
        </p:nvSpPr>
        <p:spPr>
          <a:xfrm>
            <a:off x="8430722" y="54619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p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E93EEB89-C911-6657-BC34-CB9D83AD9082}"/>
              </a:ext>
            </a:extLst>
          </p:cNvPr>
          <p:cNvSpPr txBox="1"/>
          <p:nvPr/>
        </p:nvSpPr>
        <p:spPr>
          <a:xfrm>
            <a:off x="7359708" y="5443546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q2 </a:t>
            </a:r>
          </a:p>
        </p:txBody>
      </p:sp>
      <p:pic>
        <p:nvPicPr>
          <p:cNvPr id="19" name="Kép 18">
            <a:extLst>
              <a:ext uri="{FF2B5EF4-FFF2-40B4-BE49-F238E27FC236}">
                <a16:creationId xmlns:a16="http://schemas.microsoft.com/office/drawing/2014/main" id="{EBD3C1F7-1FE9-FC85-D8A7-AB3B4A57BD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5911" y="5790728"/>
            <a:ext cx="5190834" cy="724646"/>
          </a:xfrm>
          <a:prstGeom prst="rect">
            <a:avLst/>
          </a:prstGeom>
        </p:spPr>
      </p:pic>
      <p:sp>
        <p:nvSpPr>
          <p:cNvPr id="20" name="Szövegdoboz 19">
            <a:extLst>
              <a:ext uri="{FF2B5EF4-FFF2-40B4-BE49-F238E27FC236}">
                <a16:creationId xmlns:a16="http://schemas.microsoft.com/office/drawing/2014/main" id="{D83515F7-5169-F274-94F1-CA10E52515A2}"/>
              </a:ext>
            </a:extLst>
          </p:cNvPr>
          <p:cNvSpPr txBox="1"/>
          <p:nvPr/>
        </p:nvSpPr>
        <p:spPr>
          <a:xfrm>
            <a:off x="6110521" y="544354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p1</a:t>
            </a:r>
          </a:p>
        </p:txBody>
      </p:sp>
      <p:pic>
        <p:nvPicPr>
          <p:cNvPr id="33" name="Kép 32">
            <a:extLst>
              <a:ext uri="{FF2B5EF4-FFF2-40B4-BE49-F238E27FC236}">
                <a16:creationId xmlns:a16="http://schemas.microsoft.com/office/drawing/2014/main" id="{6ADBDB61-1E4E-E0B5-76DA-6C3A08865D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4163" y="6032808"/>
            <a:ext cx="4891357" cy="329833"/>
          </a:xfrm>
          <a:prstGeom prst="rect">
            <a:avLst/>
          </a:prstGeom>
        </p:spPr>
      </p:pic>
      <p:grpSp>
        <p:nvGrpSpPr>
          <p:cNvPr id="27" name="Csoportba foglalás 26">
            <a:extLst>
              <a:ext uri="{FF2B5EF4-FFF2-40B4-BE49-F238E27FC236}">
                <a16:creationId xmlns:a16="http://schemas.microsoft.com/office/drawing/2014/main" id="{78DC7835-D67F-0B00-C028-6FDF56C99338}"/>
              </a:ext>
            </a:extLst>
          </p:cNvPr>
          <p:cNvGrpSpPr/>
          <p:nvPr/>
        </p:nvGrpSpPr>
        <p:grpSpPr>
          <a:xfrm>
            <a:off x="7804234" y="5891957"/>
            <a:ext cx="204386" cy="265003"/>
            <a:chOff x="7734300" y="5913120"/>
            <a:chExt cx="274320" cy="243840"/>
          </a:xfrm>
        </p:grpSpPr>
        <p:cxnSp>
          <p:nvCxnSpPr>
            <p:cNvPr id="24" name="Egyenes összekötő nyíllal 23">
              <a:extLst>
                <a:ext uri="{FF2B5EF4-FFF2-40B4-BE49-F238E27FC236}">
                  <a16:creationId xmlns:a16="http://schemas.microsoft.com/office/drawing/2014/main" id="{58DCE683-8293-A802-B4B4-931A1DEFBC48}"/>
                </a:ext>
              </a:extLst>
            </p:cNvPr>
            <p:cNvCxnSpPr/>
            <p:nvPr/>
          </p:nvCxnSpPr>
          <p:spPr>
            <a:xfrm rot="10800000" flipV="1">
              <a:off x="7736840" y="591312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gyenes összekötő 24">
              <a:extLst>
                <a:ext uri="{FF2B5EF4-FFF2-40B4-BE49-F238E27FC236}">
                  <a16:creationId xmlns:a16="http://schemas.microsoft.com/office/drawing/2014/main" id="{4900C1B2-A66F-3501-71DC-EDF578FFE204}"/>
                </a:ext>
              </a:extLst>
            </p:cNvPr>
            <p:cNvCxnSpPr/>
            <p:nvPr/>
          </p:nvCxnSpPr>
          <p:spPr>
            <a:xfrm rot="10800000" flipH="1" flipV="1">
              <a:off x="7734300" y="5915025"/>
              <a:ext cx="27432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Egyenes összekötő 25">
              <a:extLst>
                <a:ext uri="{FF2B5EF4-FFF2-40B4-BE49-F238E27FC236}">
                  <a16:creationId xmlns:a16="http://schemas.microsoft.com/office/drawing/2014/main" id="{03F3B6FA-324B-7EC5-4681-84A69C7ECE34}"/>
                </a:ext>
              </a:extLst>
            </p:cNvPr>
            <p:cNvCxnSpPr/>
            <p:nvPr/>
          </p:nvCxnSpPr>
          <p:spPr>
            <a:xfrm rot="10800000">
              <a:off x="8001000" y="5915025"/>
              <a:ext cx="0" cy="2419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2036CA02-4A1B-ADD8-99D8-5A4A9761671D}"/>
              </a:ext>
            </a:extLst>
          </p:cNvPr>
          <p:cNvGrpSpPr/>
          <p:nvPr/>
        </p:nvGrpSpPr>
        <p:grpSpPr>
          <a:xfrm>
            <a:off x="7590790" y="6234747"/>
            <a:ext cx="220980" cy="245110"/>
            <a:chOff x="7590790" y="6234747"/>
            <a:chExt cx="220980" cy="245110"/>
          </a:xfrm>
        </p:grpSpPr>
        <p:cxnSp>
          <p:nvCxnSpPr>
            <p:cNvPr id="28" name="Egyenes összekötő nyíllal 27">
              <a:extLst>
                <a:ext uri="{FF2B5EF4-FFF2-40B4-BE49-F238E27FC236}">
                  <a16:creationId xmlns:a16="http://schemas.microsoft.com/office/drawing/2014/main" id="{FDA5951A-C648-0A7B-B69C-E64C8927EF85}"/>
                </a:ext>
              </a:extLst>
            </p:cNvPr>
            <p:cNvCxnSpPr/>
            <p:nvPr/>
          </p:nvCxnSpPr>
          <p:spPr>
            <a:xfrm flipV="1">
              <a:off x="7811770" y="6295072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gyenes összekötő 28">
              <a:extLst>
                <a:ext uri="{FF2B5EF4-FFF2-40B4-BE49-F238E27FC236}">
                  <a16:creationId xmlns:a16="http://schemas.microsoft.com/office/drawing/2014/main" id="{0CBAD328-D74F-DC8A-381D-9088C78D8692}"/>
                </a:ext>
              </a:extLst>
            </p:cNvPr>
            <p:cNvCxnSpPr/>
            <p:nvPr/>
          </p:nvCxnSpPr>
          <p:spPr>
            <a:xfrm>
              <a:off x="7590790" y="6234747"/>
              <a:ext cx="0" cy="2419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gyenes összekötő 29">
              <a:extLst>
                <a:ext uri="{FF2B5EF4-FFF2-40B4-BE49-F238E27FC236}">
                  <a16:creationId xmlns:a16="http://schemas.microsoft.com/office/drawing/2014/main" id="{A9E8EBE8-19E1-133B-E0DA-53A9E4EA3AE1}"/>
                </a:ext>
              </a:extLst>
            </p:cNvPr>
            <p:cNvCxnSpPr/>
            <p:nvPr/>
          </p:nvCxnSpPr>
          <p:spPr>
            <a:xfrm flipH="1" flipV="1">
              <a:off x="7590790" y="6474142"/>
              <a:ext cx="220980" cy="57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Csoportba foglalás 37">
            <a:extLst>
              <a:ext uri="{FF2B5EF4-FFF2-40B4-BE49-F238E27FC236}">
                <a16:creationId xmlns:a16="http://schemas.microsoft.com/office/drawing/2014/main" id="{69927BD2-BBAA-A2DF-2BA5-9167EB19F61D}"/>
              </a:ext>
            </a:extLst>
          </p:cNvPr>
          <p:cNvGrpSpPr/>
          <p:nvPr/>
        </p:nvGrpSpPr>
        <p:grpSpPr>
          <a:xfrm>
            <a:off x="6305706" y="5877492"/>
            <a:ext cx="1976120" cy="243840"/>
            <a:chOff x="6305706" y="5877492"/>
            <a:chExt cx="1976120" cy="243840"/>
          </a:xfrm>
        </p:grpSpPr>
        <p:cxnSp>
          <p:nvCxnSpPr>
            <p:cNvPr id="34" name="Egyenes összekötő nyíllal 33">
              <a:extLst>
                <a:ext uri="{FF2B5EF4-FFF2-40B4-BE49-F238E27FC236}">
                  <a16:creationId xmlns:a16="http://schemas.microsoft.com/office/drawing/2014/main" id="{8FB2417F-37F6-9E21-263D-F782E535CFAD}"/>
                </a:ext>
              </a:extLst>
            </p:cNvPr>
            <p:cNvCxnSpPr/>
            <p:nvPr/>
          </p:nvCxnSpPr>
          <p:spPr>
            <a:xfrm rot="10800000" flipV="1">
              <a:off x="6305706" y="5878127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gyenes összekötő 34">
              <a:extLst>
                <a:ext uri="{FF2B5EF4-FFF2-40B4-BE49-F238E27FC236}">
                  <a16:creationId xmlns:a16="http://schemas.microsoft.com/office/drawing/2014/main" id="{CD70DC2D-26D1-13B7-1702-CF437BC733A2}"/>
                </a:ext>
              </a:extLst>
            </p:cNvPr>
            <p:cNvCxnSpPr>
              <a:cxnSpLocks/>
            </p:cNvCxnSpPr>
            <p:nvPr/>
          </p:nvCxnSpPr>
          <p:spPr>
            <a:xfrm>
              <a:off x="6305706" y="5877492"/>
              <a:ext cx="1976119" cy="823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Egyenes összekötő 35">
              <a:extLst>
                <a:ext uri="{FF2B5EF4-FFF2-40B4-BE49-F238E27FC236}">
                  <a16:creationId xmlns:a16="http://schemas.microsoft.com/office/drawing/2014/main" id="{2A35051B-6683-0CFF-FB08-F08009F2A4D2}"/>
                </a:ext>
              </a:extLst>
            </p:cNvPr>
            <p:cNvCxnSpPr/>
            <p:nvPr/>
          </p:nvCxnSpPr>
          <p:spPr>
            <a:xfrm rot="10800000">
              <a:off x="8281826" y="5879397"/>
              <a:ext cx="0" cy="2419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Csoportba foglalás 42">
            <a:extLst>
              <a:ext uri="{FF2B5EF4-FFF2-40B4-BE49-F238E27FC236}">
                <a16:creationId xmlns:a16="http://schemas.microsoft.com/office/drawing/2014/main" id="{8F35FCBF-5093-B6AB-FD1E-D2E580545D2E}"/>
              </a:ext>
            </a:extLst>
          </p:cNvPr>
          <p:cNvGrpSpPr/>
          <p:nvPr/>
        </p:nvGrpSpPr>
        <p:grpSpPr>
          <a:xfrm>
            <a:off x="2434501" y="5881608"/>
            <a:ext cx="9210039" cy="183515"/>
            <a:chOff x="2434501" y="5881608"/>
            <a:chExt cx="9210039" cy="183515"/>
          </a:xfrm>
        </p:grpSpPr>
        <p:cxnSp>
          <p:nvCxnSpPr>
            <p:cNvPr id="39" name="Egyenes összekötő nyíllal 38">
              <a:extLst>
                <a:ext uri="{FF2B5EF4-FFF2-40B4-BE49-F238E27FC236}">
                  <a16:creationId xmlns:a16="http://schemas.microsoft.com/office/drawing/2014/main" id="{3D69A7CF-881E-3A03-8203-BCCA00BDEF8D}"/>
                </a:ext>
              </a:extLst>
            </p:cNvPr>
            <p:cNvCxnSpPr/>
            <p:nvPr/>
          </p:nvCxnSpPr>
          <p:spPr>
            <a:xfrm rot="10800000" flipV="1">
              <a:off x="2434501" y="5882243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gyenes összekötő 39">
              <a:extLst>
                <a:ext uri="{FF2B5EF4-FFF2-40B4-BE49-F238E27FC236}">
                  <a16:creationId xmlns:a16="http://schemas.microsoft.com/office/drawing/2014/main" id="{5C61F357-6D20-D8D3-9AE6-567678433C60}"/>
                </a:ext>
              </a:extLst>
            </p:cNvPr>
            <p:cNvCxnSpPr>
              <a:cxnSpLocks/>
            </p:cNvCxnSpPr>
            <p:nvPr/>
          </p:nvCxnSpPr>
          <p:spPr>
            <a:xfrm>
              <a:off x="2434501" y="5881608"/>
              <a:ext cx="9210039" cy="358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11724855-F69F-66E5-6E3D-2E35D7B6EA35}"/>
              </a:ext>
            </a:extLst>
          </p:cNvPr>
          <p:cNvCxnSpPr/>
          <p:nvPr/>
        </p:nvCxnSpPr>
        <p:spPr>
          <a:xfrm rot="10800000">
            <a:off x="11644541" y="5883513"/>
            <a:ext cx="0" cy="241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gyenes összekötő nyíllal 43">
            <a:extLst>
              <a:ext uri="{FF2B5EF4-FFF2-40B4-BE49-F238E27FC236}">
                <a16:creationId xmlns:a16="http://schemas.microsoft.com/office/drawing/2014/main" id="{7FB99A66-0E70-4722-957F-04FA5772E121}"/>
              </a:ext>
            </a:extLst>
          </p:cNvPr>
          <p:cNvCxnSpPr/>
          <p:nvPr/>
        </p:nvCxnSpPr>
        <p:spPr>
          <a:xfrm flipV="1">
            <a:off x="7770891" y="6313546"/>
            <a:ext cx="0" cy="18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Csoportba foglalás 52">
            <a:extLst>
              <a:ext uri="{FF2B5EF4-FFF2-40B4-BE49-F238E27FC236}">
                <a16:creationId xmlns:a16="http://schemas.microsoft.com/office/drawing/2014/main" id="{609365CB-D94C-A6C4-73EB-776C16478473}"/>
              </a:ext>
            </a:extLst>
          </p:cNvPr>
          <p:cNvGrpSpPr/>
          <p:nvPr/>
        </p:nvGrpSpPr>
        <p:grpSpPr>
          <a:xfrm>
            <a:off x="6518671" y="6253221"/>
            <a:ext cx="1252220" cy="242570"/>
            <a:chOff x="6518671" y="6253221"/>
            <a:chExt cx="1252220" cy="242570"/>
          </a:xfrm>
        </p:grpSpPr>
        <p:cxnSp>
          <p:nvCxnSpPr>
            <p:cNvPr id="45" name="Egyenes összekötő 44">
              <a:extLst>
                <a:ext uri="{FF2B5EF4-FFF2-40B4-BE49-F238E27FC236}">
                  <a16:creationId xmlns:a16="http://schemas.microsoft.com/office/drawing/2014/main" id="{D9353E84-4C1D-28D0-E0EB-BF4DC2267D57}"/>
                </a:ext>
              </a:extLst>
            </p:cNvPr>
            <p:cNvCxnSpPr/>
            <p:nvPr/>
          </p:nvCxnSpPr>
          <p:spPr>
            <a:xfrm>
              <a:off x="6518671" y="6253221"/>
              <a:ext cx="0" cy="2419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Egyenes összekötő 45">
              <a:extLst>
                <a:ext uri="{FF2B5EF4-FFF2-40B4-BE49-F238E27FC236}">
                  <a16:creationId xmlns:a16="http://schemas.microsoft.com/office/drawing/2014/main" id="{692F689C-894C-ECC2-557B-B766423F4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1211" y="6485197"/>
              <a:ext cx="1249680" cy="1059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4" name="Egyenes összekötő nyíllal 53">
            <a:extLst>
              <a:ext uri="{FF2B5EF4-FFF2-40B4-BE49-F238E27FC236}">
                <a16:creationId xmlns:a16="http://schemas.microsoft.com/office/drawing/2014/main" id="{BBD2237B-3DB0-9D91-1DE1-710877ED6BF7}"/>
              </a:ext>
            </a:extLst>
          </p:cNvPr>
          <p:cNvCxnSpPr>
            <a:cxnSpLocks/>
          </p:cNvCxnSpPr>
          <p:nvPr/>
        </p:nvCxnSpPr>
        <p:spPr>
          <a:xfrm flipV="1">
            <a:off x="11460480" y="6244272"/>
            <a:ext cx="0" cy="18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Csoportba foglalás 60">
            <a:extLst>
              <a:ext uri="{FF2B5EF4-FFF2-40B4-BE49-F238E27FC236}">
                <a16:creationId xmlns:a16="http://schemas.microsoft.com/office/drawing/2014/main" id="{862EA12C-DA88-C940-12B8-21C3EE0A1F36}"/>
              </a:ext>
            </a:extLst>
          </p:cNvPr>
          <p:cNvGrpSpPr/>
          <p:nvPr/>
        </p:nvGrpSpPr>
        <p:grpSpPr>
          <a:xfrm>
            <a:off x="2184401" y="6173916"/>
            <a:ext cx="9276079" cy="261751"/>
            <a:chOff x="2184401" y="6173916"/>
            <a:chExt cx="9276079" cy="261751"/>
          </a:xfrm>
        </p:grpSpPr>
        <p:cxnSp>
          <p:nvCxnSpPr>
            <p:cNvPr id="55" name="Egyenes összekötő 54">
              <a:extLst>
                <a:ext uri="{FF2B5EF4-FFF2-40B4-BE49-F238E27FC236}">
                  <a16:creationId xmlns:a16="http://schemas.microsoft.com/office/drawing/2014/main" id="{EA2EB684-1531-835A-56F4-CB9F12748EF6}"/>
                </a:ext>
              </a:extLst>
            </p:cNvPr>
            <p:cNvCxnSpPr>
              <a:cxnSpLocks/>
            </p:cNvCxnSpPr>
            <p:nvPr/>
          </p:nvCxnSpPr>
          <p:spPr>
            <a:xfrm>
              <a:off x="2184401" y="6173916"/>
              <a:ext cx="0" cy="2419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Egyenes összekötő 55">
              <a:extLst>
                <a:ext uri="{FF2B5EF4-FFF2-40B4-BE49-F238E27FC236}">
                  <a16:creationId xmlns:a16="http://schemas.microsoft.com/office/drawing/2014/main" id="{FE8AC6BB-C8B2-27AF-B601-A24A82CD62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6941" y="6416486"/>
              <a:ext cx="9273539" cy="191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02000482-BF42-E84A-40FC-FBE92B06AD46}"/>
              </a:ext>
            </a:extLst>
          </p:cNvPr>
          <p:cNvSpPr/>
          <p:nvPr/>
        </p:nvSpPr>
        <p:spPr>
          <a:xfrm>
            <a:off x="3135839" y="4491810"/>
            <a:ext cx="2697079" cy="1000386"/>
          </a:xfrm>
          <a:prstGeom prst="horizontalScroll">
            <a:avLst>
              <a:gd name="adj" fmla="val 229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518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1" grpId="1"/>
      <p:bldP spid="12" grpId="0"/>
      <p:bldP spid="13" grpId="0"/>
      <p:bldP spid="14" grpId="0"/>
      <p:bldP spid="15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ercs: vízszintes 9">
            <a:extLst>
              <a:ext uri="{FF2B5EF4-FFF2-40B4-BE49-F238E27FC236}">
                <a16:creationId xmlns:a16="http://schemas.microsoft.com/office/drawing/2014/main" id="{10C64822-5A4E-1A21-3683-46B490D8F7E3}"/>
              </a:ext>
            </a:extLst>
          </p:cNvPr>
          <p:cNvSpPr/>
          <p:nvPr/>
        </p:nvSpPr>
        <p:spPr>
          <a:xfrm>
            <a:off x="9314977" y="5232130"/>
            <a:ext cx="2496919" cy="868381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B3983526-61E1-C02A-4AAC-813CEE8AFAF3}"/>
              </a:ext>
            </a:extLst>
          </p:cNvPr>
          <p:cNvSpPr/>
          <p:nvPr/>
        </p:nvSpPr>
        <p:spPr>
          <a:xfrm>
            <a:off x="5776856" y="5262452"/>
            <a:ext cx="2936838" cy="868381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ekercs: vízszintes 2">
            <a:extLst>
              <a:ext uri="{FF2B5EF4-FFF2-40B4-BE49-F238E27FC236}">
                <a16:creationId xmlns:a16="http://schemas.microsoft.com/office/drawing/2014/main" id="{06DD80F1-8310-424E-5F35-281C3B693829}"/>
              </a:ext>
            </a:extLst>
          </p:cNvPr>
          <p:cNvSpPr/>
          <p:nvPr/>
        </p:nvSpPr>
        <p:spPr>
          <a:xfrm>
            <a:off x="2127076" y="5220447"/>
            <a:ext cx="2105025" cy="868381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8C1F8B1-FDF6-28CB-27B5-4363D275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09735"/>
          </a:xfrm>
        </p:spPr>
        <p:txBody>
          <a:bodyPr>
            <a:normAutofit/>
          </a:bodyPr>
          <a:lstStyle/>
          <a:p>
            <a:r>
              <a:rPr lang="hu-HU"/>
              <a:t>Példaprogramok C2L listákra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2D10E25F-6535-1784-E7A1-E85BF2DBD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944" y="2391567"/>
            <a:ext cx="3368978" cy="276145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691DF52-DF2B-2A10-3F56-5B231F8A8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104" y="2391568"/>
            <a:ext cx="3324472" cy="276145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F787A54A-C384-C05D-E465-D328DEAB0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531" y="1973464"/>
            <a:ext cx="2739736" cy="317956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96816BCB-FB97-4765-D19B-109EABA31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8004" y="5444231"/>
            <a:ext cx="2105025" cy="504825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4BC1B99A-56A1-FB71-D06C-2654D2B804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1305" y="5415656"/>
            <a:ext cx="1656569" cy="501331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934B233-3D96-A722-C2B7-FAE159888D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710" y="5444231"/>
            <a:ext cx="2571260" cy="4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7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 animBg="1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églalap: fazettás 21">
            <a:extLst>
              <a:ext uri="{FF2B5EF4-FFF2-40B4-BE49-F238E27FC236}">
                <a16:creationId xmlns:a16="http://schemas.microsoft.com/office/drawing/2014/main" id="{E7EFC628-839F-D038-08C8-DF05DA1DF9D2}"/>
              </a:ext>
            </a:extLst>
          </p:cNvPr>
          <p:cNvSpPr/>
          <p:nvPr/>
        </p:nvSpPr>
        <p:spPr>
          <a:xfrm>
            <a:off x="5323328" y="0"/>
            <a:ext cx="6868672" cy="6858000"/>
          </a:xfrm>
          <a:prstGeom prst="bevel">
            <a:avLst>
              <a:gd name="adj" fmla="val 2049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3AD60AE5-D699-C261-D61C-4AC4CA794049}"/>
              </a:ext>
            </a:extLst>
          </p:cNvPr>
          <p:cNvSpPr/>
          <p:nvPr/>
        </p:nvSpPr>
        <p:spPr>
          <a:xfrm>
            <a:off x="2088862" y="5580114"/>
            <a:ext cx="3029911" cy="1131882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1924F7B0-B540-4F24-E98A-1A2DD28D6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583" y="2323273"/>
            <a:ext cx="5395428" cy="891617"/>
          </a:xfrm>
          <a:prstGeom prst="rect">
            <a:avLst/>
          </a:prstGeom>
        </p:spPr>
      </p:pic>
      <p:pic>
        <p:nvPicPr>
          <p:cNvPr id="69" name="Kép 68">
            <a:extLst>
              <a:ext uri="{FF2B5EF4-FFF2-40B4-BE49-F238E27FC236}">
                <a16:creationId xmlns:a16="http://schemas.microsoft.com/office/drawing/2014/main" id="{33A7ED85-881D-81F2-6E14-8C0051A94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313" y="4737952"/>
            <a:ext cx="6408975" cy="899238"/>
          </a:xfrm>
          <a:prstGeom prst="rect">
            <a:avLst/>
          </a:prstGeom>
        </p:spPr>
      </p:pic>
      <p:pic>
        <p:nvPicPr>
          <p:cNvPr id="49" name="Kép 48">
            <a:extLst>
              <a:ext uri="{FF2B5EF4-FFF2-40B4-BE49-F238E27FC236}">
                <a16:creationId xmlns:a16="http://schemas.microsoft.com/office/drawing/2014/main" id="{27254E5A-6C54-D8DA-8733-98260C3E4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002" y="4728342"/>
            <a:ext cx="5395428" cy="891617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6E306AFC-FECB-D55D-EA1D-B44F46ECE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9186" y="2332589"/>
            <a:ext cx="6408975" cy="899238"/>
          </a:xfrm>
          <a:prstGeom prst="rect">
            <a:avLst/>
          </a:prstGeom>
        </p:spPr>
      </p:pic>
      <p:pic>
        <p:nvPicPr>
          <p:cNvPr id="51" name="Kép 50">
            <a:extLst>
              <a:ext uri="{FF2B5EF4-FFF2-40B4-BE49-F238E27FC236}">
                <a16:creationId xmlns:a16="http://schemas.microsoft.com/office/drawing/2014/main" id="{697AC70D-692A-94D9-08D9-960F3B9B2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306" y="1132701"/>
            <a:ext cx="5395428" cy="891617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340F4CA0-F00D-BE6D-6233-1FC8168F4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313" y="1134253"/>
            <a:ext cx="6408975" cy="899238"/>
          </a:xfrm>
          <a:prstGeom prst="rect">
            <a:avLst/>
          </a:prstGeom>
        </p:spPr>
      </p:pic>
      <p:pic>
        <p:nvPicPr>
          <p:cNvPr id="26" name="Kép 25">
            <a:extLst>
              <a:ext uri="{FF2B5EF4-FFF2-40B4-BE49-F238E27FC236}">
                <a16:creationId xmlns:a16="http://schemas.microsoft.com/office/drawing/2014/main" id="{0875C441-E2BF-DF48-9130-DCC99EF2A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583" y="1114401"/>
            <a:ext cx="5395428" cy="891617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78C1F8B1-FDF6-28CB-27B5-4363D275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237" y="195848"/>
            <a:ext cx="4055765" cy="1428257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Példaprogramok C2L listákra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721C31E-28B5-C46A-E3A4-D7A4830B4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073" y="1725625"/>
            <a:ext cx="4419983" cy="362743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BF2B88B6-26BB-1FA3-F95C-9F94616F4F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3417" y="5789956"/>
            <a:ext cx="2682472" cy="739204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A2D8BB85-5793-DF52-E009-4DC0C9329C0C}"/>
              </a:ext>
            </a:extLst>
          </p:cNvPr>
          <p:cNvSpPr txBox="1"/>
          <p:nvPr/>
        </p:nvSpPr>
        <p:spPr>
          <a:xfrm>
            <a:off x="7487920" y="1378886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1772ECF8-7BFF-6DDD-021E-80BB8AE23C12}"/>
              </a:ext>
            </a:extLst>
          </p:cNvPr>
          <p:cNvSpPr txBox="1"/>
          <p:nvPr/>
        </p:nvSpPr>
        <p:spPr>
          <a:xfrm>
            <a:off x="11374433" y="1378886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A9502621-80B4-3C84-8357-477BBF6BF6B7}"/>
              </a:ext>
            </a:extLst>
          </p:cNvPr>
          <p:cNvSpPr txBox="1"/>
          <p:nvPr/>
        </p:nvSpPr>
        <p:spPr>
          <a:xfrm>
            <a:off x="9425816" y="1378886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228919ED-A3A6-79B9-CA0F-4635DE95F3E1}"/>
              </a:ext>
            </a:extLst>
          </p:cNvPr>
          <p:cNvSpPr txBox="1"/>
          <p:nvPr/>
        </p:nvSpPr>
        <p:spPr>
          <a:xfrm>
            <a:off x="10343940" y="1409366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62460828-4620-8B43-F69F-713BF89F6004}"/>
              </a:ext>
            </a:extLst>
          </p:cNvPr>
          <p:cNvSpPr txBox="1"/>
          <p:nvPr/>
        </p:nvSpPr>
        <p:spPr>
          <a:xfrm>
            <a:off x="8446166" y="1388101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51F90C96-B104-186A-133D-DE6B9FDFD31B}"/>
              </a:ext>
            </a:extLst>
          </p:cNvPr>
          <p:cNvSpPr txBox="1"/>
          <p:nvPr/>
        </p:nvSpPr>
        <p:spPr>
          <a:xfrm>
            <a:off x="7633344" y="94408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34664719-5115-339C-6E4B-A9A20944B55F}"/>
              </a:ext>
            </a:extLst>
          </p:cNvPr>
          <p:cNvSpPr txBox="1"/>
          <p:nvPr/>
        </p:nvSpPr>
        <p:spPr>
          <a:xfrm>
            <a:off x="8551452" y="92541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s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AFF8889F-8EF0-1151-FA20-65469B7124C5}"/>
              </a:ext>
            </a:extLst>
          </p:cNvPr>
          <p:cNvSpPr txBox="1"/>
          <p:nvPr/>
        </p:nvSpPr>
        <p:spPr>
          <a:xfrm>
            <a:off x="8454839" y="1366311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22DC1FF1-78C3-ADA2-9512-ED61798E82AD}"/>
              </a:ext>
            </a:extLst>
          </p:cNvPr>
          <p:cNvSpPr txBox="1"/>
          <p:nvPr/>
        </p:nvSpPr>
        <p:spPr>
          <a:xfrm>
            <a:off x="11374433" y="2577467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B3AB2168-340B-9EF2-1239-CE0852850B5A}"/>
              </a:ext>
            </a:extLst>
          </p:cNvPr>
          <p:cNvSpPr txBox="1"/>
          <p:nvPr/>
        </p:nvSpPr>
        <p:spPr>
          <a:xfrm>
            <a:off x="9396824" y="2587202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11C3AA96-AC4D-3B0D-1C90-4D1641079DED}"/>
              </a:ext>
            </a:extLst>
          </p:cNvPr>
          <p:cNvSpPr txBox="1"/>
          <p:nvPr/>
        </p:nvSpPr>
        <p:spPr>
          <a:xfrm>
            <a:off x="10409000" y="2599911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7518909C-91A0-8368-9A29-062FE3A7EDE5}"/>
              </a:ext>
            </a:extLst>
          </p:cNvPr>
          <p:cNvSpPr txBox="1"/>
          <p:nvPr/>
        </p:nvSpPr>
        <p:spPr>
          <a:xfrm>
            <a:off x="8585644" y="211949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C3B69055-B076-69D0-E8A9-F96514EC137D}"/>
              </a:ext>
            </a:extLst>
          </p:cNvPr>
          <p:cNvSpPr txBox="1"/>
          <p:nvPr/>
        </p:nvSpPr>
        <p:spPr>
          <a:xfrm>
            <a:off x="7609103" y="93619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p</a:t>
            </a:r>
          </a:p>
        </p:txBody>
      </p:sp>
      <p:pic>
        <p:nvPicPr>
          <p:cNvPr id="28" name="Kép 27">
            <a:extLst>
              <a:ext uri="{FF2B5EF4-FFF2-40B4-BE49-F238E27FC236}">
                <a16:creationId xmlns:a16="http://schemas.microsoft.com/office/drawing/2014/main" id="{CA113AE7-D258-3575-889B-102598C6D4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1877" y="664451"/>
            <a:ext cx="784832" cy="294937"/>
          </a:xfrm>
          <a:prstGeom prst="rect">
            <a:avLst/>
          </a:prstGeom>
        </p:spPr>
      </p:pic>
      <p:sp>
        <p:nvSpPr>
          <p:cNvPr id="31" name="Szövegdoboz 30">
            <a:extLst>
              <a:ext uri="{FF2B5EF4-FFF2-40B4-BE49-F238E27FC236}">
                <a16:creationId xmlns:a16="http://schemas.microsoft.com/office/drawing/2014/main" id="{14AF28B0-0D46-0D4E-C7D8-32D38EE7F2E8}"/>
              </a:ext>
            </a:extLst>
          </p:cNvPr>
          <p:cNvSpPr txBox="1"/>
          <p:nvPr/>
        </p:nvSpPr>
        <p:spPr>
          <a:xfrm>
            <a:off x="10863430" y="20744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s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F1F99FFC-E698-0EA8-DB41-B9BDD3306F1A}"/>
              </a:ext>
            </a:extLst>
          </p:cNvPr>
          <p:cNvSpPr txBox="1"/>
          <p:nvPr/>
        </p:nvSpPr>
        <p:spPr>
          <a:xfrm>
            <a:off x="10818794" y="588796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E16BA9F3-1599-6D8F-58B6-C5D13F9F516D}"/>
              </a:ext>
            </a:extLst>
          </p:cNvPr>
          <p:cNvSpPr txBox="1"/>
          <p:nvPr/>
        </p:nvSpPr>
        <p:spPr>
          <a:xfrm>
            <a:off x="8454839" y="91839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2BA6D284-3DD8-FA1D-D6CE-ABA4EF638D0C}"/>
              </a:ext>
            </a:extLst>
          </p:cNvPr>
          <p:cNvSpPr txBox="1"/>
          <p:nvPr/>
        </p:nvSpPr>
        <p:spPr>
          <a:xfrm>
            <a:off x="7487920" y="2587209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E997C0C7-DE79-E7B6-B64B-36A80308764F}"/>
              </a:ext>
            </a:extLst>
          </p:cNvPr>
          <p:cNvSpPr txBox="1"/>
          <p:nvPr/>
        </p:nvSpPr>
        <p:spPr>
          <a:xfrm>
            <a:off x="8485227" y="2548459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pic>
        <p:nvPicPr>
          <p:cNvPr id="38" name="Kép 37">
            <a:extLst>
              <a:ext uri="{FF2B5EF4-FFF2-40B4-BE49-F238E27FC236}">
                <a16:creationId xmlns:a16="http://schemas.microsoft.com/office/drawing/2014/main" id="{792FA607-81B1-E549-7294-6C9316454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313" y="3539342"/>
            <a:ext cx="6408975" cy="899238"/>
          </a:xfrm>
          <a:prstGeom prst="rect">
            <a:avLst/>
          </a:prstGeom>
        </p:spPr>
      </p:pic>
      <p:sp>
        <p:nvSpPr>
          <p:cNvPr id="39" name="Szövegdoboz 38">
            <a:extLst>
              <a:ext uri="{FF2B5EF4-FFF2-40B4-BE49-F238E27FC236}">
                <a16:creationId xmlns:a16="http://schemas.microsoft.com/office/drawing/2014/main" id="{C9158D74-EA71-331F-0463-153801BE7FCA}"/>
              </a:ext>
            </a:extLst>
          </p:cNvPr>
          <p:cNvSpPr txBox="1"/>
          <p:nvPr/>
        </p:nvSpPr>
        <p:spPr>
          <a:xfrm>
            <a:off x="11390700" y="3794553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40" name="Szövegdoboz 39">
            <a:extLst>
              <a:ext uri="{FF2B5EF4-FFF2-40B4-BE49-F238E27FC236}">
                <a16:creationId xmlns:a16="http://schemas.microsoft.com/office/drawing/2014/main" id="{6A68F6FA-F048-5124-39F2-FD32C2AE7749}"/>
              </a:ext>
            </a:extLst>
          </p:cNvPr>
          <p:cNvSpPr txBox="1"/>
          <p:nvPr/>
        </p:nvSpPr>
        <p:spPr>
          <a:xfrm>
            <a:off x="8458888" y="3796359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877C1E5B-A49F-80A3-B595-D719FBCEFA09}"/>
              </a:ext>
            </a:extLst>
          </p:cNvPr>
          <p:cNvSpPr txBox="1"/>
          <p:nvPr/>
        </p:nvSpPr>
        <p:spPr>
          <a:xfrm>
            <a:off x="10384627" y="3816997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42" name="Szövegdoboz 41">
            <a:extLst>
              <a:ext uri="{FF2B5EF4-FFF2-40B4-BE49-F238E27FC236}">
                <a16:creationId xmlns:a16="http://schemas.microsoft.com/office/drawing/2014/main" id="{3102E624-FCB9-A21E-A220-408F492D783C}"/>
              </a:ext>
            </a:extLst>
          </p:cNvPr>
          <p:cNvSpPr txBox="1"/>
          <p:nvPr/>
        </p:nvSpPr>
        <p:spPr>
          <a:xfrm>
            <a:off x="7504187" y="3804295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43" name="Szövegdoboz 42">
            <a:extLst>
              <a:ext uri="{FF2B5EF4-FFF2-40B4-BE49-F238E27FC236}">
                <a16:creationId xmlns:a16="http://schemas.microsoft.com/office/drawing/2014/main" id="{6915026B-A2E8-B954-D57E-1F66C550B023}"/>
              </a:ext>
            </a:extLst>
          </p:cNvPr>
          <p:cNvSpPr txBox="1"/>
          <p:nvPr/>
        </p:nvSpPr>
        <p:spPr>
          <a:xfrm>
            <a:off x="9404584" y="3776354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46" name="Szövegdoboz 45">
            <a:extLst>
              <a:ext uri="{FF2B5EF4-FFF2-40B4-BE49-F238E27FC236}">
                <a16:creationId xmlns:a16="http://schemas.microsoft.com/office/drawing/2014/main" id="{E03BE8D1-CA04-2F25-0BDA-A00A13072D23}"/>
              </a:ext>
            </a:extLst>
          </p:cNvPr>
          <p:cNvSpPr txBox="1"/>
          <p:nvPr/>
        </p:nvSpPr>
        <p:spPr>
          <a:xfrm>
            <a:off x="10553739" y="439499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r</a:t>
            </a:r>
          </a:p>
        </p:txBody>
      </p:sp>
      <p:sp>
        <p:nvSpPr>
          <p:cNvPr id="47" name="Szövegdoboz 46">
            <a:extLst>
              <a:ext uri="{FF2B5EF4-FFF2-40B4-BE49-F238E27FC236}">
                <a16:creationId xmlns:a16="http://schemas.microsoft.com/office/drawing/2014/main" id="{E719E44E-626D-5B26-B7B5-5D2BA2EE5C36}"/>
              </a:ext>
            </a:extLst>
          </p:cNvPr>
          <p:cNvSpPr txBox="1"/>
          <p:nvPr/>
        </p:nvSpPr>
        <p:spPr>
          <a:xfrm>
            <a:off x="11506658" y="4406586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s</a:t>
            </a:r>
          </a:p>
        </p:txBody>
      </p: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793F0854-3FFB-2666-C6F9-3B61176134C4}"/>
              </a:ext>
            </a:extLst>
          </p:cNvPr>
          <p:cNvSpPr txBox="1"/>
          <p:nvPr/>
        </p:nvSpPr>
        <p:spPr>
          <a:xfrm>
            <a:off x="10823220" y="586745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</a:t>
            </a: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D966397C-DB19-A036-CDFC-ACCEB790B049}"/>
              </a:ext>
            </a:extLst>
          </p:cNvPr>
          <p:cNvSpPr txBox="1"/>
          <p:nvPr/>
        </p:nvSpPr>
        <p:spPr>
          <a:xfrm>
            <a:off x="8484247" y="2564930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7F2CE7E1-18F8-CE52-20BC-B89EA9A872D2}"/>
              </a:ext>
            </a:extLst>
          </p:cNvPr>
          <p:cNvSpPr txBox="1"/>
          <p:nvPr/>
        </p:nvSpPr>
        <p:spPr>
          <a:xfrm>
            <a:off x="9377043" y="2545584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22F0EC84-C83C-4D1D-34CB-4C3D30A0D598}"/>
              </a:ext>
            </a:extLst>
          </p:cNvPr>
          <p:cNvSpPr txBox="1"/>
          <p:nvPr/>
        </p:nvSpPr>
        <p:spPr>
          <a:xfrm>
            <a:off x="8456868" y="209885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p</a:t>
            </a:r>
          </a:p>
        </p:txBody>
      </p:sp>
      <p:pic>
        <p:nvPicPr>
          <p:cNvPr id="55" name="Kép 54">
            <a:extLst>
              <a:ext uri="{FF2B5EF4-FFF2-40B4-BE49-F238E27FC236}">
                <a16:creationId xmlns:a16="http://schemas.microsoft.com/office/drawing/2014/main" id="{B27448AC-FD95-9D6E-6FEC-4397AEEA7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319" y="5812758"/>
            <a:ext cx="6408975" cy="899238"/>
          </a:xfrm>
          <a:prstGeom prst="rect">
            <a:avLst/>
          </a:prstGeom>
        </p:spPr>
      </p:pic>
      <p:sp>
        <p:nvSpPr>
          <p:cNvPr id="56" name="Szövegdoboz 55">
            <a:extLst>
              <a:ext uri="{FF2B5EF4-FFF2-40B4-BE49-F238E27FC236}">
                <a16:creationId xmlns:a16="http://schemas.microsoft.com/office/drawing/2014/main" id="{1E13F88B-9E7B-4245-4827-FA7981B29A50}"/>
              </a:ext>
            </a:extLst>
          </p:cNvPr>
          <p:cNvSpPr txBox="1"/>
          <p:nvPr/>
        </p:nvSpPr>
        <p:spPr>
          <a:xfrm>
            <a:off x="9404584" y="6045242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57" name="Szövegdoboz 56">
            <a:extLst>
              <a:ext uri="{FF2B5EF4-FFF2-40B4-BE49-F238E27FC236}">
                <a16:creationId xmlns:a16="http://schemas.microsoft.com/office/drawing/2014/main" id="{15B2CAC4-9677-9B9E-0DD8-20D73CCA5D29}"/>
              </a:ext>
            </a:extLst>
          </p:cNvPr>
          <p:cNvSpPr txBox="1"/>
          <p:nvPr/>
        </p:nvSpPr>
        <p:spPr>
          <a:xfrm>
            <a:off x="8442560" y="6079163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58" name="Szövegdoboz 57">
            <a:extLst>
              <a:ext uri="{FF2B5EF4-FFF2-40B4-BE49-F238E27FC236}">
                <a16:creationId xmlns:a16="http://schemas.microsoft.com/office/drawing/2014/main" id="{280D8E25-4FF4-8F6E-048F-202D15B6317C}"/>
              </a:ext>
            </a:extLst>
          </p:cNvPr>
          <p:cNvSpPr txBox="1"/>
          <p:nvPr/>
        </p:nvSpPr>
        <p:spPr>
          <a:xfrm>
            <a:off x="11324389" y="6093518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59" name="Szövegdoboz 58">
            <a:extLst>
              <a:ext uri="{FF2B5EF4-FFF2-40B4-BE49-F238E27FC236}">
                <a16:creationId xmlns:a16="http://schemas.microsoft.com/office/drawing/2014/main" id="{9A658504-3169-0DE2-9E47-5FA25DA81549}"/>
              </a:ext>
            </a:extLst>
          </p:cNvPr>
          <p:cNvSpPr txBox="1"/>
          <p:nvPr/>
        </p:nvSpPr>
        <p:spPr>
          <a:xfrm>
            <a:off x="7490806" y="6079163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60" name="Szövegdoboz 59">
            <a:extLst>
              <a:ext uri="{FF2B5EF4-FFF2-40B4-BE49-F238E27FC236}">
                <a16:creationId xmlns:a16="http://schemas.microsoft.com/office/drawing/2014/main" id="{0A78066C-FF2C-E006-4B9A-9385B62A8E58}"/>
              </a:ext>
            </a:extLst>
          </p:cNvPr>
          <p:cNvSpPr txBox="1"/>
          <p:nvPr/>
        </p:nvSpPr>
        <p:spPr>
          <a:xfrm>
            <a:off x="10335474" y="6058262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65" name="Szövegdoboz 64">
            <a:extLst>
              <a:ext uri="{FF2B5EF4-FFF2-40B4-BE49-F238E27FC236}">
                <a16:creationId xmlns:a16="http://schemas.microsoft.com/office/drawing/2014/main" id="{7B90DBAD-B261-5BCD-B83C-0C4C7E3ABDBD}"/>
              </a:ext>
            </a:extLst>
          </p:cNvPr>
          <p:cNvSpPr txBox="1"/>
          <p:nvPr/>
        </p:nvSpPr>
        <p:spPr>
          <a:xfrm>
            <a:off x="9429694" y="3333347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66" name="Szövegdoboz 65">
            <a:extLst>
              <a:ext uri="{FF2B5EF4-FFF2-40B4-BE49-F238E27FC236}">
                <a16:creationId xmlns:a16="http://schemas.microsoft.com/office/drawing/2014/main" id="{31495E5E-5C8D-481F-38AA-4A6808189151}"/>
              </a:ext>
            </a:extLst>
          </p:cNvPr>
          <p:cNvSpPr txBox="1"/>
          <p:nvPr/>
        </p:nvSpPr>
        <p:spPr>
          <a:xfrm>
            <a:off x="10473334" y="334737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s</a:t>
            </a:r>
          </a:p>
        </p:txBody>
      </p:sp>
      <p:sp>
        <p:nvSpPr>
          <p:cNvPr id="67" name="Szövegdoboz 66">
            <a:extLst>
              <a:ext uri="{FF2B5EF4-FFF2-40B4-BE49-F238E27FC236}">
                <a16:creationId xmlns:a16="http://schemas.microsoft.com/office/drawing/2014/main" id="{8B7DB246-7370-AB92-6ACF-8CA99B8EF961}"/>
              </a:ext>
            </a:extLst>
          </p:cNvPr>
          <p:cNvSpPr txBox="1"/>
          <p:nvPr/>
        </p:nvSpPr>
        <p:spPr>
          <a:xfrm>
            <a:off x="9494743" y="209307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s</a:t>
            </a:r>
          </a:p>
        </p:txBody>
      </p:sp>
      <p:sp>
        <p:nvSpPr>
          <p:cNvPr id="68" name="Szövegdoboz 67">
            <a:extLst>
              <a:ext uri="{FF2B5EF4-FFF2-40B4-BE49-F238E27FC236}">
                <a16:creationId xmlns:a16="http://schemas.microsoft.com/office/drawing/2014/main" id="{B9D7F109-B5F2-6D95-7D1B-44C48808CD3F}"/>
              </a:ext>
            </a:extLst>
          </p:cNvPr>
          <p:cNvSpPr txBox="1"/>
          <p:nvPr/>
        </p:nvSpPr>
        <p:spPr>
          <a:xfrm>
            <a:off x="9342578" y="207751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70" name="Szövegdoboz 69">
            <a:extLst>
              <a:ext uri="{FF2B5EF4-FFF2-40B4-BE49-F238E27FC236}">
                <a16:creationId xmlns:a16="http://schemas.microsoft.com/office/drawing/2014/main" id="{69358752-6BAF-1336-7703-940BF6F7613E}"/>
              </a:ext>
            </a:extLst>
          </p:cNvPr>
          <p:cNvSpPr txBox="1"/>
          <p:nvPr/>
        </p:nvSpPr>
        <p:spPr>
          <a:xfrm>
            <a:off x="11390700" y="4993163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71" name="Szövegdoboz 70">
            <a:extLst>
              <a:ext uri="{FF2B5EF4-FFF2-40B4-BE49-F238E27FC236}">
                <a16:creationId xmlns:a16="http://schemas.microsoft.com/office/drawing/2014/main" id="{FB67DD26-8887-05AF-E412-A46646607B47}"/>
              </a:ext>
            </a:extLst>
          </p:cNvPr>
          <p:cNvSpPr txBox="1"/>
          <p:nvPr/>
        </p:nvSpPr>
        <p:spPr>
          <a:xfrm>
            <a:off x="8452578" y="4993163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72" name="Szövegdoboz 71">
            <a:extLst>
              <a:ext uri="{FF2B5EF4-FFF2-40B4-BE49-F238E27FC236}">
                <a16:creationId xmlns:a16="http://schemas.microsoft.com/office/drawing/2014/main" id="{1CBA83D3-6356-4C29-74FE-0BF6A1AA5B2F}"/>
              </a:ext>
            </a:extLst>
          </p:cNvPr>
          <p:cNvSpPr txBox="1"/>
          <p:nvPr/>
        </p:nvSpPr>
        <p:spPr>
          <a:xfrm>
            <a:off x="10384627" y="5015607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73" name="Szövegdoboz 72">
            <a:extLst>
              <a:ext uri="{FF2B5EF4-FFF2-40B4-BE49-F238E27FC236}">
                <a16:creationId xmlns:a16="http://schemas.microsoft.com/office/drawing/2014/main" id="{5B211BF0-37C1-F86D-017F-FF5407039D59}"/>
              </a:ext>
            </a:extLst>
          </p:cNvPr>
          <p:cNvSpPr txBox="1"/>
          <p:nvPr/>
        </p:nvSpPr>
        <p:spPr>
          <a:xfrm>
            <a:off x="7504187" y="5002905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74" name="Szövegdoboz 73">
            <a:extLst>
              <a:ext uri="{FF2B5EF4-FFF2-40B4-BE49-F238E27FC236}">
                <a16:creationId xmlns:a16="http://schemas.microsoft.com/office/drawing/2014/main" id="{E24FC4AA-7A44-F3F7-43FC-C96D84DCC28B}"/>
              </a:ext>
            </a:extLst>
          </p:cNvPr>
          <p:cNvSpPr txBox="1"/>
          <p:nvPr/>
        </p:nvSpPr>
        <p:spPr>
          <a:xfrm>
            <a:off x="9395712" y="4980351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81" name="Szövegdoboz 80">
            <a:extLst>
              <a:ext uri="{FF2B5EF4-FFF2-40B4-BE49-F238E27FC236}">
                <a16:creationId xmlns:a16="http://schemas.microsoft.com/office/drawing/2014/main" id="{A08394E7-F6C1-2F6A-FF78-94F2364EC193}"/>
              </a:ext>
            </a:extLst>
          </p:cNvPr>
          <p:cNvSpPr txBox="1"/>
          <p:nvPr/>
        </p:nvSpPr>
        <p:spPr>
          <a:xfrm>
            <a:off x="9546302" y="43352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p</a:t>
            </a:r>
          </a:p>
        </p:txBody>
      </p:sp>
      <p:sp>
        <p:nvSpPr>
          <p:cNvPr id="83" name="Szövegdoboz 82">
            <a:extLst>
              <a:ext uri="{FF2B5EF4-FFF2-40B4-BE49-F238E27FC236}">
                <a16:creationId xmlns:a16="http://schemas.microsoft.com/office/drawing/2014/main" id="{1BBACC61-C536-3688-F792-E5FC85E5C554}"/>
              </a:ext>
            </a:extLst>
          </p:cNvPr>
          <p:cNvSpPr txBox="1"/>
          <p:nvPr/>
        </p:nvSpPr>
        <p:spPr>
          <a:xfrm>
            <a:off x="10823220" y="586651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3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73E636CB-E165-9A45-7002-C392828D1361}"/>
              </a:ext>
            </a:extLst>
          </p:cNvPr>
          <p:cNvSpPr txBox="1"/>
          <p:nvPr/>
        </p:nvSpPr>
        <p:spPr>
          <a:xfrm>
            <a:off x="6601519" y="207323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p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A223F002-78B8-FE08-AD61-66A46CF29699}"/>
              </a:ext>
            </a:extLst>
          </p:cNvPr>
          <p:cNvSpPr txBox="1"/>
          <p:nvPr/>
        </p:nvSpPr>
        <p:spPr>
          <a:xfrm>
            <a:off x="7534396" y="32531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p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543261DA-2361-3357-EA9C-7A23B0884094}"/>
              </a:ext>
            </a:extLst>
          </p:cNvPr>
          <p:cNvSpPr txBox="1"/>
          <p:nvPr/>
        </p:nvSpPr>
        <p:spPr>
          <a:xfrm>
            <a:off x="8472769" y="558011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p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1C202248-53FB-DDCC-0823-A60879971F25}"/>
              </a:ext>
            </a:extLst>
          </p:cNvPr>
          <p:cNvSpPr txBox="1"/>
          <p:nvPr/>
        </p:nvSpPr>
        <p:spPr>
          <a:xfrm>
            <a:off x="7531739" y="2106846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s</a:t>
            </a:r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6A2769CD-3206-4D33-394E-F5AC17E17A4D}"/>
              </a:ext>
            </a:extLst>
          </p:cNvPr>
          <p:cNvSpPr txBox="1"/>
          <p:nvPr/>
        </p:nvSpPr>
        <p:spPr>
          <a:xfrm>
            <a:off x="8487802" y="329382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s</a:t>
            </a:r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10B07E87-6727-9E5A-A0F7-072FE1DE8455}"/>
              </a:ext>
            </a:extLst>
          </p:cNvPr>
          <p:cNvSpPr txBox="1"/>
          <p:nvPr/>
        </p:nvSpPr>
        <p:spPr>
          <a:xfrm>
            <a:off x="9430929" y="5605290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s</a:t>
            </a:r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13E4B60A-1899-0D78-AB54-AF82662B2732}"/>
              </a:ext>
            </a:extLst>
          </p:cNvPr>
          <p:cNvSpPr txBox="1"/>
          <p:nvPr/>
        </p:nvSpPr>
        <p:spPr>
          <a:xfrm>
            <a:off x="6517247" y="561995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s</a:t>
            </a:r>
          </a:p>
        </p:txBody>
      </p:sp>
      <p:sp>
        <p:nvSpPr>
          <p:cNvPr id="44" name="Szövegdoboz 43">
            <a:extLst>
              <a:ext uri="{FF2B5EF4-FFF2-40B4-BE49-F238E27FC236}">
                <a16:creationId xmlns:a16="http://schemas.microsoft.com/office/drawing/2014/main" id="{A5ABE37C-B363-FB24-B70C-9FB33C33984F}"/>
              </a:ext>
            </a:extLst>
          </p:cNvPr>
          <p:cNvSpPr txBox="1"/>
          <p:nvPr/>
        </p:nvSpPr>
        <p:spPr>
          <a:xfrm>
            <a:off x="11415305" y="563640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26276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96296E-6 L 0.06797 -0.00069 " pathEditMode="relative" rAng="0" ptsTypes="AA">
                                      <p:cBhvr>
                                        <p:cTn id="202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0.0806 0.00162 " pathEditMode="relative" rAng="0" ptsTypes="AA">
                                      <p:cBhvr>
                                        <p:cTn id="206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23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22222E-6 L -0.09127 0.00139 " pathEditMode="relative" rAng="0" ptsTypes="AA">
                                      <p:cBhvr>
                                        <p:cTn id="261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7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7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8" grpId="0"/>
      <p:bldP spid="18" grpId="1"/>
      <p:bldP spid="18" grpId="2"/>
      <p:bldP spid="19" grpId="0"/>
      <p:bldP spid="21" grpId="0"/>
      <p:bldP spid="21" grpId="1"/>
      <p:bldP spid="24" grpId="0"/>
      <p:bldP spid="24" grpId="1"/>
      <p:bldP spid="31" grpId="0"/>
      <p:bldP spid="31" grpId="1"/>
      <p:bldP spid="31" grpId="2"/>
      <p:bldP spid="31" grpId="3"/>
      <p:bldP spid="31" grpId="4"/>
      <p:bldP spid="31" grpId="5"/>
      <p:bldP spid="20" grpId="0"/>
      <p:bldP spid="20" grpId="1"/>
      <p:bldP spid="32" grpId="0"/>
      <p:bldP spid="32" grpId="1"/>
      <p:bldP spid="33" grpId="0"/>
      <p:bldP spid="33" grpId="1"/>
      <p:bldP spid="33" grpId="2"/>
      <p:bldP spid="37" grpId="0"/>
      <p:bldP spid="37" grpId="1"/>
      <p:bldP spid="37" grpId="2"/>
      <p:bldP spid="39" grpId="0"/>
      <p:bldP spid="40" grpId="0"/>
      <p:bldP spid="41" grpId="0"/>
      <p:bldP spid="42" grpId="0"/>
      <p:bldP spid="43" grpId="0"/>
      <p:bldP spid="46" grpId="0"/>
      <p:bldP spid="46" grpId="1"/>
      <p:bldP spid="47" grpId="0"/>
      <p:bldP spid="47" grpId="1"/>
      <p:bldP spid="50" grpId="0"/>
      <p:bldP spid="50" grpId="1"/>
      <p:bldP spid="52" grpId="0"/>
      <p:bldP spid="52" grpId="1"/>
      <p:bldP spid="53" grpId="0"/>
      <p:bldP spid="53" grpId="1"/>
      <p:bldP spid="54" grpId="0"/>
      <p:bldP spid="54" grpId="1"/>
      <p:bldP spid="56" grpId="0"/>
      <p:bldP spid="57" grpId="0"/>
      <p:bldP spid="58" grpId="0"/>
      <p:bldP spid="59" grpId="0"/>
      <p:bldP spid="60" grpId="0"/>
      <p:bldP spid="65" grpId="0"/>
      <p:bldP spid="65" grpId="1"/>
      <p:bldP spid="65" grpId="2"/>
      <p:bldP spid="66" grpId="0"/>
      <p:bldP spid="66" grpId="1"/>
      <p:bldP spid="66" grpId="2"/>
      <p:bldP spid="67" grpId="0"/>
      <p:bldP spid="67" grpId="1"/>
      <p:bldP spid="68" grpId="0"/>
      <p:bldP spid="68" grpId="1"/>
      <p:bldP spid="70" grpId="0"/>
      <p:bldP spid="70" grpId="1"/>
      <p:bldP spid="70" grpId="2"/>
      <p:bldP spid="71" grpId="0"/>
      <p:bldP spid="72" grpId="0"/>
      <p:bldP spid="73" grpId="0"/>
      <p:bldP spid="73" grpId="1"/>
      <p:bldP spid="74" grpId="0"/>
      <p:bldP spid="81" grpId="0"/>
      <p:bldP spid="81" grpId="1"/>
      <p:bldP spid="81" grpId="2"/>
      <p:bldP spid="83" grpId="0"/>
      <p:bldP spid="83" grpId="1"/>
      <p:bldP spid="8" grpId="0"/>
      <p:bldP spid="8" grpId="1"/>
      <p:bldP spid="25" grpId="0"/>
      <p:bldP spid="25" grpId="1"/>
      <p:bldP spid="27" grpId="0"/>
      <p:bldP spid="27" grpId="1"/>
      <p:bldP spid="29" grpId="0"/>
      <p:bldP spid="29" grpId="1"/>
      <p:bldP spid="30" grpId="0"/>
      <p:bldP spid="30" grpId="1"/>
      <p:bldP spid="34" grpId="0"/>
      <p:bldP spid="34" grpId="1"/>
      <p:bldP spid="35" grpId="0"/>
      <p:bldP spid="44" grpId="0"/>
      <p:bldP spid="44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C1F8B1-FDF6-28CB-27B5-4363D275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711" y="133350"/>
            <a:ext cx="10018713" cy="909735"/>
          </a:xfrm>
        </p:spPr>
        <p:txBody>
          <a:bodyPr>
            <a:normAutofit/>
          </a:bodyPr>
          <a:lstStyle/>
          <a:p>
            <a:r>
              <a:rPr lang="hu-HU"/>
              <a:t>Halmazműveletek </a:t>
            </a:r>
            <a:r>
              <a:rPr lang="hu-HU" err="1"/>
              <a:t>szig</a:t>
            </a:r>
            <a:r>
              <a:rPr lang="hu-HU"/>
              <a:t>. </a:t>
            </a:r>
            <a:r>
              <a:rPr lang="hu-HU" err="1"/>
              <a:t>mon</a:t>
            </a:r>
            <a:r>
              <a:rPr lang="hu-HU"/>
              <a:t>. </a:t>
            </a:r>
            <a:r>
              <a:rPr lang="hu-HU" err="1"/>
              <a:t>növő</a:t>
            </a:r>
            <a:r>
              <a:rPr lang="hu-HU"/>
              <a:t> C2L listákra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6A33A6-1C3C-B7A8-1A3A-6CAE925A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673" y="2716183"/>
            <a:ext cx="4169212" cy="4008467"/>
          </a:xfrm>
        </p:spPr>
        <p:txBody>
          <a:bodyPr anchor="t">
            <a:normAutofit fontScale="92500"/>
          </a:bodyPr>
          <a:lstStyle/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dirty="0">
                <a:ea typeface="Calibri" panose="020F0502020204030204" pitchFamily="34" charset="0"/>
                <a:cs typeface="Times New Roman" panose="02020603050405020304" pitchFamily="18" charset="0"/>
              </a:rPr>
              <a:t>Feltételek:</a:t>
            </a:r>
          </a:p>
          <a:p>
            <a:pPr marL="800100" lvl="1" indent="-342900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2400" dirty="0">
                <a:ea typeface="Calibri" panose="020F0502020204030204" pitchFamily="34" charset="0"/>
                <a:cs typeface="Times New Roman" panose="02020603050405020304" pitchFamily="18" charset="0"/>
              </a:rPr>
              <a:t>Csak listaelemek átfűzése</a:t>
            </a:r>
          </a:p>
          <a:p>
            <a:pPr marL="1257300" lvl="2" indent="-342900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dirty="0">
                <a:ea typeface="Calibri" panose="020F0502020204030204" pitchFamily="34" charset="0"/>
                <a:cs typeface="Times New Roman" panose="02020603050405020304" pitchFamily="18" charset="0"/>
              </a:rPr>
              <a:t>Nincs allokálás/ </a:t>
            </a:r>
            <a:r>
              <a:rPr lang="hu-HU" dirty="0" err="1">
                <a:ea typeface="Calibri" panose="020F0502020204030204" pitchFamily="34" charset="0"/>
                <a:cs typeface="Times New Roman" panose="02020603050405020304" pitchFamily="18" charset="0"/>
              </a:rPr>
              <a:t>deallokálás</a:t>
            </a:r>
            <a:endParaRPr lang="hu-H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24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MT</a:t>
            </a:r>
            <a:r>
              <a:rPr lang="hu-H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hu-HU" sz="2400" b="1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b="1" i="1" baseline="-25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hu-HU" sz="24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b="1" i="1" baseline="-25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hu-HU" sz="2400" b="1" dirty="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∈</a:t>
            </a:r>
            <a:r>
              <a:rPr lang="hu-H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Θ(</a:t>
            </a:r>
            <a:r>
              <a:rPr lang="hu-HU" sz="2400" b="1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b="1" i="1" baseline="-25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+</a:t>
            </a:r>
            <a:r>
              <a:rPr lang="hu-HU" sz="24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n</a:t>
            </a:r>
            <a:r>
              <a:rPr lang="hu-HU" sz="2400" b="1" i="1" baseline="-25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lvl="2">
              <a:lnSpc>
                <a:spcPct val="107000"/>
              </a:lnSpc>
              <a:tabLst>
                <a:tab pos="457200" algn="l"/>
              </a:tabLst>
            </a:pPr>
            <a:r>
              <a:rPr lang="hu-HU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i="1" baseline="-25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C2L hossza: </a:t>
            </a:r>
            <a:r>
              <a:rPr lang="hu-HU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i="1" baseline="-25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endParaRPr lang="hu-HU" i="1" baseline="-25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tabLst>
                <a:tab pos="457200" algn="l"/>
              </a:tabLst>
            </a:pPr>
            <a:r>
              <a:rPr lang="hu-HU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i="1" baseline="-25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C2L hossza: </a:t>
            </a:r>
            <a:r>
              <a:rPr lang="hu-HU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i="1" baseline="-25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Minkét lista marad </a:t>
            </a: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Szig</a:t>
            </a:r>
            <a:r>
              <a:rPr lang="hu-HU" dirty="0">
                <a:ea typeface="Calibri" panose="020F0502020204030204" pitchFamily="34" charset="0"/>
                <a:cs typeface="Times New Roman" panose="02020603050405020304" pitchFamily="18" charset="0"/>
              </a:rPr>
              <a:t>orúan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monoton </a:t>
            </a:r>
            <a:b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hu-HU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növekvően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rendezett C2L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1E95ED3-1CB9-7EE1-0A93-13B9BE4FB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399" y="2735220"/>
            <a:ext cx="6467466" cy="363838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8" name="Tartalom helye 2">
            <a:extLst>
              <a:ext uri="{FF2B5EF4-FFF2-40B4-BE49-F238E27FC236}">
                <a16:creationId xmlns:a16="http://schemas.microsoft.com/office/drawing/2014/main" id="{2B208698-7474-E3A8-BE5B-7B74BBECC72C}"/>
              </a:ext>
            </a:extLst>
          </p:cNvPr>
          <p:cNvSpPr txBox="1">
            <a:spLocks/>
          </p:cNvSpPr>
          <p:nvPr/>
        </p:nvSpPr>
        <p:spPr>
          <a:xfrm>
            <a:off x="1543402" y="1043085"/>
            <a:ext cx="5212399" cy="1673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unionIntersection</a:t>
            </a:r>
            <a:r>
              <a:rPr lang="hu-HU" b="1" dirty="0"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hu-HU" b="1" i="1" dirty="0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b="1" i="1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b="1" i="1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hu-HU" b="1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b="1" i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b="1" dirty="0">
                <a:ea typeface="Calibri" panose="020F0502020204030204" pitchFamily="34" charset="0"/>
                <a:cs typeface="Times New Roman" panose="02020603050405020304" pitchFamily="18" charset="0"/>
              </a:rPr>
              <a:t> : E2*) </a:t>
            </a:r>
          </a:p>
          <a:p>
            <a:pPr marL="800100" lvl="1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1800" i="1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és </a:t>
            </a:r>
            <a:r>
              <a:rPr lang="hu-HU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1800" i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hu-HU" sz="1800" dirty="0" err="1">
                <a:ea typeface="Calibri" panose="020F0502020204030204" pitchFamily="34" charset="0"/>
                <a:cs typeface="Times New Roman" panose="02020603050405020304" pitchFamily="18" charset="0"/>
              </a:rPr>
              <a:t>szig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hu-HU" sz="1800" dirty="0" err="1">
                <a:ea typeface="Calibri" panose="020F0502020204030204" pitchFamily="34" charset="0"/>
                <a:cs typeface="Times New Roman" panose="02020603050405020304" pitchFamily="18" charset="0"/>
              </a:rPr>
              <a:t>mon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hu-HU" sz="1800" dirty="0" err="1">
                <a:ea typeface="Calibri" panose="020F0502020204030204" pitchFamily="34" charset="0"/>
                <a:cs typeface="Times New Roman" panose="02020603050405020304" pitchFamily="18" charset="0"/>
              </a:rPr>
              <a:t>növő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rendezett C2L-ek</a:t>
            </a:r>
          </a:p>
          <a:p>
            <a:pPr marL="800100" lvl="1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1800" i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megfelelő elemeit átfűzi a </a:t>
            </a:r>
            <a:r>
              <a:rPr lang="hu-HU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1800" i="1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listába 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F0F76F5A-F9F3-6926-6D31-18181F742750}"/>
              </a:ext>
            </a:extLst>
          </p:cNvPr>
          <p:cNvSpPr txBox="1">
            <a:spLocks/>
          </p:cNvSpPr>
          <p:nvPr/>
        </p:nvSpPr>
        <p:spPr>
          <a:xfrm>
            <a:off x="7081520" y="1062122"/>
            <a:ext cx="5019075" cy="1781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2000" dirty="0">
                <a:ea typeface="Calibri" panose="020F0502020204030204" pitchFamily="34" charset="0"/>
                <a:cs typeface="Times New Roman" panose="02020603050405020304" pitchFamily="18" charset="0"/>
              </a:rPr>
              <a:t>Eredmény:</a:t>
            </a:r>
          </a:p>
          <a:p>
            <a:pPr marL="800100" lvl="1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18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1800" b="1" i="1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listában: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sz="1400" dirty="0">
                <a:ea typeface="Calibri" panose="020F0502020204030204" pitchFamily="34" charset="0"/>
                <a:cs typeface="Times New Roman" panose="02020603050405020304" pitchFamily="18" charset="0"/>
              </a:rPr>
              <a:t>az eredeti listák ~ halmazok </a:t>
            </a:r>
            <a:r>
              <a:rPr lang="hu-HU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uniója</a:t>
            </a:r>
          </a:p>
          <a:p>
            <a:pPr marL="800100" lvl="1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1800" b="1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1800" b="1" i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listában: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a metszetük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marad</a:t>
            </a:r>
          </a:p>
        </p:txBody>
      </p:sp>
      <p:sp>
        <p:nvSpPr>
          <p:cNvPr id="5" name="Nyíl: jobbra mutató 4">
            <a:extLst>
              <a:ext uri="{FF2B5EF4-FFF2-40B4-BE49-F238E27FC236}">
                <a16:creationId xmlns:a16="http://schemas.microsoft.com/office/drawing/2014/main" id="{2FEF2AE0-3EF8-967C-0050-7C20D4235D51}"/>
              </a:ext>
            </a:extLst>
          </p:cNvPr>
          <p:cNvSpPr/>
          <p:nvPr/>
        </p:nvSpPr>
        <p:spPr>
          <a:xfrm>
            <a:off x="6646067" y="1952819"/>
            <a:ext cx="435453" cy="221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ekercs: vízszintes 6">
            <a:extLst>
              <a:ext uri="{FF2B5EF4-FFF2-40B4-BE49-F238E27FC236}">
                <a16:creationId xmlns:a16="http://schemas.microsoft.com/office/drawing/2014/main" id="{AE3613BD-5AAB-4E79-F0B9-890EB691D584}"/>
              </a:ext>
            </a:extLst>
          </p:cNvPr>
          <p:cNvSpPr/>
          <p:nvPr/>
        </p:nvSpPr>
        <p:spPr>
          <a:xfrm>
            <a:off x="2065468" y="4039718"/>
            <a:ext cx="2829261" cy="613062"/>
          </a:xfrm>
          <a:prstGeom prst="horizontalScroll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90057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F29B2-BE5D-294F-FA5C-88B08BD4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B2F45B-1D19-9BEF-2D77-B9846B9D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1616"/>
            <a:ext cx="10018713" cy="1308370"/>
          </a:xfrm>
        </p:spPr>
        <p:txBody>
          <a:bodyPr/>
          <a:lstStyle/>
          <a:p>
            <a:r>
              <a:rPr lang="hu-HU" dirty="0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0ABF4C-2B63-82A7-C9A3-5B72A2B9B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39986"/>
            <a:ext cx="10188881" cy="4832213"/>
          </a:xfrm>
        </p:spPr>
        <p:txBody>
          <a:bodyPr>
            <a:normAutofit/>
          </a:bodyPr>
          <a:lstStyle/>
          <a:p>
            <a:pPr algn="just"/>
            <a:r>
              <a:rPr lang="hu-HU" dirty="0"/>
              <a:t>Melyek a tanult lineáris adatszerkezetek? Mennyi ezeknek a beszúrás, a törlés, illetve az </a:t>
            </a:r>
            <a:r>
              <a:rPr lang="hu-HU" i="1" dirty="0"/>
              <a:t>i</a:t>
            </a:r>
            <a:r>
              <a:rPr lang="hu-HU" dirty="0"/>
              <a:t>. elem elérésének a műveletigénye?</a:t>
            </a:r>
          </a:p>
          <a:p>
            <a:pPr algn="just"/>
            <a:r>
              <a:rPr lang="hu-HU" dirty="0"/>
              <a:t>Milyen típusú láncolt listát ismer? Mik az egyes típusok előnyei és hátrányai?</a:t>
            </a:r>
          </a:p>
          <a:p>
            <a:pPr algn="just"/>
            <a:r>
              <a:rPr lang="hu-HU" dirty="0"/>
              <a:t>Adja meg a </a:t>
            </a:r>
            <a:r>
              <a:rPr lang="hu-HU" dirty="0" err="1"/>
              <a:t>Stack</a:t>
            </a:r>
            <a:r>
              <a:rPr lang="hu-HU" dirty="0"/>
              <a:t>/</a:t>
            </a:r>
            <a:r>
              <a:rPr lang="hu-HU" dirty="0" err="1"/>
              <a:t>Queue</a:t>
            </a:r>
            <a:r>
              <a:rPr lang="hu-HU" dirty="0"/>
              <a:t> osztályok – egyirányú, nem ciklikus, láncolt listás reprezentációra alapozott - leírását, a metódusok </a:t>
            </a:r>
            <a:r>
              <a:rPr lang="hu-HU" dirty="0" err="1"/>
              <a:t>struktogramjaival</a:t>
            </a:r>
            <a:r>
              <a:rPr lang="hu-HU" dirty="0"/>
              <a:t> együtt! Mennyi a verem egyes műveleteinek a futási ideje? Miért?</a:t>
            </a:r>
          </a:p>
          <a:p>
            <a:pPr algn="just"/>
            <a:r>
              <a:rPr lang="hu-HU" dirty="0"/>
              <a:t>Adja meg a </a:t>
            </a:r>
            <a:r>
              <a:rPr lang="hu-HU" dirty="0" err="1"/>
              <a:t>Queue</a:t>
            </a:r>
            <a:r>
              <a:rPr lang="hu-HU" dirty="0"/>
              <a:t> osztályok – egyirányú, ciklikus, fejelemes láncolt listás reprezentációra alapozott - leírását, a metódusok </a:t>
            </a:r>
            <a:r>
              <a:rPr lang="hu-HU" dirty="0" err="1"/>
              <a:t>struktogramjaival</a:t>
            </a:r>
            <a:r>
              <a:rPr lang="hu-HU" dirty="0"/>
              <a:t> együtt! Mennyi a verem egyes műveleteinek a futási ideje? Miért?</a:t>
            </a:r>
          </a:p>
        </p:txBody>
      </p:sp>
    </p:spTree>
    <p:extLst>
      <p:ext uri="{BB962C8B-B14F-4D97-AF65-F5344CB8AC3E}">
        <p14:creationId xmlns:p14="http://schemas.microsoft.com/office/powerpoint/2010/main" val="1201313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E3E27B-C0D2-687C-91E9-AA51A453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28601"/>
            <a:ext cx="10018713" cy="1070263"/>
          </a:xfrm>
        </p:spPr>
        <p:txBody>
          <a:bodyPr/>
          <a:lstStyle/>
          <a:p>
            <a:r>
              <a:rPr lang="hu-HU" dirty="0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253D2E-D2FA-577A-E1F7-B012A9D79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463040"/>
            <a:ext cx="10188881" cy="4866640"/>
          </a:xfrm>
        </p:spPr>
        <p:txBody>
          <a:bodyPr>
            <a:normAutofit/>
          </a:bodyPr>
          <a:lstStyle/>
          <a:p>
            <a:r>
              <a:rPr lang="hu-HU" dirty="0"/>
              <a:t>Adja meg a Kétirányú ciklikus listák műveleteit!</a:t>
            </a:r>
          </a:p>
          <a:p>
            <a:r>
              <a:rPr lang="hu-HU" dirty="0"/>
              <a:t>Írja meg a tanult rendező algoritmusokat C2L listára!</a:t>
            </a:r>
          </a:p>
          <a:p>
            <a:pPr algn="l"/>
            <a:r>
              <a:rPr lang="hu-HU" dirty="0"/>
              <a:t>Adott két szigorúan monoton növekedően rendezett C2L. Írjon eljárást, mely a megfelelő elemek átfűzésével előállítja a két lista mint halmazok unióját az első listába! A másik lista lebontható!</a:t>
            </a:r>
          </a:p>
          <a:p>
            <a:pPr lvl="1"/>
            <a:r>
              <a:rPr lang="hu-HU" dirty="0"/>
              <a:t>Írjon eljárást, mely az előző feladathoz hasonlóan a következő halmazműveleteket oldja meg:</a:t>
            </a:r>
          </a:p>
          <a:p>
            <a:pPr lvl="2"/>
            <a:r>
              <a:rPr lang="hu-HU" dirty="0"/>
              <a:t>Két halmaz metszetét</a:t>
            </a:r>
          </a:p>
          <a:p>
            <a:pPr lvl="2"/>
            <a:r>
              <a:rPr lang="hu-HU" dirty="0"/>
              <a:t>Két halmaz különbségét</a:t>
            </a:r>
          </a:p>
          <a:p>
            <a:pPr lvl="2"/>
            <a:r>
              <a:rPr lang="hu-HU" dirty="0"/>
              <a:t>Két halmaz szimmetrikus differenciáját</a:t>
            </a:r>
          </a:p>
        </p:txBody>
      </p:sp>
    </p:spTree>
    <p:extLst>
      <p:ext uri="{BB962C8B-B14F-4D97-AF65-F5344CB8AC3E}">
        <p14:creationId xmlns:p14="http://schemas.microsoft.com/office/powerpoint/2010/main" val="2972061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32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0" name="Group 34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Cím 3">
            <a:extLst>
              <a:ext uri="{FF2B5EF4-FFF2-40B4-BE49-F238E27FC236}">
                <a16:creationId xmlns:a16="http://schemas.microsoft.com/office/drawing/2014/main" id="{8F251FD5-D2E8-68E0-BD0A-F68C306E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1405218"/>
            <a:ext cx="6698127" cy="3415104"/>
          </a:xfrm>
        </p:spPr>
        <p:txBody>
          <a:bodyPr anchor="ctr">
            <a:normAutofit/>
          </a:bodyPr>
          <a:lstStyle/>
          <a:p>
            <a:r>
              <a:rPr lang="hu-HU" b="1" dirty="0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745FFA0C-393D-A955-DE5F-405BE088C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61150" y="4333462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 dirty="0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BF61895-45AB-51B6-C9CB-6F5A07F2E42D}"/>
              </a:ext>
            </a:extLst>
          </p:cNvPr>
          <p:cNvSpPr txBox="1"/>
          <p:nvPr/>
        </p:nvSpPr>
        <p:spPr>
          <a:xfrm>
            <a:off x="5117105" y="5291222"/>
            <a:ext cx="6698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hu-HU" sz="2000" dirty="0"/>
              <a:t>A bemutató Ásványi Tibor: </a:t>
            </a:r>
            <a:r>
              <a:rPr lang="hu-HU" sz="2000" b="0" i="0" u="none" strike="noStrike" baseline="0" dirty="0">
                <a:latin typeface="F30"/>
              </a:rPr>
              <a:t>Algoritmusok és adatszerkezetek I.</a:t>
            </a:r>
          </a:p>
          <a:p>
            <a:pPr algn="r"/>
            <a:r>
              <a:rPr lang="hu-HU" sz="2000" dirty="0">
                <a:latin typeface="F30"/>
              </a:rPr>
              <a:t>e</a:t>
            </a:r>
            <a:r>
              <a:rPr lang="hu-HU" sz="2000" b="0" i="0" u="none" strike="noStrike" baseline="0" dirty="0">
                <a:latin typeface="F30"/>
              </a:rPr>
              <a:t>lőadásjegyzete alapján készült.</a:t>
            </a:r>
          </a:p>
        </p:txBody>
      </p:sp>
    </p:spTree>
    <p:extLst>
      <p:ext uri="{BB962C8B-B14F-4D97-AF65-F5344CB8AC3E}">
        <p14:creationId xmlns:p14="http://schemas.microsoft.com/office/powerpoint/2010/main" val="548089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434</TotalTime>
  <Words>1729</Words>
  <Application>Microsoft Office PowerPoint</Application>
  <PresentationFormat>Szélesvásznú</PresentationFormat>
  <Paragraphs>317</Paragraphs>
  <Slides>29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29</vt:i4>
      </vt:variant>
    </vt:vector>
  </HeadingPairs>
  <TitlesOfParts>
    <vt:vector size="43" baseType="lpstr">
      <vt:lpstr>Aptos</vt:lpstr>
      <vt:lpstr>Arial</vt:lpstr>
      <vt:lpstr>Calibri</vt:lpstr>
      <vt:lpstr>Cambria Math</vt:lpstr>
      <vt:lpstr>CMMI12</vt:lpstr>
      <vt:lpstr>CMR12</vt:lpstr>
      <vt:lpstr>Corbel</vt:lpstr>
      <vt:lpstr>F29</vt:lpstr>
      <vt:lpstr>F30</vt:lpstr>
      <vt:lpstr>F48</vt:lpstr>
      <vt:lpstr>F78</vt:lpstr>
      <vt:lpstr>Times New Roman</vt:lpstr>
      <vt:lpstr>Wingdings</vt:lpstr>
      <vt:lpstr>Parallax</vt:lpstr>
      <vt:lpstr>Algoritmusok és adatszerkezetek I. 2. Előadás</vt:lpstr>
      <vt:lpstr>Lineáris adatszerkezetek</vt:lpstr>
      <vt:lpstr>Egyirányú listák (one-way or singly linked lists)</vt:lpstr>
      <vt:lpstr>Egyirányú listák elemeinek osztálya</vt:lpstr>
      <vt:lpstr>Egyszerű egyirányú listák (S1L = Simple 1-way List)</vt:lpstr>
      <vt:lpstr>Példa: egyszerű egyirányú lista (S1L) hossza</vt:lpstr>
      <vt:lpstr>Fejelemes listák (H1L = Header node + 1-way List)</vt:lpstr>
      <vt:lpstr>Egyirányú listák alapműveletei</vt:lpstr>
      <vt:lpstr>Egyirányú listák további műveletei</vt:lpstr>
      <vt:lpstr>Műveletek egyirányú listákon: Keresés* </vt:lpstr>
      <vt:lpstr>Műveletek egyirányú listákon: Beszúrás* </vt:lpstr>
      <vt:lpstr>Műveletek egyirányú listákon: Törlés* </vt:lpstr>
      <vt:lpstr>S1L és H1L összehasonlítása</vt:lpstr>
      <vt:lpstr>cut(L : E1* ; n : N) : E1*</vt:lpstr>
      <vt:lpstr>H1L_read() : E1*</vt:lpstr>
      <vt:lpstr>Dinamikus memóriagazdálkodás</vt:lpstr>
      <vt:lpstr>Sor megvalósítása végelemes listával</vt:lpstr>
      <vt:lpstr>Queue műveletek</vt:lpstr>
      <vt:lpstr>Kétirányú listák  (two-way or doubly linked lists)</vt:lpstr>
      <vt:lpstr>Ciklikus kétirányú listák (C2L) (Cyclic Two-way List)</vt:lpstr>
      <vt:lpstr>Listakezelő műveletek</vt:lpstr>
      <vt:lpstr>Példák C2L listákra: splice listaművelet</vt:lpstr>
      <vt:lpstr>Példák C2L listákra: append eljárás</vt:lpstr>
      <vt:lpstr>Példaprogramok C2L listákra</vt:lpstr>
      <vt:lpstr>Példaprogramok C2L listákra</vt:lpstr>
      <vt:lpstr>Halmazműveletek szig. mon. növő C2L listákra</vt:lpstr>
      <vt:lpstr>Ellenőrző kérdések</vt:lpstr>
      <vt:lpstr>Ellenőrző kérdések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1</cp:revision>
  <dcterms:created xsi:type="dcterms:W3CDTF">2022-02-02T14:32:23Z</dcterms:created>
  <dcterms:modified xsi:type="dcterms:W3CDTF">2026-02-09T20:14:21Z</dcterms:modified>
</cp:coreProperties>
</file>