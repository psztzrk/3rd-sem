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notesMasterIdLst>
    <p:notesMasterId r:id="rId21"/>
  </p:notesMasterIdLst>
  <p:sldIdLst>
    <p:sldId id="270" r:id="rId2"/>
    <p:sldId id="285" r:id="rId3"/>
    <p:sldId id="271" r:id="rId4"/>
    <p:sldId id="286" r:id="rId5"/>
    <p:sldId id="272" r:id="rId6"/>
    <p:sldId id="273" r:id="rId7"/>
    <p:sldId id="274" r:id="rId8"/>
    <p:sldId id="275" r:id="rId9"/>
    <p:sldId id="284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7" r:id="rId18"/>
    <p:sldId id="306" r:id="rId19"/>
    <p:sldId id="28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E074CE1A-6D4E-4EC4-9165-49EA0066AFFD}">
          <p14:sldIdLst>
            <p14:sldId id="270"/>
          </p14:sldIdLst>
        </p14:section>
        <p14:section name="Összefoglaló szakasz" id="{8C593696-04EB-47EB-9D50-39A5CA5349CD}">
          <p14:sldIdLst>
            <p14:sldId id="285"/>
          </p14:sldIdLst>
        </p14:section>
        <p14:section name="Függvények aszimptotikus viselkedése" id="{14A072A0-CA1A-445A-88A4-9FE2C0DE9012}">
          <p14:sldIdLst>
            <p14:sldId id="271"/>
          </p14:sldIdLst>
        </p14:section>
        <p14:section name="Aszimptotikus korlátok" id="{F117554B-5C3C-4C2A-8F29-1A3EB863F55C}">
          <p14:sldIdLst>
            <p14:sldId id="286"/>
            <p14:sldId id="272"/>
          </p14:sldIdLst>
        </p14:section>
        <p14:section name="Függvények aszimptotikus összehasonlítása" id="{96A65099-80BF-440E-BF0F-E18AD7185DF6}">
          <p14:sldIdLst>
            <p14:sldId id="273"/>
          </p14:sldIdLst>
        </p14:section>
        <p14:section name="Példa AP függvények nagyságrendjére:" id="{8E68A800-D99B-4AE0-83C2-B85A7D7D8BE9}">
          <p14:sldIdLst>
            <p14:sldId id="274"/>
          </p14:sldIdLst>
        </p14:section>
        <p14:section name="A  függvényosztályok tulajdonságai" id="{51D1762E-15DA-4F71-8D94-B8D8BFDFEBBB}">
          <p14:sldIdLst>
            <p14:sldId id="275"/>
          </p14:sldIdLst>
        </p14:section>
        <p14:section name="További tulajdonságok" id="{335D1307-D9FE-450E-81FA-5A52DA5DA797}">
          <p14:sldIdLst>
            <p14:sldId id="284"/>
            <p14:sldId id="276"/>
          </p14:sldIdLst>
        </p14:section>
        <p14:section name="A függvények aszimptotikus viszonya" id="{AAF830E9-0272-4FF1-8832-1ED79B83FABC}">
          <p14:sldIdLst>
            <p14:sldId id="277"/>
            <p14:sldId id="278"/>
          </p14:sldIdLst>
        </p14:section>
        <p14:section name="L’Hospital szabály és következménye" id="{6E3C5C3A-3DA7-4565-9297-9D8C045E5DC4}">
          <p14:sldIdLst>
            <p14:sldId id="279"/>
            <p14:sldId id="280"/>
          </p14:sldIdLst>
        </p14:section>
        <p14:section name="További tételek" id="{097C7759-AE1C-49F2-9B4D-F3D6DF3DAE52}">
          <p14:sldIdLst>
            <p14:sldId id="281"/>
          </p14:sldIdLst>
        </p14:section>
        <p14:section name="N × N értelmezési tartományú függvények" id="{0E09BAA3-A3FA-4EE6-B7FB-8420DC036AEC}">
          <p14:sldIdLst>
            <p14:sldId id="282"/>
            <p14:sldId id="287"/>
            <p14:sldId id="306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4F1B8-5EB6-4BB0-B69D-EEA62DF700A3}" v="3" dt="2026-08-11T08:28:08.2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5C5F7C30-6626-4CCB-81FA-ED1C19E6AEFD}"/>
    <pc:docChg chg="undo custSel addSld delSld modSld modSection">
      <pc:chgData name="Kovácsné Pusztai Kinga" userId="1282fdc4-838f-4805-a47a-02b770215156" providerId="ADAL" clId="{5C5F7C30-6626-4CCB-81FA-ED1C19E6AEFD}" dt="2026-08-11T08:28:08.843" v="7" actId="47"/>
      <pc:docMkLst>
        <pc:docMk/>
      </pc:docMkLst>
      <pc:sldChg chg="add del">
        <pc:chgData name="Kovácsné Pusztai Kinga" userId="1282fdc4-838f-4805-a47a-02b770215156" providerId="ADAL" clId="{5C5F7C30-6626-4CCB-81FA-ED1C19E6AEFD}" dt="2026-08-11T08:28:08.843" v="7" actId="47"/>
        <pc:sldMkLst>
          <pc:docMk/>
          <pc:sldMk cId="2657704301" sldId="288"/>
        </pc:sldMkLst>
      </pc:sldChg>
      <pc:sldChg chg="addSp delSp add del setBg delDesignElem">
        <pc:chgData name="Kovácsné Pusztai Kinga" userId="1282fdc4-838f-4805-a47a-02b770215156" providerId="ADAL" clId="{5C5F7C30-6626-4CCB-81FA-ED1C19E6AEFD}" dt="2026-08-11T08:28:08.248" v="6"/>
        <pc:sldMkLst>
          <pc:docMk/>
          <pc:sldMk cId="548089129" sldId="307"/>
        </pc:sldMkLst>
        <pc:spChg chg="add del">
          <ac:chgData name="Kovácsné Pusztai Kinga" userId="1282fdc4-838f-4805-a47a-02b770215156" providerId="ADAL" clId="{5C5F7C30-6626-4CCB-81FA-ED1C19E6AEFD}" dt="2026-08-11T08:28:08.248" v="6"/>
          <ac:spMkLst>
            <pc:docMk/>
            <pc:sldMk cId="548089129" sldId="307"/>
            <ac:spMk id="48" creationId="{CE3D4922-3D1C-4679-9A86-15BFC1A252F0}"/>
          </ac:spMkLst>
        </pc:spChg>
        <pc:spChg chg="add del">
          <ac:chgData name="Kovácsné Pusztai Kinga" userId="1282fdc4-838f-4805-a47a-02b770215156" providerId="ADAL" clId="{5C5F7C30-6626-4CCB-81FA-ED1C19E6AEFD}" dt="2026-08-11T08:28:08.248" v="6"/>
          <ac:spMkLst>
            <pc:docMk/>
            <pc:sldMk cId="548089129" sldId="307"/>
            <ac:spMk id="49" creationId="{164E9BCF-1B67-4514-808C-A5DCBDEB4A85}"/>
          </ac:spMkLst>
        </pc:spChg>
        <pc:grpChg chg="add del">
          <ac:chgData name="Kovácsné Pusztai Kinga" userId="1282fdc4-838f-4805-a47a-02b770215156" providerId="ADAL" clId="{5C5F7C30-6626-4CCB-81FA-ED1C19E6AEFD}" dt="2026-08-11T08:28:08.248" v="6"/>
          <ac:grpSpMkLst>
            <pc:docMk/>
            <pc:sldMk cId="548089129" sldId="307"/>
            <ac:grpSpMk id="50" creationId="{32238778-9D1D-45F4-BB78-76F208A224B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A06B4-92A2-4E44-A6C2-A28A9AE2793A}" type="datetimeFigureOut">
              <a:rPr lang="hu-HU" smtClean="0"/>
              <a:t>2026. 08. 07.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73D5A-F771-4252-923E-C9FD249E19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759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1B4E-670C-A259-5ABA-70C4353B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15CCB73-926A-84CA-B07B-1AE17A627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088A951-8256-414A-DE08-D6F3600BB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49C0D4C-8A2A-5296-F458-C872D0DE9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73D5A-F771-4252-923E-C9FD249E196F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9456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73D5A-F771-4252-923E-C9FD249E196F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5911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5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11" Type="http://schemas.openxmlformats.org/officeDocument/2006/relationships/image" Target="../media/image3.png"/><Relationship Id="rId5" Type="http://schemas.openxmlformats.org/officeDocument/2006/relationships/slide" Target="slide7.xml"/><Relationship Id="rId10" Type="http://schemas.openxmlformats.org/officeDocument/2006/relationships/slide" Target="slide16.xml"/><Relationship Id="rId4" Type="http://schemas.openxmlformats.org/officeDocument/2006/relationships/slide" Target="slide6.xml"/><Relationship Id="rId9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-9397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5.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5775469" y="3996267"/>
            <a:ext cx="5727553" cy="2068631"/>
          </a:xfrm>
        </p:spPr>
        <p:txBody>
          <a:bodyPr>
            <a:normAutofit fontScale="92500"/>
          </a:bodyPr>
          <a:lstStyle/>
          <a:p>
            <a:r>
              <a:rPr lang="hu-HU" sz="4000" b="1">
                <a:solidFill>
                  <a:srgbClr val="C00000"/>
                </a:solidFill>
              </a:rPr>
              <a:t> Függvények aszimptotikus viselkedése</a:t>
            </a:r>
          </a:p>
          <a:p>
            <a:r>
              <a:rPr lang="pt-BR" sz="2000" b="0" i="0" u="none" strike="noStrike" baseline="0">
                <a:latin typeface="F70"/>
              </a:rPr>
              <a:t>(a </a:t>
            </a:r>
            <a:r>
              <a:rPr lang="pt-BR" sz="2000" b="0" i="0" u="none" strike="noStrike" baseline="0">
                <a:latin typeface="CMR10"/>
              </a:rPr>
              <a:t>Θ</a:t>
            </a:r>
            <a:r>
              <a:rPr lang="pt-BR" sz="2000" b="0" i="0" u="none" strike="noStrike" baseline="0">
                <a:latin typeface="CMMI10"/>
              </a:rPr>
              <a:t>,O,</a:t>
            </a:r>
            <a:r>
              <a:rPr lang="pt-BR" sz="2000" b="0" i="0" u="none" strike="noStrike" baseline="0">
                <a:latin typeface="CMR10"/>
              </a:rPr>
              <a:t>Ω</a:t>
            </a:r>
            <a:r>
              <a:rPr lang="pt-BR" sz="2000" b="0" i="0" u="none" strike="noStrike" baseline="0">
                <a:latin typeface="CMMI10"/>
              </a:rPr>
              <a:t>,</a:t>
            </a:r>
            <a:r>
              <a:rPr lang="pt-BR" sz="2000" b="0" i="0" u="none" strike="noStrike" baseline="0">
                <a:latin typeface="CMSY10"/>
              </a:rPr>
              <a:t>≺</a:t>
            </a:r>
            <a:r>
              <a:rPr lang="pt-BR" sz="2000" b="0" i="0" u="none" strike="noStrike" baseline="0">
                <a:latin typeface="CMMI10"/>
              </a:rPr>
              <a:t>,</a:t>
            </a:r>
            <a:r>
              <a:rPr lang="pt-BR" sz="2000" b="0" i="0" u="none" strike="noStrike" baseline="0">
                <a:latin typeface="CMSY10"/>
              </a:rPr>
              <a:t>≻</a:t>
            </a:r>
            <a:r>
              <a:rPr lang="pt-BR" sz="2000" b="0" i="0" u="none" strike="noStrike" baseline="0">
                <a:latin typeface="CMMI10"/>
              </a:rPr>
              <a:t>, o, ω </a:t>
            </a:r>
            <a:r>
              <a:rPr lang="pt-BR" sz="2000" b="0" i="0" u="none" strike="noStrike" baseline="0">
                <a:latin typeface="F70"/>
              </a:rPr>
              <a:t>matematikája)</a:t>
            </a:r>
            <a:endParaRPr lang="hu-HU" sz="20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731274"/>
          </a:xfrm>
        </p:spPr>
        <p:txBody>
          <a:bodyPr/>
          <a:lstStyle/>
          <a:p>
            <a:r>
              <a:rPr lang="hu-HU"/>
              <a:t>Tartalom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995C4C9-8308-6EBF-95DE-5E0256419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97496" y="1560911"/>
                <a:ext cx="10018713" cy="5078896"/>
              </a:xfrm>
            </p:spPr>
            <p:txBody>
              <a:bodyPr anchor="ctr">
                <a:normAutofit/>
              </a:bodyPr>
              <a:lstStyle/>
              <a:p>
                <a:r>
                  <a:rPr lang="hu-HU" dirty="0">
                    <a:hlinkClick r:id="rId2" action="ppaction://hlinksldjump"/>
                  </a:rPr>
                  <a:t>Függvények aszimptotikus viselkedése</a:t>
                </a:r>
              </a:p>
              <a:p>
                <a:r>
                  <a:rPr lang="hu-HU" dirty="0">
                    <a:hlinkClick r:id="rId3" action="ppaction://hlinksldjump"/>
                  </a:rPr>
                  <a:t>Aszimptotikus korlátok</a:t>
                </a:r>
                <a:endParaRPr lang="hu-HU" dirty="0"/>
              </a:p>
              <a:p>
                <a:r>
                  <a:rPr lang="hu-HU" dirty="0">
                    <a:hlinkClick r:id="rId4" action="ppaction://hlinksldjump"/>
                  </a:rPr>
                  <a:t>Függvények aszimptotikus összehasonlítása</a:t>
                </a:r>
                <a:endParaRPr lang="hu-HU" dirty="0"/>
              </a:p>
              <a:p>
                <a:r>
                  <a:rPr lang="hu-HU" dirty="0">
                    <a:hlinkClick r:id="rId5" action="ppaction://hlinksldjump"/>
                  </a:rPr>
                  <a:t>A </a:t>
                </a:r>
                <a:r>
                  <a:rPr lang="hu-HU" sz="1100" dirty="0">
                    <a:effectLst/>
                    <a:latin typeface="F78"/>
                    <a:ea typeface="Calibri" panose="020F0502020204030204" pitchFamily="34" charset="0"/>
                    <a:cs typeface="F78"/>
                    <a:hlinkClick r:id="rId5" action="ppaction://hlinksldjump"/>
                  </a:rPr>
                  <a:t> </a:t>
                </a:r>
                <a:r>
                  <a:rPr lang="hu-HU" dirty="0">
                    <a:hlinkClick r:id="rId5" action="ppaction://hlinksldjump"/>
                  </a:rPr>
                  <a:t>függvényosztályok kapcsolata</a:t>
                </a:r>
                <a:endParaRPr lang="hu-HU" dirty="0"/>
              </a:p>
              <a:p>
                <a:r>
                  <a:rPr lang="hu-HU" dirty="0">
                    <a:hlinkClick r:id="rId6" action="ppaction://hlinksldjump"/>
                  </a:rPr>
                  <a:t>A </a:t>
                </a:r>
                <a:r>
                  <a:rPr lang="hu-HU" sz="1100" dirty="0">
                    <a:effectLst/>
                    <a:latin typeface="F78"/>
                    <a:ea typeface="Calibri" panose="020F0502020204030204" pitchFamily="34" charset="0"/>
                    <a:cs typeface="F78"/>
                    <a:hlinkClick r:id="rId6" action="ppaction://hlinksldjump"/>
                  </a:rPr>
                  <a:t> </a:t>
                </a:r>
                <a:r>
                  <a:rPr lang="hu-HU" dirty="0">
                    <a:hlinkClick r:id="rId6" action="ppaction://hlinksldjump"/>
                  </a:rPr>
                  <a:t>függvényosztályok tulajdonságai</a:t>
                </a:r>
                <a:endParaRPr lang="hu-HU" dirty="0"/>
              </a:p>
              <a:p>
                <a:r>
                  <a:rPr lang="hu-HU" dirty="0">
                    <a:hlinkClick r:id="rId7" action="ppaction://hlinksldjump"/>
                  </a:rPr>
                  <a:t>A függvények aszimptotikus viszonya</a:t>
                </a:r>
                <a:endParaRPr lang="hu-HU" dirty="0"/>
              </a:p>
              <a:p>
                <a:r>
                  <a:rPr lang="hu-HU" dirty="0" err="1">
                    <a:hlinkClick r:id="rId8" action="ppaction://hlinksldjump"/>
                  </a:rPr>
                  <a:t>L’Hospital</a:t>
                </a:r>
                <a:r>
                  <a:rPr lang="hu-HU" dirty="0">
                    <a:hlinkClick r:id="rId8" action="ppaction://hlinksldjump"/>
                  </a:rPr>
                  <a:t> szabály és következménye</a:t>
                </a:r>
                <a:endParaRPr lang="hu-HU" dirty="0"/>
              </a:p>
              <a:p>
                <a:r>
                  <a:rPr lang="hu-HU" dirty="0">
                    <a:hlinkClick r:id="rId9" action="ppaction://hlinksldjump"/>
                  </a:rPr>
                  <a:t>További tételek</a:t>
                </a:r>
                <a:endParaRPr lang="hu-HU" dirty="0"/>
              </a:p>
              <a:p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  <a:hlinkClick r:id="rId10" action="ppaction://hlinksldjump"/>
                      </a:rPr>
                      <m:t>ℕ</m:t>
                    </m:r>
                  </m:oMath>
                </a14:m>
                <a:r>
                  <a:rPr lang="hu-HU" dirty="0">
                    <a:hlinkClick r:id="rId10" action="ppaction://hlinksldjump"/>
                  </a:rPr>
                  <a:t> × </a:t>
                </a:r>
                <a14:m>
                  <m:oMath xmlns:m="http://schemas.openxmlformats.org/officeDocument/2006/math">
                    <m:r>
                      <a:rPr lang="hu-HU">
                        <a:latin typeface="Cambria Math" panose="02040503050406030204" pitchFamily="18" charset="0"/>
                        <a:hlinkClick r:id="rId10" action="ppaction://hlinksldjump"/>
                      </a:rPr>
                      <m:t>ℕ</m:t>
                    </m:r>
                  </m:oMath>
                </a14:m>
                <a:r>
                  <a:rPr lang="hu-HU" dirty="0">
                    <a:hlinkClick r:id="rId10" action="ppaction://hlinksldjump"/>
                  </a:rPr>
                  <a:t> értelmezési tartományú függvények</a:t>
                </a:r>
                <a:endParaRPr lang="hu-HU" dirty="0"/>
              </a:p>
              <a:p>
                <a:endParaRPr lang="hu-HU" dirty="0">
                  <a:hlinkClick r:id="" action="ppaction://noaction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995C4C9-8308-6EBF-95DE-5E0256419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7496" y="1560911"/>
                <a:ext cx="10018713" cy="5078896"/>
              </a:xfrm>
              <a:blipFill>
                <a:blip r:embed="rId11"/>
                <a:stretch>
                  <a:fillRect l="-1521" t="-384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D853287D-AE6B-D6CF-3C68-8A23BF2D243C}"/>
              </a:ext>
            </a:extLst>
          </p:cNvPr>
          <p:cNvSpPr/>
          <p:nvPr/>
        </p:nvSpPr>
        <p:spPr>
          <a:xfrm>
            <a:off x="7981940" y="3098202"/>
            <a:ext cx="4210059" cy="3442447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5F6347B-9EDD-E43C-E95E-69D6A3520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900" y="218929"/>
            <a:ext cx="10018713" cy="975049"/>
          </a:xfrm>
        </p:spPr>
        <p:txBody>
          <a:bodyPr/>
          <a:lstStyle/>
          <a:p>
            <a:r>
              <a:rPr lang="hu-HU" dirty="0"/>
              <a:t>Függvények aszimptotikus viselkedése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1056AA4-DE74-A2BB-0083-182B77143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7900" y="1359913"/>
                <a:ext cx="10347860" cy="1474727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hu-HU" sz="22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Definíció</a:t>
                </a:r>
                <a:r>
                  <a:rPr lang="hu-HU" sz="2200" b="1" i="0" u="none" strike="noStrike" baseline="0" dirty="0">
                    <a:solidFill>
                      <a:srgbClr val="C00000"/>
                    </a:solidFill>
                  </a:rPr>
                  <a:t>.</a:t>
                </a:r>
                <a:r>
                  <a:rPr lang="hu-HU" sz="2200" b="0" i="0" u="none" strike="noStrike" baseline="0" dirty="0"/>
                  <a:t> Valamely </a:t>
                </a:r>
                <a:r>
                  <a:rPr lang="hu-HU" sz="2200" b="0" i="1" u="none" strike="noStrike" baseline="0" dirty="0"/>
                  <a:t>P(n)</a:t>
                </a:r>
                <a:r>
                  <a:rPr lang="hu-HU" sz="2200" b="0" i="0" u="none" strike="noStrike" baseline="0" dirty="0"/>
                  <a:t> tulajdonság elég nagy </a:t>
                </a:r>
                <a:r>
                  <a:rPr lang="hu-HU" sz="2200" b="0" i="1" u="none" strike="noStrike" baseline="0" dirty="0"/>
                  <a:t>n</a:t>
                </a:r>
                <a:r>
                  <a:rPr lang="hu-HU" sz="2200" b="0" i="0" u="none" strike="noStrike" baseline="0" dirty="0"/>
                  <a:t> -</a:t>
                </a:r>
                <a:r>
                  <a:rPr lang="hu-HU" sz="2200" b="0" i="0" u="none" strike="noStrike" baseline="0" dirty="0" err="1"/>
                  <a:t>ekre</a:t>
                </a:r>
                <a:r>
                  <a:rPr lang="hu-HU" sz="2200" b="0" i="0" u="none" strike="noStrike" baseline="0" dirty="0"/>
                  <a:t> pontosan akkor teljesül, ha ∃</a:t>
                </a:r>
                <a:r>
                  <a:rPr lang="hu-HU" sz="2200" b="0" i="1" u="none" strike="noStrike" baseline="0" dirty="0"/>
                  <a:t>N</a:t>
                </a:r>
                <a:r>
                  <a:rPr lang="hu-HU" sz="2200" b="0" i="0" u="none" strike="noStrike" baseline="0" dirty="0"/>
                  <a:t> ∈ </a:t>
                </a:r>
                <a14:m>
                  <m:oMath xmlns:m="http://schemas.openxmlformats.org/officeDocument/2006/math">
                    <m:r>
                      <a:rPr lang="hu-HU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sz="2200" b="0" i="0" u="none" strike="noStrike" baseline="0" dirty="0"/>
                  <a:t>, hogy ∀</a:t>
                </a:r>
                <a:r>
                  <a:rPr lang="hu-HU" sz="2200" b="0" i="1" u="none" strike="noStrike" baseline="0" dirty="0"/>
                  <a:t>n</a:t>
                </a:r>
                <a:r>
                  <a:rPr lang="hu-HU" sz="2200" b="0" i="0" u="none" strike="noStrike" baseline="0" dirty="0"/>
                  <a:t> ∈ </a:t>
                </a:r>
                <a14:m>
                  <m:oMath xmlns:m="http://schemas.openxmlformats.org/officeDocument/2006/math">
                    <m:r>
                      <a:rPr lang="hu-HU" sz="2200" i="1">
                        <a:latin typeface="Cambria Math" panose="02040503050406030204" pitchFamily="18" charset="0"/>
                      </a:rPr>
                      <m:t>ℕ</m:t>
                    </m:r>
                    <m:r>
                      <a:rPr lang="hu-H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u-HU" sz="2200" b="0" i="0" u="none" strike="noStrike" baseline="0" dirty="0"/>
                  <a:t>-re </a:t>
                </a:r>
                <a:r>
                  <a:rPr lang="hu-HU" sz="2200" b="0" i="1" u="none" strike="noStrike" baseline="0" dirty="0"/>
                  <a:t>n</a:t>
                </a:r>
                <a:r>
                  <a:rPr lang="hu-HU" sz="2200" b="0" i="0" u="none" strike="noStrike" baseline="0" dirty="0"/>
                  <a:t> ≥ </a:t>
                </a:r>
                <a:r>
                  <a:rPr lang="hu-HU" sz="2200" b="0" i="1" u="none" strike="noStrike" baseline="0" dirty="0"/>
                  <a:t>N</a:t>
                </a:r>
                <a:r>
                  <a:rPr lang="hu-HU" sz="2200" b="0" i="0" u="none" strike="noStrike" baseline="0" dirty="0"/>
                  <a:t> esetén igaz </a:t>
                </a:r>
                <a:r>
                  <a:rPr lang="hu-HU" sz="2200" b="0" i="1" u="none" strike="noStrike" baseline="0" dirty="0"/>
                  <a:t>P(n)</a:t>
                </a:r>
                <a:r>
                  <a:rPr lang="hu-HU" sz="2200" b="0" i="0" u="none" strike="noStrike" baseline="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hu-HU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Definíció</a:t>
                </a:r>
                <a:r>
                  <a:rPr lang="hu-HU" sz="2200" b="1" dirty="0">
                    <a:solidFill>
                      <a:srgbClr val="C00000"/>
                    </a:solidFill>
                  </a:rPr>
                  <a:t>.</a:t>
                </a:r>
                <a:r>
                  <a:rPr lang="hu-HU" sz="2200" dirty="0"/>
                  <a:t> Az </a:t>
                </a:r>
                <a:r>
                  <a:rPr lang="hu-HU" sz="2200" i="1" dirty="0"/>
                  <a:t>f</a:t>
                </a:r>
                <a:r>
                  <a:rPr lang="hu-HU" sz="2200" dirty="0"/>
                  <a:t> </a:t>
                </a:r>
                <a:r>
                  <a:rPr lang="hu-HU" sz="2200" b="1" dirty="0"/>
                  <a:t>AP (aszimptotikusan pozitív) függvény</a:t>
                </a:r>
                <a:r>
                  <a:rPr lang="hu-HU" sz="2200" dirty="0"/>
                  <a:t>,</a:t>
                </a:r>
                <a:r>
                  <a:rPr lang="pt-BR" sz="2200" dirty="0"/>
                  <a:t>ha elég nagy </a:t>
                </a:r>
                <a:r>
                  <a:rPr lang="pt-BR" sz="2200" i="1" dirty="0"/>
                  <a:t>n</a:t>
                </a:r>
                <a:r>
                  <a:rPr lang="pt-BR" sz="2200" dirty="0"/>
                  <a:t>-ekre </a:t>
                </a:r>
                <a:r>
                  <a:rPr lang="pt-BR" sz="2200" i="1" dirty="0"/>
                  <a:t>f(n)</a:t>
                </a:r>
                <a:r>
                  <a:rPr lang="pt-BR" sz="2200" dirty="0"/>
                  <a:t> &gt; 0.</a:t>
                </a:r>
                <a:endParaRPr lang="hu-HU" sz="2200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C1056AA4-DE74-A2BB-0083-182B77143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7900" y="1359913"/>
                <a:ext cx="10347860" cy="1474727"/>
              </a:xfrm>
              <a:blipFill>
                <a:blip r:embed="rId2"/>
                <a:stretch>
                  <a:fillRect l="-1532" t="-5785" r="-295" b="-826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584A45E8-98B2-151D-5CAB-0427208C4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48" y="3715360"/>
            <a:ext cx="3223242" cy="2668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artalom helye 2">
                <a:extLst>
                  <a:ext uri="{FF2B5EF4-FFF2-40B4-BE49-F238E27FC236}">
                    <a16:creationId xmlns:a16="http://schemas.microsoft.com/office/drawing/2014/main" id="{CE0C2D9D-74C9-A4AE-80EB-AF99E6233C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1489" y="2337299"/>
                <a:ext cx="6950191" cy="427964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hu-HU" sz="1800" dirty="0"/>
                  <a:t>Az (alsó és/vagy felső) becslések végzése a futási időre vagy a tárigényre</a:t>
                </a:r>
              </a:p>
              <a:p>
                <a:pPr lvl="1"/>
                <a:r>
                  <a:rPr lang="hu-HU" sz="1600" dirty="0"/>
                  <a:t>Az input adatszerkezetek méretének függvényében végezzük a becsléseket</a:t>
                </a:r>
              </a:p>
              <a:p>
                <a:pPr lvl="1"/>
                <a:r>
                  <a:rPr lang="hu-HU" sz="1600" dirty="0"/>
                  <a:t>a becsléseket leíró függvények </a:t>
                </a:r>
                <a14:m>
                  <m:oMath xmlns:m="http://schemas.openxmlformats.org/officeDocument/2006/math">
                    <m:r>
                      <a:rPr lang="hu-HU" sz="1600">
                        <a:latin typeface="Cambria Math" panose="02040503050406030204" pitchFamily="18" charset="0"/>
                      </a:rPr>
                      <m:t>ℕ</m:t>
                    </m:r>
                    <m:r>
                      <a:rPr lang="hu-HU" sz="1600">
                        <a:latin typeface="Cambria Math" panose="02040503050406030204" pitchFamily="18" charset="0"/>
                      </a:rPr>
                      <m:t>→</m:t>
                    </m:r>
                    <m:r>
                      <a:rPr lang="hu-HU" sz="16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hu-HU" sz="1600" dirty="0"/>
                  <a:t> típusúak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u-HU" sz="1600">
                        <a:latin typeface="Cambria Math" panose="02040503050406030204" pitchFamily="18" charset="0"/>
                      </a:rPr>
                      <m:t>ℕ</m:t>
                    </m:r>
                    <m:r>
                      <a:rPr lang="hu-HU" sz="1600">
                        <a:latin typeface="Cambria Math" panose="02040503050406030204" pitchFamily="18" charset="0"/>
                      </a:rPr>
                      <m:t>→</m:t>
                    </m:r>
                    <m:r>
                      <a:rPr lang="hu-HU" sz="160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hu-HU" sz="1600" dirty="0"/>
                  <a:t>, de az egyszerűség miatt megelégszünk </a:t>
                </a:r>
                <a:r>
                  <a:rPr lang="hu-HU" sz="1600" dirty="0" err="1"/>
                  <a:t>fv</a:t>
                </a:r>
                <a:r>
                  <a:rPr lang="hu-HU" sz="1600" dirty="0"/>
                  <a:t>-ek AP-k legyenek</a:t>
                </a:r>
              </a:p>
              <a:p>
                <a:r>
                  <a:rPr lang="hu-HU" sz="1800" b="1" dirty="0">
                    <a:solidFill>
                      <a:schemeClr val="accent1">
                        <a:lumMod val="75000"/>
                      </a:schemeClr>
                    </a:solidFill>
                  </a:rPr>
                  <a:t>Jelölések.</a:t>
                </a:r>
                <a:r>
                  <a:rPr lang="hu-HU" sz="1800" b="1" dirty="0">
                    <a:solidFill>
                      <a:srgbClr val="C00000"/>
                    </a:solidFill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Az </a:t>
                </a:r>
                <a:r>
                  <a:rPr lang="hu-HU" sz="1800" i="1" dirty="0">
                    <a:ea typeface="Calibri" panose="020F0502020204030204" pitchFamily="34" charset="0"/>
                    <a:cs typeface="F78"/>
                  </a:rPr>
                  <a:t>f, g, h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 (esetleg indexelt) 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latin betűkről 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feltesszük, hogy </a:t>
                </a:r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 sz="1800" dirty="0"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típusú, aszimptotikusan pozitív függvényeket jelölnek, míg a </a:t>
                </a:r>
                <a:r>
                  <a:rPr lang="hu-HU" sz="1800" dirty="0">
                    <a:ea typeface="Calibri" panose="020F0502020204030204" pitchFamily="34" charset="0"/>
                  </a:rPr>
                  <a:t>φ</a:t>
                </a:r>
                <a:r>
                  <a:rPr lang="hu-HU" sz="1800" dirty="0"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1800" dirty="0">
                    <a:ea typeface="Calibri" panose="020F0502020204030204" pitchFamily="34" charset="0"/>
                  </a:rPr>
                  <a:t>ψ</a:t>
                </a:r>
                <a:r>
                  <a:rPr lang="hu-HU" sz="18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görög betűkről 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csak azt tesszük fel, hogy </a:t>
                </a:r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 sz="1800" dirty="0"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78"/>
                  </a:rPr>
                  <a:t>típusú függvényeket jelölnek. </a:t>
                </a:r>
                <a:endParaRPr lang="hu-HU" sz="1800" dirty="0"/>
              </a:p>
            </p:txBody>
          </p:sp>
        </mc:Choice>
        <mc:Fallback xmlns="">
          <p:sp>
            <p:nvSpPr>
              <p:cNvPr id="6" name="Tartalom helye 2">
                <a:extLst>
                  <a:ext uri="{FF2B5EF4-FFF2-40B4-BE49-F238E27FC236}">
                    <a16:creationId xmlns:a16="http://schemas.microsoft.com/office/drawing/2014/main" id="{CE0C2D9D-74C9-A4AE-80EB-AF99E6233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489" y="2337299"/>
                <a:ext cx="6950191" cy="4279641"/>
              </a:xfrm>
              <a:prstGeom prst="rect">
                <a:avLst/>
              </a:prstGeom>
              <a:blipFill>
                <a:blip r:embed="rId4"/>
                <a:stretch>
                  <a:fillRect l="-14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76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E6EE-E5DC-46A7-B928-9B5423F8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EBF830-FBFD-1640-2B2C-744EFB92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666" y="102637"/>
            <a:ext cx="6862965" cy="779105"/>
          </a:xfrm>
        </p:spPr>
        <p:txBody>
          <a:bodyPr/>
          <a:lstStyle/>
          <a:p>
            <a:r>
              <a:rPr lang="hu-HU" dirty="0"/>
              <a:t>Aszimptotikus korlátok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0301D27-EA69-92C5-2F7F-F27988FD60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3682" y="918913"/>
                <a:ext cx="6350309" cy="5687009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hu-HU" sz="2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Definíció.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Az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függvényhalmaz olyan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függvényekből áll, amiket elég nagy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helyettesítési értékekre, megfelelő pozitív konstans szorzóval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felülről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becsül a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függvény: </a:t>
                </a:r>
                <a:br>
                  <a:rPr lang="hu-HU" sz="2000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=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, hogy elég nagy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-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ekre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∗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}</a:t>
                </a:r>
                <a:br>
                  <a:rPr lang="hu-HU" sz="2000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esetén azt mondjuk, hogy </a:t>
                </a:r>
                <a:r>
                  <a:rPr lang="hu-HU" sz="2000" b="1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29"/>
                  </a:rPr>
                  <a:t>aszimptotikus felső korlátja </a:t>
                </a:r>
                <a:r>
                  <a:rPr lang="hu-HU" sz="2000" b="1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78"/>
                  </a:rPr>
                  <a:t>-</a:t>
                </a:r>
                <a:r>
                  <a:rPr lang="hu-HU" sz="2000" b="1" dirty="0" err="1">
                    <a:effectLst/>
                    <a:ea typeface="Calibri" panose="020F0502020204030204" pitchFamily="34" charset="0"/>
                    <a:cs typeface="F78"/>
                  </a:rPr>
                  <a:t>nek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hu-HU" sz="2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48"/>
                  </a:rPr>
                  <a:t>.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Az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R12"/>
                  </a:rPr>
                  <a:t>Ω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függvényhalmaz olyan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függvényekből áll, amiket elég nagy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helyettesítési értékekre, megfelelő pozitív konstans szorzóval alulról becsül a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függvény: </a:t>
                </a:r>
                <a:b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</a:br>
                <a:r>
                  <a:rPr lang="en-US" sz="2000" dirty="0">
                    <a:effectLst/>
                    <a:ea typeface="Calibri" panose="020F0502020204030204" pitchFamily="34" charset="0"/>
                    <a:cs typeface="CMR12"/>
                  </a:rPr>
                  <a:t>Ω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=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, hogy elég nagy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-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ekre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∗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}</a:t>
                </a:r>
                <a:b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</a:b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R12"/>
                  </a:rPr>
                  <a:t>Ω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esetén azt mondjuk, hogy </a:t>
                </a:r>
                <a:r>
                  <a:rPr lang="hu-HU" sz="2000" b="1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29"/>
                  </a:rPr>
                  <a:t>aszimptotikus alsó korlátja </a:t>
                </a:r>
                <a:r>
                  <a:rPr lang="hu-HU" sz="2000" b="1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78"/>
                  </a:rPr>
                  <a:t>-</a:t>
                </a:r>
                <a:r>
                  <a:rPr lang="hu-HU" sz="2000" b="1" dirty="0" err="1">
                    <a:effectLst/>
                    <a:ea typeface="Calibri" panose="020F0502020204030204" pitchFamily="34" charset="0"/>
                    <a:cs typeface="F78"/>
                  </a:rPr>
                  <a:t>nek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0301D27-EA69-92C5-2F7F-F27988FD60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3682" y="918913"/>
                <a:ext cx="6350309" cy="5687009"/>
              </a:xfrm>
              <a:blipFill>
                <a:blip r:embed="rId3"/>
                <a:stretch>
                  <a:fillRect l="-2111" r="-9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Kép 5">
            <a:extLst>
              <a:ext uri="{FF2B5EF4-FFF2-40B4-BE49-F238E27FC236}">
                <a16:creationId xmlns:a16="http://schemas.microsoft.com/office/drawing/2014/main" id="{BBABFB14-682A-B8AE-8B71-3CCB49F28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764" y="725524"/>
            <a:ext cx="3509055" cy="27137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9F65ADD-2D96-28EE-5AA4-8F68DF718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763" y="3720387"/>
            <a:ext cx="3509055" cy="26028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Tekercs: függőleges 7">
            <a:extLst>
              <a:ext uri="{FF2B5EF4-FFF2-40B4-BE49-F238E27FC236}">
                <a16:creationId xmlns:a16="http://schemas.microsoft.com/office/drawing/2014/main" id="{069D61ED-1BF2-044E-5AFD-CE3CA3F0A6B6}"/>
              </a:ext>
            </a:extLst>
          </p:cNvPr>
          <p:cNvSpPr/>
          <p:nvPr/>
        </p:nvSpPr>
        <p:spPr>
          <a:xfrm>
            <a:off x="7379746" y="102636"/>
            <a:ext cx="4701093" cy="6503285"/>
          </a:xfrm>
          <a:prstGeom prst="verticalScroll">
            <a:avLst>
              <a:gd name="adj" fmla="val 9414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62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ercs: függőleges 7">
            <a:extLst>
              <a:ext uri="{FF2B5EF4-FFF2-40B4-BE49-F238E27FC236}">
                <a16:creationId xmlns:a16="http://schemas.microsoft.com/office/drawing/2014/main" id="{041AC0FC-274B-F639-51DD-5477624DE840}"/>
              </a:ext>
            </a:extLst>
          </p:cNvPr>
          <p:cNvSpPr/>
          <p:nvPr/>
        </p:nvSpPr>
        <p:spPr>
          <a:xfrm>
            <a:off x="7824398" y="1650083"/>
            <a:ext cx="4267198" cy="3793286"/>
          </a:xfrm>
          <a:prstGeom prst="verticalScroll">
            <a:avLst>
              <a:gd name="adj" fmla="val 9414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9AA6F3C-FE32-EE9E-32B3-B8C47C24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666" y="102637"/>
            <a:ext cx="8520915" cy="779105"/>
          </a:xfrm>
        </p:spPr>
        <p:txBody>
          <a:bodyPr/>
          <a:lstStyle/>
          <a:p>
            <a:r>
              <a:rPr lang="hu-HU"/>
              <a:t>Aszimptotikus korlátok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8BDC1D8-9561-E1E8-A492-7D5C6249C0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3683" y="918913"/>
                <a:ext cx="6565462" cy="5687009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5"/>
                </a:pPr>
                <a:r>
                  <a:rPr lang="hu-HU" sz="2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48"/>
                  </a:rPr>
                  <a:t>. </a:t>
                </a:r>
                <a:r>
                  <a:rPr lang="hu-HU" sz="2000" dirty="0">
                    <a:effectLst/>
                    <a:ea typeface="CMR12"/>
                    <a:cs typeface="Calibri" panose="020F0502020204030204" pitchFamily="34" charset="0"/>
                  </a:rPr>
                  <a:t>Θ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∩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R12"/>
                  </a:rPr>
                  <a:t>Ω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5"/>
                </a:pPr>
                <a:r>
                  <a:rPr lang="hu-HU" sz="2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Következmény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48"/>
                  </a:rPr>
                  <a:t>.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A </a:t>
                </a:r>
                <a:r>
                  <a:rPr lang="hu-HU" sz="2000" dirty="0">
                    <a:effectLst/>
                    <a:ea typeface="CMR12"/>
                    <a:cs typeface="Calibri" panose="020F0502020204030204" pitchFamily="34" charset="0"/>
                  </a:rPr>
                  <a:t>Θ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függvényhalmaz olyan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függvényekből áll, amiket elég nagy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helyettesítési értékekre, megfelelő pozitív konstans szorzókkal alulról és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felülről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is becsül a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függvény:</a:t>
                </a:r>
                <a:br>
                  <a:rPr lang="hu-HU" sz="2000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hu-HU" sz="2000" dirty="0">
                    <a:effectLst/>
                    <a:ea typeface="CMR12"/>
                    <a:cs typeface="Calibri" panose="020F0502020204030204" pitchFamily="34" charset="0"/>
                  </a:rPr>
                  <a:t>Θ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, hogy elég nagy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–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78"/>
                  </a:rPr>
                  <a:t>ekre</a:t>
                </a:r>
                <a:b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</a:b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∗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∗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}</a:t>
                </a:r>
                <a:br>
                  <a:rPr lang="hu-HU" sz="2000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sz="2000" dirty="0">
                    <a:effectLst/>
                    <a:ea typeface="CMR12"/>
                    <a:cs typeface="Calibri" panose="020F0502020204030204" pitchFamily="34" charset="0"/>
                  </a:rPr>
                  <a:t>Θ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esetén tehát azt mondhatjuk, hogy </a:t>
                </a:r>
                <a:r>
                  <a:rPr lang="hu-HU" sz="2000" b="1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29"/>
                  </a:rPr>
                  <a:t>aszimptotikus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 alsó és felső, azaz 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29"/>
                  </a:rPr>
                  <a:t>éles korlátja </a:t>
                </a:r>
                <a:r>
                  <a:rPr lang="hu-HU" sz="2000" b="1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78"/>
                  </a:rPr>
                  <a:t>-</a:t>
                </a:r>
                <a:r>
                  <a:rPr lang="hu-HU" sz="2000" b="1" dirty="0" err="1">
                    <a:effectLst/>
                    <a:ea typeface="Calibri" panose="020F0502020204030204" pitchFamily="34" charset="0"/>
                    <a:cs typeface="F78"/>
                  </a:rPr>
                  <a:t>nek</a:t>
                </a:r>
                <a:r>
                  <a:rPr lang="hu-HU" sz="2000" b="1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 (Ezt a 9. tulajdonságnál is láthatjuk.)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8BDC1D8-9561-E1E8-A492-7D5C6249C0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3683" y="918913"/>
                <a:ext cx="6565462" cy="5687009"/>
              </a:xfrm>
              <a:blipFill>
                <a:blip r:embed="rId3"/>
                <a:stretch>
                  <a:fillRect l="-2043" r="-120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Kép 11">
            <a:extLst>
              <a:ext uri="{FF2B5EF4-FFF2-40B4-BE49-F238E27FC236}">
                <a16:creationId xmlns:a16="http://schemas.microsoft.com/office/drawing/2014/main" id="{3747BE24-B7AD-F18E-254E-9A11DF2D6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502" y="2366682"/>
            <a:ext cx="3352752" cy="268941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33988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77C24E-3273-2DA6-459E-0C8751CA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41672"/>
            <a:ext cx="10018713" cy="543232"/>
          </a:xfrm>
        </p:spPr>
        <p:txBody>
          <a:bodyPr>
            <a:normAutofit fontScale="90000"/>
          </a:bodyPr>
          <a:lstStyle/>
          <a:p>
            <a:r>
              <a:rPr lang="hu-HU"/>
              <a:t>Függvények aszimptotikus összehasonlítása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B42AC26-432D-C094-8222-B7952853D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884904"/>
                <a:ext cx="10018713" cy="5838625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120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  <a:latin typeface="F48"/>
                  </a:rPr>
                  <a:t>7</a:t>
                </a:r>
                <a:r>
                  <a:rPr lang="hu-HU" sz="120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. </a:t>
                </a:r>
                <a:r>
                  <a:rPr lang="hu-HU" sz="80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Definíció</a:t>
                </a:r>
                <a:r>
                  <a:rPr lang="hu-HU" sz="8000" b="1" i="0" u="none" strike="noStrike" baseline="0" dirty="0">
                    <a:solidFill>
                      <a:srgbClr val="C00000"/>
                    </a:solidFill>
                  </a:rPr>
                  <a:t>.</a:t>
                </a:r>
                <a:r>
                  <a:rPr lang="hu-HU" sz="8000" b="0" i="0" u="none" strike="noStrike" baseline="0" dirty="0"/>
                  <a:t> </a:t>
                </a:r>
                <a:r>
                  <a:rPr lang="hu-HU" sz="8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			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𝜑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≺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𝑔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 </m:t>
                      </m:r>
                      <m:r>
                        <a:rPr lang="hu-HU" sz="8000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⟺ </m:t>
                      </m:r>
                      <m:func>
                        <m:funcPr>
                          <m:ctrlPr>
                            <a:rPr lang="hu-HU" sz="8000" i="1">
                              <a:effectLst/>
                              <a:latin typeface="Cambria Math" panose="02040503050406030204" pitchFamily="18" charset="0"/>
                              <a:ea typeface="CMSY10"/>
                              <a:cs typeface="CMSY1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hu-HU" sz="8000" i="1">
                                  <a:effectLst/>
                                  <a:latin typeface="Cambria Math" panose="02040503050406030204" pitchFamily="18" charset="0"/>
                                  <a:ea typeface="CMSY10"/>
                                  <a:cs typeface="CMSY1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hu-HU" sz="8000">
                                  <a:effectLst/>
                                  <a:latin typeface="Cambria Math" panose="02040503050406030204" pitchFamily="18" charset="0"/>
                                  <a:ea typeface="CMSY10"/>
                                  <a:cs typeface="CMSY1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hu-HU" sz="8000" i="1">
                                  <a:effectLst/>
                                  <a:latin typeface="Cambria Math" panose="02040503050406030204" pitchFamily="18" charset="0"/>
                                  <a:ea typeface="CMSY10"/>
                                  <a:cs typeface="CMSY10"/>
                                </a:rPr>
                                <m:t>𝑛</m:t>
                              </m:r>
                              <m:r>
                                <a:rPr lang="hu-HU" sz="8000" i="1">
                                  <a:effectLst/>
                                  <a:latin typeface="Cambria Math" panose="02040503050406030204" pitchFamily="18" charset="0"/>
                                  <a:ea typeface="CMSY10"/>
                                  <a:cs typeface="CMSY10"/>
                                </a:rPr>
                                <m:t>→</m:t>
                              </m:r>
                              <m:r>
                                <a:rPr lang="en-US" sz="80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MSY8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hu-HU" sz="8000" i="1">
                                  <a:effectLst/>
                                  <a:latin typeface="Cambria Math" panose="02040503050406030204" pitchFamily="18" charset="0"/>
                                  <a:ea typeface="CMSY10"/>
                                  <a:cs typeface="CMSY10"/>
                                </a:rPr>
                              </m:ctrlPr>
                            </m:fPr>
                            <m:num>
                              <m:r>
                                <a:rPr lang="hu-HU" sz="8000" i="1">
                                  <a:effectLst/>
                                  <a:latin typeface="Cambria Math" panose="02040503050406030204" pitchFamily="18" charset="0"/>
                                  <a:ea typeface="CMMI12"/>
                                  <a:cs typeface="Cambria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hu-HU" sz="8000" i="1">
                                      <a:effectLst/>
                                      <a:latin typeface="Cambria Math" panose="02040503050406030204" pitchFamily="18" charset="0"/>
                                      <a:ea typeface="CMR12"/>
                                      <a:cs typeface="CMR12"/>
                                    </a:rPr>
                                  </m:ctrlPr>
                                </m:dPr>
                                <m:e>
                                  <m:r>
                                    <a:rPr lang="hu-HU" sz="8000" i="1">
                                      <a:effectLst/>
                                      <a:latin typeface="Cambria Math" panose="02040503050406030204" pitchFamily="18" charset="0"/>
                                      <a:ea typeface="CMMI12"/>
                                      <a:cs typeface="CMMI12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r>
                                <a:rPr lang="hu-HU" sz="8000" i="1">
                                  <a:effectLst/>
                                  <a:latin typeface="Cambria Math" panose="02040503050406030204" pitchFamily="18" charset="0"/>
                                  <a:ea typeface="CMMI12"/>
                                  <a:cs typeface="CMMI12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hu-HU" sz="8000" i="1">
                                      <a:effectLst/>
                                      <a:latin typeface="Cambria Math" panose="02040503050406030204" pitchFamily="18" charset="0"/>
                                      <a:ea typeface="CMR12"/>
                                      <a:cs typeface="CMR12"/>
                                    </a:rPr>
                                  </m:ctrlPr>
                                </m:dPr>
                                <m:e>
                                  <m:r>
                                    <a:rPr lang="hu-HU" sz="8000" i="1">
                                      <a:effectLst/>
                                      <a:latin typeface="Cambria Math" panose="02040503050406030204" pitchFamily="18" charset="0"/>
                                      <a:ea typeface="CMMI12"/>
                                      <a:cs typeface="CMMI12"/>
                                    </a:rPr>
                                    <m:t>𝑛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 =0</m:t>
                      </m:r>
                    </m:oMath>
                  </m:oMathPara>
                </a14:m>
                <a:br>
                  <a:rPr lang="hu-HU" sz="8000" dirty="0">
                    <a:effectLst/>
                    <a:ea typeface="CMSY10"/>
                    <a:cs typeface="CMSY10"/>
                  </a:rPr>
                </a:b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Ilyenkor azt mondjuk, hogy </a:t>
                </a:r>
                <a:r>
                  <a:rPr lang="hu-HU" sz="8000" b="1" i="1" dirty="0">
                    <a:effectLst/>
                    <a:ea typeface="CMMI12"/>
                    <a:cs typeface="Cambria" panose="02040503050406030204" pitchFamily="18" charset="0"/>
                  </a:rPr>
                  <a:t>φ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F29"/>
                  </a:rPr>
                  <a:t>aszimptotikusan kisebb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F78"/>
                  </a:rPr>
                  <a:t>, mint </a:t>
                </a:r>
                <a:r>
                  <a:rPr lang="hu-HU" sz="8000" b="1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 (Vegyük </a:t>
                </a:r>
                <a:r>
                  <a:rPr lang="hu-HU" sz="8000" dirty="0" err="1">
                    <a:effectLst/>
                    <a:ea typeface="Calibri" panose="020F0502020204030204" pitchFamily="34" charset="0"/>
                    <a:cs typeface="F78"/>
                  </a:rPr>
                  <a:t>észre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, hogy </a:t>
                </a:r>
                <a:r>
                  <a:rPr lang="hu-HU" sz="8000" i="1" dirty="0">
                    <a:effectLst/>
                    <a:ea typeface="CMMI12"/>
                    <a:cs typeface="Cambria" panose="02040503050406030204" pitchFamily="18" charset="0"/>
                  </a:rPr>
                  <a:t>φ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nem okvetlenül AP!) AP függvényekre </a:t>
                </a:r>
                <a14:m>
                  <m:oMath xmlns:m="http://schemas.openxmlformats.org/officeDocument/2006/math"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𝑓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𝑔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</m:t>
                    </m:r>
                    <m:r>
                      <a:rPr lang="hu-HU" sz="800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MI12"/>
                        <a:cs typeface="CMMI12"/>
                      </a:rPr>
                      <m:t>𝑓</m:t>
                    </m:r>
                    <m:r>
                      <a:rPr lang="hu-HU" sz="8000">
                        <a:effectLst/>
                        <a:latin typeface="Cambria Math" panose="02040503050406030204" pitchFamily="18" charset="0"/>
                        <a:ea typeface="CMMI12"/>
                        <a:cs typeface="CMMI12"/>
                      </a:rPr>
                      <m:t> </m:t>
                    </m:r>
                    <m:r>
                      <a:rPr lang="en-US" sz="80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MSY10"/>
                      </a:rPr>
                      <m:t>∈</m:t>
                    </m:r>
                    <m:r>
                      <a:rPr lang="en-US" sz="800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</m:t>
                    </m:r>
                    <m:r>
                      <m:rPr>
                        <m:sty m:val="p"/>
                      </m:rPr>
                      <a:rPr lang="hu-HU" sz="8000">
                        <a:effectLst/>
                        <a:latin typeface="Cambria Math" panose="02040503050406030204" pitchFamily="18" charset="0"/>
                        <a:ea typeface="CMMI12"/>
                        <a:cs typeface="CMMI12"/>
                      </a:rPr>
                      <m:t>o</m:t>
                    </m:r>
                    <m:d>
                      <m:dPr>
                        <m:ctrlPr>
                          <a:rPr lang="hu-HU" sz="8000" i="1">
                            <a:effectLst/>
                            <a:latin typeface="Cambria Math" panose="02040503050406030204" pitchFamily="18" charset="0"/>
                            <a:ea typeface="CMMI12"/>
                            <a:cs typeface="CMMI12"/>
                          </a:rPr>
                        </m:ctrlPr>
                      </m:dPr>
                      <m:e>
                        <m:r>
                          <a:rPr lang="hu-HU" sz="8000" i="1">
                            <a:effectLst/>
                            <a:latin typeface="Cambria Math" panose="02040503050406030204" pitchFamily="18" charset="0"/>
                            <a:ea typeface="CMMI12"/>
                            <a:cs typeface="CMMI12"/>
                          </a:rPr>
                          <m:t>𝑔</m:t>
                        </m:r>
                      </m:e>
                    </m:d>
                  </m:oMath>
                </a14:m>
                <a:b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</a:b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azaz d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48"/>
                  </a:rPr>
                  <a:t>efiníció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 szerint:</a:t>
                </a:r>
                <a:endParaRPr lang="hu-HU" sz="8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R12"/>
                          <a:cs typeface="CMR12"/>
                        </a:rPr>
                        <m:t>𝑜</m:t>
                      </m:r>
                      <m:d>
                        <m:dPr>
                          <m:ctrlPr>
                            <a:rPr lang="hu-HU" sz="8000" i="1">
                              <a:effectLst/>
                              <a:latin typeface="Cambria Math" panose="02040503050406030204" pitchFamily="18" charset="0"/>
                              <a:ea typeface="CMR12"/>
                              <a:cs typeface="CMR12"/>
                            </a:rPr>
                          </m:ctrlPr>
                        </m:dPr>
                        <m:e>
                          <m:r>
                            <a:rPr lang="hu-HU" sz="8000" i="1">
                              <a:effectLst/>
                              <a:latin typeface="Cambria Math" panose="02040503050406030204" pitchFamily="18" charset="0"/>
                              <a:ea typeface="CMR12"/>
                              <a:cs typeface="CMR12"/>
                            </a:rPr>
                            <m:t>𝑔</m:t>
                          </m:r>
                        </m:e>
                      </m:d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={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𝑓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: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𝑓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≺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𝑔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 }</m:t>
                      </m:r>
                    </m:oMath>
                  </m:oMathPara>
                </a14:m>
                <a:endParaRPr lang="hu-HU" sz="8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120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8. </a:t>
                </a:r>
                <a:r>
                  <a:rPr lang="hu-HU" sz="80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Definíció</a:t>
                </a:r>
                <a:r>
                  <a:rPr lang="hu-HU" sz="8000" b="1" i="0" u="none" strike="noStrike" baseline="0" dirty="0">
                    <a:solidFill>
                      <a:srgbClr val="C00000"/>
                    </a:solidFill>
                  </a:rPr>
                  <a:t>.</a:t>
                </a:r>
                <a:r>
                  <a:rPr lang="hu-HU" sz="8000" b="0" i="0" u="none" strike="noStrike" baseline="0" dirty="0"/>
                  <a:t> </a:t>
                </a:r>
                <a:r>
                  <a:rPr lang="hu-HU" sz="8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				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𝑓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≺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MI12"/>
                          <a:cs typeface="Cambria" panose="02040503050406030204" pitchFamily="18" charset="0"/>
                        </a:rPr>
                        <m:t>𝜓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 </m:t>
                      </m:r>
                      <m:r>
                        <a:rPr lang="hu-HU" sz="8000">
                          <a:effectLst/>
                          <a:latin typeface="Cambria Math" panose="02040503050406030204" pitchFamily="18" charset="0"/>
                          <a:ea typeface="CMSY10"/>
                          <a:cs typeface="CMSY10"/>
                        </a:rPr>
                        <m:t>⟺ 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MI12"/>
                          <a:cs typeface="Cambria" panose="02040503050406030204" pitchFamily="18" charset="0"/>
                        </a:rPr>
                        <m:t>𝜓</m:t>
                      </m:r>
                      <m:r>
                        <a:rPr lang="hu-HU" sz="8000">
                          <a:effectLst/>
                          <a:latin typeface="Cambria Math" panose="02040503050406030204" pitchFamily="18" charset="0"/>
                          <a:ea typeface="CMMI12"/>
                          <a:cs typeface="Cambria" panose="02040503050406030204" pitchFamily="18" charset="0"/>
                        </a:rPr>
                        <m:t>≻</m:t>
                      </m:r>
                      <m:r>
                        <a:rPr lang="hu-HU" sz="8000" i="1">
                          <a:effectLst/>
                          <a:latin typeface="Cambria Math" panose="02040503050406030204" pitchFamily="18" charset="0"/>
                          <a:ea typeface="CMMI12"/>
                          <a:cs typeface="Cambria" panose="02040503050406030204" pitchFamily="18" charset="0"/>
                        </a:rPr>
                        <m:t>𝑓</m:t>
                      </m:r>
                    </m:oMath>
                  </m:oMathPara>
                </a14:m>
                <a:br>
                  <a:rPr lang="hu-HU" sz="8000" dirty="0">
                    <a:effectLst/>
                    <a:ea typeface="CMMI12"/>
                    <a:cs typeface="Cambria" panose="02040503050406030204" pitchFamily="18" charset="0"/>
                  </a:rPr>
                </a:b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Ilyenkor azt mondjuk, hogy </a:t>
                </a:r>
                <a:r>
                  <a:rPr lang="hu-HU" sz="8000" b="1" i="1" dirty="0">
                    <a:effectLst/>
                    <a:ea typeface="CMMI12"/>
                    <a:cs typeface="Cambria" panose="02040503050406030204" pitchFamily="18" charset="0"/>
                  </a:rPr>
                  <a:t>f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F29"/>
                  </a:rPr>
                  <a:t>aszimptotikusan nagyobb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F78"/>
                  </a:rPr>
                  <a:t>, mint </a:t>
                </a:r>
                <a:r>
                  <a:rPr lang="hu-HU" sz="8000" b="1" i="1" dirty="0">
                    <a:effectLst/>
                    <a:ea typeface="CMMI12"/>
                    <a:cs typeface="Cambria" panose="02040503050406030204" pitchFamily="18" charset="0"/>
                  </a:rPr>
                  <a:t>ψ</a:t>
                </a:r>
                <a:r>
                  <a:rPr lang="hu-HU" sz="8000" b="1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 (Vegyük </a:t>
                </a:r>
                <a:r>
                  <a:rPr lang="hu-HU" sz="8000" dirty="0" err="1">
                    <a:effectLst/>
                    <a:ea typeface="Calibri" panose="020F0502020204030204" pitchFamily="34" charset="0"/>
                    <a:cs typeface="F78"/>
                  </a:rPr>
                  <a:t>észre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, hogy </a:t>
                </a:r>
                <a:r>
                  <a:rPr lang="hu-HU" sz="8000" i="1" dirty="0">
                    <a:effectLst/>
                    <a:ea typeface="CMMI12"/>
                    <a:cs typeface="Cambria" panose="02040503050406030204" pitchFamily="18" charset="0"/>
                  </a:rPr>
                  <a:t>ψ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nem okvetlenül AP!) AP függvényekre </a:t>
                </a:r>
                <a14:m>
                  <m:oMath xmlns:m="http://schemas.openxmlformats.org/officeDocument/2006/math"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𝑓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≻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𝑔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</m:t>
                    </m:r>
                    <m:r>
                      <a:rPr lang="hu-HU" sz="800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MI12"/>
                        <a:cs typeface="CMMI12"/>
                      </a:rPr>
                      <m:t>𝑓</m:t>
                    </m:r>
                    <m:r>
                      <a:rPr lang="hu-HU" sz="8000">
                        <a:effectLst/>
                        <a:latin typeface="Cambria Math" panose="02040503050406030204" pitchFamily="18" charset="0"/>
                        <a:ea typeface="CMMI12"/>
                        <a:cs typeface="CMMI12"/>
                      </a:rPr>
                      <m:t> </m:t>
                    </m:r>
                    <m:r>
                      <a:rPr lang="en-US" sz="80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MSY10"/>
                      </a:rPr>
                      <m:t>∈</m:t>
                    </m:r>
                    <m:r>
                      <a:rPr lang="en-US" sz="800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</m:t>
                    </m:r>
                    <m:r>
                      <m:rPr>
                        <m:sty m:val="p"/>
                      </m:rPr>
                      <a:rPr lang="hu-HU" sz="800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ω</m:t>
                    </m:r>
                    <m:d>
                      <m:dPr>
                        <m:ctrlPr>
                          <a:rPr lang="hu-HU" sz="8000" i="1">
                            <a:effectLst/>
                            <a:latin typeface="Cambria Math" panose="02040503050406030204" pitchFamily="18" charset="0"/>
                            <a:ea typeface="CMSY10"/>
                            <a:cs typeface="CMSY10"/>
                          </a:rPr>
                        </m:ctrlPr>
                      </m:dPr>
                      <m:e>
                        <m:r>
                          <a:rPr lang="hu-HU" sz="8000" i="1">
                            <a:effectLst/>
                            <a:latin typeface="Cambria Math" panose="02040503050406030204" pitchFamily="18" charset="0"/>
                            <a:ea typeface="CMMI12"/>
                            <a:cs typeface="CMMI12"/>
                          </a:rPr>
                          <m:t>𝑔</m:t>
                        </m:r>
                      </m:e>
                    </m:d>
                  </m:oMath>
                </a14:m>
                <a:b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</a:b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azaz d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48"/>
                  </a:rPr>
                  <a:t>efiníció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F78"/>
                  </a:rPr>
                  <a:t> szerint:</a:t>
                </a:r>
                <a:endParaRPr lang="hu-HU" sz="8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8000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sz="8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8000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R12"/>
                        <a:cs typeface="CMR12"/>
                      </a:rPr>
                      <m:t>𝜔</m:t>
                    </m:r>
                    <m:d>
                      <m:dPr>
                        <m:ctrlPr>
                          <a:rPr lang="hu-HU" sz="8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r>
                          <a:rPr lang="hu-HU" sz="8000" i="1">
                            <a:effectLst/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  <m:t>𝑔</m:t>
                        </m:r>
                      </m:e>
                    </m:d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={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𝑓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: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𝑓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≻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𝑔</m:t>
                    </m:r>
                    <m:r>
                      <a:rPr lang="hu-HU" sz="8000" i="1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}</m:t>
                    </m:r>
                  </m:oMath>
                </a14:m>
                <a:endParaRPr lang="hu-HU" sz="8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7B42AC26-432D-C094-8222-B7952853D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884904"/>
                <a:ext cx="10018713" cy="5838625"/>
              </a:xfrm>
              <a:blipFill>
                <a:blip r:embed="rId2"/>
                <a:stretch>
                  <a:fillRect l="-1399" r="-3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26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függőleges 3">
            <a:extLst>
              <a:ext uri="{FF2B5EF4-FFF2-40B4-BE49-F238E27FC236}">
                <a16:creationId xmlns:a16="http://schemas.microsoft.com/office/drawing/2014/main" id="{24DC8632-8DC8-51B1-26F6-1D135F820599}"/>
              </a:ext>
            </a:extLst>
          </p:cNvPr>
          <p:cNvSpPr/>
          <p:nvPr/>
        </p:nvSpPr>
        <p:spPr>
          <a:xfrm>
            <a:off x="6096000" y="1979407"/>
            <a:ext cx="5156499" cy="4431224"/>
          </a:xfrm>
          <a:prstGeom prst="vertic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B50CAEC-1505-818D-94EE-849ED91B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93955"/>
            <a:ext cx="10018713" cy="1128253"/>
          </a:xfrm>
        </p:spPr>
        <p:txBody>
          <a:bodyPr>
            <a:normAutofit/>
          </a:bodyPr>
          <a:lstStyle/>
          <a:p>
            <a:r>
              <a:rPr lang="hu-HU" sz="4800" dirty="0"/>
              <a:t>A </a:t>
            </a:r>
            <a:r>
              <a:rPr lang="hu-HU" sz="4800" dirty="0">
                <a:effectLst/>
                <a:latin typeface="F78"/>
                <a:ea typeface="Calibri" panose="020F0502020204030204" pitchFamily="34" charset="0"/>
                <a:cs typeface="F78"/>
              </a:rPr>
              <a:t> </a:t>
            </a:r>
            <a:r>
              <a:rPr lang="hu-HU" sz="4800" dirty="0"/>
              <a:t>függvényosztályok kapcsolata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F98D07-54FC-E9FE-5F10-56DD9E280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71252"/>
            <a:ext cx="10018713" cy="4139379"/>
          </a:xfrm>
        </p:spPr>
        <p:txBody>
          <a:bodyPr/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9"/>
            </a:pPr>
            <a:r>
              <a:rPr lang="hu-HU" sz="3200" b="1" dirty="0">
                <a:solidFill>
                  <a:schemeClr val="accent1">
                    <a:lumMod val="75000"/>
                  </a:schemeClr>
                </a:solidFill>
                <a:effectLst/>
                <a:ea typeface="Calibri" panose="020F0502020204030204" pitchFamily="34" charset="0"/>
                <a:cs typeface="F48"/>
              </a:rPr>
              <a:t>Tulajdonság. </a:t>
            </a:r>
            <a:endParaRPr lang="hu-HU" sz="3200" b="1" dirty="0">
              <a:solidFill>
                <a:schemeClr val="accent1">
                  <a:lumMod val="75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Θ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 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= 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2800" dirty="0">
                <a:effectLst/>
                <a:ea typeface="Calibri" panose="020F0502020204030204" pitchFamily="34" charset="0"/>
                <a:cs typeface="CMSY10"/>
              </a:rPr>
              <a:t>∩ </a:t>
            </a:r>
            <a:r>
              <a:rPr lang="en-US" sz="2800" dirty="0">
                <a:effectLst/>
                <a:ea typeface="Calibri" panose="020F0502020204030204" pitchFamily="34" charset="0"/>
                <a:cs typeface="CMR12"/>
              </a:rPr>
              <a:t>Ω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800" dirty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⫋</a:t>
            </a:r>
            <a:r>
              <a:rPr lang="hu-HU" sz="2800" dirty="0">
                <a:effectLst/>
                <a:ea typeface="Calibri" panose="020F0502020204030204" pitchFamily="34" charset="0"/>
                <a:cs typeface="MSBM10"/>
              </a:rPr>
              <a:t> 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800" dirty="0">
                <a:effectLst/>
                <a:ea typeface="Calibri" panose="020F0502020204030204" pitchFamily="34" charset="0"/>
                <a:cs typeface="CMSY10"/>
              </a:rPr>
              <a:t>\ </a:t>
            </a:r>
            <a:r>
              <a:rPr lang="en-US" sz="2800" dirty="0">
                <a:effectLst/>
                <a:ea typeface="Calibri" panose="020F0502020204030204" pitchFamily="34" charset="0"/>
                <a:cs typeface="CMR12"/>
              </a:rPr>
              <a:t>Ω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</a:t>
            </a:r>
            <a:endParaRPr lang="hu-HU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MMI12"/>
                <a:cs typeface="Cambria" panose="02040503050406030204" pitchFamily="18" charset="0"/>
              </a:rPr>
              <a:t>ω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800" dirty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⫋</a:t>
            </a:r>
            <a:r>
              <a:rPr lang="hu-HU" sz="2800" dirty="0">
                <a:effectLst/>
                <a:ea typeface="Calibri" panose="020F0502020204030204" pitchFamily="34" charset="0"/>
                <a:cs typeface="MSBM10"/>
              </a:rPr>
              <a:t> </a:t>
            </a:r>
            <a:r>
              <a:rPr lang="en-US" sz="2800" dirty="0">
                <a:effectLst/>
                <a:ea typeface="Calibri" panose="020F0502020204030204" pitchFamily="34" charset="0"/>
                <a:cs typeface="CMR12"/>
              </a:rPr>
              <a:t>Ω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hu-HU" sz="2800" dirty="0">
                <a:effectLst/>
                <a:ea typeface="Calibri" panose="020F0502020204030204" pitchFamily="34" charset="0"/>
                <a:cs typeface="CMSY10"/>
              </a:rPr>
              <a:t>\ </a:t>
            </a:r>
            <a:r>
              <a:rPr lang="hu-HU" sz="2800" dirty="0">
                <a:effectLst/>
                <a:ea typeface="Calibri" panose="020F0502020204030204" pitchFamily="34" charset="0"/>
                <a:cs typeface="CMMI12"/>
              </a:rPr>
              <a:t>O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CMMI12"/>
              </a:rPr>
              <a:t>g</a:t>
            </a:r>
            <a:r>
              <a:rPr lang="hu-HU" sz="2800" dirty="0">
                <a:effectLst/>
                <a:ea typeface="Calibri" panose="020F0502020204030204" pitchFamily="34" charset="0"/>
                <a:cs typeface="CMR12"/>
              </a:rPr>
              <a:t>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hu-H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915623D-BF4E-F612-491B-7B171B32A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220" y="2728450"/>
            <a:ext cx="3868058" cy="322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6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B4B00D-37DD-62B0-1702-0D3B7FF4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05347"/>
          </a:xfrm>
        </p:spPr>
        <p:txBody>
          <a:bodyPr/>
          <a:lstStyle/>
          <a:p>
            <a:r>
              <a:rPr lang="hu-HU"/>
              <a:t>A </a:t>
            </a:r>
            <a:r>
              <a:rPr lang="hu-HU" sz="1800">
                <a:effectLst/>
                <a:latin typeface="F78"/>
                <a:ea typeface="Calibri" panose="020F0502020204030204" pitchFamily="34" charset="0"/>
                <a:cs typeface="F78"/>
              </a:rPr>
              <a:t> </a:t>
            </a:r>
            <a:r>
              <a:rPr lang="hu-HU"/>
              <a:t>függvényosztályok tulajdonságai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5C39799-19AF-7274-8B6F-A0C9BB99461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484312" y="1691149"/>
                <a:ext cx="4895055" cy="448105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10"/>
                </a:pPr>
                <a:r>
                  <a:rPr lang="hu-HU" sz="2000" dirty="0">
                    <a:solidFill>
                      <a:schemeClr val="accent1">
                        <a:lumMod val="75000"/>
                      </a:schemeClr>
                    </a:solidFill>
                  </a:rPr>
                  <a:t>Tranzitivitás</a:t>
                </a:r>
              </a:p>
              <a:p>
                <a:pPr lvl="1"/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∈ O(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) ∧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∈ O(</a:t>
                </a:r>
                <a:r>
                  <a:rPr lang="pt-BR" sz="1800" b="0" i="1" u="none" strike="noStrike" baseline="0" dirty="0"/>
                  <a:t>h</a:t>
                </a:r>
                <a:r>
                  <a:rPr lang="pt-BR" sz="1800" b="0" i="0" u="none" strike="noStrike" baseline="0" dirty="0"/>
                  <a:t>) ⇒ </a:t>
                </a:r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∈ O(</a:t>
                </a:r>
                <a:r>
                  <a:rPr lang="pt-BR" sz="1800" b="0" i="1" u="none" strike="noStrike" baseline="0" dirty="0"/>
                  <a:t>h</a:t>
                </a:r>
                <a:r>
                  <a:rPr lang="pt-BR" sz="1800" b="0" i="0" u="none" strike="noStrike" baseline="0" dirty="0"/>
                  <a:t>)</a:t>
                </a:r>
              </a:p>
              <a:p>
                <a:pPr lvl="1"/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Ω(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∧ 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Ω(</a:t>
                </a:r>
                <a:r>
                  <a:rPr lang="hu-HU" sz="1800" b="0" i="1" u="none" strike="noStrike" baseline="0" dirty="0"/>
                  <a:t>h</a:t>
                </a:r>
                <a:r>
                  <a:rPr lang="hu-HU" sz="1800" b="0" i="0" u="none" strike="noStrike" baseline="0" dirty="0"/>
                  <a:t>) ⇒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Ω(</a:t>
                </a:r>
                <a:r>
                  <a:rPr lang="hu-HU" sz="1800" b="0" i="1" u="none" strike="noStrike" baseline="0" dirty="0"/>
                  <a:t>h</a:t>
                </a:r>
                <a:r>
                  <a:rPr lang="hu-HU" sz="1800" b="0" i="0" u="none" strike="noStrike" baseline="0" dirty="0"/>
                  <a:t>)</a:t>
                </a:r>
              </a:p>
              <a:p>
                <a:pPr lvl="1"/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∧ 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h</a:t>
                </a:r>
                <a:r>
                  <a:rPr lang="hu-HU" sz="1800" b="0" i="0" u="none" strike="noStrike" baseline="0" dirty="0"/>
                  <a:t>) ⇒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h</a:t>
                </a:r>
                <a:r>
                  <a:rPr lang="hu-HU" sz="1800" b="0" i="0" u="none" strike="noStrike" baseline="0" dirty="0"/>
                  <a:t>)</a:t>
                </a:r>
              </a:p>
              <a:p>
                <a:pPr lvl="1"/>
                <a:r>
                  <a:rPr lang="pt-BR" sz="1800" b="0" i="1" u="none" strike="noStrike" baseline="0" dirty="0"/>
                  <a:t>φ</a:t>
                </a:r>
                <a:r>
                  <a:rPr lang="pt-BR" sz="1800" b="0" i="0" u="none" strike="noStrike" baseline="0" dirty="0"/>
                  <a:t> ≺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∧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≺ </a:t>
                </a:r>
                <a:r>
                  <a:rPr lang="pt-BR" sz="1800" b="0" i="1" u="none" strike="noStrike" baseline="0" dirty="0"/>
                  <a:t>h</a:t>
                </a:r>
                <a:r>
                  <a:rPr lang="pt-BR" sz="1800" b="0" i="0" u="none" strike="noStrike" baseline="0" dirty="0"/>
                  <a:t> ⇒ </a:t>
                </a:r>
                <a:r>
                  <a:rPr lang="pt-BR" sz="1800" b="0" i="1" u="none" strike="noStrike" baseline="0" dirty="0"/>
                  <a:t>φ</a:t>
                </a:r>
                <a:r>
                  <a:rPr lang="pt-BR" sz="1800" b="0" i="0" u="none" strike="noStrike" baseline="0" dirty="0"/>
                  <a:t> ≺ </a:t>
                </a:r>
                <a:r>
                  <a:rPr lang="pt-BR" sz="1800" b="0" i="1" u="none" strike="noStrike" baseline="0" dirty="0"/>
                  <a:t>h</a:t>
                </a:r>
              </a:p>
              <a:p>
                <a:pPr lvl="1"/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≻ 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 ∧ 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 ≻ </a:t>
                </a:r>
                <a:r>
                  <a:rPr lang="el-GR" sz="1800" b="0" i="1" u="none" strike="noStrike" baseline="0" dirty="0"/>
                  <a:t>ψ</a:t>
                </a:r>
                <a:r>
                  <a:rPr lang="el-GR" sz="1800" b="0" i="0" u="none" strike="noStrike" baseline="0" dirty="0"/>
                  <a:t> ⇒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≻ </a:t>
                </a:r>
                <a:r>
                  <a:rPr lang="el-GR" sz="1800" b="0" i="1" u="none" strike="noStrike" baseline="0" dirty="0"/>
                  <a:t>ψ</a:t>
                </a:r>
                <a:endParaRPr lang="hu-HU" sz="1800" i="1" dirty="0"/>
              </a:p>
              <a:p>
                <a:pPr marL="457200" indent="-457200">
                  <a:buFont typeface="+mj-lt"/>
                  <a:buAutoNum type="arabicPeriod" startAt="11"/>
                </a:pPr>
                <a:r>
                  <a:rPr lang="hu-HU" sz="2000" dirty="0">
                    <a:solidFill>
                      <a:schemeClr val="accent1">
                        <a:lumMod val="75000"/>
                      </a:schemeClr>
                    </a:solidFill>
                  </a:rPr>
                  <a:t>Szimmetria</a:t>
                </a:r>
              </a:p>
              <a:p>
                <a:pPr lvl="1"/>
                <a:r>
                  <a:rPr lang="hu-HU" sz="1800" b="0" i="1" u="none" strike="noStrike" baseline="0" dirty="0"/>
                  <a:t>f </a:t>
                </a:r>
                <a:r>
                  <a:rPr lang="hu-HU" sz="1800" b="0" i="0" u="none" strike="noStrike" baseline="0" dirty="0"/>
                  <a:t>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</a:t>
                </a:r>
                <a14:m>
                  <m:oMath xmlns:m="http://schemas.openxmlformats.org/officeDocument/2006/math">
                    <m:r>
                      <a:rPr lang="hu-HU" sz="1800" smtClean="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</m:oMath>
                </a14:m>
                <a:r>
                  <a:rPr lang="hu-HU" sz="1800" b="0" i="1" u="none" strike="noStrike" baseline="0" dirty="0"/>
                  <a:t> g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)</a:t>
                </a:r>
              </a:p>
              <a:p>
                <a:pPr marL="457200" indent="-457200">
                  <a:buFont typeface="+mj-lt"/>
                  <a:buAutoNum type="arabicPeriod" startAt="12"/>
                </a:pPr>
                <a:r>
                  <a:rPr lang="hu-HU" sz="2000" dirty="0">
                    <a:solidFill>
                      <a:schemeClr val="accent1">
                        <a:lumMod val="75000"/>
                      </a:schemeClr>
                    </a:solidFill>
                  </a:rPr>
                  <a:t>Reflexivitás</a:t>
                </a:r>
              </a:p>
              <a:p>
                <a:pPr lvl="1"/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O(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) ∧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Ω(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) ∧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)</a:t>
                </a:r>
                <a:endParaRPr lang="hu-HU" sz="1800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35C39799-19AF-7274-8B6F-A0C9BB994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84312" y="1691149"/>
                <a:ext cx="4895055" cy="4481050"/>
              </a:xfrm>
              <a:blipFill>
                <a:blip r:embed="rId2"/>
                <a:stretch>
                  <a:fillRect l="-274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94162D40-2566-9F0E-F5A1-D18D1D2AC1D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07967" y="1691147"/>
                <a:ext cx="5092420" cy="4965291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13"/>
                </a:pPr>
                <a:r>
                  <a:rPr lang="hu-HU" sz="200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Következmény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sz="1800" b="1" i="0" u="none" strike="noStrike" baseline="0" dirty="0"/>
                  <a:t>Θ</a:t>
                </a:r>
                <a:r>
                  <a:rPr lang="hu-HU" sz="1800" dirty="0"/>
                  <a:t> </a:t>
                </a:r>
                <a:r>
                  <a:rPr lang="hu-HU" sz="1800" b="1" dirty="0"/>
                  <a:t>ekvivalenciareláció</a:t>
                </a:r>
                <a:r>
                  <a:rPr lang="hu-HU" sz="1800" dirty="0"/>
                  <a:t>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hu-HU" sz="1800" dirty="0"/>
                  <a:t>AP függvények halmazának osztályozását adja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</a:t>
                </a:r>
                <a14:m>
                  <m:oMath xmlns:m="http://schemas.openxmlformats.org/officeDocument/2006/math">
                    <m:r>
                      <a:rPr lang="hu-HU" sz="1800" smtClean="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</m:oMath>
                </a14:m>
                <a:r>
                  <a:rPr lang="hu-HU" sz="1800" b="0" i="0" u="none" strike="noStrike" baseline="0" dirty="0"/>
                  <a:t>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) =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</a:t>
                </a:r>
                <a:br>
                  <a:rPr lang="hu-HU" sz="1800" b="0" i="0" u="none" strike="noStrike" baseline="0" dirty="0"/>
                </a:br>
                <a:r>
                  <a:rPr lang="hu-HU" sz="1800" b="0" i="0" u="none" strike="noStrike" baseline="0" dirty="0"/>
                  <a:t>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függvény</a:t>
                </a:r>
                <a:r>
                  <a:rPr lang="hu-HU" sz="1800" b="0" i="0" u="none" strike="noStrike" dirty="0"/>
                  <a:t> a</a:t>
                </a:r>
                <a:r>
                  <a:rPr lang="hu-HU" sz="1800" b="0" i="0" u="none" strike="noStrike" baseline="0" dirty="0"/>
                  <a:t>szimptotikusan ekvivalens a 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 függvénnyel.)</a:t>
                </a:r>
                <a:endParaRPr lang="hu-HU" sz="18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hu-HU" sz="1800" dirty="0"/>
                  <a:t>Az egyes osztályok reprezentálhatók a legegyszerűbb függvényükkel, pl.: </a:t>
                </a:r>
                <a:r>
                  <a:rPr lang="el-GR" sz="1800" b="0" i="0" u="none" strike="noStrike" baseline="0" dirty="0"/>
                  <a:t>Θ</a:t>
                </a:r>
                <a:r>
                  <a:rPr lang="hu-HU" sz="1800" dirty="0"/>
                  <a:t>(1),</a:t>
                </a:r>
                <a:r>
                  <a:rPr lang="el-GR" sz="1800" b="0" i="0" u="none" strike="noStrike" baseline="0" dirty="0"/>
                  <a:t> Θ</a:t>
                </a:r>
                <a:r>
                  <a:rPr lang="hu-HU" sz="1800" dirty="0"/>
                  <a:t>(</a:t>
                </a:r>
                <a:r>
                  <a:rPr lang="hu-HU" sz="1800" i="1" dirty="0"/>
                  <a:t>n</a:t>
                </a:r>
                <a:r>
                  <a:rPr lang="hu-HU" sz="1800" dirty="0"/>
                  <a:t>),</a:t>
                </a:r>
                <a:r>
                  <a:rPr lang="el-GR" sz="1800" b="0" i="0" u="none" strike="noStrike" baseline="0" dirty="0"/>
                  <a:t> Θ</a:t>
                </a:r>
                <a:r>
                  <a:rPr lang="hu-HU" sz="1800" dirty="0"/>
                  <a:t>(</a:t>
                </a:r>
                <a:r>
                  <a:rPr lang="hu-HU" sz="1800" i="1" dirty="0"/>
                  <a:t>n</a:t>
                </a:r>
                <a:r>
                  <a:rPr lang="hu-HU" sz="1800" baseline="30000" dirty="0"/>
                  <a:t>2</a:t>
                </a:r>
                <a:r>
                  <a:rPr lang="hu-HU" sz="1800" dirty="0"/>
                  <a:t> ), </a:t>
                </a:r>
                <a:r>
                  <a:rPr lang="el-GR" sz="1800" b="0" i="0" u="none" strike="noStrike" baseline="0" dirty="0"/>
                  <a:t>Θ</a:t>
                </a:r>
                <a:r>
                  <a:rPr lang="hu-HU" sz="1800" dirty="0"/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1800" i="1" smtClean="0">
                            <a:effectLst/>
                            <a:latin typeface="Cambria Math" panose="02040503050406030204" pitchFamily="18" charset="0"/>
                            <a:cs typeface="F78"/>
                          </a:rPr>
                        </m:ctrlPr>
                      </m:radPr>
                      <m:deg/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78"/>
                          </a:rPr>
                          <m:t>𝑛</m:t>
                        </m:r>
                      </m:e>
                    </m:rad>
                  </m:oMath>
                </a14:m>
                <a:r>
                  <a:rPr lang="hu-HU" sz="1800" dirty="0"/>
                  <a:t>) </a:t>
                </a:r>
              </a:p>
            </p:txBody>
          </p:sp>
        </mc:Choice>
        <mc:Fallback xmlns="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94162D40-2566-9F0E-F5A1-D18D1D2AC1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07967" y="1691147"/>
                <a:ext cx="5092420" cy="4965291"/>
              </a:xfrm>
              <a:blipFill>
                <a:blip r:embed="rId3"/>
                <a:stretch>
                  <a:fillRect l="-263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15779CE6-E38C-6A88-8CF1-AA0E3FE872FD}"/>
              </a:ext>
            </a:extLst>
          </p:cNvPr>
          <p:cNvSpPr/>
          <p:nvPr/>
        </p:nvSpPr>
        <p:spPr>
          <a:xfrm>
            <a:off x="5850194" y="3429000"/>
            <a:ext cx="894735" cy="8283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56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03CB51-1CBB-F9E2-E167-02FF83DBE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878" y="190949"/>
            <a:ext cx="10018713" cy="1027470"/>
          </a:xfrm>
        </p:spPr>
        <p:txBody>
          <a:bodyPr/>
          <a:lstStyle/>
          <a:p>
            <a:r>
              <a:rPr lang="hu-HU" sz="4000" dirty="0">
                <a:effectLst/>
                <a:latin typeface="F48"/>
                <a:ea typeface="Calibri" panose="020F0502020204030204" pitchFamily="34" charset="0"/>
                <a:cs typeface="F48"/>
              </a:rPr>
              <a:t>Példa AP függvények nagyságrendjére: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1974927-3AA7-E130-D4F6-91C0314455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01180" y="1881756"/>
                <a:ext cx="2242116" cy="44790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dirty="0">
                  <a:effectLst/>
                  <a:ea typeface="CMSY10"/>
                  <a:cs typeface="CMSY10"/>
                </a:endParaRPr>
              </a:p>
              <a:p>
                <a:r>
                  <a:rPr lang="hu-HU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hu-H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u-HU" i="1" dirty="0"/>
                  <a:t>(n</a:t>
                </a:r>
                <a:r>
                  <a:rPr lang="hu-HU" baseline="30000" dirty="0"/>
                  <a:t>1/2</a:t>
                </a:r>
                <a14:m>
                  <m:oMath xmlns:m="http://schemas.openxmlformats.org/officeDocument/2006/math">
                    <m:r>
                      <a:rPr lang="hu-HU" b="0" i="0" smtClean="0">
                        <a:latin typeface="Cambria Math" panose="02040503050406030204" pitchFamily="18" charset="0"/>
                        <a:ea typeface="CMSY10"/>
                        <a:cs typeface="CMSY10"/>
                      </a:rPr>
                      <m:t>)</m:t>
                    </m:r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 </m:t>
                    </m:r>
                  </m:oMath>
                </a14:m>
                <a:endParaRPr lang="hu-HU" dirty="0">
                  <a:ea typeface="CMSY10"/>
                  <a:cs typeface="CMSY10"/>
                </a:endParaRPr>
              </a:p>
              <a:p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dirty="0">
                  <a:ea typeface="CMSY10"/>
                  <a:cs typeface="CMSY1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dirty="0">
                  <a:ea typeface="CMSY10"/>
                  <a:cs typeface="CMSY1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dirty="0"/>
                  <a:t>n</a:t>
                </a:r>
                <a:r>
                  <a:rPr lang="hu-HU" baseline="30000" dirty="0"/>
                  <a:t>2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8"/>
                  </a:rPr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dirty="0">
                  <a:effectLst/>
                  <a:ea typeface="Calibri" panose="020F0502020204030204" pitchFamily="34" charset="0"/>
                  <a:cs typeface="CMSY1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dirty="0"/>
                  <a:t>n</a:t>
                </a:r>
                <a:r>
                  <a:rPr lang="hu-HU" baseline="30000" dirty="0"/>
                  <a:t>2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dirty="0">
                  <a:effectLst/>
                  <a:ea typeface="Calibri" panose="020F0502020204030204" pitchFamily="34" charset="0"/>
                  <a:cs typeface="CMSY1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dirty="0"/>
                  <a:t>n</a:t>
                </a:r>
                <a:r>
                  <a:rPr lang="hu-HU" baseline="30000" dirty="0"/>
                  <a:t>3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dirty="0"/>
              </a:p>
              <a:p>
                <a:r>
                  <a:rPr lang="hu-HU" dirty="0"/>
                  <a:t> 2</a:t>
                </a:r>
                <a:r>
                  <a:rPr lang="hu-HU" i="1" baseline="30000" dirty="0"/>
                  <a:t>n</a:t>
                </a:r>
                <a:r>
                  <a:rPr lang="hu-HU" baseline="30000" dirty="0"/>
                  <a:t>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≺</m:t>
                    </m:r>
                  </m:oMath>
                </a14:m>
                <a:endParaRPr lang="hu-HU" i="1" dirty="0">
                  <a:ea typeface="CMSY10"/>
                  <a:cs typeface="CMSY10"/>
                </a:endParaRPr>
              </a:p>
              <a:p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MSY10"/>
                        <a:cs typeface="CMSY10"/>
                      </a:rPr>
                      <m:t> </m:t>
                    </m:r>
                  </m:oMath>
                </a14:m>
                <a:r>
                  <a:rPr lang="hu-HU" i="1" dirty="0"/>
                  <a:t>n!</a:t>
                </a:r>
                <a:r>
                  <a:rPr lang="hu-HU" i="1" baseline="30000" dirty="0"/>
                  <a:t> </a:t>
                </a:r>
                <a:endParaRPr lang="hu-HU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1974927-3AA7-E130-D4F6-91C0314455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01180" y="1881756"/>
                <a:ext cx="2242116" cy="4479012"/>
              </a:xfrm>
              <a:blipFill>
                <a:blip r:embed="rId2"/>
                <a:stretch>
                  <a:fillRect l="-6793" t="-2589" b="-231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2AAA58D6-A049-EA4C-35B2-A5448435B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567" y="1638930"/>
            <a:ext cx="7242024" cy="48034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3348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F2341D-8CE5-90E2-3A5A-C9D56DF91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1168"/>
            <a:ext cx="10018713" cy="828368"/>
          </a:xfrm>
        </p:spPr>
        <p:txBody>
          <a:bodyPr/>
          <a:lstStyle/>
          <a:p>
            <a:r>
              <a:rPr lang="hu-HU"/>
              <a:t>További tulajdonságok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E6D2F42-6F97-8988-2396-2C3E8266906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484312" y="1415845"/>
                <a:ext cx="4895055" cy="4758813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 startAt="14"/>
                </a:pP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hu-HU" sz="2200" b="0" i="0" u="none" strike="noStrike" baseline="0" dirty="0"/>
                  <a:t>, 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hu-HU" sz="2200" b="0" i="0" u="none" strike="noStrike" baseline="0" dirty="0"/>
                  <a:t> ∈ </a:t>
                </a:r>
                <a:r>
                  <a:rPr lang="el-GR" sz="2200" b="0" i="0" u="none" strike="noStrike" baseline="0" dirty="0"/>
                  <a:t>Θ(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hu-HU" sz="2200" b="0" i="0" u="none" strike="noStrike" baseline="0" dirty="0"/>
                  <a:t>) ∧ 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hu-HU" sz="2200" b="0" i="0" u="none" strike="noStrike" baseline="0" dirty="0"/>
                  <a:t>, 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hu-HU" sz="2200" b="0" i="0" u="none" strike="noStrike" baseline="0" dirty="0"/>
                  <a:t> ∈ </a:t>
                </a:r>
                <a:r>
                  <a:rPr lang="el-GR" sz="2200" b="0" i="0" u="none" strike="noStrike" baseline="0" dirty="0"/>
                  <a:t>Θ(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hu-HU" sz="2200" b="0" i="0" u="none" strike="noStrike" baseline="0" dirty="0"/>
                  <a:t>) </a:t>
                </a:r>
                <a:br>
                  <a:rPr lang="hu-HU" sz="2200" b="0" i="0" u="none" strike="noStrike" baseline="0" dirty="0"/>
                </a:br>
                <a:r>
                  <a:rPr lang="hu-HU" sz="2200" b="0" i="0" u="none" strike="noStrike" baseline="0" dirty="0"/>
                  <a:t>∧ 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hu-HU" sz="2200" b="0" i="0" u="none" strike="noStrike" baseline="0" dirty="0"/>
                  <a:t> ≺ 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hu-HU" sz="2200" b="0" i="0" u="none" strike="noStrike" baseline="0" dirty="0"/>
                  <a:t> ⇒ </a:t>
                </a:r>
                <a:r>
                  <a:rPr lang="hu-HU" sz="22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hu-HU" sz="2200" b="0" i="0" u="none" strike="noStrike" baseline="0" dirty="0"/>
                  <a:t> ≺ </a:t>
                </a:r>
                <a:r>
                  <a:rPr lang="hu-HU" sz="2200" b="0" i="1" u="none" strike="noStrike" baseline="0" dirty="0"/>
                  <a:t>g</a:t>
                </a:r>
                <a:r>
                  <a:rPr lang="hu-HU" sz="22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hu-HU" sz="2200" b="0" i="0" u="none" strike="noStrike" baseline="0" dirty="0"/>
              </a:p>
              <a:p>
                <a:pPr marL="457200" indent="-457200" algn="l">
                  <a:buFont typeface="+mj-lt"/>
                  <a:buAutoNum type="arabicPeriod" startAt="14"/>
                </a:pPr>
                <a:r>
                  <a:rPr lang="hu-HU" sz="2400" b="1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Definíció.</a:t>
                </a:r>
              </a:p>
              <a:p>
                <a:pPr lvl="1"/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) ≺ </a:t>
                </a:r>
                <a:r>
                  <a:rPr lang="el-GR" sz="1800" b="0" i="0" u="none" strike="noStrike" baseline="0" dirty="0"/>
                  <a:t>Θ(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</a:t>
                </a:r>
                <a14:m>
                  <m:oMath xmlns:m="http://schemas.openxmlformats.org/officeDocument/2006/math">
                    <m:r>
                      <a:rPr lang="hu-HU" sz="1800" smtClean="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</m:oMath>
                </a14:m>
                <a:r>
                  <a:rPr lang="hu-HU" sz="1800" b="0" i="0" u="none" strike="noStrike" baseline="0" dirty="0"/>
                  <a:t>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≺ </a:t>
                </a:r>
                <a:r>
                  <a:rPr lang="hu-HU" sz="1800" b="0" i="1" u="none" strike="noStrike" baseline="0" dirty="0"/>
                  <a:t>g</a:t>
                </a:r>
              </a:p>
              <a:p>
                <a:pPr marL="457200" indent="-457200">
                  <a:buFont typeface="+mj-lt"/>
                  <a:buAutoNum type="arabicPeriod" startAt="14"/>
                </a:pPr>
                <a:r>
                  <a:rPr lang="hu-HU" sz="2400" b="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Zártság</a:t>
                </a:r>
              </a:p>
              <a:p>
                <a:pPr lvl="1"/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∈ O(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) ∧ </a:t>
                </a:r>
                <a:r>
                  <a:rPr lang="pt-BR" sz="1800" b="0" i="1" u="none" strike="noStrike" baseline="0" dirty="0"/>
                  <a:t>c</a:t>
                </a:r>
                <a:r>
                  <a:rPr lang="pt-BR" sz="1800" b="0" i="0" u="none" strike="noStrike" baseline="0" dirty="0"/>
                  <a:t> ∈ </a:t>
                </a:r>
                <a14:m>
                  <m:oMath xmlns:m="http://schemas.openxmlformats.org/officeDocument/2006/math">
                    <m:r>
                      <a:rPr lang="hu-H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pt-BR" sz="1800" b="0" i="0" u="none" strike="noStrike" baseline="0" dirty="0"/>
                  <a:t> ⇒ </a:t>
                </a:r>
                <a:r>
                  <a:rPr lang="pt-BR" sz="1800" b="0" i="1" u="none" strike="noStrike" baseline="0" dirty="0"/>
                  <a:t>c</a:t>
                </a:r>
                <a:r>
                  <a:rPr lang="pt-BR" sz="1800" b="0" i="0" u="none" strike="noStrike" baseline="0" dirty="0"/>
                  <a:t> ∗ </a:t>
                </a:r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∈ O(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)</a:t>
                </a:r>
              </a:p>
              <a:p>
                <a:pPr lvl="1"/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∈ O(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b="0" i="0" u="none" strike="noStrike" baseline="0" dirty="0"/>
                  <a:t>) ∧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∈ O(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b="0" i="0" u="none" strike="noStrike" baseline="0" dirty="0"/>
                  <a:t>) ⇒ </a:t>
                </a:r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+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∈ O(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b="0" i="0" u="none" strike="noStrike" baseline="0" dirty="0"/>
                  <a:t> + 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b="0" i="0" u="none" strike="noStrike" baseline="0" dirty="0"/>
                  <a:t>)</a:t>
                </a:r>
              </a:p>
              <a:p>
                <a:pPr lvl="1"/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∈ O(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b="0" i="0" u="none" strike="noStrike" baseline="0" dirty="0"/>
                  <a:t>) ∧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∈ O(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b="0" i="0" u="none" strike="noStrike" baseline="0" dirty="0"/>
                  <a:t>) ⇒ </a:t>
                </a:r>
                <a:r>
                  <a:rPr lang="pt-BR" sz="1800" b="0" i="1" u="none" strike="noStrike" baseline="0" dirty="0"/>
                  <a:t>f</a:t>
                </a:r>
                <a:r>
                  <a:rPr lang="pt-BR" sz="1800" b="0" i="0" u="none" strike="noStrike" baseline="0" dirty="0"/>
                  <a:t> ∗ </a:t>
                </a:r>
                <a:r>
                  <a:rPr lang="pt-BR" sz="1800" b="0" i="1" u="none" strike="noStrike" baseline="0" dirty="0"/>
                  <a:t>g</a:t>
                </a:r>
                <a:r>
                  <a:rPr lang="pt-BR" sz="1800" b="0" i="0" u="none" strike="noStrike" baseline="0" dirty="0"/>
                  <a:t> ∈ O(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pt-BR" sz="1800" b="0" i="0" u="none" strike="noStrike" baseline="0" dirty="0"/>
                  <a:t> ∗ </a:t>
                </a:r>
                <a:r>
                  <a:rPr lang="hu-HU" sz="18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hu-HU" sz="1800" i="1" baseline="-25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sz="1800" b="0" i="0" u="none" strike="noStrike" baseline="0" dirty="0"/>
                  <a:t>)</a:t>
                </a:r>
              </a:p>
              <a:p>
                <a:pPr lvl="1"/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∈ O(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 ∧ </a:t>
                </a:r>
                <a:r>
                  <a:rPr lang="el-GR" sz="1800" b="0" i="1" u="none" strike="noStrike" baseline="0" dirty="0"/>
                  <a:t>φ</a:t>
                </a:r>
                <a:r>
                  <a:rPr lang="el-GR" sz="1800" b="0" i="0" u="none" strike="noStrike" baseline="0" dirty="0"/>
                  <a:t> ≺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⇒ </a:t>
                </a:r>
                <a:r>
                  <a:rPr lang="hu-HU" sz="1800" b="0" i="1" u="none" strike="noStrike" baseline="0" dirty="0"/>
                  <a:t>f</a:t>
                </a:r>
                <a:r>
                  <a:rPr lang="hu-HU" sz="1800" b="0" i="0" u="none" strike="noStrike" baseline="0" dirty="0"/>
                  <a:t> + </a:t>
                </a:r>
                <a:r>
                  <a:rPr lang="el-GR" sz="1800" b="0" i="1" u="none" strike="noStrike" baseline="0" dirty="0"/>
                  <a:t>φ</a:t>
                </a:r>
                <a:r>
                  <a:rPr lang="el-GR" sz="1800" b="0" i="0" u="none" strike="noStrike" baseline="0" dirty="0"/>
                  <a:t> ∈ </a:t>
                </a:r>
                <a:r>
                  <a:rPr lang="hu-HU" sz="1800" b="0" i="0" u="none" strike="noStrike" baseline="0" dirty="0"/>
                  <a:t>O(</a:t>
                </a:r>
                <a:r>
                  <a:rPr lang="hu-HU" sz="1800" b="0" i="1" u="none" strike="noStrike" baseline="0" dirty="0"/>
                  <a:t>g</a:t>
                </a:r>
                <a:r>
                  <a:rPr lang="hu-HU" sz="1800" b="0" i="0" u="none" strike="noStrike" baseline="0" dirty="0"/>
                  <a:t>)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E6D2F42-6F97-8988-2396-2C3E82669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84312" y="1415845"/>
                <a:ext cx="4895055" cy="4758813"/>
              </a:xfrm>
              <a:blipFill>
                <a:blip r:embed="rId2"/>
                <a:stretch>
                  <a:fillRect l="-361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E32F0F64-40A0-9A58-3DCD-F38D10F6DF8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07967" y="1415845"/>
                <a:ext cx="4895056" cy="4375355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 algn="l">
                  <a:buFont typeface="+mj-lt"/>
                  <a:buAutoNum type="arabicPeriod" startAt="17"/>
                </a:pPr>
                <a:r>
                  <a:rPr lang="hu-HU" sz="2400" b="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Felcserélt szimmetria</a:t>
                </a:r>
              </a:p>
              <a:p>
                <a:pPr lvl="1"/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 ∈ O(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) </a:t>
                </a:r>
                <a14:m>
                  <m:oMath xmlns:m="http://schemas.openxmlformats.org/officeDocument/2006/math">
                    <m:r>
                      <a:rPr lang="hu-HU" sz="2400" smtClean="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</m:oMath>
                </a14:m>
                <a:r>
                  <a:rPr lang="hu-HU" sz="2100" b="0" i="0" u="none" strike="noStrike" baseline="0" dirty="0"/>
                  <a:t> 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∈ </a:t>
                </a:r>
                <a:r>
                  <a:rPr lang="el-GR" sz="2100" b="0" i="0" u="none" strike="noStrike" baseline="0" dirty="0"/>
                  <a:t>Ω(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)</a:t>
                </a:r>
              </a:p>
              <a:p>
                <a:pPr lvl="1"/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 ≺ 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</a:t>
                </a:r>
                <a14:m>
                  <m:oMath xmlns:m="http://schemas.openxmlformats.org/officeDocument/2006/math">
                    <m:r>
                      <a:rPr lang="hu-HU" sz="2400" smtClean="0">
                        <a:effectLst/>
                        <a:latin typeface="Cambria Math" panose="02040503050406030204" pitchFamily="18" charset="0"/>
                        <a:ea typeface="CMSY10"/>
                        <a:cs typeface="CMSY10"/>
                      </a:rPr>
                      <m:t>⟺</m:t>
                    </m:r>
                  </m:oMath>
                </a14:m>
                <a:r>
                  <a:rPr lang="hu-HU" sz="2100" b="0" i="0" u="none" strike="noStrike" baseline="0" dirty="0"/>
                  <a:t> 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≻ </a:t>
                </a:r>
                <a:r>
                  <a:rPr lang="hu-HU" sz="2100" b="0" i="1" u="none" strike="noStrike" baseline="0" dirty="0"/>
                  <a:t>f</a:t>
                </a:r>
              </a:p>
              <a:p>
                <a:pPr marL="457200" indent="-457200" algn="l">
                  <a:buFont typeface="+mj-lt"/>
                  <a:buAutoNum type="arabicPeriod" startAt="17"/>
                </a:pPr>
                <a:r>
                  <a:rPr lang="hu-HU" sz="2400" b="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Aszimmetria</a:t>
                </a:r>
              </a:p>
              <a:p>
                <a:pPr lvl="1"/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 ≺ 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⇒ ￢(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≺ 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)</a:t>
                </a:r>
              </a:p>
              <a:p>
                <a:pPr lvl="1"/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 ≻ 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⇒ ￢(</a:t>
                </a:r>
                <a:r>
                  <a:rPr lang="hu-HU" sz="2100" b="0" i="1" u="none" strike="noStrike" baseline="0" dirty="0"/>
                  <a:t>g</a:t>
                </a:r>
                <a:r>
                  <a:rPr lang="hu-HU" sz="2100" b="0" i="0" u="none" strike="noStrike" baseline="0" dirty="0"/>
                  <a:t> ≻ 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)</a:t>
                </a:r>
              </a:p>
              <a:p>
                <a:pPr marL="457200" indent="-457200" algn="l">
                  <a:buFont typeface="+mj-lt"/>
                  <a:buAutoNum type="arabicPeriod" startAt="17"/>
                </a:pPr>
                <a:r>
                  <a:rPr lang="hu-HU" sz="2400" b="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A ≺ és a ≻ relációk </a:t>
                </a:r>
                <a:r>
                  <a:rPr lang="hu-HU" sz="2400" b="0" i="0" u="none" strike="noStrike" baseline="0" dirty="0" err="1">
                    <a:solidFill>
                      <a:schemeClr val="accent1">
                        <a:lumMod val="75000"/>
                      </a:schemeClr>
                    </a:solidFill>
                  </a:rPr>
                  <a:t>irreflexívek</a:t>
                </a:r>
                <a:r>
                  <a:rPr lang="hu-HU" sz="2400" b="0" i="0" u="none" strike="noStrike" baseline="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 lvl="1"/>
                <a:r>
                  <a:rPr lang="hu-HU" sz="2100" b="0" i="0" u="none" strike="noStrike" baseline="0" dirty="0"/>
                  <a:t>￢(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 ≺ 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)</a:t>
                </a:r>
              </a:p>
              <a:p>
                <a:pPr lvl="1"/>
                <a:r>
                  <a:rPr lang="hu-HU" sz="2100" b="0" i="0" u="none" strike="noStrike" baseline="0" dirty="0"/>
                  <a:t>￢(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 ≻ </a:t>
                </a:r>
                <a:r>
                  <a:rPr lang="hu-HU" sz="2100" b="0" i="1" u="none" strike="noStrike" baseline="0" dirty="0"/>
                  <a:t>f</a:t>
                </a:r>
                <a:r>
                  <a:rPr lang="hu-HU" sz="2100" b="0" i="0" u="none" strike="noStrike" baseline="0" dirty="0"/>
                  <a:t>) </a:t>
                </a:r>
              </a:p>
              <a:p>
                <a:pPr marL="457200" lvl="1" indent="0">
                  <a:buNone/>
                </a:pPr>
                <a:endParaRPr lang="hu-HU" dirty="0"/>
              </a:p>
            </p:txBody>
          </p:sp>
        </mc:Choice>
        <mc:Fallback xmlns="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E32F0F64-40A0-9A58-3DCD-F38D10F6D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07967" y="1415845"/>
                <a:ext cx="4895056" cy="4375355"/>
              </a:xfrm>
              <a:blipFill>
                <a:blip r:embed="rId3"/>
                <a:stretch>
                  <a:fillRect l="-3736" t="-598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879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FC3A01-8B10-767C-5847-223F2215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89271"/>
            <a:ext cx="10018713" cy="877529"/>
          </a:xfrm>
        </p:spPr>
        <p:txBody>
          <a:bodyPr/>
          <a:lstStyle/>
          <a:p>
            <a:r>
              <a:rPr lang="hu-HU"/>
              <a:t>A függvények aszimptotikus viszonya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6829273-BD01-09CE-E63B-82F8A505412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484312" y="1066800"/>
                <a:ext cx="4895055" cy="51054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0"/>
                </a:pPr>
                <a:r>
                  <a:rPr lang="hu-HU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Tétel.</a:t>
                </a: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=0⟹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≺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func>
                  </m:oMath>
                </a14:m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∈ 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ℙ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⟹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hu-HU" sz="20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Θ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=∞⟹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≻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func>
                  </m:oMath>
                </a14:m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6829273-BD01-09CE-E63B-82F8A5054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84312" y="1066800"/>
                <a:ext cx="4895055" cy="5105400"/>
              </a:xfrm>
              <a:blipFill>
                <a:blip r:embed="rId2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2EFD0EE0-20E3-BEED-9125-E02CB140D2F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07967" y="1066800"/>
                <a:ext cx="4895056" cy="4724400"/>
              </a:xfrm>
            </p:spPr>
            <p:txBody>
              <a:bodyPr>
                <a:normAutofit/>
              </a:bodyPr>
              <a:lstStyle/>
              <a:p>
                <a:r>
                  <a:rPr lang="hu-HU" sz="2600" b="1" dirty="0">
                    <a:solidFill>
                      <a:schemeClr val="accent1">
                        <a:lumMod val="75000"/>
                      </a:schemeClr>
                    </a:solidFill>
                  </a:rPr>
                  <a:t>Bizonyítás.</a:t>
                </a: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hu-HU" sz="2000" i="1" dirty="0">
                    <a:cs typeface="Times New Roman" panose="02020603050405020304" pitchFamily="18" charset="0"/>
                  </a:rPr>
                  <a:t> </a:t>
                </a:r>
                <a:r>
                  <a:rPr lang="hu-HU" sz="2000" dirty="0">
                    <a:cs typeface="Times New Roman" panose="02020603050405020304" pitchFamily="18" charset="0"/>
                  </a:rPr>
                  <a:t>a</a:t>
                </a:r>
                <a:r>
                  <a:rPr lang="hu-HU" sz="2000" i="1" dirty="0">
                    <a:cs typeface="Times New Roman" panose="02020603050405020304" pitchFamily="18" charset="0"/>
                  </a:rPr>
                  <a:t> </a:t>
                </a:r>
                <a:r>
                  <a:rPr lang="hu-HU" sz="2000" dirty="0">
                    <a:cs typeface="Times New Roman" panose="02020603050405020304" pitchFamily="18" charset="0"/>
                  </a:rPr>
                  <a:t>≺ reláció definíciójából adódik</a:t>
                </a: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hu-HU" sz="2000" i="1" dirty="0"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func>
                  </m:oMath>
                </a14:m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hu-HU" sz="20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elég nagy </a:t>
                </a:r>
                <a:r>
                  <a:rPr lang="hu-HU" sz="2000" i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-re: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 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f>
                      <m:f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b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hu-HU" sz="20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 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f>
                      <m:f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&lt;2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b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Mivel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AP, elég nagy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-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F29"/>
                  </a:rPr>
                  <a:t>ekre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&gt;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0</a:t>
                </a:r>
                <a:b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</a:b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          </a:t>
                </a:r>
                <a14:m>
                  <m:oMath xmlns:m="http://schemas.openxmlformats.org/officeDocument/2006/math">
                    <m:r>
                      <a:rPr lang="hu-HU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F29"/>
                  </a:rPr>
                  <a:t> átszorozhatunk vele</a:t>
                </a:r>
                <a:br>
                  <a:rPr lang="hu-HU" sz="2000" dirty="0">
                    <a:ea typeface="Calibri" panose="020F0502020204030204" pitchFamily="34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hu-HU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)&lt;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)&lt;2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b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hu-HU" sz="20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hu-HU" sz="20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hu-HU" sz="2000" i="1" dirty="0"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hu-HU" sz="2000" i="1" dirty="0">
                    <a:cs typeface="Times New Roman" panose="02020603050405020304" pitchFamily="18" charset="0"/>
                  </a:rPr>
                  <a:t> </a:t>
                </a:r>
                <a:r>
                  <a:rPr lang="hu-HU" sz="2000" dirty="0">
                    <a:cs typeface="Times New Roman" panose="02020603050405020304" pitchFamily="18" charset="0"/>
                  </a:rPr>
                  <a:t>a ≻ reláció definíciójából adódik</a:t>
                </a:r>
                <a:endParaRPr lang="hu-HU" sz="2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2EFD0EE0-20E3-BEED-9125-E02CB140D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07967" y="1066800"/>
                <a:ext cx="4895056" cy="4724400"/>
              </a:xfrm>
              <a:blipFill>
                <a:blip r:embed="rId3"/>
                <a:stretch>
                  <a:fillRect l="-3736" t="-3871" r="-125" b="-374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34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FC3A01-8B10-767C-5847-223F2215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89271"/>
            <a:ext cx="10018713" cy="877529"/>
          </a:xfrm>
        </p:spPr>
        <p:txBody>
          <a:bodyPr/>
          <a:lstStyle/>
          <a:p>
            <a:r>
              <a:rPr lang="hu-HU"/>
              <a:t>A függvények aszimptotikus viszonya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6829273-BD01-09CE-E63B-82F8A505412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247888" y="1066800"/>
                <a:ext cx="513148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3500" b="1" dirty="0">
                    <a:solidFill>
                      <a:schemeClr val="accent1">
                        <a:lumMod val="75000"/>
                      </a:schemeClr>
                    </a:solidFill>
                  </a:rPr>
                  <a:t>21</a:t>
                </a:r>
                <a:r>
                  <a:rPr lang="hu-HU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. </a:t>
                </a:r>
                <a:r>
                  <a:rPr lang="hu-HU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Következmény.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∧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 dirty="0"/>
                  <a:t>a</a:t>
                </a:r>
                <a:r>
                  <a:rPr lang="hu-HU" sz="1800" baseline="-25000" dirty="0"/>
                  <a:t>0</a:t>
                </a:r>
                <a:r>
                  <a:rPr lang="hu-HU" sz="1800" i="1" dirty="0"/>
                  <a:t>, a</a:t>
                </a:r>
                <a:r>
                  <a:rPr lang="hu-HU" sz="1800" baseline="-25000" dirty="0"/>
                  <a:t>1</a:t>
                </a:r>
                <a:r>
                  <a:rPr lang="hu-HU" sz="1800" i="1" dirty="0"/>
                  <a:t>, . . . , </a:t>
                </a:r>
                <a:r>
                  <a:rPr lang="hu-HU" sz="1800" i="1" dirty="0" err="1"/>
                  <a:t>a</a:t>
                </a:r>
                <a:r>
                  <a:rPr lang="hu-HU" sz="1800" i="1" baseline="-25000" dirty="0" err="1"/>
                  <a:t>k</a:t>
                </a:r>
                <a:r>
                  <a:rPr lang="hu-HU" sz="1800" dirty="0"/>
                  <a:t> </a:t>
                </a:r>
                <a:r>
                  <a:rPr lang="en-US" sz="1800" dirty="0"/>
                  <a:t>∈ </a:t>
                </a:r>
                <a14:m>
                  <m:oMath xmlns:m="http://schemas.openxmlformats.org/officeDocument/2006/math">
                    <m:r>
                      <a:rPr lang="hu-HU" sz="18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hu-HU" sz="1800" dirty="0"/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∧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 err="1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400" i="1" baseline="-25000" dirty="0" err="1">
                    <a:effectLst/>
                    <a:ea typeface="Calibri" panose="020F0502020204030204" pitchFamily="34" charset="0"/>
                    <a:cs typeface="CMMI8"/>
                  </a:rPr>
                  <a:t>k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&gt;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0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b="1" i="1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2400" b="1" i="1" baseline="-250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hu-HU" sz="2400" b="1" i="1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hu-HU" sz="2400" b="1" i="1" baseline="300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hu-HU" sz="2400" b="1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r>
                  <a:rPr lang="hu-HU" sz="2400" b="1" i="1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2400" b="1" i="1" baseline="-250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="1" i="1" baseline="-25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−</a:t>
                </a:r>
                <a:r>
                  <a:rPr lang="hu-HU" sz="2400" b="1" i="1" baseline="-25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hu-HU" sz="2400" b="1" i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hu-HU" sz="2400" b="1" i="1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="1" i="1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−</a:t>
                </a:r>
                <a:r>
                  <a:rPr lang="hu-HU" sz="2400" b="1" i="1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hu-HU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en-US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…</a:t>
                </a:r>
                <a:r>
                  <a:rPr lang="hu-HU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+</a:t>
                </a:r>
                <a:r>
                  <a:rPr lang="hu-HU" sz="2400" b="1" i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2400" b="1" i="1" baseline="-25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hu-HU" sz="2400" b="1" i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hu-HU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r>
                  <a:rPr lang="hu-HU" sz="2400" b="1" i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hu-HU" sz="2400" b="1" i="1" baseline="-25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r>
                  <a:rPr lang="hu-HU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∈</a:t>
                </a:r>
                <a:r>
                  <a:rPr lang="en-US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Θ</a:t>
                </a:r>
                <a:r>
                  <a:rPr lang="hu-HU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hu-HU" sz="2400" b="1" i="1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hu-HU" sz="2400" b="1" i="1" baseline="300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hu-HU" sz="24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hu-HU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26829273-BD01-09CE-E63B-82F8A5054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47888" y="1066800"/>
                <a:ext cx="5131480" cy="5105400"/>
              </a:xfrm>
              <a:blipFill>
                <a:blip r:embed="rId2"/>
                <a:stretch>
                  <a:fillRect l="-3567" r="-95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artalom helye 3">
            <a:extLst>
              <a:ext uri="{FF2B5EF4-FFF2-40B4-BE49-F238E27FC236}">
                <a16:creationId xmlns:a16="http://schemas.microsoft.com/office/drawing/2014/main" id="{2EFD0EE0-20E3-BEED-9125-E02CB140D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5636" y="1288026"/>
            <a:ext cx="4895056" cy="1312606"/>
          </a:xfrm>
        </p:spPr>
        <p:txBody>
          <a:bodyPr>
            <a:normAutofit/>
          </a:bodyPr>
          <a:lstStyle/>
          <a:p>
            <a:r>
              <a:rPr lang="hu-HU" sz="2600" b="1">
                <a:solidFill>
                  <a:schemeClr val="accent1">
                    <a:lumMod val="75000"/>
                  </a:schemeClr>
                </a:solidFill>
              </a:rPr>
              <a:t>Bizonyítás.</a:t>
            </a:r>
          </a:p>
          <a:p>
            <a:endParaRPr lang="hu-HU" sz="260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zövegdoboz 6">
                <a:extLst>
                  <a:ext uri="{FF2B5EF4-FFF2-40B4-BE49-F238E27FC236}">
                    <a16:creationId xmlns:a16="http://schemas.microsoft.com/office/drawing/2014/main" id="{68D923E7-3828-567A-FFCF-4FEA0D09F39C}"/>
                  </a:ext>
                </a:extLst>
              </p:cNvPr>
              <p:cNvSpPr txBox="1"/>
              <p:nvPr/>
            </p:nvSpPr>
            <p:spPr>
              <a:xfrm>
                <a:off x="6096000" y="2176497"/>
                <a:ext cx="6094206" cy="3854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hu-HU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hu-HU" sz="1800" b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hu-HU" sz="1800" b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 </m:t>
                                  </m:r>
                                  <m:r>
                                    <a:rPr lang="en-US" sz="1800" b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…</m:t>
                                  </m:r>
                                  <m:r>
                                    <a:rPr lang="hu-HU" sz="1800" b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+</m:t>
                                  </m:r>
                                  <m:sSub>
                                    <m:sSub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b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func>
                        </m:fName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a:rPr lang="en-US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+</m:t>
                              </m:r>
                              <m:sSup>
                                <m:sSup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hu-HU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Aptos" panose="020B000402020202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hu-HU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Aptos" panose="020B000402020202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hu-HU" sz="1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Aptos" panose="020B000402020202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/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  <m:sup/>
                              </m:sSup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/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func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( </m:t>
                              </m:r>
                              <m:sSup>
                                <m:sSup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sup/>
                              </m:sSup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a:rPr lang="en-US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+</m:t>
                              </m:r>
                              <m:sSup>
                                <m:sSupPr>
                                  <m:ctrlPr>
                                    <a:rPr lang="hu-HU" sz="1800" i="1" kern="100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p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  <m:sup/>
                              </m:sSup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hu-HU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/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func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hu-HU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hu-HU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 </m:t>
                              </m:r>
                              <m:r>
                                <a:rPr lang="en-US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…</m:t>
                              </m:r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+</m:t>
                              </m:r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hu-HU" i="1" kern="1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hu-HU" sz="1800" b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sz="18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hu-HU" i="1" kern="100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func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fName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</m:func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+0+…+0+0= </m:t>
                      </m:r>
                      <m:sSub>
                        <m:sSub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∈</m:t>
                      </m:r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ℙ</m:t>
                      </m:r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⟹</m:t>
                      </m:r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hu-HU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a:rPr lang="hu-HU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en-US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hu-HU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hu-HU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p>
                      </m:sSup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Szövegdoboz 6">
                <a:extLst>
                  <a:ext uri="{FF2B5EF4-FFF2-40B4-BE49-F238E27FC236}">
                    <a16:creationId xmlns:a16="http://schemas.microsoft.com/office/drawing/2014/main" id="{68D923E7-3828-567A-FFCF-4FEA0D09F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76497"/>
                <a:ext cx="6094206" cy="3854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13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36A48E-62A2-4510-8915-FFD4B91F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44677"/>
          </a:xfrm>
        </p:spPr>
        <p:txBody>
          <a:bodyPr/>
          <a:lstStyle/>
          <a:p>
            <a:r>
              <a:rPr lang="hu-HU" err="1"/>
              <a:t>L’Hospital</a:t>
            </a:r>
            <a:r>
              <a:rPr lang="hu-HU"/>
              <a:t> szabály és következménye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AA420FE-E0EB-41C3-4A15-A62153B2CDB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484312" y="2035277"/>
                <a:ext cx="4895055" cy="4572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3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F78"/>
                    <a:ea typeface="Calibri" panose="020F0502020204030204" pitchFamily="34" charset="0"/>
                    <a:cs typeface="F78"/>
                  </a:rPr>
                  <a:t>22</a:t>
                </a:r>
                <a:r>
                  <a:rPr lang="hu-HU" sz="3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78"/>
                  </a:rPr>
                  <a:t>. </a:t>
                </a:r>
                <a:r>
                  <a:rPr lang="hu-HU" sz="2200" b="1" dirty="0" err="1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78"/>
                  </a:rPr>
                  <a:t>L’Hospital</a:t>
                </a:r>
                <a:r>
                  <a:rPr lang="hu-HU" sz="22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78"/>
                  </a:rPr>
                  <a:t> szabály.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Ha elég nagy helyettesítési értékekre az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és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F78"/>
                  </a:rPr>
                  <a:t>függvények valós kiterjesztése differenciálható, valamint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)=∞ ∧  </m:t>
                        </m:r>
                      </m:e>
                    </m:func>
                    <m:func>
                      <m:func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)=∞ ∧  </m:t>
                        </m:r>
                      </m:e>
                    </m:func>
                  </m:oMath>
                </a14:m>
                <a:endParaRPr lang="hu-HU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∃ </m:t>
                        </m:r>
                        <m:limLow>
                          <m:limLow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′(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′(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⟹</m:t>
                        </m:r>
                      </m:e>
                    </m:func>
                  </m:oMath>
                </a14:m>
                <a:endParaRPr lang="hu-HU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hu-HU" sz="20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′(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′(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hu-HU" sz="2000" dirty="0"/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hu-HU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AA420FE-E0EB-41C3-4A15-A62153B2C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84312" y="2035277"/>
                <a:ext cx="4895055" cy="4572000"/>
              </a:xfrm>
              <a:blipFill>
                <a:blip r:embed="rId2"/>
                <a:stretch>
                  <a:fillRect l="-2864" t="-3867" r="-74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5CA6E6DF-EB9A-0864-5766-5380697364F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607967" y="1946787"/>
                <a:ext cx="4895056" cy="399189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30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latin typeface="F48"/>
                    <a:ea typeface="Calibri" panose="020F0502020204030204" pitchFamily="34" charset="0"/>
                    <a:cs typeface="F48"/>
                  </a:rPr>
                  <a:t>23. </a:t>
                </a:r>
                <a:r>
                  <a:rPr lang="hu-HU" sz="22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Következmény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F48"/>
                  </a:rPr>
                  <a:t>.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(20. és 22. alapján)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∧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&lt;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d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baseline="-25000" dirty="0">
                    <a:effectLst/>
                    <a:ea typeface="Calibri" panose="020F0502020204030204" pitchFamily="34" charset="0"/>
                    <a:cs typeface="CMR8"/>
                  </a:rPr>
                  <a:t>0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∧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&lt;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n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∧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&gt;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n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baseline="-25000" dirty="0">
                    <a:effectLst/>
                    <a:ea typeface="Calibri" panose="020F0502020204030204" pitchFamily="34" charset="0"/>
                    <a:cs typeface="CMR8"/>
                  </a:rPr>
                  <a:t>0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!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n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∧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&gt;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dirty="0" err="1">
                    <a:effectLst/>
                    <a:ea typeface="Calibri" panose="020F0502020204030204" pitchFamily="34" charset="0"/>
                    <a:cs typeface="CMR12"/>
                  </a:rPr>
                  <a:t>log</a:t>
                </a:r>
                <a:r>
                  <a:rPr lang="hu-HU" sz="2000" i="1" baseline="-25000" dirty="0" err="1">
                    <a:effectLst/>
                    <a:ea typeface="Calibri" panose="020F0502020204030204" pitchFamily="34" charset="0"/>
                    <a:cs typeface="CMMI8"/>
                  </a:rPr>
                  <a:t>c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(log</a:t>
                </a:r>
                <a:r>
                  <a:rPr lang="hu-HU" sz="2000" i="1" baseline="-25000" dirty="0">
                    <a:effectLst/>
                    <a:ea typeface="Calibri" panose="020F0502020204030204" pitchFamily="34" charset="0"/>
                    <a:cs typeface="CMMI8"/>
                  </a:rPr>
                  <a:t>d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i="1" dirty="0">
                    <a:effectLst/>
                    <a:ea typeface="Calibri" panose="020F0502020204030204" pitchFamily="34" charset="0"/>
                    <a:cs typeface="CMMI12"/>
                  </a:rPr>
                  <a:t>ε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en-US" sz="2000" i="1" baseline="30000" dirty="0">
                    <a:effectLst/>
                    <a:ea typeface="Calibri" panose="020F0502020204030204" pitchFamily="34" charset="0"/>
                    <a:cs typeface="CMMI8"/>
                  </a:rPr>
                  <a:t>ε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ℝ</m:t>
                    </m:r>
                  </m:oMath>
                </a14:m>
                <a:r>
                  <a:rPr lang="hu-HU" sz="2000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∧ </a:t>
                </a:r>
                <a:r>
                  <a:rPr lang="en-US" sz="2000" i="1" dirty="0">
                    <a:effectLst/>
                    <a:ea typeface="Calibri" panose="020F0502020204030204" pitchFamily="34" charset="0"/>
                    <a:cs typeface="CMMI12"/>
                  </a:rPr>
                  <a:t>ε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en-US" sz="20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MI8"/>
                  </a:rPr>
                  <a:t>c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20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0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i="1" dirty="0" err="1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i="1" baseline="30000" dirty="0" err="1">
                    <a:effectLst/>
                    <a:ea typeface="Calibri" panose="020F0502020204030204" pitchFamily="34" charset="0"/>
                    <a:cs typeface="CMR8"/>
                  </a:rPr>
                  <a:t>c</a:t>
                </a:r>
                <a:r>
                  <a:rPr lang="hu-HU" sz="2000" i="1" baseline="30000" dirty="0">
                    <a:effectLst/>
                    <a:ea typeface="Calibri" panose="020F0502020204030204" pitchFamily="34" charset="0"/>
                    <a:cs typeface="CMR8"/>
                  </a:rPr>
                  <a:t>+</a:t>
                </a:r>
                <a:r>
                  <a:rPr lang="en-US" sz="2000" i="1" baseline="30000" dirty="0">
                    <a:effectLst/>
                    <a:ea typeface="Calibri" panose="020F0502020204030204" pitchFamily="34" charset="0"/>
                    <a:cs typeface="CMMI8"/>
                  </a:rPr>
                  <a:t>ε</a:t>
                </a:r>
                <a:endParaRPr lang="hu-HU" sz="20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artalom helye 3">
                <a:extLst>
                  <a:ext uri="{FF2B5EF4-FFF2-40B4-BE49-F238E27FC236}">
                    <a16:creationId xmlns:a16="http://schemas.microsoft.com/office/drawing/2014/main" id="{5CA6E6DF-EB9A-0864-5766-538069736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607967" y="1946787"/>
                <a:ext cx="4895056" cy="3991897"/>
              </a:xfrm>
              <a:blipFill>
                <a:blip r:embed="rId3"/>
                <a:stretch>
                  <a:fillRect l="-4483" t="-5954" b="-4275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868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D6E15461-CD11-B891-28FF-0ED8A78A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76039"/>
            <a:ext cx="10018713" cy="992393"/>
          </a:xfrm>
        </p:spPr>
        <p:txBody>
          <a:bodyPr/>
          <a:lstStyle/>
          <a:p>
            <a:r>
              <a:rPr lang="hu-HU" dirty="0"/>
              <a:t>Bizonyítás és következmény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artalom helye 5">
                <a:extLst>
                  <a:ext uri="{FF2B5EF4-FFF2-40B4-BE49-F238E27FC236}">
                    <a16:creationId xmlns:a16="http://schemas.microsoft.com/office/drawing/2014/main" id="{7E8B3F49-7D3D-5BA0-71BC-CECD9C3C24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804261"/>
                <a:ext cx="10018713" cy="4712184"/>
              </a:xfrm>
            </p:spPr>
            <p:txBody>
              <a:bodyPr>
                <a:normAutofit/>
              </a:bodyPr>
              <a:lstStyle/>
              <a:p>
                <a:r>
                  <a:rPr lang="hu-HU" sz="2800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Bizonyítás.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800" i="1" dirty="0">
                    <a:effectLst/>
                    <a:ea typeface="Calibri" panose="020F0502020204030204" pitchFamily="34" charset="0"/>
                    <a:cs typeface="CMMI12"/>
                  </a:rPr>
                  <a:t>ε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sz="2800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SY10"/>
                  </a:rPr>
                  <a:t>⇒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8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en-US" sz="2800" i="1" baseline="30000" dirty="0">
                    <a:effectLst/>
                    <a:ea typeface="Calibri" panose="020F0502020204030204" pitchFamily="34" charset="0"/>
                    <a:cs typeface="CMMI8"/>
                  </a:rPr>
                  <a:t>ε</a:t>
                </a:r>
                <a:r>
                  <a:rPr lang="hu-HU" sz="2800" i="1" baseline="30000" dirty="0">
                    <a:effectLst/>
                    <a:ea typeface="Calibri" panose="020F0502020204030204" pitchFamily="34" charset="0"/>
                    <a:cs typeface="CMMI8"/>
                  </a:rPr>
                  <a:t> </a:t>
                </a:r>
                <a:r>
                  <a:rPr lang="hu-HU" sz="2800" i="1" baseline="300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sz="2800" dirty="0"/>
                  <a:t>(</a:t>
                </a:r>
                <a:r>
                  <a:rPr lang="hu-HU" sz="2800" dirty="0" err="1"/>
                  <a:t>L’Hospital</a:t>
                </a:r>
                <a:r>
                  <a:rPr lang="hu-HU" sz="2800" dirty="0"/>
                  <a:t> szabály alkalmazásával)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hu-HU" sz="24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ptos" panose="020B0004020202020204" pitchFamily="3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hu-HU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num>
                              <m:den>
                                <m:sSup>
                                  <m:sSup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𝜀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hu-HU" sz="2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log</m:t>
                        </m:r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𝑒</m:t>
                        </m:r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ptos" panose="020B0004020202020204" pitchFamily="3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hu-HU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num>
                              <m:den>
                                <m:sSup>
                                  <m:sSup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𝜀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= 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hu-HU" sz="24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log</m:t>
                        </m:r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𝑒</m:t>
                        </m:r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ptos" panose="020B0004020202020204" pitchFamily="3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hu-HU" sz="2400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ln</m:t>
                                    </m:r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fName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num>
                              <m:den>
                                <m:sSup>
                                  <m:sSup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𝜀</m:t>
                                    </m:r>
                                  </m:sup>
                                </m:sSup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)′</m:t>
                                </m:r>
                              </m:den>
                            </m:f>
                          </m:e>
                        </m:func>
                      </m:e>
                    </m:func>
                    <m:r>
                      <a:rPr lang="hu-HU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</m:func>
                          </m:num>
                          <m:den>
                            <m: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den>
                        </m:f>
                      </m:fName>
                      <m:e>
                        <m:func>
                          <m:func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ptos" panose="020B0004020202020204" pitchFamily="3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num>
                              <m:den>
                                <m:sSup>
                                  <m:sSup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𝜀</m:t>
                                    </m:r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</m:func>
                          </m:num>
                          <m:den>
                            <m: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den>
                        </m:f>
                      </m:fName>
                      <m:e>
                        <m:func>
                          <m:func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ptos" panose="020B0004020202020204" pitchFamily="3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num>
                              <m:den>
                                <m:sSup>
                                  <m:sSupPr>
                                    <m:ctrlP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hu-HU" sz="24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𝜀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hu-HU" sz="2400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hu-HU" sz="24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</m:func>
                          </m:num>
                          <m:den>
                            <m:r>
                              <a:rPr lang="hu-HU" sz="24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hu-HU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0=0</m:t>
                        </m:r>
                      </m:e>
                    </m:func>
                  </m:oMath>
                </a14:m>
                <a:endParaRPr lang="hu-HU" sz="24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hu-HU" sz="2800" b="1" dirty="0">
                    <a:solidFill>
                      <a:schemeClr val="accent1">
                        <a:lumMod val="75000"/>
                      </a:schemeClr>
                    </a:solidFill>
                  </a:rPr>
                  <a:t>24. Következmény.</a:t>
                </a:r>
              </a:p>
              <a:p>
                <a:pPr lvl="1"/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(log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baseline="30000" dirty="0">
                    <a:effectLst/>
                    <a:ea typeface="Calibri" panose="020F0502020204030204" pitchFamily="34" charset="0"/>
                    <a:cs typeface="CMR8"/>
                  </a:rPr>
                  <a:t>2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baseline="30000" dirty="0">
                    <a:effectLst/>
                    <a:ea typeface="Calibri" panose="020F0502020204030204" pitchFamily="34" charset="0"/>
                    <a:cs typeface="CMR8"/>
                  </a:rPr>
                  <a:t>2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8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baseline="30000" dirty="0">
                    <a:effectLst/>
                    <a:ea typeface="Calibri" panose="020F0502020204030204" pitchFamily="34" charset="0"/>
                    <a:cs typeface="CMR8"/>
                  </a:rPr>
                  <a:t>3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artalom helye 5">
                <a:extLst>
                  <a:ext uri="{FF2B5EF4-FFF2-40B4-BE49-F238E27FC236}">
                    <a16:creationId xmlns:a16="http://schemas.microsoft.com/office/drawing/2014/main" id="{7E8B3F49-7D3D-5BA0-71BC-CECD9C3C2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804261"/>
                <a:ext cx="10018713" cy="4712184"/>
              </a:xfrm>
              <a:blipFill>
                <a:blip r:embed="rId2"/>
                <a:stretch>
                  <a:fillRect l="-200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343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0EC8D4-5580-844B-FB8D-DFEA33D56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20040"/>
            <a:ext cx="10018713" cy="1172497"/>
          </a:xfrm>
        </p:spPr>
        <p:txBody>
          <a:bodyPr/>
          <a:lstStyle/>
          <a:p>
            <a:r>
              <a:rPr lang="hu-HU" dirty="0"/>
              <a:t>További tételek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E99F6F65-95EA-1FA6-B6B4-390AF7DBB6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570616"/>
                <a:ext cx="10018713" cy="4518211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5"/>
                </a:pP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MMI12"/>
                    <a:cs typeface="CMMI12"/>
                  </a:rPr>
                  <a:t>Té</a:t>
                </a: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CMMI12"/>
                  </a:rPr>
                  <a:t>tel.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 f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>
                    <a:effectLst/>
                    <a:ea typeface="CMMI12"/>
                    <a:cs typeface="MSBM10"/>
                  </a:rPr>
                  <a:t> </a:t>
                </a:r>
                <a:r>
                  <a:rPr lang="hu-HU" dirty="0">
                    <a:effectLst/>
                    <a:ea typeface="CMMI12"/>
                    <a:cs typeface="F78"/>
                  </a:rPr>
                  <a:t>és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en-US" i="1" dirty="0">
                    <a:effectLst/>
                    <a:ea typeface="Calibri" panose="020F0502020204030204" pitchFamily="34" charset="0"/>
                    <a:cs typeface="CMMI12"/>
                  </a:rPr>
                  <a:t>ψ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MMI12"/>
                    <a:cs typeface="F78"/>
                  </a:rPr>
                  <a:t>, hogy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MMI12"/>
                    <a:cs typeface="F78"/>
                  </a:rPr>
                  <a:t>-</a:t>
                </a:r>
                <a:r>
                  <a:rPr lang="hu-HU" dirty="0" err="1">
                    <a:effectLst/>
                    <a:ea typeface="CMMI12"/>
                    <a:cs typeface="F78"/>
                  </a:rPr>
                  <a:t>ekre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			d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+ </a:t>
                </a:r>
                <a:r>
                  <a:rPr lang="en-US" sz="2400" i="1" dirty="0">
                    <a:effectLst/>
                    <a:ea typeface="Calibri" panose="020F0502020204030204" pitchFamily="34" charset="0"/>
                    <a:cs typeface="CMMI12"/>
                  </a:rPr>
                  <a:t>ψ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b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</a:b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5"/>
                </a:pP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MMI12"/>
                    <a:cs typeface="F48"/>
                  </a:rPr>
                  <a:t>Tétel.</a:t>
                </a:r>
                <a:r>
                  <a:rPr lang="hu-HU" dirty="0">
                    <a:effectLst/>
                    <a:ea typeface="CMMI12"/>
                    <a:cs typeface="F48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R12"/>
                  </a:rPr>
                  <a:t>Ω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>
                    <a:effectLst/>
                    <a:ea typeface="CMMI12"/>
                    <a:cs typeface="MSBM10"/>
                  </a:rPr>
                  <a:t> </a:t>
                </a:r>
                <a:r>
                  <a:rPr lang="hu-HU" dirty="0">
                    <a:effectLst/>
                    <a:ea typeface="CMMI12"/>
                    <a:cs typeface="F78"/>
                  </a:rPr>
                  <a:t>és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en-US" i="1" dirty="0">
                    <a:effectLst/>
                    <a:ea typeface="Calibri" panose="020F0502020204030204" pitchFamily="34" charset="0"/>
                    <a:cs typeface="CMMI12"/>
                  </a:rPr>
                  <a:t>φ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MMI12"/>
                    <a:cs typeface="F78"/>
                  </a:rPr>
                  <a:t>, hogy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MMI12"/>
                    <a:cs typeface="F78"/>
                  </a:rPr>
                  <a:t>-</a:t>
                </a:r>
                <a:r>
                  <a:rPr lang="hu-HU" dirty="0" err="1">
                    <a:effectLst/>
                    <a:ea typeface="CMMI12"/>
                    <a:cs typeface="F78"/>
                  </a:rPr>
                  <a:t>ekre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			c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+ </a:t>
                </a:r>
                <a:r>
                  <a:rPr lang="en-US" sz="2400" i="1" dirty="0">
                    <a:effectLst/>
                    <a:ea typeface="Calibri" panose="020F0502020204030204" pitchFamily="34" charset="0"/>
                    <a:cs typeface="CMMI12"/>
                  </a:rPr>
                  <a:t>φ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b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</a:b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5"/>
                </a:pP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MMI12"/>
                    <a:cs typeface="F48"/>
                  </a:rPr>
                  <a:t>Tétel.</a:t>
                </a:r>
                <a:r>
                  <a:rPr lang="hu-HU" dirty="0">
                    <a:effectLst/>
                    <a:ea typeface="CMMI12"/>
                    <a:cs typeface="F48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⟺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>
                    <a:effectLst/>
                    <a:ea typeface="CMMI12"/>
                    <a:cs typeface="MSBM10"/>
                  </a:rPr>
                  <a:t> </a:t>
                </a:r>
                <a:r>
                  <a:rPr lang="hu-HU" dirty="0">
                    <a:effectLst/>
                    <a:ea typeface="CMMI12"/>
                    <a:cs typeface="F78"/>
                  </a:rPr>
                  <a:t>és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en-US" i="1" dirty="0">
                    <a:effectLst/>
                    <a:ea typeface="Calibri" panose="020F0502020204030204" pitchFamily="34" charset="0"/>
                    <a:cs typeface="CMMI12"/>
                  </a:rPr>
                  <a:t>φ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en-US" i="1" dirty="0">
                    <a:effectLst/>
                    <a:ea typeface="Calibri" panose="020F0502020204030204" pitchFamily="34" charset="0"/>
                    <a:cs typeface="CMMI12"/>
                  </a:rPr>
                  <a:t>ψ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≺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MMI12"/>
                    <a:cs typeface="F78"/>
                  </a:rPr>
                  <a:t>, hogy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MMI12"/>
                    <a:cs typeface="F78"/>
                  </a:rPr>
                  <a:t>-</a:t>
                </a:r>
                <a:r>
                  <a:rPr lang="hu-HU" dirty="0" err="1">
                    <a:effectLst/>
                    <a:ea typeface="CMMI12"/>
                    <a:cs typeface="F78"/>
                  </a:rPr>
                  <a:t>ekre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			c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+ </a:t>
                </a:r>
                <a:r>
                  <a:rPr lang="en-US" sz="2400" i="1" dirty="0">
                    <a:effectLst/>
                    <a:ea typeface="Calibri" panose="020F0502020204030204" pitchFamily="34" charset="0"/>
                    <a:cs typeface="CMMI12"/>
                  </a:rPr>
                  <a:t>φ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sz="24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 + </a:t>
                </a:r>
                <a:r>
                  <a:rPr lang="en-US" sz="2400" i="1" dirty="0">
                    <a:effectLst/>
                    <a:ea typeface="Calibri" panose="020F0502020204030204" pitchFamily="34" charset="0"/>
                    <a:cs typeface="CMMI12"/>
                  </a:rPr>
                  <a:t>ψ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E99F6F65-95EA-1FA6-B6B4-390AF7DBB6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570616"/>
                <a:ext cx="10018713" cy="4518211"/>
              </a:xfrm>
              <a:blipFill>
                <a:blip r:embed="rId2"/>
                <a:stretch>
                  <a:fillRect l="-1764" t="-620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265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ím 1">
                <a:extLst>
                  <a:ext uri="{FF2B5EF4-FFF2-40B4-BE49-F238E27FC236}">
                    <a16:creationId xmlns:a16="http://schemas.microsoft.com/office/drawing/2014/main" id="{2BBD4141-9B7A-E035-6661-3924C19C5F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484311" y="518652"/>
                <a:ext cx="10018713" cy="96601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/>
                  <a:t> ×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/>
                  <a:t> értelmezési tartományú függvények</a:t>
                </a:r>
              </a:p>
            </p:txBody>
          </p:sp>
        </mc:Choice>
        <mc:Fallback xmlns="">
          <p:sp>
            <p:nvSpPr>
              <p:cNvPr id="2" name="Cím 1">
                <a:extLst>
                  <a:ext uri="{FF2B5EF4-FFF2-40B4-BE49-F238E27FC236}">
                    <a16:creationId xmlns:a16="http://schemas.microsoft.com/office/drawing/2014/main" id="{2BBD4141-9B7A-E035-6661-3924C19C5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484311" y="518652"/>
                <a:ext cx="10018713" cy="966019"/>
              </a:xfrm>
              <a:blipFill>
                <a:blip r:embed="rId2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0300835-0375-EE37-5C74-BA06216D9E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1339847"/>
                <a:ext cx="10137419" cy="5211097"/>
              </a:xfrm>
            </p:spPr>
            <p:txBody>
              <a:bodyPr>
                <a:normAutofit/>
              </a:bodyPr>
              <a:lstStyle/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8"/>
                  <a:tabLst>
                    <a:tab pos="457200" algn="l"/>
                  </a:tabLst>
                </a:pPr>
                <a:r>
                  <a:rPr lang="hu-HU" b="1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Definíció.</a:t>
                </a:r>
                <a:r>
                  <a:rPr lang="hu-HU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×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függvény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AP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ha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értékekre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&gt;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0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br>
                  <a:rPr lang="hu-HU" dirty="0">
                    <a:effectLst/>
                    <a:ea typeface="Calibri" panose="020F0502020204030204" pitchFamily="34" charset="0"/>
                    <a:cs typeface="F78"/>
                  </a:rPr>
                </a:br>
                <a:endParaRPr lang="hu-HU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8"/>
                  <a:tabLst>
                    <a:tab pos="457200" algn="l"/>
                  </a:tabLst>
                </a:pPr>
                <a:r>
                  <a:rPr lang="hu-HU" b="1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Megjegyzés.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A továbbiakban az egyszerűség kedvéért feltesszük, hogy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f, g, h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: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×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→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MSBM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78"/>
                  </a:rPr>
                  <a:t>AP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 függvényeket jelölnek.</a:t>
                </a:r>
                <a:br>
                  <a:rPr lang="hu-HU" dirty="0">
                    <a:effectLst/>
                    <a:ea typeface="Calibri" panose="020F0502020204030204" pitchFamily="34" charset="0"/>
                    <a:cs typeface="F78"/>
                  </a:rPr>
                </a:br>
                <a:endParaRPr lang="hu-HU" dirty="0">
                  <a:effectLst/>
                  <a:ea typeface="Calibri" panose="020F0502020204030204" pitchFamily="34" charset="0"/>
                  <a:cs typeface="F78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28"/>
                  <a:tabLst>
                    <a:tab pos="457200" algn="l"/>
                  </a:tabLst>
                </a:pPr>
                <a:r>
                  <a:rPr lang="hu-HU" b="1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Definíció.</a:t>
                </a:r>
                <a:r>
                  <a:rPr lang="hu-HU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|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hogy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dirty="0" err="1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tetszőleges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értékekre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}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80300835-0375-EE37-5C74-BA06216D9E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1339847"/>
                <a:ext cx="10137419" cy="5211097"/>
              </a:xfrm>
              <a:blipFill>
                <a:blip r:embed="rId3"/>
                <a:stretch>
                  <a:fillRect l="-1744" r="-36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771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6A30-C386-6BE2-0E14-8E563A2E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ím 1">
                <a:extLst>
                  <a:ext uri="{FF2B5EF4-FFF2-40B4-BE49-F238E27FC236}">
                    <a16:creationId xmlns:a16="http://schemas.microsoft.com/office/drawing/2014/main" id="{F576F40E-642F-63D0-419F-203E56E154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484311" y="518652"/>
                <a:ext cx="10018713" cy="96601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hu-HU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/>
                  <a:t> ×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hu-HU" dirty="0"/>
                  <a:t> értelmezési tartományú függvények</a:t>
                </a:r>
              </a:p>
            </p:txBody>
          </p:sp>
        </mc:Choice>
        <mc:Fallback xmlns="">
          <p:sp>
            <p:nvSpPr>
              <p:cNvPr id="2" name="Cím 1">
                <a:extLst>
                  <a:ext uri="{FF2B5EF4-FFF2-40B4-BE49-F238E27FC236}">
                    <a16:creationId xmlns:a16="http://schemas.microsoft.com/office/drawing/2014/main" id="{F576F40E-642F-63D0-419F-203E56E154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484311" y="518652"/>
                <a:ext cx="10018713" cy="966019"/>
              </a:xfrm>
              <a:blipFill>
                <a:blip r:embed="rId2"/>
                <a:stretch>
                  <a:fillRect b="-1320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2C104B0-FAAF-41CE-D264-2FCD4723C7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1" y="1339847"/>
                <a:ext cx="10137419" cy="5211097"/>
              </a:xfrm>
            </p:spPr>
            <p:txBody>
              <a:bodyPr>
                <a:normAutofit/>
              </a:bodyPr>
              <a:lstStyle/>
              <a:p>
                <a:pPr marL="457200" lvl="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31"/>
                  <a:tabLst>
                    <a:tab pos="457200" algn="l"/>
                  </a:tabLst>
                </a:pP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Definíció.</a:t>
                </a:r>
                <a:r>
                  <a:rPr lang="hu-HU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R12"/>
                  </a:rPr>
                  <a:t>Ω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|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hogy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c</a:t>
                </a:r>
                <a:r>
                  <a:rPr lang="hu-HU" i="1" dirty="0" err="1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tetszőleges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értékekre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}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br>
                  <a:rPr lang="hu-HU" dirty="0">
                    <a:effectLst/>
                    <a:ea typeface="Calibri" panose="020F0502020204030204" pitchFamily="34" charset="0"/>
                    <a:cs typeface="F78"/>
                  </a:rPr>
                </a:br>
                <a:endParaRPr lang="hu-HU" dirty="0">
                  <a:effectLst/>
                  <a:ea typeface="Calibri" panose="020F0502020204030204" pitchFamily="34" charset="0"/>
                  <a:cs typeface="F78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31"/>
                  <a:tabLst>
                    <a:tab pos="457200" algn="l"/>
                  </a:tabLst>
                </a:pPr>
                <a:r>
                  <a:rPr lang="hu-HU" b="1" dirty="0"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Definíció.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{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|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∃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c, d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14:m>
                  <m:oMath xmlns:m="http://schemas.openxmlformats.org/officeDocument/2006/math">
                    <m:r>
                      <a:rPr lang="hu-HU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ℙ</m:t>
                    </m:r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hogy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c </a:t>
                </a:r>
                <a:r>
                  <a:rPr lang="hu-HU" i="1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f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≤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d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∗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g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CMMI12"/>
                  </a:rPr>
                  <a:t>n,m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, tetszőleges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és elég nagy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értékekre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SY10"/>
                  </a:rPr>
                  <a:t>}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.</a:t>
                </a:r>
                <a:br>
                  <a:rPr lang="hu-HU" dirty="0">
                    <a:effectLst/>
                    <a:ea typeface="Calibri" panose="020F0502020204030204" pitchFamily="34" charset="0"/>
                    <a:cs typeface="F78"/>
                  </a:rPr>
                </a:br>
                <a:endParaRPr lang="hu-HU" dirty="0">
                  <a:effectLst/>
                  <a:ea typeface="Calibri" panose="020F0502020204030204" pitchFamily="34" charset="0"/>
                  <a:cs typeface="F78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 startAt="31"/>
                  <a:tabLst>
                    <a:tab pos="457200" algn="l"/>
                  </a:tabLst>
                </a:pPr>
                <a:r>
                  <a:rPr lang="hu-HU" b="1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Megjegyzés.</a:t>
                </a:r>
                <a:r>
                  <a:rPr lang="hu-HU" dirty="0">
                    <a:solidFill>
                      <a:schemeClr val="accent1">
                        <a:lumMod val="75000"/>
                      </a:schemeClr>
                    </a:solidFill>
                    <a:effectLst/>
                    <a:ea typeface="Calibri" panose="020F0502020204030204" pitchFamily="34" charset="0"/>
                    <a:cs typeface="F48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A korábban a természetes számokon értelmezett függvényekre vonatkozó tételek az itt </a:t>
                </a:r>
                <a:r>
                  <a:rPr lang="hu-HU" dirty="0" err="1">
                    <a:effectLst/>
                    <a:ea typeface="Calibri" panose="020F0502020204030204" pitchFamily="34" charset="0"/>
                    <a:cs typeface="F78"/>
                  </a:rPr>
                  <a:t>tárgyaltakra</a:t>
                </a: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 természetes módon általánosíthatók.</a:t>
                </a:r>
                <a:endParaRPr lang="hu-HU" sz="2800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12C104B0-FAAF-41CE-D264-2FCD4723C7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1" y="1339847"/>
                <a:ext cx="10137419" cy="5211097"/>
              </a:xfrm>
              <a:blipFill>
                <a:blip r:embed="rId3"/>
                <a:stretch>
                  <a:fillRect l="-1744" r="-72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391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08370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94171"/>
            <a:ext cx="10188881" cy="417802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Tegyük fel, hogy 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: ℕ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→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ℝ, aszimptotikusan nemnegatív függvény! </a:t>
            </a:r>
            <a:b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</a:b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Adja meg az O(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), az 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 és a 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 függvényhalmazok definícióját!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Milyen alapvető összefüggést ismer az O(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), az Ω(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g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 és a Θ(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f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 függvényhalmazok között?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Igaz-e, hogy (5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+ 1)(2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-3) ∈ Θ(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baseline="300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2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)? Miért?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Igaz-e, hogy 2</a:t>
            </a:r>
            <a:r>
              <a:rPr lang="hu-HU" i="1" kern="100" baseline="300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∈ O(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!)? Miért?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Igaz-e, hogy 2</a:t>
            </a:r>
            <a:r>
              <a:rPr lang="hu-HU" i="1" kern="100" baseline="300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 ∈ Ω (</a:t>
            </a:r>
            <a:r>
              <a:rPr lang="hu-HU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!)? Miért?</a:t>
            </a:r>
            <a:endParaRPr lang="hu-HU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50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017D3-A758-BC5D-7942-DE0D2BB4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097D9F16-48B6-2FD6-B3A4-EF0F57C6F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DA70347C-44EA-2DE8-D493-442B59115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E92FD39F-0D25-9C31-0951-DC9277ED4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8B8FF562-EC43-8D7F-72A9-41FB8EA38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EC45C1D3-03AD-1810-BA1B-AE793C8DE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DDA969F7-7849-951D-5E57-6663D700F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523D8A5F-0020-E7F1-4E40-EF1309E98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CC133CBD-7148-B21F-7A48-85465E340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0B11B3E2-4BBB-5C1E-395D-A45BD4D19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24EC071B-9C60-657C-063A-55493E6A8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5F49F578-BED4-D443-9240-2A7DC740B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D493CD7-619B-7B87-F109-D96B2BB3380A}"/>
              </a:ext>
            </a:extLst>
          </p:cNvPr>
          <p:cNvSpPr txBox="1"/>
          <p:nvPr/>
        </p:nvSpPr>
        <p:spPr>
          <a:xfrm>
            <a:off x="5050431" y="5147015"/>
            <a:ext cx="66981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hu-HU" sz="2000" dirty="0"/>
              <a:t>A bemutató Ásványi Tibor: </a:t>
            </a:r>
            <a:r>
              <a:rPr lang="hu-HU" sz="2000" b="0" i="0" u="none" strike="noStrike" baseline="0" dirty="0">
                <a:latin typeface="F30"/>
              </a:rPr>
              <a:t>Algoritmusok és adatszerkezetek I.</a:t>
            </a:r>
          </a:p>
          <a:p>
            <a:pPr algn="r"/>
            <a:r>
              <a:rPr lang="hu-HU" sz="2000" dirty="0">
                <a:latin typeface="F30"/>
              </a:rPr>
              <a:t>e</a:t>
            </a:r>
            <a:r>
              <a:rPr lang="hu-HU" sz="2000" b="0" i="0" u="none" strike="noStrike" baseline="0">
                <a:latin typeface="F30"/>
              </a:rPr>
              <a:t>lőadásjegyzete </a:t>
            </a:r>
            <a:r>
              <a:rPr lang="hu-HU" sz="2000" b="0" i="0" u="none" strike="noStrike" baseline="0" dirty="0">
                <a:latin typeface="F30"/>
              </a:rPr>
              <a:t>alapján készült.</a:t>
            </a:r>
          </a:p>
          <a:p>
            <a:pPr algn="r"/>
            <a:r>
              <a:rPr lang="hu-HU" sz="2000" dirty="0">
                <a:latin typeface="F30"/>
              </a:rPr>
              <a:t>A képek forrása:</a:t>
            </a:r>
            <a:endParaRPr lang="hu-HU" sz="1000" dirty="0">
              <a:latin typeface="F30"/>
            </a:endParaRPr>
          </a:p>
          <a:p>
            <a:pPr algn="r"/>
            <a:r>
              <a:rPr lang="hu-HU" sz="1400" dirty="0"/>
              <a:t>http://tamop412.elte.hu/tananyagok/algoritmusok/lecke2_lap1.html#hiv7</a:t>
            </a:r>
          </a:p>
        </p:txBody>
      </p:sp>
    </p:spTree>
    <p:extLst>
      <p:ext uri="{BB962C8B-B14F-4D97-AF65-F5344CB8AC3E}">
        <p14:creationId xmlns:p14="http://schemas.microsoft.com/office/powerpoint/2010/main" val="26577043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27110</TotalTime>
  <Words>1968</Words>
  <Application>Microsoft Office PowerPoint</Application>
  <PresentationFormat>Szélesvásznú</PresentationFormat>
  <Paragraphs>153</Paragraphs>
  <Slides>19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35" baseType="lpstr">
      <vt:lpstr>Aptos</vt:lpstr>
      <vt:lpstr>Arial</vt:lpstr>
      <vt:lpstr>Calibri</vt:lpstr>
      <vt:lpstr>Cambria Math</vt:lpstr>
      <vt:lpstr>CMMI10</vt:lpstr>
      <vt:lpstr>CMMI12</vt:lpstr>
      <vt:lpstr>CMR10</vt:lpstr>
      <vt:lpstr>CMR12</vt:lpstr>
      <vt:lpstr>CMSY10</vt:lpstr>
      <vt:lpstr>Corbel</vt:lpstr>
      <vt:lpstr>F30</vt:lpstr>
      <vt:lpstr>F48</vt:lpstr>
      <vt:lpstr>F70</vt:lpstr>
      <vt:lpstr>F78</vt:lpstr>
      <vt:lpstr>Times New Roman</vt:lpstr>
      <vt:lpstr>Parallax</vt:lpstr>
      <vt:lpstr>Algoritmusok és adatszerkezetek I. 5. Előadás</vt:lpstr>
      <vt:lpstr>Tartalom</vt:lpstr>
      <vt:lpstr>Függvények aszimptotikus viselkedése</vt:lpstr>
      <vt:lpstr>Aszimptotikus korlátok</vt:lpstr>
      <vt:lpstr>Aszimptotikus korlátok</vt:lpstr>
      <vt:lpstr>Függvények aszimptotikus összehasonlítása</vt:lpstr>
      <vt:lpstr>A  függvényosztályok kapcsolata</vt:lpstr>
      <vt:lpstr>A  függvényosztályok tulajdonságai</vt:lpstr>
      <vt:lpstr>Példa AP függvények nagyságrendjére:</vt:lpstr>
      <vt:lpstr>További tulajdonságok</vt:lpstr>
      <vt:lpstr>A függvények aszimptotikus viszonya</vt:lpstr>
      <vt:lpstr>A függvények aszimptotikus viszonya</vt:lpstr>
      <vt:lpstr>L’Hospital szabály és következménye</vt:lpstr>
      <vt:lpstr>Bizonyítás és következmény</vt:lpstr>
      <vt:lpstr>További tételek</vt:lpstr>
      <vt:lpstr>N × N értelmezési tartományú függvények</vt:lpstr>
      <vt:lpstr>N × N értelmezési tartományú függvények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</cp:revision>
  <dcterms:created xsi:type="dcterms:W3CDTF">2022-02-02T14:32:23Z</dcterms:created>
  <dcterms:modified xsi:type="dcterms:W3CDTF">2026-08-11T08:28:15Z</dcterms:modified>
</cp:coreProperties>
</file>