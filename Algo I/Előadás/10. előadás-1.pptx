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1" r:id="rId1"/>
  </p:sldMasterIdLst>
  <p:notesMasterIdLst>
    <p:notesMasterId r:id="rId55"/>
  </p:notesMasterIdLst>
  <p:sldIdLst>
    <p:sldId id="270" r:id="rId2"/>
    <p:sldId id="295" r:id="rId3"/>
    <p:sldId id="271" r:id="rId4"/>
    <p:sldId id="272" r:id="rId5"/>
    <p:sldId id="309" r:id="rId6"/>
    <p:sldId id="256" r:id="rId7"/>
    <p:sldId id="273" r:id="rId8"/>
    <p:sldId id="274" r:id="rId9"/>
    <p:sldId id="275" r:id="rId10"/>
    <p:sldId id="312" r:id="rId11"/>
    <p:sldId id="259" r:id="rId12"/>
    <p:sldId id="323" r:id="rId13"/>
    <p:sldId id="277" r:id="rId14"/>
    <p:sldId id="278" r:id="rId15"/>
    <p:sldId id="320" r:id="rId16"/>
    <p:sldId id="266" r:id="rId17"/>
    <p:sldId id="294" r:id="rId18"/>
    <p:sldId id="313" r:id="rId19"/>
    <p:sldId id="279" r:id="rId20"/>
    <p:sldId id="280" r:id="rId21"/>
    <p:sldId id="282" r:id="rId22"/>
    <p:sldId id="311" r:id="rId23"/>
    <p:sldId id="283" r:id="rId24"/>
    <p:sldId id="284" r:id="rId25"/>
    <p:sldId id="285" r:id="rId26"/>
    <p:sldId id="314" r:id="rId27"/>
    <p:sldId id="286" r:id="rId28"/>
    <p:sldId id="315" r:id="rId29"/>
    <p:sldId id="287" r:id="rId30"/>
    <p:sldId id="288" r:id="rId31"/>
    <p:sldId id="289" r:id="rId32"/>
    <p:sldId id="316" r:id="rId33"/>
    <p:sldId id="260" r:id="rId34"/>
    <p:sldId id="324" r:id="rId35"/>
    <p:sldId id="325" r:id="rId36"/>
    <p:sldId id="290" r:id="rId37"/>
    <p:sldId id="317" r:id="rId38"/>
    <p:sldId id="263" r:id="rId39"/>
    <p:sldId id="326" r:id="rId40"/>
    <p:sldId id="327" r:id="rId41"/>
    <p:sldId id="318" r:id="rId42"/>
    <p:sldId id="291" r:id="rId43"/>
    <p:sldId id="319" r:id="rId44"/>
    <p:sldId id="265" r:id="rId45"/>
    <p:sldId id="328" r:id="rId46"/>
    <p:sldId id="329" r:id="rId47"/>
    <p:sldId id="292" r:id="rId48"/>
    <p:sldId id="293" r:id="rId49"/>
    <p:sldId id="321" r:id="rId50"/>
    <p:sldId id="322" r:id="rId51"/>
    <p:sldId id="308" r:id="rId52"/>
    <p:sldId id="310" r:id="rId53"/>
    <p:sldId id="269" r:id="rId5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A291C0-A2A7-460D-9B28-CE1F63C37814}" v="1" dt="2026-06-01T08:02:36.7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tílus és rács nélkül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Világos stílus 2 – 1. jelölőszín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Világos stílus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Közepesen sötét stílus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Világos stílus 3 – 3. jelölőszín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Világos stílus 1 – 1. jelölőszín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31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vácsné Pusztai Kinga" userId="1282fdc4-838f-4805-a47a-02b770215156" providerId="ADAL" clId="{5C5F7C30-6626-4CCB-81FA-ED1C19E6AEFD}"/>
    <pc:docChg chg="undo custSel modSld">
      <pc:chgData name="Kovácsné Pusztai Kinga" userId="1282fdc4-838f-4805-a47a-02b770215156" providerId="ADAL" clId="{5C5F7C30-6626-4CCB-81FA-ED1C19E6AEFD}" dt="2026-06-01T08:02:36.704" v="57"/>
      <pc:docMkLst>
        <pc:docMk/>
      </pc:docMkLst>
      <pc:sldChg chg="modSp mod addAnim delAnim modAnim">
        <pc:chgData name="Kovácsné Pusztai Kinga" userId="1282fdc4-838f-4805-a47a-02b770215156" providerId="ADAL" clId="{5C5F7C30-6626-4CCB-81FA-ED1C19E6AEFD}" dt="2026-06-01T08:02:36.704" v="57"/>
        <pc:sldMkLst>
          <pc:docMk/>
          <pc:sldMk cId="4138915099" sldId="318"/>
        </pc:sldMkLst>
        <pc:graphicFrameChg chg="modGraphic">
          <ac:chgData name="Kovácsné Pusztai Kinga" userId="1282fdc4-838f-4805-a47a-02b770215156" providerId="ADAL" clId="{5C5F7C30-6626-4CCB-81FA-ED1C19E6AEFD}" dt="2026-06-01T07:58:31.621" v="56" actId="20577"/>
          <ac:graphicFrameMkLst>
            <pc:docMk/>
            <pc:sldMk cId="4138915099" sldId="318"/>
            <ac:graphicFrameMk id="16" creationId="{174569F9-A93E-10DE-9582-178F5EDB4FC3}"/>
          </ac:graphicFrameMkLst>
        </pc:graphicFrameChg>
        <pc:graphicFrameChg chg="modGraphic">
          <ac:chgData name="Kovácsné Pusztai Kinga" userId="1282fdc4-838f-4805-a47a-02b770215156" providerId="ADAL" clId="{5C5F7C30-6626-4CCB-81FA-ED1C19E6AEFD}" dt="2026-06-01T07:58:11.513" v="52" actId="6549"/>
          <ac:graphicFrameMkLst>
            <pc:docMk/>
            <pc:sldMk cId="4138915099" sldId="318"/>
            <ac:graphicFrameMk id="29" creationId="{079427CA-0DE9-156A-D70C-5AA1F8137319}"/>
          </ac:graphicFrameMkLst>
        </pc:graphicFrame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7T14:42:12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 10850,'0'0'6625,"-5"1"-6432,-15 3-126,64 19 2482,-37-19-2430,1 0 0,-1-1-1,1 0 1,0-1 0,-1 0 0,1 0-1,14 1 1,57 0-1623,-60-3 414,24 0-4004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7T14:42:13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10850,'-12'0'1584,"6"0"-488,0 5 353,0-5-593</inkml:trace>
  <inkml:trace contextRef="#ctx0" brushRef="#br0" timeOffset="1">1 6 16971</inkml:trace>
  <inkml:trace contextRef="#ctx0" brushRef="#br0" timeOffset="2">1 6 17547,'0'0'152,"0"5"72,18-1 408,-12-4-39,7 5-1</inkml:trace>
  <inkml:trace contextRef="#ctx0" brushRef="#br0" timeOffset="3">50 30 20300,'12'5'464</inkml:trace>
  <inkml:trace contextRef="#ctx0" brushRef="#br0" timeOffset="4">81 40 21012,'18'5'96</inkml:trace>
  <inkml:trace contextRef="#ctx0" brushRef="#br0" timeOffset="5">124 50 21108,'56'5'-112,"-13"-5"-1560</inkml:trace>
  <inkml:trace contextRef="#ctx0" brushRef="#br0" timeOffset="6">266 55 13546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0976DC-7541-4136-AAEC-F2EB7E03A564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A78E75-A472-4EBD-99B2-2E8199EB8B2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80413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A78E75-A472-4EBD-99B2-2E8199EB8B22}" type="slidenum">
              <a:rPr lang="hu-HU" smtClean="0"/>
              <a:t>20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20525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157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8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30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069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030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02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91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574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66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734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624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5472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098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628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158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212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601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727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  <p:sldLayoutId id="2147483923" r:id="rId12"/>
    <p:sldLayoutId id="2147483924" r:id="rId13"/>
    <p:sldLayoutId id="2147483925" r:id="rId14"/>
    <p:sldLayoutId id="2147483926" r:id="rId15"/>
    <p:sldLayoutId id="2147483927" r:id="rId16"/>
    <p:sldLayoutId id="214748392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xhere.com/hu/photo/895600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13" Type="http://schemas.openxmlformats.org/officeDocument/2006/relationships/slide" Target="slide42.xml"/><Relationship Id="rId3" Type="http://schemas.openxmlformats.org/officeDocument/2006/relationships/slide" Target="slide4.xml"/><Relationship Id="rId7" Type="http://schemas.openxmlformats.org/officeDocument/2006/relationships/slide" Target="slide11.xml"/><Relationship Id="rId12" Type="http://schemas.openxmlformats.org/officeDocument/2006/relationships/slide" Target="slide36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11" Type="http://schemas.openxmlformats.org/officeDocument/2006/relationships/slide" Target="slide31.xml"/><Relationship Id="rId5" Type="http://schemas.openxmlformats.org/officeDocument/2006/relationships/slide" Target="slide7.xml"/><Relationship Id="rId10" Type="http://schemas.openxmlformats.org/officeDocument/2006/relationships/slide" Target="slide23.xml"/><Relationship Id="rId4" Type="http://schemas.openxmlformats.org/officeDocument/2006/relationships/slide" Target="slide6.xml"/><Relationship Id="rId9" Type="http://schemas.openxmlformats.org/officeDocument/2006/relationships/slide" Target="slide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1.png"/><Relationship Id="rId7" Type="http://schemas.openxmlformats.org/officeDocument/2006/relationships/image" Target="../media/image3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8.png"/><Relationship Id="rId4" Type="http://schemas.openxmlformats.org/officeDocument/2006/relationships/image" Target="../media/image33.png"/><Relationship Id="rId9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9.png"/><Relationship Id="rId7" Type="http://schemas.openxmlformats.org/officeDocument/2006/relationships/image" Target="../media/image4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5" Type="http://schemas.openxmlformats.org/officeDocument/2006/relationships/customXml" Target="../ink/ink2.xml"/><Relationship Id="rId4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43">
            <a:extLst>
              <a:ext uri="{FF2B5EF4-FFF2-40B4-BE49-F238E27FC236}">
                <a16:creationId xmlns:a16="http://schemas.microsoft.com/office/drawing/2014/main" id="{4FEB7930-F0D6-4044-8BA9-D730103D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Kép 6" descr="A képen szöveg, névjegykártya látható&#10;&#10;Automatikusan generált leírás">
            <a:extLst>
              <a:ext uri="{FF2B5EF4-FFF2-40B4-BE49-F238E27FC236}">
                <a16:creationId xmlns:a16="http://schemas.microsoft.com/office/drawing/2014/main" id="{7E74CC86-7BF2-81B7-2414-BD09AD0C805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4405" t="6530" r="16030" b="1"/>
          <a:stretch/>
        </p:blipFill>
        <p:spPr>
          <a:xfrm>
            <a:off x="66695" y="57160"/>
            <a:ext cx="5448280" cy="6857990"/>
          </a:xfrm>
          <a:prstGeom prst="rect">
            <a:avLst/>
          </a:prstGeom>
          <a:gradFill flip="none" rotWithShape="1">
            <a:gsLst>
              <a:gs pos="0">
                <a:srgbClr val="C00000">
                  <a:tint val="66000"/>
                  <a:satMod val="160000"/>
                </a:srgbClr>
              </a:gs>
              <a:gs pos="50000">
                <a:srgbClr val="C00000">
                  <a:tint val="44500"/>
                  <a:satMod val="160000"/>
                </a:srgbClr>
              </a:gs>
              <a:gs pos="100000">
                <a:srgbClr val="C00000">
                  <a:tint val="23500"/>
                  <a:satMod val="160000"/>
                </a:srgbClr>
              </a:gs>
            </a:gsLst>
            <a:lin ang="10800000" scaled="1"/>
            <a:tileRect/>
          </a:gradFill>
        </p:spPr>
      </p:pic>
      <p:grpSp>
        <p:nvGrpSpPr>
          <p:cNvPr id="58" name="Group 45">
            <a:extLst>
              <a:ext uri="{FF2B5EF4-FFF2-40B4-BE49-F238E27FC236}">
                <a16:creationId xmlns:a16="http://schemas.microsoft.com/office/drawing/2014/main" id="{3D37B8A0-A486-4042-834D-0C08DD3B4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836718" y="0"/>
            <a:ext cx="2611581" cy="6858000"/>
            <a:chOff x="2836718" y="0"/>
            <a:chExt cx="2611581" cy="6858000"/>
          </a:xfrm>
        </p:grpSpPr>
        <p:sp useBgFill="1">
          <p:nvSpPr>
            <p:cNvPr id="47" name="Rectangle 19">
              <a:extLst>
                <a:ext uri="{FF2B5EF4-FFF2-40B4-BE49-F238E27FC236}">
                  <a16:creationId xmlns:a16="http://schemas.microsoft.com/office/drawing/2014/main" id="{D467C104-5C3F-411A-B2C4-EBFD4228D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36718" y="0"/>
              <a:ext cx="2611581" cy="2554287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581" h="2554287">
                  <a:moveTo>
                    <a:pt x="675409" y="0"/>
                  </a:moveTo>
                  <a:lnTo>
                    <a:pt x="2611581" y="0"/>
                  </a:lnTo>
                  <a:lnTo>
                    <a:pt x="2611581" y="2554287"/>
                  </a:lnTo>
                  <a:lnTo>
                    <a:pt x="0" y="2554287"/>
                  </a:lnTo>
                  <a:lnTo>
                    <a:pt x="675409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59" name="Rectangle 20">
              <a:extLst>
                <a:ext uri="{FF2B5EF4-FFF2-40B4-BE49-F238E27FC236}">
                  <a16:creationId xmlns:a16="http://schemas.microsoft.com/office/drawing/2014/main" id="{6B04D505-A84F-4973-9090-0F1ACF7ABD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36718" y="2554287"/>
              <a:ext cx="2611581" cy="4303713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581" h="4303713">
                  <a:moveTo>
                    <a:pt x="0" y="0"/>
                  </a:moveTo>
                  <a:lnTo>
                    <a:pt x="2611581" y="0"/>
                  </a:lnTo>
                  <a:lnTo>
                    <a:pt x="2611581" y="4303713"/>
                  </a:lnTo>
                  <a:lnTo>
                    <a:pt x="2171701" y="363869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45CE9A4-4A26-4B57-A688-E6D3A8498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959100" y="-4763"/>
            <a:ext cx="5014912" cy="6862763"/>
            <a:chOff x="2928938" y="-4763"/>
            <a:chExt cx="5014912" cy="6862763"/>
          </a:xfrm>
        </p:grpSpPr>
        <p:sp>
          <p:nvSpPr>
            <p:cNvPr id="51" name="Freeform 6">
              <a:extLst>
                <a:ext uri="{FF2B5EF4-FFF2-40B4-BE49-F238E27FC236}">
                  <a16:creationId xmlns:a16="http://schemas.microsoft.com/office/drawing/2014/main" id="{1FA9CDC9-B659-42F5-9DA2-70B1A39453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2" name="Freeform 7">
              <a:extLst>
                <a:ext uri="{FF2B5EF4-FFF2-40B4-BE49-F238E27FC236}">
                  <a16:creationId xmlns:a16="http://schemas.microsoft.com/office/drawing/2014/main" id="{C007AF8D-D1A5-4CAC-AE7B-D2A3E72B8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3" name="Freeform 9">
              <a:extLst>
                <a:ext uri="{FF2B5EF4-FFF2-40B4-BE49-F238E27FC236}">
                  <a16:creationId xmlns:a16="http://schemas.microsoft.com/office/drawing/2014/main" id="{096A8434-7327-4C0E-BAAF-F4D86BBDFA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602C7E10-50F7-489D-8249-9ECB0B456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5" name="Freeform 11">
              <a:extLst>
                <a:ext uri="{FF2B5EF4-FFF2-40B4-BE49-F238E27FC236}">
                  <a16:creationId xmlns:a16="http://schemas.microsoft.com/office/drawing/2014/main" id="{950DCCEA-5572-4095-A960-C569CF6922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6" name="Freeform 12">
              <a:extLst>
                <a:ext uri="{FF2B5EF4-FFF2-40B4-BE49-F238E27FC236}">
                  <a16:creationId xmlns:a16="http://schemas.microsoft.com/office/drawing/2014/main" id="{5CDFA5C2-7CC1-4739-B874-1ABBCDECF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4978399" y="1380068"/>
            <a:ext cx="6524623" cy="26161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u-HU" b="1"/>
              <a:t>Algoritmusok és adatszerkezetek I.</a:t>
            </a:r>
            <a:br>
              <a:rPr lang="hu-HU" b="1"/>
            </a:br>
            <a:r>
              <a:rPr lang="hu-HU" b="1"/>
              <a:t>10. Előadás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6170611" y="3996267"/>
            <a:ext cx="5332411" cy="1388534"/>
          </a:xfrm>
        </p:spPr>
        <p:txBody>
          <a:bodyPr>
            <a:normAutofit/>
          </a:bodyPr>
          <a:lstStyle/>
          <a:p>
            <a:r>
              <a:rPr lang="hu-HU" sz="3200" b="1">
                <a:solidFill>
                  <a:srgbClr val="C00000"/>
                </a:solidFill>
              </a:rPr>
              <a:t>Hasitó táblák </a:t>
            </a:r>
          </a:p>
          <a:p>
            <a:r>
              <a:rPr lang="hu-HU" sz="3200" b="1">
                <a:solidFill>
                  <a:srgbClr val="C00000"/>
                </a:solidFill>
              </a:rPr>
              <a:t>(</a:t>
            </a:r>
            <a:r>
              <a:rPr lang="hu-HU" sz="3200" b="1" err="1">
                <a:solidFill>
                  <a:srgbClr val="C00000"/>
                </a:solidFill>
              </a:rPr>
              <a:t>hash</a:t>
            </a:r>
            <a:r>
              <a:rPr lang="hu-HU" sz="3200" b="1">
                <a:solidFill>
                  <a:srgbClr val="C00000"/>
                </a:solidFill>
              </a:rPr>
              <a:t> </a:t>
            </a:r>
            <a:r>
              <a:rPr lang="hu-HU" sz="3200" b="1" err="1">
                <a:solidFill>
                  <a:srgbClr val="C00000"/>
                </a:solidFill>
              </a:rPr>
              <a:t>tables</a:t>
            </a:r>
            <a:r>
              <a:rPr lang="hu-HU" sz="3200" b="1">
                <a:solidFill>
                  <a:srgbClr val="C0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31493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949D3EA-F9B1-EC19-F030-539CC8968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2802" y="322274"/>
            <a:ext cx="10018713" cy="1005348"/>
          </a:xfrm>
        </p:spPr>
        <p:txBody>
          <a:bodyPr/>
          <a:lstStyle/>
          <a:p>
            <a:r>
              <a:rPr lang="hu-HU" sz="4400"/>
              <a:t>Tartalom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995C4C9-8308-6EBF-95DE-5E0256419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3190" y="1554479"/>
            <a:ext cx="5810569" cy="4511041"/>
          </a:xfrm>
        </p:spPr>
        <p:txBody>
          <a:bodyPr>
            <a:noAutofit/>
          </a:bodyPr>
          <a:lstStyle/>
          <a:p>
            <a:r>
              <a:rPr lang="hu-HU" sz="2800">
                <a:hlinkClick r:id="rId2" action="ppaction://hlinksldjump"/>
              </a:rPr>
              <a:t>Szótárak</a:t>
            </a:r>
            <a:endParaRPr lang="hu-HU" sz="2800"/>
          </a:p>
          <a:p>
            <a:r>
              <a:rPr lang="hu-HU" sz="2800">
                <a:hlinkClick r:id="rId3" action="ppaction://hlinksldjump"/>
              </a:rPr>
              <a:t>Jelölések</a:t>
            </a:r>
            <a:endParaRPr lang="hu-HU" sz="2800"/>
          </a:p>
          <a:p>
            <a:r>
              <a:rPr lang="hu-HU" sz="2800" err="1">
                <a:hlinkClick r:id="rId4" action="ppaction://hlinksldjump"/>
              </a:rPr>
              <a:t>Hashelés</a:t>
            </a:r>
            <a:r>
              <a:rPr lang="hu-HU" sz="2800">
                <a:hlinkClick r:id="rId4" action="ppaction://hlinksldjump"/>
              </a:rPr>
              <a:t> szemléletesen</a:t>
            </a:r>
            <a:endParaRPr lang="hu-HU" sz="2800"/>
          </a:p>
          <a:p>
            <a:r>
              <a:rPr lang="hu-HU" sz="2800">
                <a:hlinkClick r:id="rId5" action="ppaction://hlinksldjump"/>
              </a:rPr>
              <a:t>Direkt címzés</a:t>
            </a:r>
            <a:endParaRPr lang="hu-HU" sz="2800"/>
          </a:p>
          <a:p>
            <a:r>
              <a:rPr lang="hu-HU" sz="2800">
                <a:hlinkClick r:id="rId6" action="ppaction://hlinksldjump"/>
              </a:rPr>
              <a:t>Hasító táblák</a:t>
            </a:r>
            <a:endParaRPr lang="hu-HU" sz="2800"/>
          </a:p>
          <a:p>
            <a:r>
              <a:rPr lang="hu-HU" sz="2800">
                <a:hlinkClick r:id="rId7" action="ppaction://hlinksldjump"/>
              </a:rPr>
              <a:t>Kulcsütközés feloldása láncolással</a:t>
            </a:r>
            <a:endParaRPr lang="hu-HU" sz="2800"/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DA790CA6-B1A3-0E85-E4C6-391CF3EE9E07}"/>
              </a:ext>
            </a:extLst>
          </p:cNvPr>
          <p:cNvSpPr txBox="1">
            <a:spLocks/>
          </p:cNvSpPr>
          <p:nvPr/>
        </p:nvSpPr>
        <p:spPr>
          <a:xfrm>
            <a:off x="7132225" y="1707872"/>
            <a:ext cx="4611690" cy="42042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hu-HU" sz="2800">
                <a:hlinkClick r:id="rId8" action="ppaction://hlinksldjump" tooltip="Kétirányú listák "/>
              </a:rPr>
              <a:t>Hasítófüggvény</a:t>
            </a:r>
            <a:endParaRPr lang="hu-HU" sz="2800"/>
          </a:p>
          <a:p>
            <a:r>
              <a:rPr lang="hu-HU" sz="2800">
                <a:hlinkClick r:id="rId9" action="ppaction://hlinksldjump"/>
              </a:rPr>
              <a:t>Nyílt címzéses </a:t>
            </a:r>
            <a:r>
              <a:rPr lang="hu-HU" sz="2800" err="1">
                <a:hlinkClick r:id="rId9" action="ppaction://hlinksldjump"/>
              </a:rPr>
              <a:t>hashelés</a:t>
            </a:r>
            <a:endParaRPr lang="hu-HU" sz="2800"/>
          </a:p>
          <a:p>
            <a:r>
              <a:rPr lang="hu-HU" sz="2800">
                <a:hlinkClick r:id="rId10" action="ppaction://hlinksldjump"/>
              </a:rPr>
              <a:t>Próbasorozatok</a:t>
            </a:r>
            <a:endParaRPr lang="hu-HU" sz="2800"/>
          </a:p>
          <a:p>
            <a:r>
              <a:rPr lang="hu-HU" sz="2800">
                <a:hlinkClick r:id="rId11" action="ppaction://hlinksldjump"/>
              </a:rPr>
              <a:t>Lineáris próba</a:t>
            </a:r>
            <a:endParaRPr lang="hu-HU" sz="2800"/>
          </a:p>
          <a:p>
            <a:r>
              <a:rPr lang="hu-HU" sz="2800">
                <a:hlinkClick r:id="rId12" action="ppaction://hlinksldjump"/>
              </a:rPr>
              <a:t>Négyzetes próba</a:t>
            </a:r>
            <a:endParaRPr lang="hu-HU" sz="2800"/>
          </a:p>
          <a:p>
            <a:r>
              <a:rPr lang="hu-HU" sz="2800">
                <a:hlinkClick r:id="rId13" action="ppaction://hlinksldjump"/>
              </a:rPr>
              <a:t>Kettős hasítás</a:t>
            </a:r>
            <a:endParaRPr lang="hu-HU" sz="2800">
              <a:hlinkClick r:id="rId8" action="ppaction://hlinksldjump" tooltip="Kétirányú listák "/>
            </a:endParaRPr>
          </a:p>
        </p:txBody>
      </p:sp>
    </p:spTree>
    <p:extLst>
      <p:ext uri="{BB962C8B-B14F-4D97-AF65-F5344CB8AC3E}">
        <p14:creationId xmlns:p14="http://schemas.microsoft.com/office/powerpoint/2010/main" val="2244582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F87853E-D949-1B16-244F-5A0E43885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91831"/>
            <a:ext cx="10018713" cy="899809"/>
          </a:xfrm>
        </p:spPr>
        <p:txBody>
          <a:bodyPr/>
          <a:lstStyle/>
          <a:p>
            <a:r>
              <a:rPr lang="hu-HU"/>
              <a:t>Szótárak (</a:t>
            </a:r>
            <a:r>
              <a:rPr lang="hu-HU" err="1"/>
              <a:t>dictionaries</a:t>
            </a:r>
            <a:r>
              <a:rPr lang="hu-HU"/>
              <a:t>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9CDD7CE-8CDD-5F67-869B-19C02AE1E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798786"/>
            <a:ext cx="10444931" cy="5767384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>
                <a:ea typeface="Calibri" panose="020F0502020204030204" pitchFamily="34" charset="0"/>
                <a:cs typeface="F29"/>
              </a:rPr>
              <a:t>S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zótárak műveletei: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adat </a:t>
            </a:r>
            <a:r>
              <a:rPr lang="hu-HU" b="1">
                <a:effectLst/>
                <a:ea typeface="Calibri" panose="020F0502020204030204" pitchFamily="34" charset="0"/>
                <a:cs typeface="F29"/>
              </a:rPr>
              <a:t>beszúrása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 a szótárba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kulcs alapján a szótárban a hozzá tartozó adat meg</a:t>
            </a:r>
            <a:r>
              <a:rPr lang="hu-HU" b="1">
                <a:effectLst/>
                <a:ea typeface="Calibri" panose="020F0502020204030204" pitchFamily="34" charset="0"/>
                <a:cs typeface="F29"/>
              </a:rPr>
              <a:t>keresés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e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a szótárból adott kulcsú, vagy egy korábbi keresés által lokalizált adat </a:t>
            </a:r>
            <a:r>
              <a:rPr lang="hu-HU" b="1">
                <a:effectLst/>
                <a:ea typeface="Calibri" panose="020F0502020204030204" pitchFamily="34" charset="0"/>
                <a:cs typeface="F29"/>
              </a:rPr>
              <a:t>eltávolítás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a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>
                <a:ea typeface="Calibri" panose="020F0502020204030204" pitchFamily="34" charset="0"/>
                <a:cs typeface="F29"/>
              </a:rPr>
              <a:t>S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zótárak megvalósítása: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AVL fák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B+ fák (ld. a következő félévben) 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egyéb kiegyensúlyozott keresőfák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b="1">
                <a:effectLst/>
                <a:ea typeface="Calibri" panose="020F0502020204030204" pitchFamily="34" charset="0"/>
                <a:cs typeface="F29"/>
              </a:rPr>
              <a:t>hasító táblák</a:t>
            </a:r>
            <a:endParaRPr lang="hu-HU" b="1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indent="449580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Műveleteknek az </a:t>
            </a:r>
            <a:r>
              <a:rPr lang="hu-HU" b="1">
                <a:effectLst/>
                <a:ea typeface="Calibri" panose="020F0502020204030204" pitchFamily="34" charset="0"/>
                <a:cs typeface="F29"/>
              </a:rPr>
              <a:t>átlagos (</a:t>
            </a:r>
            <a:r>
              <a:rPr lang="el-GR" sz="1800" b="0" i="0" u="none" strike="noStrike" baseline="0">
                <a:latin typeface="CMR12"/>
              </a:rPr>
              <a:t>Θ(1)</a:t>
            </a:r>
            <a:r>
              <a:rPr lang="hu-HU" b="1">
                <a:effectLst/>
                <a:ea typeface="Calibri" panose="020F0502020204030204" pitchFamily="34" charset="0"/>
                <a:cs typeface="F29"/>
              </a:rPr>
              <a:t>)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 </a:t>
            </a:r>
            <a:r>
              <a:rPr lang="hu-HU" sz="1800">
                <a:effectLst/>
                <a:ea typeface="Calibri" panose="020F0502020204030204" pitchFamily="34" charset="0"/>
                <a:cs typeface="F29"/>
              </a:rPr>
              <a:t>(nem a maximális (</a:t>
            </a:r>
            <a:r>
              <a:rPr lang="el-GR" sz="1800" b="0" i="0" u="none" strike="noStrike" baseline="0">
                <a:latin typeface="CMR12"/>
              </a:rPr>
              <a:t>Θ(</a:t>
            </a:r>
            <a:r>
              <a:rPr lang="hu-HU" sz="1800" b="0" i="1" u="none" strike="noStrike" baseline="0">
                <a:latin typeface="CMR12"/>
              </a:rPr>
              <a:t>n</a:t>
            </a:r>
            <a:r>
              <a:rPr lang="el-GR" sz="1800" b="0" i="0" u="none" strike="noStrike" baseline="0">
                <a:latin typeface="CMR12"/>
              </a:rPr>
              <a:t>)</a:t>
            </a:r>
            <a:r>
              <a:rPr lang="hu-HU" sz="1800">
                <a:effectLst/>
                <a:ea typeface="Calibri" panose="020F0502020204030204" pitchFamily="34" charset="0"/>
                <a:cs typeface="F29"/>
              </a:rPr>
              <a:t>))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 futási idejét minimalizáljuk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812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F56B368-37F8-C5C8-5A02-ED351FDE4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218" y="274428"/>
            <a:ext cx="10018713" cy="1026268"/>
          </a:xfrm>
        </p:spPr>
        <p:txBody>
          <a:bodyPr/>
          <a:lstStyle/>
          <a:p>
            <a:r>
              <a:rPr lang="hu-HU"/>
              <a:t>Jelölések: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0B6A7E78-320C-B130-1BCF-6E0E99990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4720" y="1483468"/>
            <a:ext cx="9298303" cy="4612531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 </a:t>
            </a:r>
            <a:r>
              <a:rPr lang="hu-HU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: a hasító tábla mérete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hu-HU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[0..</a:t>
            </a:r>
            <a:r>
              <a:rPr lang="hu-HU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hu-HU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 : a hasító tábla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hu-HU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[0], </a:t>
            </a:r>
            <a:r>
              <a:rPr lang="hu-HU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hu-HU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[1],…,</a:t>
            </a:r>
            <a:r>
              <a:rPr lang="hu-HU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hu-HU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[</a:t>
            </a:r>
            <a:r>
              <a:rPr lang="hu-HU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hu-HU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-1] : a hasító tábla rései (</a:t>
            </a:r>
            <a:r>
              <a:rPr lang="hu-HU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slot-jai</a:t>
            </a:r>
            <a:r>
              <a:rPr lang="hu-HU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kern="100">
                <a:effectLst/>
                <a:ea typeface="Aptos" panose="020B00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hu-HU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: üres rés a hasító táblában (direkt címzésnél és a kulcsütközések láncolással való feloldása esetén)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E: üres rés (</a:t>
            </a:r>
            <a:r>
              <a:rPr lang="hu-HU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empty</a:t>
            </a:r>
            <a:r>
              <a:rPr lang="hu-HU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hu-HU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slot</a:t>
            </a:r>
            <a:r>
              <a:rPr lang="hu-HU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 kulcsa a hasító táblában (nyílt címzésnél)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D: </a:t>
            </a:r>
            <a:r>
              <a:rPr lang="hu-HU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törölt</a:t>
            </a:r>
            <a:r>
              <a:rPr lang="hu-HU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rés (</a:t>
            </a:r>
            <a:r>
              <a:rPr lang="hu-HU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deleted</a:t>
            </a:r>
            <a:r>
              <a:rPr lang="hu-HU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hu-HU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slot</a:t>
            </a:r>
            <a:r>
              <a:rPr lang="hu-HU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 kulcsa a hasító táblában (nyílt címzésnél)</a:t>
            </a:r>
          </a:p>
        </p:txBody>
      </p:sp>
      <p:sp>
        <p:nvSpPr>
          <p:cNvPr id="3" name="Tekercs: függőleges 2">
            <a:extLst>
              <a:ext uri="{FF2B5EF4-FFF2-40B4-BE49-F238E27FC236}">
                <a16:creationId xmlns:a16="http://schemas.microsoft.com/office/drawing/2014/main" id="{20165883-9F8E-26E9-C208-F3FA2AD3F9AA}"/>
              </a:ext>
            </a:extLst>
          </p:cNvPr>
          <p:cNvSpPr/>
          <p:nvPr/>
        </p:nvSpPr>
        <p:spPr>
          <a:xfrm>
            <a:off x="1564640" y="1300696"/>
            <a:ext cx="10261600" cy="4896904"/>
          </a:xfrm>
          <a:prstGeom prst="verticalScroll">
            <a:avLst>
              <a:gd name="adj" fmla="val 1063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F53EE5E3-7EE3-4CB6-5FB5-18CC06154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606" y="3749148"/>
            <a:ext cx="342948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259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89646-8FA8-E6E9-1F1B-78B449E96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Kép 10">
            <a:extLst>
              <a:ext uri="{FF2B5EF4-FFF2-40B4-BE49-F238E27FC236}">
                <a16:creationId xmlns:a16="http://schemas.microsoft.com/office/drawing/2014/main" id="{60A9D8DF-8585-49DC-B424-462304B87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610" y="4345817"/>
            <a:ext cx="9248909" cy="1953382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DD4A56F2-BBD4-97BB-7776-30AD035AD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0378" y="274428"/>
            <a:ext cx="10018713" cy="1026268"/>
          </a:xfrm>
        </p:spPr>
        <p:txBody>
          <a:bodyPr/>
          <a:lstStyle/>
          <a:p>
            <a:r>
              <a:rPr lang="hu-HU"/>
              <a:t>Jelölések: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87A2D60D-A27B-2559-C904-46FF5F476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6630" y="1686668"/>
            <a:ext cx="10018713" cy="4612531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i="1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n</a:t>
            </a:r>
            <a:r>
              <a:rPr lang="hu-HU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: a hasító táblában tárolt adatok száma</a:t>
            </a:r>
            <a:endParaRPr lang="hu-HU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i="1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α</a:t>
            </a:r>
            <a:r>
              <a:rPr lang="hu-HU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 = </a:t>
            </a:r>
            <a:r>
              <a:rPr lang="hu-HU" i="1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n</a:t>
            </a:r>
            <a:r>
              <a:rPr lang="hu-HU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/</a:t>
            </a:r>
            <a:r>
              <a:rPr lang="hu-HU" i="1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m</a:t>
            </a:r>
            <a:r>
              <a:rPr lang="hu-HU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: a hasító tábla kitöltöttségi aránya (</a:t>
            </a:r>
            <a:r>
              <a:rPr lang="hu-HU" kern="100" err="1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load</a:t>
            </a:r>
            <a:r>
              <a:rPr lang="hu-HU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 </a:t>
            </a:r>
            <a:r>
              <a:rPr lang="hu-HU" kern="100" err="1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factor</a:t>
            </a:r>
            <a:r>
              <a:rPr lang="hu-HU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)</a:t>
            </a:r>
            <a:endParaRPr lang="hu-HU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U: a kulcsok univerzuma: </a:t>
            </a:r>
            <a:r>
              <a:rPr lang="hu-HU" i="1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k</a:t>
            </a:r>
            <a:r>
              <a:rPr lang="hu-HU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, </a:t>
            </a:r>
            <a:r>
              <a:rPr lang="hu-HU" i="1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k</a:t>
            </a:r>
            <a:r>
              <a:rPr lang="hu-HU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’, </a:t>
            </a:r>
            <a:r>
              <a:rPr lang="hu-HU" i="1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k</a:t>
            </a:r>
            <a:r>
              <a:rPr lang="hu-HU" kern="100" baseline="-250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i </a:t>
            </a:r>
            <a:r>
              <a:rPr lang="hu-HU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∈ U</a:t>
            </a:r>
            <a:endParaRPr lang="hu-HU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i="1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h</a:t>
            </a:r>
            <a:r>
              <a:rPr lang="hu-HU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: U → 0.. (m-1): hasító függvény (</a:t>
            </a:r>
            <a:r>
              <a:rPr lang="hu-HU" kern="100" err="1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hash</a:t>
            </a:r>
            <a:r>
              <a:rPr lang="hu-HU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 </a:t>
            </a:r>
            <a:r>
              <a:rPr lang="hu-HU" kern="100" err="1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function</a:t>
            </a:r>
            <a:r>
              <a:rPr lang="hu-HU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)</a:t>
            </a:r>
            <a:endParaRPr lang="hu-HU" kern="100">
              <a:ea typeface="Aptos" panose="020B0004020202020204" pitchFamily="34" charset="0"/>
              <a:cs typeface="Cambria Math" panose="020405030504060302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hu-HU" sz="1050"/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hu-HU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Feltevések: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a hasító tábla nem tartalmazhat két vagy több azonos kulcsú elemet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h(k) θ(1) időben számolható</a:t>
            </a:r>
            <a:endParaRPr lang="hu-HU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kercs: függőleges 2">
            <a:extLst>
              <a:ext uri="{FF2B5EF4-FFF2-40B4-BE49-F238E27FC236}">
                <a16:creationId xmlns:a16="http://schemas.microsoft.com/office/drawing/2014/main" id="{262141DF-991C-96D9-5F87-729F348D4EEF}"/>
              </a:ext>
            </a:extLst>
          </p:cNvPr>
          <p:cNvSpPr/>
          <p:nvPr/>
        </p:nvSpPr>
        <p:spPr>
          <a:xfrm>
            <a:off x="1564640" y="1300696"/>
            <a:ext cx="8829040" cy="2956344"/>
          </a:xfrm>
          <a:prstGeom prst="verticalScroll">
            <a:avLst>
              <a:gd name="adj" fmla="val 1063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72219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930399" y="547877"/>
            <a:ext cx="7346329" cy="961053"/>
          </a:xfrm>
        </p:spPr>
        <p:txBody>
          <a:bodyPr>
            <a:normAutofit fontScale="90000"/>
          </a:bodyPr>
          <a:lstStyle/>
          <a:p>
            <a:r>
              <a:rPr lang="hu-HU" err="1"/>
              <a:t>Hashelés</a:t>
            </a:r>
            <a:r>
              <a:rPr lang="hu-HU"/>
              <a:t> szemléletesen</a:t>
            </a:r>
          </a:p>
        </p:txBody>
      </p:sp>
      <p:graphicFrame>
        <p:nvGraphicFramePr>
          <p:cNvPr id="6" name="Tábláza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266974"/>
              </p:ext>
            </p:extLst>
          </p:nvPr>
        </p:nvGraphicFramePr>
        <p:xfrm>
          <a:off x="9518762" y="1261583"/>
          <a:ext cx="542663" cy="388282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2663">
                  <a:extLst>
                    <a:ext uri="{9D8B030D-6E8A-4147-A177-3AD203B41FA5}">
                      <a16:colId xmlns:a16="http://schemas.microsoft.com/office/drawing/2014/main" val="2945563909"/>
                    </a:ext>
                  </a:extLst>
                </a:gridCol>
              </a:tblGrid>
              <a:tr h="381969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753141"/>
                  </a:ext>
                </a:extLst>
              </a:tr>
              <a:tr h="381969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707278"/>
                  </a:ext>
                </a:extLst>
              </a:tr>
              <a:tr h="405857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725146"/>
                  </a:ext>
                </a:extLst>
              </a:tr>
              <a:tr h="381969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638970"/>
                  </a:ext>
                </a:extLst>
              </a:tr>
              <a:tr h="381969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666400"/>
                  </a:ext>
                </a:extLst>
              </a:tr>
              <a:tr h="202929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7173"/>
                  </a:ext>
                </a:extLst>
              </a:tr>
              <a:tr h="202929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463517"/>
                  </a:ext>
                </a:extLst>
              </a:tr>
              <a:tr h="405857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044377"/>
                  </a:ext>
                </a:extLst>
              </a:tr>
              <a:tr h="405857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396801"/>
                  </a:ext>
                </a:extLst>
              </a:tr>
              <a:tr h="405857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264293"/>
                  </a:ext>
                </a:extLst>
              </a:tr>
            </a:tbl>
          </a:graphicData>
        </a:graphic>
      </p:graphicFrame>
      <p:sp>
        <p:nvSpPr>
          <p:cNvPr id="7" name="Ellipszis 6"/>
          <p:cNvSpPr/>
          <p:nvPr/>
        </p:nvSpPr>
        <p:spPr>
          <a:xfrm>
            <a:off x="4606744" y="2246494"/>
            <a:ext cx="3937519" cy="34336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hu-HU"/>
              <a:t>U (kulcsuniverzum)</a:t>
            </a:r>
          </a:p>
          <a:p>
            <a:pPr algn="ctr"/>
            <a:endParaRPr lang="hu-HU"/>
          </a:p>
        </p:txBody>
      </p:sp>
      <p:sp>
        <p:nvSpPr>
          <p:cNvPr id="8" name="Ellipszis 7"/>
          <p:cNvSpPr/>
          <p:nvPr/>
        </p:nvSpPr>
        <p:spPr>
          <a:xfrm>
            <a:off x="5860707" y="3343393"/>
            <a:ext cx="1875453" cy="17149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/>
              <a:t>k</a:t>
            </a:r>
            <a:r>
              <a:rPr lang="hu-HU" baseline="-25000"/>
              <a:t>1</a:t>
            </a:r>
          </a:p>
        </p:txBody>
      </p:sp>
      <p:sp>
        <p:nvSpPr>
          <p:cNvPr id="9" name="Szövegdoboz 8"/>
          <p:cNvSpPr txBox="1"/>
          <p:nvPr/>
        </p:nvSpPr>
        <p:spPr>
          <a:xfrm>
            <a:off x="6416598" y="3655415"/>
            <a:ext cx="3818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k</a:t>
            </a:r>
            <a:r>
              <a:rPr lang="hu-HU" baseline="-25000"/>
              <a:t>2</a:t>
            </a:r>
          </a:p>
          <a:p>
            <a:endParaRPr lang="hu-HU"/>
          </a:p>
        </p:txBody>
      </p:sp>
      <p:sp>
        <p:nvSpPr>
          <p:cNvPr id="10" name="Szövegdoboz 9"/>
          <p:cNvSpPr txBox="1"/>
          <p:nvPr/>
        </p:nvSpPr>
        <p:spPr>
          <a:xfrm>
            <a:off x="6798434" y="3473389"/>
            <a:ext cx="555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k</a:t>
            </a:r>
            <a:r>
              <a:rPr lang="hu-HU" baseline="-25000"/>
              <a:t>3</a:t>
            </a:r>
          </a:p>
          <a:p>
            <a:endParaRPr lang="hu-HU"/>
          </a:p>
        </p:txBody>
      </p:sp>
      <p:sp>
        <p:nvSpPr>
          <p:cNvPr id="11" name="Szövegdoboz 10"/>
          <p:cNvSpPr txBox="1"/>
          <p:nvPr/>
        </p:nvSpPr>
        <p:spPr>
          <a:xfrm>
            <a:off x="6163732" y="4265956"/>
            <a:ext cx="3818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k</a:t>
            </a:r>
            <a:r>
              <a:rPr lang="hu-HU" baseline="-25000"/>
              <a:t>4</a:t>
            </a:r>
          </a:p>
          <a:p>
            <a:endParaRPr lang="hu-HU"/>
          </a:p>
        </p:txBody>
      </p:sp>
      <p:sp>
        <p:nvSpPr>
          <p:cNvPr id="12" name="Szövegdoboz 11"/>
          <p:cNvSpPr txBox="1"/>
          <p:nvPr/>
        </p:nvSpPr>
        <p:spPr>
          <a:xfrm>
            <a:off x="6759028" y="4498076"/>
            <a:ext cx="3818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k</a:t>
            </a:r>
            <a:r>
              <a:rPr lang="hu-HU" baseline="-25000"/>
              <a:t>5</a:t>
            </a:r>
          </a:p>
          <a:p>
            <a:endParaRPr lang="hu-HU"/>
          </a:p>
        </p:txBody>
      </p:sp>
      <p:cxnSp>
        <p:nvCxnSpPr>
          <p:cNvPr id="14" name="Egyenes összekötő nyíllal 13"/>
          <p:cNvCxnSpPr/>
          <p:nvPr/>
        </p:nvCxnSpPr>
        <p:spPr>
          <a:xfrm flipV="1">
            <a:off x="7206837" y="2246495"/>
            <a:ext cx="2251827" cy="1357943"/>
          </a:xfrm>
          <a:prstGeom prst="straightConnector1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nyíllal 15"/>
          <p:cNvCxnSpPr/>
          <p:nvPr/>
        </p:nvCxnSpPr>
        <p:spPr>
          <a:xfrm flipV="1">
            <a:off x="7030520" y="3720940"/>
            <a:ext cx="2428144" cy="448550"/>
          </a:xfrm>
          <a:prstGeom prst="straightConnector1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gyenes összekötő nyíllal 17"/>
          <p:cNvCxnSpPr/>
          <p:nvPr/>
        </p:nvCxnSpPr>
        <p:spPr>
          <a:xfrm>
            <a:off x="7183387" y="4624187"/>
            <a:ext cx="2259197" cy="288100"/>
          </a:xfrm>
          <a:prstGeom prst="straightConnector1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gyenes összekötő nyíllal 19"/>
          <p:cNvCxnSpPr/>
          <p:nvPr/>
        </p:nvCxnSpPr>
        <p:spPr>
          <a:xfrm flipV="1">
            <a:off x="6848327" y="3679293"/>
            <a:ext cx="2594257" cy="197366"/>
          </a:xfrm>
          <a:prstGeom prst="straightConnector1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gyenes összekötő nyíllal 21"/>
          <p:cNvCxnSpPr/>
          <p:nvPr/>
        </p:nvCxnSpPr>
        <p:spPr>
          <a:xfrm flipV="1">
            <a:off x="6617157" y="4169490"/>
            <a:ext cx="2825427" cy="265531"/>
          </a:xfrm>
          <a:prstGeom prst="straightConnector1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070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E1D08C8-5494-63EF-62B0-4D8BE9FDE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505839"/>
            <a:ext cx="10018713" cy="1074906"/>
          </a:xfrm>
        </p:spPr>
        <p:txBody>
          <a:bodyPr/>
          <a:lstStyle/>
          <a:p>
            <a:r>
              <a:rPr lang="hu-HU"/>
              <a:t>Direkt címzés (</a:t>
            </a:r>
            <a:r>
              <a:rPr lang="hu-HU" err="1"/>
              <a:t>direct-address</a:t>
            </a:r>
            <a:r>
              <a:rPr lang="hu-HU"/>
              <a:t> </a:t>
            </a:r>
            <a:r>
              <a:rPr lang="hu-HU" err="1"/>
              <a:t>tables</a:t>
            </a:r>
            <a:r>
              <a:rPr lang="hu-HU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4F2EE7A1-0927-D7B0-CA15-233ABAD264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678193"/>
                <a:ext cx="10018713" cy="467396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i="1">
                    <a:effectLst/>
                    <a:ea typeface="Calibri" panose="020F0502020204030204" pitchFamily="34" charset="0"/>
                    <a:cs typeface="CMMI12"/>
                  </a:rPr>
                  <a:t>U</a:t>
                </a:r>
                <a:r>
                  <a:rPr lang="hu-HU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>
                    <a:effectLst/>
                    <a:ea typeface="Calibri" panose="020F0502020204030204" pitchFamily="34" charset="0"/>
                    <a:cs typeface="CMR12"/>
                  </a:rPr>
                  <a:t>= [0</a:t>
                </a:r>
                <a:r>
                  <a:rPr lang="hu-HU">
                    <a:effectLst/>
                    <a:ea typeface="Calibri" panose="020F0502020204030204" pitchFamily="34" charset="0"/>
                    <a:cs typeface="CMMI12"/>
                  </a:rPr>
                  <a:t>..</a:t>
                </a:r>
                <a:r>
                  <a:rPr lang="hu-HU" i="1">
                    <a:effectLst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hu-HU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r>
                  <a:rPr lang="hu-HU">
                    <a:effectLst/>
                    <a:ea typeface="Calibri" panose="020F0502020204030204" pitchFamily="34" charset="0"/>
                    <a:cs typeface="F29"/>
                  </a:rPr>
                  <a:t>, ahol </a:t>
                </a:r>
                <a:r>
                  <a:rPr lang="hu-HU" i="1">
                    <a:effectLst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hu-HU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>
                    <a:effectLst/>
                    <a:ea typeface="Calibri" panose="020F0502020204030204" pitchFamily="34" charset="0"/>
                    <a:cs typeface="CMSY10"/>
                  </a:rPr>
                  <a:t>≥ </a:t>
                </a:r>
                <a:r>
                  <a:rPr lang="hu-HU" i="1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>
                    <a:effectLst/>
                    <a:ea typeface="Calibri" panose="020F0502020204030204" pitchFamily="34" charset="0"/>
                    <a:cs typeface="F29"/>
                  </a:rPr>
                  <a:t>, de </a:t>
                </a:r>
                <a:r>
                  <a:rPr lang="hu-HU" i="1">
                    <a:effectLst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hu-HU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>
                    <a:effectLst/>
                    <a:ea typeface="Calibri" panose="020F0502020204030204" pitchFamily="34" charset="0"/>
                    <a:cs typeface="F29"/>
                  </a:rPr>
                  <a:t>nem túl nagy</a:t>
                </a:r>
                <a:endParaRPr lang="hu-HU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i="1">
                    <a:effectLst/>
                    <a:ea typeface="Calibri" panose="020F0502020204030204" pitchFamily="34" charset="0"/>
                    <a:cs typeface="CMMI12"/>
                  </a:rPr>
                  <a:t>T</a:t>
                </a:r>
                <a:r>
                  <a:rPr lang="hu-HU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>
                    <a:effectLst/>
                    <a:ea typeface="Calibri" panose="020F0502020204030204" pitchFamily="34" charset="0"/>
                    <a:cs typeface="CMR12"/>
                  </a:rPr>
                  <a:t>: </a:t>
                </a:r>
                <a:r>
                  <a:rPr lang="hu-HU" i="1">
                    <a:effectLst/>
                    <a:ea typeface="Calibri" panose="020F0502020204030204" pitchFamily="34" charset="0"/>
                    <a:cs typeface="CMMI12"/>
                  </a:rPr>
                  <a:t>D</a:t>
                </a:r>
                <a:r>
                  <a:rPr lang="hu-HU">
                    <a:effectLst/>
                    <a:ea typeface="CMSY10"/>
                    <a:cs typeface="Cambria Math" panose="02040503050406030204" pitchFamily="18" charset="0"/>
                  </a:rPr>
                  <a:t>∗</a:t>
                </a:r>
                <a:r>
                  <a:rPr lang="hu-HU">
                    <a:effectLst/>
                    <a:ea typeface="Calibri" panose="020F0502020204030204" pitchFamily="34" charset="0"/>
                    <a:cs typeface="CMR12"/>
                  </a:rPr>
                  <a:t>[</a:t>
                </a:r>
                <a:r>
                  <a:rPr lang="hu-HU" i="1">
                    <a:effectLst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hu-HU">
                    <a:effectLst/>
                    <a:ea typeface="Calibri" panose="020F0502020204030204" pitchFamily="34" charset="0"/>
                    <a:cs typeface="CMR12"/>
                  </a:rPr>
                  <a:t>] </a:t>
                </a:r>
                <a:r>
                  <a:rPr lang="hu-HU">
                    <a:effectLst/>
                    <a:ea typeface="Calibri" panose="020F0502020204030204" pitchFamily="34" charset="0"/>
                    <a:cs typeface="F29"/>
                  </a:rPr>
                  <a:t>hasító tábla rései pointerek</a:t>
                </a:r>
                <a:endParaRPr lang="hu-HU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i="1">
                    <a:effectLst/>
                    <a:ea typeface="Calibri" panose="020F0502020204030204" pitchFamily="34" charset="0"/>
                    <a:cs typeface="F29"/>
                  </a:rPr>
                  <a:t>D</a:t>
                </a:r>
                <a:r>
                  <a:rPr lang="hu-HU">
                    <a:effectLst/>
                    <a:ea typeface="Calibri" panose="020F0502020204030204" pitchFamily="34" charset="0"/>
                    <a:cs typeface="F29"/>
                  </a:rPr>
                  <a:t> típusú adatrekordokra mutatnak</a:t>
                </a:r>
                <a:endParaRPr lang="hu-HU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>
                    <a:effectLst/>
                    <a:ea typeface="Calibri" panose="020F0502020204030204" pitchFamily="34" charset="0"/>
                    <a:cs typeface="F29"/>
                  </a:rPr>
                  <a:t>A rekordok:</a:t>
                </a:r>
                <a:endParaRPr lang="hu-HU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i="1">
                    <a:effectLst/>
                    <a:ea typeface="Calibri" panose="020F0502020204030204" pitchFamily="34" charset="0"/>
                    <a:cs typeface="CMMI12"/>
                  </a:rPr>
                  <a:t>k</a:t>
                </a:r>
                <a:r>
                  <a:rPr lang="hu-HU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>
                    <a:effectLst/>
                    <a:ea typeface="Calibri" panose="020F0502020204030204" pitchFamily="34" charset="0"/>
                    <a:cs typeface="CMR12"/>
                  </a:rPr>
                  <a:t>: </a:t>
                </a:r>
                <a:r>
                  <a:rPr lang="hu-HU" i="1">
                    <a:effectLst/>
                    <a:ea typeface="Calibri" panose="020F0502020204030204" pitchFamily="34" charset="0"/>
                    <a:cs typeface="CMMI12"/>
                  </a:rPr>
                  <a:t>U</a:t>
                </a:r>
                <a:r>
                  <a:rPr lang="hu-HU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>
                    <a:effectLst/>
                    <a:ea typeface="Calibri" panose="020F0502020204030204" pitchFamily="34" charset="0"/>
                    <a:cs typeface="F29"/>
                  </a:rPr>
                  <a:t>kulcsmező</a:t>
                </a:r>
                <a:endParaRPr lang="hu-HU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>
                    <a:effectLst/>
                    <a:ea typeface="Calibri" panose="020F0502020204030204" pitchFamily="34" charset="0"/>
                    <a:cs typeface="F29"/>
                  </a:rPr>
                  <a:t>járulékos mezők</a:t>
                </a:r>
                <a:endParaRPr lang="hu-HU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>
                    <a:effectLst/>
                    <a:ea typeface="Calibri" panose="020F0502020204030204" pitchFamily="34" charset="0"/>
                    <a:cs typeface="F29"/>
                  </a:rPr>
                  <a:t>A hasító tábla inicializálása: </a:t>
                </a:r>
                <a14:m>
                  <m:oMath xmlns:m="http://schemas.openxmlformats.org/officeDocument/2006/math">
                    <m:r>
                      <a:rPr lang="hu-HU" i="1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⊘</m:t>
                    </m:r>
                  </m:oMath>
                </a14:m>
                <a:r>
                  <a:rPr lang="hu-HU">
                    <a:effectLst/>
                    <a:ea typeface="Calibri" panose="020F0502020204030204" pitchFamily="34" charset="0"/>
                    <a:cs typeface="stmary10"/>
                  </a:rPr>
                  <a:t> </a:t>
                </a:r>
                <a:r>
                  <a:rPr lang="hu-HU">
                    <a:effectLst/>
                    <a:ea typeface="Calibri" panose="020F0502020204030204" pitchFamily="34" charset="0"/>
                    <a:cs typeface="F29"/>
                  </a:rPr>
                  <a:t>pointerekkel</a:t>
                </a:r>
                <a:endParaRPr lang="hu-HU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hu-HU"/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4F2EE7A1-0927-D7B0-CA15-233ABAD264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678193"/>
                <a:ext cx="10018713" cy="4673968"/>
              </a:xfrm>
              <a:blipFill>
                <a:blip r:embed="rId2"/>
                <a:stretch>
                  <a:fillRect l="-1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Kép 4">
            <a:extLst>
              <a:ext uri="{FF2B5EF4-FFF2-40B4-BE49-F238E27FC236}">
                <a16:creationId xmlns:a16="http://schemas.microsoft.com/office/drawing/2014/main" id="{FA85CCBE-0F84-DE27-2A51-596DF33E2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307" y="3123295"/>
            <a:ext cx="3511389" cy="1351885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10E16576-DC8B-5482-6CCA-9AC16FCADA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9256" y="5209391"/>
            <a:ext cx="268510" cy="34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778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ercs: vízszintes 5">
            <a:extLst>
              <a:ext uri="{FF2B5EF4-FFF2-40B4-BE49-F238E27FC236}">
                <a16:creationId xmlns:a16="http://schemas.microsoft.com/office/drawing/2014/main" id="{24AF8D11-59BE-1F1D-B6E3-6EC0AEB0A96E}"/>
              </a:ext>
            </a:extLst>
          </p:cNvPr>
          <p:cNvSpPr/>
          <p:nvPr/>
        </p:nvSpPr>
        <p:spPr>
          <a:xfrm>
            <a:off x="5432612" y="6205529"/>
            <a:ext cx="2086983" cy="571789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Tekercs: vízszintes 3">
            <a:extLst>
              <a:ext uri="{FF2B5EF4-FFF2-40B4-BE49-F238E27FC236}">
                <a16:creationId xmlns:a16="http://schemas.microsoft.com/office/drawing/2014/main" id="{B655D3ED-7F38-E0BD-4739-9F760B7F29EE}"/>
              </a:ext>
            </a:extLst>
          </p:cNvPr>
          <p:cNvSpPr/>
          <p:nvPr/>
        </p:nvSpPr>
        <p:spPr>
          <a:xfrm>
            <a:off x="5432612" y="5690795"/>
            <a:ext cx="1742739" cy="595416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90CD29C-9EB1-E7F5-2B41-EBF0FED21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64788"/>
            <a:ext cx="10018713" cy="870626"/>
          </a:xfrm>
        </p:spPr>
        <p:txBody>
          <a:bodyPr/>
          <a:lstStyle/>
          <a:p>
            <a:r>
              <a:rPr lang="hu-HU"/>
              <a:t>Direkt címzés műveletek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026CB6F-CF78-9FC3-F870-3F1803959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4517" y="5065588"/>
            <a:ext cx="3000530" cy="1792412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200">
                <a:effectLst/>
                <a:latin typeface="Times New Roman" panose="02020603050405020304" pitchFamily="18" charset="0"/>
                <a:ea typeface="CMMI12"/>
                <a:cs typeface="Times New Roman" panose="02020603050405020304" pitchFamily="18" charset="0"/>
              </a:rPr>
              <a:t>Műveletigény:</a:t>
            </a:r>
          </a:p>
          <a:p>
            <a:pPr marL="457200" lvl="1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hu-HU" i="1">
                <a:effectLst/>
                <a:ea typeface="CMMI12"/>
                <a:cs typeface="Times New Roman" panose="02020603050405020304" pitchFamily="18" charset="0"/>
              </a:rPr>
              <a:t>T</a:t>
            </a:r>
            <a:r>
              <a:rPr lang="hu-HU" i="1" baseline="-25000">
                <a:effectLst/>
                <a:ea typeface="CMR8"/>
                <a:cs typeface="Times New Roman" panose="02020603050405020304" pitchFamily="18" charset="0"/>
              </a:rPr>
              <a:t>init</a:t>
            </a:r>
            <a:r>
              <a:rPr lang="hu-HU">
                <a:effectLst/>
                <a:ea typeface="CMR12"/>
                <a:cs typeface="Times New Roman" panose="02020603050405020304" pitchFamily="18" charset="0"/>
              </a:rPr>
              <a:t>(</a:t>
            </a:r>
            <a:r>
              <a:rPr lang="hu-HU" i="1">
                <a:effectLst/>
                <a:ea typeface="CMMI12"/>
                <a:cs typeface="Times New Roman" panose="02020603050405020304" pitchFamily="18" charset="0"/>
              </a:rPr>
              <a:t>m</a:t>
            </a:r>
            <a:r>
              <a:rPr lang="hu-HU">
                <a:effectLst/>
                <a:ea typeface="CMR12"/>
                <a:cs typeface="Times New Roman" panose="02020603050405020304" pitchFamily="18" charset="0"/>
              </a:rPr>
              <a:t>) </a:t>
            </a:r>
            <a:r>
              <a:rPr lang="hu-HU">
                <a:effectLst/>
                <a:ea typeface="CMSY10"/>
                <a:cs typeface="Cambria Math" panose="02040503050406030204" pitchFamily="18" charset="0"/>
              </a:rPr>
              <a:t>∈</a:t>
            </a:r>
            <a:r>
              <a:rPr lang="hu-HU">
                <a:effectLst/>
                <a:ea typeface="CMSY10"/>
                <a:cs typeface="Times New Roman" panose="02020603050405020304" pitchFamily="18" charset="0"/>
              </a:rPr>
              <a:t> </a:t>
            </a:r>
            <a:r>
              <a:rPr lang="hu-HU">
                <a:effectLst/>
                <a:ea typeface="CMR12"/>
                <a:cs typeface="Times New Roman" panose="02020603050405020304" pitchFamily="18" charset="0"/>
              </a:rPr>
              <a:t>Θ(</a:t>
            </a:r>
            <a:r>
              <a:rPr lang="hu-HU" i="1">
                <a:effectLst/>
                <a:ea typeface="CMMI12"/>
                <a:cs typeface="Times New Roman" panose="02020603050405020304" pitchFamily="18" charset="0"/>
              </a:rPr>
              <a:t>m</a:t>
            </a:r>
            <a:r>
              <a:rPr lang="hu-HU">
                <a:effectLst/>
                <a:ea typeface="CMR12"/>
                <a:cs typeface="Times New Roman" panose="02020603050405020304" pitchFamily="18" charset="0"/>
              </a:rPr>
              <a:t>)</a:t>
            </a:r>
          </a:p>
          <a:p>
            <a:pPr marL="457200" lvl="1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hu-HU" i="1" err="1">
                <a:effectLst/>
                <a:ea typeface="CMMI12"/>
                <a:cs typeface="Times New Roman" panose="02020603050405020304" pitchFamily="18" charset="0"/>
              </a:rPr>
              <a:t>T</a:t>
            </a:r>
            <a:r>
              <a:rPr lang="hu-HU" i="1" baseline="-25000" err="1">
                <a:effectLst/>
                <a:ea typeface="CMR8"/>
                <a:cs typeface="Times New Roman" panose="02020603050405020304" pitchFamily="18" charset="0"/>
              </a:rPr>
              <a:t>műveletek</a:t>
            </a:r>
            <a:r>
              <a:rPr lang="hu-HU">
                <a:effectLst/>
                <a:ea typeface="CMR12"/>
                <a:cs typeface="Times New Roman" panose="02020603050405020304" pitchFamily="18" charset="0"/>
              </a:rPr>
              <a:t>(</a:t>
            </a:r>
            <a:r>
              <a:rPr lang="hu-HU" i="1">
                <a:effectLst/>
                <a:ea typeface="CMMI12"/>
                <a:cs typeface="Times New Roman" panose="02020603050405020304" pitchFamily="18" charset="0"/>
              </a:rPr>
              <a:t>m</a:t>
            </a:r>
            <a:r>
              <a:rPr lang="hu-HU">
                <a:effectLst/>
                <a:ea typeface="CMR12"/>
                <a:cs typeface="Times New Roman" panose="02020603050405020304" pitchFamily="18" charset="0"/>
              </a:rPr>
              <a:t>) </a:t>
            </a:r>
            <a:r>
              <a:rPr lang="hu-HU">
                <a:effectLst/>
                <a:ea typeface="CMSY10"/>
                <a:cs typeface="Cambria Math" panose="02040503050406030204" pitchFamily="18" charset="0"/>
              </a:rPr>
              <a:t>∈</a:t>
            </a:r>
            <a:r>
              <a:rPr lang="hu-HU">
                <a:effectLst/>
                <a:ea typeface="CMSY10"/>
                <a:cs typeface="Times New Roman" panose="02020603050405020304" pitchFamily="18" charset="0"/>
              </a:rPr>
              <a:t> </a:t>
            </a:r>
            <a:r>
              <a:rPr lang="hu-HU">
                <a:effectLst/>
                <a:ea typeface="CMR12"/>
                <a:cs typeface="Times New Roman" panose="02020603050405020304" pitchFamily="18" charset="0"/>
              </a:rPr>
              <a:t>Θ(1)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38A6EAA-8B4E-497A-7A1B-F355136FD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452" y="1361419"/>
            <a:ext cx="4061812" cy="149364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09DED90F-6CB6-8566-33AB-ACE62AF40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452" y="2981073"/>
            <a:ext cx="4031329" cy="1958510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9F42E26F-167A-ADD2-0F16-192757EF62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7667" y="2910270"/>
            <a:ext cx="4160881" cy="1996613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1385EABC-2120-E941-3C71-24A282AF83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3666" y="1366283"/>
            <a:ext cx="4008467" cy="108975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41205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264A977-B904-F1B4-6CE8-4C6E001D7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3308" y="906511"/>
            <a:ext cx="10018713" cy="1026268"/>
          </a:xfrm>
        </p:spPr>
        <p:txBody>
          <a:bodyPr/>
          <a:lstStyle/>
          <a:p>
            <a:r>
              <a:rPr lang="hu-HU"/>
              <a:t>Hasító táblák (</a:t>
            </a:r>
            <a:r>
              <a:rPr lang="hu-HU" err="1"/>
              <a:t>hash</a:t>
            </a:r>
            <a:r>
              <a:rPr lang="hu-HU"/>
              <a:t> </a:t>
            </a:r>
            <a:r>
              <a:rPr lang="hu-HU" err="1"/>
              <a:t>tables</a:t>
            </a:r>
            <a:r>
              <a:rPr lang="hu-HU"/>
              <a:t>)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067605A-F5F8-D4FC-0E49-DEF9DD5A4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306319"/>
            <a:ext cx="10018713" cy="4172301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78"/>
              </a:rPr>
              <a:t>Hasító függvény 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(</a:t>
            </a:r>
            <a:r>
              <a:rPr lang="hu-HU" err="1">
                <a:effectLst/>
                <a:ea typeface="Calibri" panose="020F0502020204030204" pitchFamily="34" charset="0"/>
                <a:cs typeface="F29"/>
              </a:rPr>
              <a:t>hash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 </a:t>
            </a:r>
            <a:r>
              <a:rPr lang="hu-HU" err="1">
                <a:effectLst/>
                <a:ea typeface="Calibri" panose="020F0502020204030204" pitchFamily="34" charset="0"/>
                <a:cs typeface="F29"/>
              </a:rPr>
              <a:t>function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): 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CMSY10"/>
              </a:rPr>
              <a:t>|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>
                <a:effectLst/>
                <a:ea typeface="Calibri" panose="020F0502020204030204" pitchFamily="34" charset="0"/>
                <a:cs typeface="CMSY10"/>
              </a:rPr>
              <a:t>| 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&gt;&gt;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 -&gt; a direkt címzés nem alkalmazható, vagy nem gazdaságos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i="1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: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en-US">
                <a:effectLst/>
                <a:ea typeface="Calibri" panose="020F0502020204030204" pitchFamily="34" charset="0"/>
                <a:cs typeface="CMSY10"/>
              </a:rPr>
              <a:t>→ 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0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..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m</a:t>
            </a:r>
            <a:r>
              <a:rPr lang="en-US">
                <a:effectLst/>
                <a:ea typeface="Calibri" panose="020F0502020204030204" pitchFamily="34" charset="0"/>
                <a:cs typeface="CMSY10"/>
              </a:rPr>
              <a:t>−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1) 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hasító függvényt alkalmazunk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CMSY10"/>
              </a:rPr>
              <a:t>|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>
                <a:effectLst/>
                <a:ea typeface="Calibri" panose="020F0502020204030204" pitchFamily="34" charset="0"/>
                <a:cs typeface="CMSY10"/>
              </a:rPr>
              <a:t>| 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&gt;&gt;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m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 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A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kulcsú adatot a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T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[0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..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m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hasító tábla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T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[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)] 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résében tároljuk (próbáljuk tárolni). 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a hasító táblában minden rekord kulcsa egyedi </a:t>
            </a:r>
            <a:endParaRPr lang="hu-HU" sz="20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  <a:buFontTx/>
              <a:buChar char="‼"/>
            </a:pPr>
            <a:r>
              <a:rPr lang="hu-HU" sz="2200" b="1">
                <a:solidFill>
                  <a:schemeClr val="accent1"/>
                </a:solidFill>
                <a:effectLst/>
                <a:ea typeface="Calibri" panose="020F0502020204030204" pitchFamily="34" charset="0"/>
                <a:cs typeface="F29"/>
              </a:rPr>
              <a:t>Hasító függvény egyszerű egyenletes hasítás legyen</a:t>
            </a:r>
            <a:endParaRPr lang="hu-HU" sz="2200" b="1">
              <a:solidFill>
                <a:schemeClr val="accent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279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14299-44E0-377A-646C-68606C149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0BAEDAE-C54B-DC46-8826-A4C3618E7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788" y="886191"/>
            <a:ext cx="10018713" cy="1026268"/>
          </a:xfrm>
        </p:spPr>
        <p:txBody>
          <a:bodyPr/>
          <a:lstStyle/>
          <a:p>
            <a:r>
              <a:rPr lang="hu-HU"/>
              <a:t>Hasító táblák (</a:t>
            </a:r>
            <a:r>
              <a:rPr lang="hu-HU" err="1"/>
              <a:t>hash</a:t>
            </a:r>
            <a:r>
              <a:rPr lang="hu-HU"/>
              <a:t> </a:t>
            </a:r>
            <a:r>
              <a:rPr lang="hu-HU" err="1"/>
              <a:t>tables</a:t>
            </a:r>
            <a:r>
              <a:rPr lang="hu-HU"/>
              <a:t>)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8B5D46D-BB62-277B-126D-5AF895CF7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4150" y="2296159"/>
            <a:ext cx="10018713" cy="3958941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A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: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en-US">
                <a:effectLst/>
                <a:ea typeface="Calibri" panose="020F0502020204030204" pitchFamily="34" charset="0"/>
                <a:cs typeface="CMSY10"/>
              </a:rPr>
              <a:t>→ 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[0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..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m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függvény </a:t>
            </a:r>
            <a:r>
              <a:rPr lang="hu-HU" b="1">
                <a:effectLst/>
                <a:ea typeface="Calibri" panose="020F0502020204030204" pitchFamily="34" charset="0"/>
                <a:cs typeface="F78"/>
              </a:rPr>
              <a:t>egyszerű</a:t>
            </a:r>
            <a:r>
              <a:rPr lang="hu-HU">
                <a:effectLst/>
                <a:ea typeface="Calibri" panose="020F0502020204030204" pitchFamily="34" charset="0"/>
                <a:cs typeface="F78"/>
              </a:rPr>
              <a:t> </a:t>
            </a:r>
            <a:r>
              <a:rPr lang="hu-HU" b="1">
                <a:effectLst/>
                <a:ea typeface="Calibri" panose="020F0502020204030204" pitchFamily="34" charset="0"/>
                <a:cs typeface="F78"/>
              </a:rPr>
              <a:t>egyenletes hasítás</a:t>
            </a:r>
          </a:p>
          <a:p>
            <a:pPr lvl="1"/>
            <a:r>
              <a:rPr lang="hu-HU" b="0" i="0" u="none" strike="noStrike" baseline="0" err="1"/>
              <a:t>simple</a:t>
            </a:r>
            <a:r>
              <a:rPr lang="hu-HU" b="0" i="0" u="none" strike="noStrike" baseline="0"/>
              <a:t> uniform </a:t>
            </a:r>
            <a:r>
              <a:rPr lang="hu-HU" b="0" i="0" u="none" strike="noStrike" baseline="0" err="1"/>
              <a:t>hashing</a:t>
            </a:r>
            <a:endParaRPr lang="hu-HU" b="0" i="0" u="none" strike="noStrike" baseline="0"/>
          </a:p>
          <a:p>
            <a:pPr lvl="1"/>
            <a:r>
              <a:rPr lang="hu-HU">
                <a:effectLst/>
                <a:ea typeface="Calibri" panose="020F0502020204030204" pitchFamily="34" charset="0"/>
                <a:cs typeface="F29"/>
              </a:rPr>
              <a:t>a kulcsokat a rések között egyenletesen szórja szét</a:t>
            </a:r>
          </a:p>
          <a:p>
            <a:pPr lvl="2"/>
            <a:r>
              <a:rPr lang="hu-HU">
                <a:effectLst/>
                <a:ea typeface="Calibri" panose="020F0502020204030204" pitchFamily="34" charset="0"/>
                <a:cs typeface="F29"/>
              </a:rPr>
              <a:t>hozzávetőleg ugyanannyi kulcsot képez le az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m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rés mindegyikére.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78"/>
              </a:rPr>
              <a:t>Kulcsütközések 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(</a:t>
            </a:r>
            <a:r>
              <a:rPr lang="hu-HU" err="1">
                <a:effectLst/>
                <a:ea typeface="Calibri" panose="020F0502020204030204" pitchFamily="34" charset="0"/>
                <a:cs typeface="F29"/>
              </a:rPr>
              <a:t>key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 </a:t>
            </a:r>
            <a:r>
              <a:rPr lang="hu-HU" err="1">
                <a:effectLst/>
                <a:ea typeface="Calibri" panose="020F0502020204030204" pitchFamily="34" charset="0"/>
                <a:cs typeface="F29"/>
              </a:rPr>
              <a:t>collisions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): 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Ha két adat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 baseline="-25000">
                <a:effectLst/>
                <a:ea typeface="Calibri" panose="020F0502020204030204" pitchFamily="34" charset="0"/>
                <a:cs typeface="CMR8"/>
              </a:rPr>
              <a:t>1</a:t>
            </a:r>
            <a:r>
              <a:rPr lang="hu-HU" baseline="-25000">
                <a:ea typeface="Calibri" panose="020F0502020204030204" pitchFamily="34" charset="0"/>
                <a:cs typeface="CMR8"/>
              </a:rPr>
              <a:t> </a:t>
            </a:r>
            <a:r>
              <a:rPr lang="hu-HU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≠</a:t>
            </a:r>
            <a:r>
              <a:rPr lang="hu-HU" sz="180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 baseline="-25000">
                <a:effectLst/>
                <a:ea typeface="Calibri" panose="020F0502020204030204" pitchFamily="34" charset="0"/>
                <a:cs typeface="CMR8"/>
              </a:rPr>
              <a:t>2</a:t>
            </a:r>
            <a:r>
              <a:rPr lang="hu-HU">
                <a:effectLst/>
                <a:ea typeface="Calibri" panose="020F0502020204030204" pitchFamily="34" charset="0"/>
                <a:cs typeface="CMR8"/>
              </a:rPr>
              <a:t> 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kulcsára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 baseline="-25000">
                <a:effectLst/>
                <a:ea typeface="Calibri" panose="020F0502020204030204" pitchFamily="34" charset="0"/>
                <a:cs typeface="CMR8"/>
              </a:rPr>
              <a:t>1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) =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 baseline="-25000">
                <a:effectLst/>
                <a:ea typeface="Calibri" panose="020F0502020204030204" pitchFamily="34" charset="0"/>
                <a:cs typeface="CMR8"/>
              </a:rPr>
              <a:t>2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)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CMSY10"/>
              </a:rPr>
              <a:t>|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>
                <a:effectLst/>
                <a:ea typeface="Calibri" panose="020F0502020204030204" pitchFamily="34" charset="0"/>
                <a:cs typeface="CMSY10"/>
              </a:rPr>
              <a:t>| 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&gt;&gt;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m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 -&gt; kulcsütközés szinte biztosan előfordul -&gt; kezelni kell</a:t>
            </a:r>
            <a:endParaRPr lang="hu-HU" sz="2400"/>
          </a:p>
        </p:txBody>
      </p:sp>
    </p:spTree>
    <p:extLst>
      <p:ext uri="{BB962C8B-B14F-4D97-AF65-F5344CB8AC3E}">
        <p14:creationId xmlns:p14="http://schemas.microsoft.com/office/powerpoint/2010/main" val="2102880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Táblázat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996105"/>
              </p:ext>
            </p:extLst>
          </p:nvPr>
        </p:nvGraphicFramePr>
        <p:xfrm>
          <a:off x="2475437" y="6035250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graphicFrame>
        <p:nvGraphicFramePr>
          <p:cNvPr id="92" name="Táblázat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034308"/>
              </p:ext>
            </p:extLst>
          </p:nvPr>
        </p:nvGraphicFramePr>
        <p:xfrm>
          <a:off x="2473640" y="6030374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357426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graphicFrame>
        <p:nvGraphicFramePr>
          <p:cNvPr id="27" name="Táblázat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883278"/>
              </p:ext>
            </p:extLst>
          </p:nvPr>
        </p:nvGraphicFramePr>
        <p:xfrm>
          <a:off x="2473640" y="5132955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graphicFrame>
        <p:nvGraphicFramePr>
          <p:cNvPr id="31" name="Táblázat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2997544"/>
              </p:ext>
            </p:extLst>
          </p:nvPr>
        </p:nvGraphicFramePr>
        <p:xfrm>
          <a:off x="2465942" y="5137073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graphicFrame>
        <p:nvGraphicFramePr>
          <p:cNvPr id="86" name="Táblázat 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293300"/>
              </p:ext>
            </p:extLst>
          </p:nvPr>
        </p:nvGraphicFramePr>
        <p:xfrm>
          <a:off x="2467034" y="5142215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graphicFrame>
        <p:nvGraphicFramePr>
          <p:cNvPr id="87" name="Táblázat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825623"/>
              </p:ext>
            </p:extLst>
          </p:nvPr>
        </p:nvGraphicFramePr>
        <p:xfrm>
          <a:off x="2476475" y="5142215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graphicFrame>
        <p:nvGraphicFramePr>
          <p:cNvPr id="37" name="Táblázat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345742"/>
              </p:ext>
            </p:extLst>
          </p:nvPr>
        </p:nvGraphicFramePr>
        <p:xfrm>
          <a:off x="2488039" y="3953140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graphicFrame>
        <p:nvGraphicFramePr>
          <p:cNvPr id="88" name="Táblázat 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747258"/>
              </p:ext>
            </p:extLst>
          </p:nvPr>
        </p:nvGraphicFramePr>
        <p:xfrm>
          <a:off x="2485109" y="3953989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graphicFrame>
        <p:nvGraphicFramePr>
          <p:cNvPr id="90" name="Táblázat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1931392"/>
              </p:ext>
            </p:extLst>
          </p:nvPr>
        </p:nvGraphicFramePr>
        <p:xfrm>
          <a:off x="2477613" y="3968249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677334" y="1474784"/>
            <a:ext cx="4501581" cy="2308941"/>
          </a:xfrm>
        </p:spPr>
        <p:txBody>
          <a:bodyPr>
            <a:normAutofit fontScale="92500" lnSpcReduction="20000"/>
          </a:bodyPr>
          <a:lstStyle/>
          <a:p>
            <a:r>
              <a:rPr lang="hu-HU" sz="2400">
                <a:latin typeface="F29"/>
                <a:ea typeface="Calibri" panose="020F0502020204030204" pitchFamily="34" charset="0"/>
                <a:cs typeface="F29"/>
              </a:rPr>
              <a:t>Feltesszük, hogy a hasító tábla rései egyszerű láncolt listákat (S1L) azonosítanak</a:t>
            </a:r>
            <a:endParaRPr lang="hu-HU" sz="2200"/>
          </a:p>
          <a:p>
            <a:r>
              <a:rPr lang="hu-HU" sz="2200" err="1"/>
              <a:t>Hashtábla</a:t>
            </a:r>
            <a:r>
              <a:rPr lang="hu-HU" sz="2200"/>
              <a:t> </a:t>
            </a:r>
            <a:r>
              <a:rPr lang="hu-HU" sz="2200" i="1"/>
              <a:t>T</a:t>
            </a:r>
            <a:r>
              <a:rPr lang="hu-HU" sz="2200"/>
              <a:t>[</a:t>
            </a:r>
            <a:r>
              <a:rPr lang="hu-HU" sz="2200" i="1"/>
              <a:t>i</a:t>
            </a:r>
            <a:r>
              <a:rPr lang="hu-HU" sz="2200"/>
              <a:t>]</a:t>
            </a:r>
            <a:r>
              <a:rPr lang="hu-HU" sz="2200" i="1"/>
              <a:t> </a:t>
            </a:r>
            <a:r>
              <a:rPr lang="hu-HU" sz="2200"/>
              <a:t>eleme: </a:t>
            </a:r>
            <a:r>
              <a:rPr lang="hu-HU" sz="2200" i="1"/>
              <a:t>i. </a:t>
            </a:r>
            <a:r>
              <a:rPr lang="hu-HU" sz="2200"/>
              <a:t>láncolt lista első elemére mutató pointer</a:t>
            </a:r>
          </a:p>
          <a:p>
            <a:pPr lvl="1"/>
            <a:r>
              <a:rPr lang="hu-HU" sz="1900"/>
              <a:t>Elemei: </a:t>
            </a:r>
            <a:r>
              <a:rPr lang="hu-HU" sz="1900" i="1"/>
              <a:t>h(k)</a:t>
            </a:r>
            <a:r>
              <a:rPr lang="hu-HU" sz="1900"/>
              <a:t>=</a:t>
            </a:r>
            <a:r>
              <a:rPr lang="hu-HU" sz="1900" i="1"/>
              <a:t>i</a:t>
            </a:r>
          </a:p>
          <a:p>
            <a:r>
              <a:rPr lang="hu-HU" sz="2200"/>
              <a:t>Beszúrás: megfelelő lista elejére</a:t>
            </a:r>
            <a:endParaRPr lang="hu-HU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09774" y="81752"/>
            <a:ext cx="10926087" cy="1163241"/>
          </a:xfrm>
        </p:spPr>
        <p:txBody>
          <a:bodyPr>
            <a:normAutofit fontScale="90000"/>
          </a:bodyPr>
          <a:lstStyle/>
          <a:p>
            <a:pPr algn="l"/>
            <a:r>
              <a:rPr lang="hu-HU"/>
              <a:t>Kulcsütközés feloldása láncolással </a:t>
            </a:r>
            <a:r>
              <a:rPr lang="hu-HU" sz="2200"/>
              <a:t>(</a:t>
            </a:r>
            <a:r>
              <a:rPr lang="hu-HU" sz="2200" err="1"/>
              <a:t>collision</a:t>
            </a:r>
            <a:r>
              <a:rPr lang="hu-HU" sz="2200"/>
              <a:t> </a:t>
            </a:r>
            <a:r>
              <a:rPr lang="hu-HU" sz="2200" err="1"/>
              <a:t>resolution</a:t>
            </a:r>
            <a:r>
              <a:rPr lang="hu-HU" sz="2200"/>
              <a:t> </a:t>
            </a:r>
            <a:r>
              <a:rPr lang="hu-HU" sz="2200" err="1"/>
              <a:t>by</a:t>
            </a:r>
            <a:r>
              <a:rPr lang="hu-HU" sz="2200"/>
              <a:t> </a:t>
            </a:r>
            <a:r>
              <a:rPr lang="hu-HU" sz="2200" err="1"/>
              <a:t>chaining</a:t>
            </a:r>
            <a:r>
              <a:rPr lang="hu-HU" sz="2200"/>
              <a:t>)</a:t>
            </a:r>
            <a:r>
              <a:rPr lang="hu-HU" sz="2700"/>
              <a:t> </a:t>
            </a:r>
            <a:br>
              <a:rPr lang="hu-HU"/>
            </a:br>
            <a:r>
              <a:rPr lang="hu-HU"/>
              <a:t>		Láncolt/vödrös </a:t>
            </a:r>
            <a:r>
              <a:rPr lang="hu-HU" err="1"/>
              <a:t>hashelés</a:t>
            </a:r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7077254" y="1345255"/>
            <a:ext cx="3846233" cy="2626190"/>
          </a:xfrm>
        </p:spPr>
        <p:txBody>
          <a:bodyPr>
            <a:normAutofit fontScale="92500" lnSpcReduction="20000"/>
          </a:bodyPr>
          <a:lstStyle/>
          <a:p>
            <a:r>
              <a:rPr lang="hu-HU" sz="2200"/>
              <a:t>Példa:</a:t>
            </a:r>
          </a:p>
          <a:p>
            <a:pPr lvl="1"/>
            <a:r>
              <a:rPr lang="hu-HU" sz="1900" i="1"/>
              <a:t>m =7</a:t>
            </a:r>
          </a:p>
          <a:p>
            <a:pPr lvl="1"/>
            <a:r>
              <a:rPr lang="hu-HU" sz="1900" i="1"/>
              <a:t>h: </a:t>
            </a:r>
            <a:r>
              <a:rPr lang="en-US" sz="1900"/>
              <a:t>N → 0..6, h(k) = k mod 7 </a:t>
            </a:r>
            <a:endParaRPr lang="hu-HU" sz="1900"/>
          </a:p>
          <a:p>
            <a:pPr lvl="1"/>
            <a:r>
              <a:rPr lang="en-US" sz="1900"/>
              <a:t>A </a:t>
            </a:r>
            <a:r>
              <a:rPr lang="hu-HU" sz="1900"/>
              <a:t>beszúrt</a:t>
            </a:r>
            <a:r>
              <a:rPr lang="en-US" sz="1900"/>
              <a:t> </a:t>
            </a:r>
            <a:r>
              <a:rPr lang="en-US" sz="1900" err="1"/>
              <a:t>elemek</a:t>
            </a:r>
            <a:r>
              <a:rPr lang="en-US" sz="1900"/>
              <a:t> </a:t>
            </a:r>
            <a:r>
              <a:rPr lang="hu-HU" sz="1900"/>
              <a:t>:</a:t>
            </a:r>
            <a:br>
              <a:rPr lang="hu-HU" sz="1900"/>
            </a:br>
            <a:r>
              <a:rPr lang="en-US" sz="1900"/>
              <a:t>3, 21, 73, 8, 24, 35,</a:t>
            </a:r>
            <a:r>
              <a:rPr lang="hu-HU" sz="1900"/>
              <a:t> </a:t>
            </a:r>
            <a:br>
              <a:rPr lang="hu-HU" sz="1900"/>
            </a:br>
            <a:r>
              <a:rPr lang="en-US" sz="1900"/>
              <a:t>26, 14, 5, 10, 18</a:t>
            </a:r>
            <a:endParaRPr lang="hu-HU" sz="1900" i="1"/>
          </a:p>
        </p:txBody>
      </p:sp>
      <p:graphicFrame>
        <p:nvGraphicFramePr>
          <p:cNvPr id="6" name="Táblázat 5"/>
          <p:cNvGraphicFramePr>
            <a:graphicFrameLocks noGrp="1"/>
          </p:cNvGraphicFramePr>
          <p:nvPr/>
        </p:nvGraphicFramePr>
        <p:xfrm>
          <a:off x="1448554" y="3972960"/>
          <a:ext cx="542663" cy="272044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2663">
                  <a:extLst>
                    <a:ext uri="{9D8B030D-6E8A-4147-A177-3AD203B41FA5}">
                      <a16:colId xmlns:a16="http://schemas.microsoft.com/office/drawing/2014/main" val="2945563909"/>
                    </a:ext>
                  </a:extLst>
                </a:gridCol>
              </a:tblGrid>
              <a:tr h="388635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753141"/>
                  </a:ext>
                </a:extLst>
              </a:tr>
              <a:tr h="388635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725146"/>
                  </a:ext>
                </a:extLst>
              </a:tr>
              <a:tr h="388635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638970"/>
                  </a:ext>
                </a:extLst>
              </a:tr>
              <a:tr h="388635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7173"/>
                  </a:ext>
                </a:extLst>
              </a:tr>
              <a:tr h="388635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044377"/>
                  </a:ext>
                </a:extLst>
              </a:tr>
              <a:tr h="388635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396801"/>
                  </a:ext>
                </a:extLst>
              </a:tr>
              <a:tr h="388635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264293"/>
                  </a:ext>
                </a:extLst>
              </a:tr>
            </a:tbl>
          </a:graphicData>
        </a:graphic>
      </p:graphicFrame>
      <p:graphicFrame>
        <p:nvGraphicFramePr>
          <p:cNvPr id="28" name="Táblázat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395168"/>
              </p:ext>
            </p:extLst>
          </p:nvPr>
        </p:nvGraphicFramePr>
        <p:xfrm>
          <a:off x="2485109" y="5568365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 b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cxnSp>
        <p:nvCxnSpPr>
          <p:cNvPr id="53" name="Egyenes összekötő 52"/>
          <p:cNvCxnSpPr/>
          <p:nvPr/>
        </p:nvCxnSpPr>
        <p:spPr>
          <a:xfrm flipH="1">
            <a:off x="2864749" y="5550773"/>
            <a:ext cx="377273" cy="3657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Egyenes összekötő 53"/>
          <p:cNvCxnSpPr/>
          <p:nvPr/>
        </p:nvCxnSpPr>
        <p:spPr>
          <a:xfrm flipH="1">
            <a:off x="2845491" y="5137073"/>
            <a:ext cx="377273" cy="3657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áblázat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770894"/>
              </p:ext>
            </p:extLst>
          </p:nvPr>
        </p:nvGraphicFramePr>
        <p:xfrm>
          <a:off x="2465942" y="4412614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cxnSp>
        <p:nvCxnSpPr>
          <p:cNvPr id="42" name="Egyenes összekötő 41"/>
          <p:cNvCxnSpPr>
            <a:endCxn id="41" idx="2"/>
          </p:cNvCxnSpPr>
          <p:nvPr/>
        </p:nvCxnSpPr>
        <p:spPr>
          <a:xfrm flipH="1">
            <a:off x="2844353" y="4412614"/>
            <a:ext cx="377273" cy="3657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Egyenes összekötő 90"/>
          <p:cNvCxnSpPr/>
          <p:nvPr/>
        </p:nvCxnSpPr>
        <p:spPr>
          <a:xfrm flipH="1">
            <a:off x="2857162" y="3968249"/>
            <a:ext cx="377273" cy="3657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Egyenes összekötő 92"/>
          <p:cNvCxnSpPr/>
          <p:nvPr/>
        </p:nvCxnSpPr>
        <p:spPr>
          <a:xfrm flipH="1">
            <a:off x="2864748" y="6043411"/>
            <a:ext cx="377273" cy="3657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nyíllal 9"/>
          <p:cNvCxnSpPr/>
          <p:nvPr/>
        </p:nvCxnSpPr>
        <p:spPr>
          <a:xfrm flipV="1">
            <a:off x="1967342" y="5349886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gyenes összekötő nyíllal 12"/>
          <p:cNvCxnSpPr/>
          <p:nvPr/>
        </p:nvCxnSpPr>
        <p:spPr>
          <a:xfrm flipV="1">
            <a:off x="1964294" y="4569598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gyenes összekötő nyíllal 13"/>
          <p:cNvCxnSpPr/>
          <p:nvPr/>
        </p:nvCxnSpPr>
        <p:spPr>
          <a:xfrm flipV="1">
            <a:off x="1967342" y="5743078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nyíllal 14"/>
          <p:cNvCxnSpPr/>
          <p:nvPr/>
        </p:nvCxnSpPr>
        <p:spPr>
          <a:xfrm flipV="1">
            <a:off x="1967342" y="6136270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nyíllal 15"/>
          <p:cNvCxnSpPr/>
          <p:nvPr/>
        </p:nvCxnSpPr>
        <p:spPr>
          <a:xfrm flipV="1">
            <a:off x="1967342" y="4133734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gyenes összekötő nyíllal 24"/>
          <p:cNvCxnSpPr/>
          <p:nvPr/>
        </p:nvCxnSpPr>
        <p:spPr>
          <a:xfrm flipV="1">
            <a:off x="3155031" y="4138306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gyenes összekötő nyíllal 45"/>
          <p:cNvCxnSpPr/>
          <p:nvPr/>
        </p:nvCxnSpPr>
        <p:spPr>
          <a:xfrm flipV="1">
            <a:off x="4287206" y="4133737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gyenes összekötő nyíllal 46"/>
          <p:cNvCxnSpPr/>
          <p:nvPr/>
        </p:nvCxnSpPr>
        <p:spPr>
          <a:xfrm flipV="1">
            <a:off x="3094310" y="5327026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gyenes összekötő nyíllal 47"/>
          <p:cNvCxnSpPr/>
          <p:nvPr/>
        </p:nvCxnSpPr>
        <p:spPr>
          <a:xfrm flipV="1">
            <a:off x="3088997" y="6114802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gyenes összekötő nyíllal 48"/>
          <p:cNvCxnSpPr/>
          <p:nvPr/>
        </p:nvCxnSpPr>
        <p:spPr>
          <a:xfrm flipV="1">
            <a:off x="5459024" y="5352172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gyenes összekötő nyíllal 49"/>
          <p:cNvCxnSpPr/>
          <p:nvPr/>
        </p:nvCxnSpPr>
        <p:spPr>
          <a:xfrm flipV="1">
            <a:off x="4249210" y="5345314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artalom helye 2">
            <a:extLst>
              <a:ext uri="{FF2B5EF4-FFF2-40B4-BE49-F238E27FC236}">
                <a16:creationId xmlns:a16="http://schemas.microsoft.com/office/drawing/2014/main" id="{3D06E61B-4F95-9114-168C-D720FBF416CE}"/>
              </a:ext>
            </a:extLst>
          </p:cNvPr>
          <p:cNvSpPr txBox="1">
            <a:spLocks/>
          </p:cNvSpPr>
          <p:nvPr/>
        </p:nvSpPr>
        <p:spPr>
          <a:xfrm>
            <a:off x="4906676" y="1332177"/>
            <a:ext cx="2910205" cy="24874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</a:pPr>
            <a:r>
              <a:rPr lang="hu-HU" i="1">
                <a:ea typeface="Calibri" panose="020F0502020204030204" pitchFamily="34" charset="0"/>
                <a:cs typeface="CMMI12"/>
              </a:rPr>
              <a:t>T</a:t>
            </a:r>
            <a:r>
              <a:rPr lang="hu-HU">
                <a:ea typeface="Calibri" panose="020F0502020204030204" pitchFamily="34" charset="0"/>
                <a:cs typeface="F29"/>
              </a:rPr>
              <a:t>:E1*</a:t>
            </a:r>
            <a:r>
              <a:rPr lang="hu-HU">
                <a:ea typeface="Calibri" panose="020F0502020204030204" pitchFamily="34" charset="0"/>
                <a:cs typeface="CMR12"/>
              </a:rPr>
              <a:t>[</a:t>
            </a:r>
            <a:r>
              <a:rPr lang="hu-HU" i="1">
                <a:ea typeface="Calibri" panose="020F0502020204030204" pitchFamily="34" charset="0"/>
                <a:cs typeface="CMMI12"/>
              </a:rPr>
              <a:t>m</a:t>
            </a:r>
            <a:r>
              <a:rPr lang="hu-HU">
                <a:ea typeface="Calibri" panose="020F0502020204030204" pitchFamily="34" charset="0"/>
                <a:cs typeface="CMR12"/>
              </a:rPr>
              <a:t>]</a:t>
            </a:r>
            <a:endParaRPr lang="hu-HU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hu-HU">
                <a:ea typeface="Calibri" panose="020F0502020204030204" pitchFamily="34" charset="0"/>
                <a:cs typeface="F29"/>
              </a:rPr>
              <a:t>listaelemek:</a:t>
            </a:r>
            <a:endParaRPr lang="hu-HU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spcAft>
                <a:spcPts val="800"/>
              </a:spcAft>
            </a:pPr>
            <a:r>
              <a:rPr lang="hu-HU" sz="1800" i="1" err="1">
                <a:ea typeface="Calibri" panose="020F0502020204030204" pitchFamily="34" charset="0"/>
                <a:cs typeface="CMMI12"/>
              </a:rPr>
              <a:t>key</a:t>
            </a:r>
            <a:r>
              <a:rPr lang="hu-HU" sz="1800">
                <a:ea typeface="Calibri" panose="020F0502020204030204" pitchFamily="34" charset="0"/>
                <a:cs typeface="CMMI12"/>
              </a:rPr>
              <a:t> </a:t>
            </a:r>
            <a:endParaRPr lang="hu-HU" sz="18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spcAft>
                <a:spcPts val="800"/>
              </a:spcAft>
            </a:pPr>
            <a:r>
              <a:rPr lang="hu-HU" sz="1800" i="1" err="1">
                <a:ea typeface="Calibri" panose="020F0502020204030204" pitchFamily="34" charset="0"/>
                <a:cs typeface="CMMI12"/>
              </a:rPr>
              <a:t>next</a:t>
            </a:r>
            <a:r>
              <a:rPr lang="hu-HU" sz="1800">
                <a:ea typeface="Calibri" panose="020F0502020204030204" pitchFamily="34" charset="0"/>
                <a:cs typeface="CMMI12"/>
              </a:rPr>
              <a:t> </a:t>
            </a:r>
            <a:endParaRPr lang="hu-HU" sz="18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spcAft>
                <a:spcPts val="800"/>
              </a:spcAft>
            </a:pPr>
            <a:r>
              <a:rPr lang="hu-HU" sz="1800">
                <a:ea typeface="Calibri" panose="020F0502020204030204" pitchFamily="34" charset="0"/>
                <a:cs typeface="F29"/>
              </a:rPr>
              <a:t>járulékos mezők</a:t>
            </a:r>
            <a:br>
              <a:rPr lang="hu-HU" sz="1800">
                <a:ea typeface="Calibri" panose="020F0502020204030204" pitchFamily="34" charset="0"/>
                <a:cs typeface="F29"/>
              </a:rPr>
            </a:br>
            <a:r>
              <a:rPr lang="hu-HU" sz="1800">
                <a:ea typeface="Calibri" panose="020F0502020204030204" pitchFamily="34" charset="0"/>
                <a:cs typeface="F29"/>
              </a:rPr>
              <a:t>(</a:t>
            </a:r>
            <a:r>
              <a:rPr lang="hu-HU" sz="1800" err="1">
                <a:ea typeface="Calibri" panose="020F0502020204030204" pitchFamily="34" charset="0"/>
                <a:cs typeface="F29"/>
              </a:rPr>
              <a:t>satellite</a:t>
            </a:r>
            <a:r>
              <a:rPr lang="hu-HU" sz="1800">
                <a:ea typeface="Calibri" panose="020F0502020204030204" pitchFamily="34" charset="0"/>
                <a:cs typeface="F29"/>
              </a:rPr>
              <a:t> </a:t>
            </a:r>
            <a:r>
              <a:rPr lang="hu-HU" sz="1800" err="1">
                <a:ea typeface="Calibri" panose="020F0502020204030204" pitchFamily="34" charset="0"/>
                <a:cs typeface="F29"/>
              </a:rPr>
              <a:t>data</a:t>
            </a:r>
            <a:r>
              <a:rPr lang="hu-HU" sz="1800">
                <a:ea typeface="Calibri" panose="020F0502020204030204" pitchFamily="34" charset="0"/>
                <a:cs typeface="F29"/>
              </a:rPr>
              <a:t>)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F1AFE3AB-CE70-B4B0-047C-CDB2F9EC6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1389" y="676450"/>
            <a:ext cx="2932541" cy="116324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1D53350F-56CA-4DCF-E7B8-A51B9B7E8536}"/>
              </a:ext>
            </a:extLst>
          </p:cNvPr>
          <p:cNvSpPr txBox="1"/>
          <p:nvPr/>
        </p:nvSpPr>
        <p:spPr>
          <a:xfrm>
            <a:off x="570785" y="4001209"/>
            <a:ext cx="766877" cy="29700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defTabSz="265113">
              <a:buNone/>
            </a:pPr>
            <a:r>
              <a:rPr lang="hu-HU" sz="1200" i="1"/>
              <a:t>	</a:t>
            </a:r>
            <a:r>
              <a:rPr lang="hu-HU" sz="1300" i="1"/>
              <a:t>T</a:t>
            </a:r>
            <a:r>
              <a:rPr lang="hu-HU" sz="1300"/>
              <a:t> [0]</a:t>
            </a:r>
          </a:p>
          <a:p>
            <a:pPr marL="265113" lvl="1" indent="0">
              <a:buNone/>
            </a:pPr>
            <a:br>
              <a:rPr lang="hu-HU" sz="1300" i="1"/>
            </a:br>
            <a:r>
              <a:rPr lang="hu-HU" sz="1300" i="1"/>
              <a:t>T</a:t>
            </a:r>
            <a:r>
              <a:rPr lang="hu-HU" sz="1300"/>
              <a:t> [1]</a:t>
            </a:r>
          </a:p>
          <a:p>
            <a:pPr marL="265113" lvl="1" indent="0">
              <a:buNone/>
            </a:pPr>
            <a:br>
              <a:rPr lang="hu-HU" sz="1300" i="1"/>
            </a:br>
            <a:r>
              <a:rPr lang="hu-HU" sz="1300" i="1"/>
              <a:t>T</a:t>
            </a:r>
            <a:r>
              <a:rPr lang="hu-HU" sz="1300"/>
              <a:t> [2]</a:t>
            </a:r>
          </a:p>
          <a:p>
            <a:pPr marL="265113" lvl="1" indent="0">
              <a:buNone/>
            </a:pPr>
            <a:br>
              <a:rPr lang="hu-HU" sz="1300" i="1"/>
            </a:br>
            <a:r>
              <a:rPr lang="hu-HU" sz="1300" i="1"/>
              <a:t>T</a:t>
            </a:r>
            <a:r>
              <a:rPr lang="hu-HU" sz="1300"/>
              <a:t> [3]</a:t>
            </a:r>
          </a:p>
          <a:p>
            <a:pPr marL="265113" lvl="1" indent="0">
              <a:buNone/>
            </a:pPr>
            <a:br>
              <a:rPr lang="hu-HU" sz="1300" i="1"/>
            </a:br>
            <a:r>
              <a:rPr lang="hu-HU" sz="1300" i="1"/>
              <a:t>T</a:t>
            </a:r>
            <a:r>
              <a:rPr lang="hu-HU" sz="1300"/>
              <a:t> [4]</a:t>
            </a:r>
          </a:p>
          <a:p>
            <a:pPr marL="265113" lvl="1" indent="0">
              <a:buNone/>
            </a:pPr>
            <a:br>
              <a:rPr lang="hu-HU" sz="1300" i="1"/>
            </a:br>
            <a:r>
              <a:rPr lang="hu-HU" sz="1300" i="1"/>
              <a:t>T</a:t>
            </a:r>
            <a:r>
              <a:rPr lang="hu-HU" sz="1300"/>
              <a:t> [5]</a:t>
            </a:r>
          </a:p>
          <a:p>
            <a:pPr marL="265113" lvl="1" indent="0">
              <a:buNone/>
            </a:pPr>
            <a:br>
              <a:rPr lang="hu-HU" sz="1300" i="1"/>
            </a:br>
            <a:r>
              <a:rPr lang="hu-HU" sz="1300" i="1"/>
              <a:t>T</a:t>
            </a:r>
            <a:r>
              <a:rPr lang="hu-HU" sz="1300"/>
              <a:t> [6]</a:t>
            </a:r>
          </a:p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58095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47 0.00024 L 0.09584 0.00024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09" y="0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4.44444E-6 L 0.09193 -0.00208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96" y="-116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584 0.00024 L 0.18594 -0.00162 " pathEditMode="relative" rAng="0" ptsTypes="AA">
                                      <p:cBhvr>
                                        <p:cTn id="85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05" y="-93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411 0.00024 L 0.18568 0.00162 " pathEditMode="relative" rAng="0" ptsTypes="AA">
                                      <p:cBhvr>
                                        <p:cTn id="87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78" y="69"/>
                                    </p:animMotion>
                                  </p:childTnLst>
                                </p:cTn>
                              </p:par>
                              <p:par>
                                <p:cTn id="8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11111E-6 L 0.09584 0.00023 " pathEditMode="relative" rAng="0" ptsTypes="AA">
                                      <p:cBhvr>
                                        <p:cTn id="89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92" y="0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000"/>
                            </p:stCondLst>
                            <p:childTnLst>
                              <p:par>
                                <p:cTn id="9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47 0.00024 L 0.09584 0.00024 " pathEditMode="relative" rAng="0" ptsTypes="AA">
                                      <p:cBhvr>
                                        <p:cTn id="98" dur="2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09" y="0"/>
                                    </p:animMotion>
                                  </p:childTnLst>
                                </p:cTn>
                              </p:par>
                              <p:par>
                                <p:cTn id="9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4.07407E-6 L 0.09193 -0.00208 " pathEditMode="relative" rAng="0" ptsTypes="AA">
                                      <p:cBhvr>
                                        <p:cTn id="100" dur="2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96" y="-116"/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000"/>
                            </p:stCondLst>
                            <p:childTnLst>
                              <p:par>
                                <p:cTn id="10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7.40741E-7 L 0.09583 0.00023 " pathEditMode="relative" rAng="0" ptsTypes="AA">
                                      <p:cBhvr>
                                        <p:cTn id="117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92" y="0"/>
                                    </p:animMotion>
                                  </p:childTnLst>
                                </p:cTn>
                              </p:par>
                              <p:par>
                                <p:cTn id="11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584 0.00024 L 0.18594 -0.00162 " pathEditMode="relative" rAng="0" ptsTypes="AA">
                                      <p:cBhvr>
                                        <p:cTn id="119" dur="2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05" y="-93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411 0.00024 L 0.18568 0.00162 " pathEditMode="relative" rAng="0" ptsTypes="AA">
                                      <p:cBhvr>
                                        <p:cTn id="121" dur="2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78" y="69"/>
                                    </p:animMotion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000"/>
                            </p:stCondLst>
                            <p:childTnLst>
                              <p:par>
                                <p:cTn id="1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47 0.00023 L 0.09584 0.00023 " pathEditMode="relative" rAng="0" ptsTypes="AA">
                                      <p:cBhvr>
                                        <p:cTn id="130" dur="2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09" y="0"/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3.7037E-7 L 0.09193 -0.00208 " pathEditMode="relative" rAng="0" ptsTypes="AA">
                                      <p:cBhvr>
                                        <p:cTn id="132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96" y="-116"/>
                                    </p:animMotion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2000"/>
                            </p:stCondLst>
                            <p:childTnLst>
                              <p:par>
                                <p:cTn id="1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593 -0.00162 L 0.28516 0.00116 " pathEditMode="relative" rAng="0" ptsTypes="AA">
                                      <p:cBhvr>
                                        <p:cTn id="141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31" y="0"/>
                                    </p:animMotion>
                                  </p:childTnLst>
                                </p:cTn>
                              </p:par>
                              <p:par>
                                <p:cTn id="142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281 -0.00162 L 0.28242 0.00371 " pathEditMode="relative" rAng="0" ptsTypes="AA">
                                      <p:cBhvr>
                                        <p:cTn id="143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74" y="255"/>
                                    </p:animMotion>
                                  </p:childTnLst>
                                </p:cTn>
                              </p:par>
                              <p:par>
                                <p:cTn id="144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584 0.00023 L 0.18594 -0.00162 " pathEditMode="relative" rAng="0" ptsTypes="AA">
                                      <p:cBhvr>
                                        <p:cTn id="145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05" y="-93"/>
                                    </p:animMotion>
                                  </p:childTnLst>
                                </p:cTn>
                              </p:par>
                              <p:par>
                                <p:cTn id="146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1.11111E-6 L 0.09584 0.00023 " pathEditMode="relative" rAng="0" ptsTypes="AA">
                                      <p:cBhvr>
                                        <p:cTn id="147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92" y="0"/>
                                    </p:animMotion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2000"/>
                            </p:stCondLst>
                            <p:childTnLst>
                              <p:par>
                                <p:cTn id="1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/>
      <p:bldP spid="5" grpId="0" uiExpand="1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E01373-9A2B-FB13-8530-6DEAE536E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Táblázat 62">
            <a:extLst>
              <a:ext uri="{FF2B5EF4-FFF2-40B4-BE49-F238E27FC236}">
                <a16:creationId xmlns:a16="http://schemas.microsoft.com/office/drawing/2014/main" id="{4F90C822-9BA7-783F-8212-AE7E9AEF2B9B}"/>
              </a:ext>
            </a:extLst>
          </p:cNvPr>
          <p:cNvGraphicFramePr>
            <a:graphicFrameLocks noGrp="1"/>
          </p:cNvGraphicFramePr>
          <p:nvPr/>
        </p:nvGraphicFramePr>
        <p:xfrm>
          <a:off x="2475437" y="6035250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graphicFrame>
        <p:nvGraphicFramePr>
          <p:cNvPr id="92" name="Táblázat 91">
            <a:extLst>
              <a:ext uri="{FF2B5EF4-FFF2-40B4-BE49-F238E27FC236}">
                <a16:creationId xmlns:a16="http://schemas.microsoft.com/office/drawing/2014/main" id="{49E2E2CA-8138-B40E-CF27-5653C9B519CB}"/>
              </a:ext>
            </a:extLst>
          </p:cNvPr>
          <p:cNvGraphicFramePr>
            <a:graphicFrameLocks noGrp="1"/>
          </p:cNvGraphicFramePr>
          <p:nvPr/>
        </p:nvGraphicFramePr>
        <p:xfrm>
          <a:off x="2473640" y="6030374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357426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graphicFrame>
        <p:nvGraphicFramePr>
          <p:cNvPr id="27" name="Táblázat 26">
            <a:extLst>
              <a:ext uri="{FF2B5EF4-FFF2-40B4-BE49-F238E27FC236}">
                <a16:creationId xmlns:a16="http://schemas.microsoft.com/office/drawing/2014/main" id="{80D44184-12FC-A2F4-80A4-80DF3969C225}"/>
              </a:ext>
            </a:extLst>
          </p:cNvPr>
          <p:cNvGraphicFramePr>
            <a:graphicFrameLocks noGrp="1"/>
          </p:cNvGraphicFramePr>
          <p:nvPr/>
        </p:nvGraphicFramePr>
        <p:xfrm>
          <a:off x="2473640" y="5132955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graphicFrame>
        <p:nvGraphicFramePr>
          <p:cNvPr id="31" name="Táblázat 30">
            <a:extLst>
              <a:ext uri="{FF2B5EF4-FFF2-40B4-BE49-F238E27FC236}">
                <a16:creationId xmlns:a16="http://schemas.microsoft.com/office/drawing/2014/main" id="{E71FE174-F83B-B0C4-E9AB-A8090BE24774}"/>
              </a:ext>
            </a:extLst>
          </p:cNvPr>
          <p:cNvGraphicFramePr>
            <a:graphicFrameLocks noGrp="1"/>
          </p:cNvGraphicFramePr>
          <p:nvPr/>
        </p:nvGraphicFramePr>
        <p:xfrm>
          <a:off x="2465942" y="5137073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graphicFrame>
        <p:nvGraphicFramePr>
          <p:cNvPr id="86" name="Táblázat 85">
            <a:extLst>
              <a:ext uri="{FF2B5EF4-FFF2-40B4-BE49-F238E27FC236}">
                <a16:creationId xmlns:a16="http://schemas.microsoft.com/office/drawing/2014/main" id="{CE1F0D8A-C6F6-17FF-9DAC-E0EA7AB50016}"/>
              </a:ext>
            </a:extLst>
          </p:cNvPr>
          <p:cNvGraphicFramePr>
            <a:graphicFrameLocks noGrp="1"/>
          </p:cNvGraphicFramePr>
          <p:nvPr/>
        </p:nvGraphicFramePr>
        <p:xfrm>
          <a:off x="2467034" y="5142215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graphicFrame>
        <p:nvGraphicFramePr>
          <p:cNvPr id="87" name="Táblázat 86">
            <a:extLst>
              <a:ext uri="{FF2B5EF4-FFF2-40B4-BE49-F238E27FC236}">
                <a16:creationId xmlns:a16="http://schemas.microsoft.com/office/drawing/2014/main" id="{777D41D6-2FAB-C37E-57A0-943F106EF2A7}"/>
              </a:ext>
            </a:extLst>
          </p:cNvPr>
          <p:cNvGraphicFramePr>
            <a:graphicFrameLocks noGrp="1"/>
          </p:cNvGraphicFramePr>
          <p:nvPr/>
        </p:nvGraphicFramePr>
        <p:xfrm>
          <a:off x="2476475" y="5142215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graphicFrame>
        <p:nvGraphicFramePr>
          <p:cNvPr id="37" name="Táblázat 36">
            <a:extLst>
              <a:ext uri="{FF2B5EF4-FFF2-40B4-BE49-F238E27FC236}">
                <a16:creationId xmlns:a16="http://schemas.microsoft.com/office/drawing/2014/main" id="{0D8DA722-9B2B-E3E5-85E1-A732352079AC}"/>
              </a:ext>
            </a:extLst>
          </p:cNvPr>
          <p:cNvGraphicFramePr>
            <a:graphicFrameLocks noGrp="1"/>
          </p:cNvGraphicFramePr>
          <p:nvPr/>
        </p:nvGraphicFramePr>
        <p:xfrm>
          <a:off x="2488039" y="3953140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graphicFrame>
        <p:nvGraphicFramePr>
          <p:cNvPr id="88" name="Táblázat 87">
            <a:extLst>
              <a:ext uri="{FF2B5EF4-FFF2-40B4-BE49-F238E27FC236}">
                <a16:creationId xmlns:a16="http://schemas.microsoft.com/office/drawing/2014/main" id="{5DC1DFE4-8BF8-A96A-67F3-B2F02D1AF9B8}"/>
              </a:ext>
            </a:extLst>
          </p:cNvPr>
          <p:cNvGraphicFramePr>
            <a:graphicFrameLocks noGrp="1"/>
          </p:cNvGraphicFramePr>
          <p:nvPr/>
        </p:nvGraphicFramePr>
        <p:xfrm>
          <a:off x="2485109" y="3953989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graphicFrame>
        <p:nvGraphicFramePr>
          <p:cNvPr id="90" name="Táblázat 89">
            <a:extLst>
              <a:ext uri="{FF2B5EF4-FFF2-40B4-BE49-F238E27FC236}">
                <a16:creationId xmlns:a16="http://schemas.microsoft.com/office/drawing/2014/main" id="{E85D6EBB-4095-6D25-092B-A72A4C5CD2F9}"/>
              </a:ext>
            </a:extLst>
          </p:cNvPr>
          <p:cNvGraphicFramePr>
            <a:graphicFrameLocks noGrp="1"/>
          </p:cNvGraphicFramePr>
          <p:nvPr/>
        </p:nvGraphicFramePr>
        <p:xfrm>
          <a:off x="2477613" y="3968249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sp>
        <p:nvSpPr>
          <p:cNvPr id="3" name="Tartalom helye 2">
            <a:extLst>
              <a:ext uri="{FF2B5EF4-FFF2-40B4-BE49-F238E27FC236}">
                <a16:creationId xmlns:a16="http://schemas.microsoft.com/office/drawing/2014/main" id="{46AC27F7-233E-49B2-E40E-21F43F64AB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474784"/>
            <a:ext cx="4501581" cy="2308941"/>
          </a:xfrm>
        </p:spPr>
        <p:txBody>
          <a:bodyPr>
            <a:normAutofit fontScale="92500" lnSpcReduction="20000"/>
          </a:bodyPr>
          <a:lstStyle/>
          <a:p>
            <a:r>
              <a:rPr lang="hu-HU" sz="2400">
                <a:latin typeface="F29"/>
                <a:ea typeface="Calibri" panose="020F0502020204030204" pitchFamily="34" charset="0"/>
                <a:cs typeface="F29"/>
              </a:rPr>
              <a:t>Feltesszük, hogy a hasító tábla rései egyszerű láncolt listákat (S1L) azonosítanak</a:t>
            </a:r>
            <a:endParaRPr lang="hu-HU" sz="2200"/>
          </a:p>
          <a:p>
            <a:r>
              <a:rPr lang="hu-HU" sz="2200" err="1"/>
              <a:t>Hashtábla</a:t>
            </a:r>
            <a:r>
              <a:rPr lang="hu-HU" sz="2200"/>
              <a:t> </a:t>
            </a:r>
            <a:r>
              <a:rPr lang="hu-HU" sz="2200" i="1"/>
              <a:t>T</a:t>
            </a:r>
            <a:r>
              <a:rPr lang="hu-HU" sz="2200"/>
              <a:t>[</a:t>
            </a:r>
            <a:r>
              <a:rPr lang="hu-HU" sz="2200" i="1"/>
              <a:t>i</a:t>
            </a:r>
            <a:r>
              <a:rPr lang="hu-HU" sz="2200"/>
              <a:t>]</a:t>
            </a:r>
            <a:r>
              <a:rPr lang="hu-HU" sz="2200" i="1"/>
              <a:t> </a:t>
            </a:r>
            <a:r>
              <a:rPr lang="hu-HU" sz="2200"/>
              <a:t>eleme: </a:t>
            </a:r>
            <a:r>
              <a:rPr lang="hu-HU" sz="2200" i="1"/>
              <a:t>i. </a:t>
            </a:r>
            <a:r>
              <a:rPr lang="hu-HU" sz="2200"/>
              <a:t>láncolt lista első elemére mutató pointer</a:t>
            </a:r>
          </a:p>
          <a:p>
            <a:pPr lvl="1"/>
            <a:r>
              <a:rPr lang="hu-HU" sz="1900"/>
              <a:t>Elemei: </a:t>
            </a:r>
            <a:r>
              <a:rPr lang="hu-HU" sz="1900" i="1"/>
              <a:t>h(k)</a:t>
            </a:r>
            <a:r>
              <a:rPr lang="hu-HU" sz="1900"/>
              <a:t>=</a:t>
            </a:r>
            <a:r>
              <a:rPr lang="hu-HU" sz="1900" i="1"/>
              <a:t>i</a:t>
            </a:r>
          </a:p>
          <a:p>
            <a:r>
              <a:rPr lang="hu-HU" sz="2200"/>
              <a:t>Beszúrás: megfelelő lista elejére</a:t>
            </a:r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77668CA-F09F-4EAA-5786-1B21C13D5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74" y="81752"/>
            <a:ext cx="10926087" cy="1163241"/>
          </a:xfrm>
        </p:spPr>
        <p:txBody>
          <a:bodyPr>
            <a:normAutofit fontScale="90000"/>
          </a:bodyPr>
          <a:lstStyle/>
          <a:p>
            <a:pPr algn="l"/>
            <a:r>
              <a:rPr lang="hu-HU"/>
              <a:t>Kulcsütközés feloldása láncolással </a:t>
            </a:r>
            <a:r>
              <a:rPr lang="hu-HU" sz="2200"/>
              <a:t>(</a:t>
            </a:r>
            <a:r>
              <a:rPr lang="hu-HU" sz="2200" err="1"/>
              <a:t>collision</a:t>
            </a:r>
            <a:r>
              <a:rPr lang="hu-HU" sz="2200"/>
              <a:t> </a:t>
            </a:r>
            <a:r>
              <a:rPr lang="hu-HU" sz="2200" err="1"/>
              <a:t>resolution</a:t>
            </a:r>
            <a:r>
              <a:rPr lang="hu-HU" sz="2200"/>
              <a:t> </a:t>
            </a:r>
            <a:r>
              <a:rPr lang="hu-HU" sz="2200" err="1"/>
              <a:t>by</a:t>
            </a:r>
            <a:r>
              <a:rPr lang="hu-HU" sz="2200"/>
              <a:t> </a:t>
            </a:r>
            <a:r>
              <a:rPr lang="hu-HU" sz="2200" err="1"/>
              <a:t>chaining</a:t>
            </a:r>
            <a:r>
              <a:rPr lang="hu-HU" sz="2200"/>
              <a:t>)</a:t>
            </a:r>
            <a:r>
              <a:rPr lang="hu-HU" sz="2700"/>
              <a:t> </a:t>
            </a:r>
            <a:br>
              <a:rPr lang="hu-HU"/>
            </a:br>
            <a:r>
              <a:rPr lang="hu-HU"/>
              <a:t>		Láncolt/vödrös </a:t>
            </a:r>
            <a:r>
              <a:rPr lang="hu-HU" err="1"/>
              <a:t>hashelés</a:t>
            </a:r>
            <a:r>
              <a:rPr lang="hu-HU"/>
              <a:t> nem animált változata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8B73341-59B1-80FC-057E-7707037A9A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11715" y="3877527"/>
            <a:ext cx="3846233" cy="2626190"/>
          </a:xfrm>
        </p:spPr>
        <p:txBody>
          <a:bodyPr>
            <a:normAutofit fontScale="92500" lnSpcReduction="20000"/>
          </a:bodyPr>
          <a:lstStyle/>
          <a:p>
            <a:r>
              <a:rPr lang="hu-HU" sz="2200"/>
              <a:t>Példa:</a:t>
            </a:r>
          </a:p>
          <a:p>
            <a:pPr lvl="1"/>
            <a:r>
              <a:rPr lang="hu-HU" sz="1900" i="1"/>
              <a:t>m =7</a:t>
            </a:r>
          </a:p>
          <a:p>
            <a:pPr lvl="1"/>
            <a:r>
              <a:rPr lang="hu-HU" sz="1900" i="1"/>
              <a:t>h: </a:t>
            </a:r>
            <a:r>
              <a:rPr lang="en-US" sz="1900"/>
              <a:t>N → 0..6, h(k) = k mod 7 </a:t>
            </a:r>
            <a:endParaRPr lang="hu-HU" sz="1900"/>
          </a:p>
          <a:p>
            <a:pPr lvl="1"/>
            <a:r>
              <a:rPr lang="en-US" sz="1900"/>
              <a:t>A </a:t>
            </a:r>
            <a:r>
              <a:rPr lang="hu-HU" sz="1900"/>
              <a:t>beszúrt</a:t>
            </a:r>
            <a:r>
              <a:rPr lang="en-US" sz="1900"/>
              <a:t> </a:t>
            </a:r>
            <a:r>
              <a:rPr lang="en-US" sz="1900" err="1"/>
              <a:t>elemek</a:t>
            </a:r>
            <a:r>
              <a:rPr lang="en-US" sz="1900"/>
              <a:t> </a:t>
            </a:r>
            <a:r>
              <a:rPr lang="hu-HU" sz="1900"/>
              <a:t>:</a:t>
            </a:r>
            <a:br>
              <a:rPr lang="hu-HU" sz="1900"/>
            </a:br>
            <a:r>
              <a:rPr lang="en-US" sz="1900"/>
              <a:t>3, 21, 73, 8, 24, 35,</a:t>
            </a:r>
            <a:r>
              <a:rPr lang="hu-HU" sz="1900"/>
              <a:t> </a:t>
            </a:r>
            <a:br>
              <a:rPr lang="hu-HU" sz="1900"/>
            </a:br>
            <a:r>
              <a:rPr lang="en-US" sz="1900"/>
              <a:t>26, 14, 5, 10, 18</a:t>
            </a:r>
            <a:endParaRPr lang="hu-HU" sz="1900" i="1"/>
          </a:p>
        </p:txBody>
      </p:sp>
      <p:graphicFrame>
        <p:nvGraphicFramePr>
          <p:cNvPr id="6" name="Táblázat 5">
            <a:extLst>
              <a:ext uri="{FF2B5EF4-FFF2-40B4-BE49-F238E27FC236}">
                <a16:creationId xmlns:a16="http://schemas.microsoft.com/office/drawing/2014/main" id="{52445A11-63C4-A41D-1831-A5501E40159B}"/>
              </a:ext>
            </a:extLst>
          </p:cNvPr>
          <p:cNvGraphicFramePr>
            <a:graphicFrameLocks noGrp="1"/>
          </p:cNvGraphicFramePr>
          <p:nvPr/>
        </p:nvGraphicFramePr>
        <p:xfrm>
          <a:off x="1448554" y="3972960"/>
          <a:ext cx="542663" cy="272044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2663">
                  <a:extLst>
                    <a:ext uri="{9D8B030D-6E8A-4147-A177-3AD203B41FA5}">
                      <a16:colId xmlns:a16="http://schemas.microsoft.com/office/drawing/2014/main" val="2945563909"/>
                    </a:ext>
                  </a:extLst>
                </a:gridCol>
              </a:tblGrid>
              <a:tr h="388635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753141"/>
                  </a:ext>
                </a:extLst>
              </a:tr>
              <a:tr h="388635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725146"/>
                  </a:ext>
                </a:extLst>
              </a:tr>
              <a:tr h="388635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638970"/>
                  </a:ext>
                </a:extLst>
              </a:tr>
              <a:tr h="388635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7173"/>
                  </a:ext>
                </a:extLst>
              </a:tr>
              <a:tr h="388635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044377"/>
                  </a:ext>
                </a:extLst>
              </a:tr>
              <a:tr h="388635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396801"/>
                  </a:ext>
                </a:extLst>
              </a:tr>
              <a:tr h="388635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264293"/>
                  </a:ext>
                </a:extLst>
              </a:tr>
            </a:tbl>
          </a:graphicData>
        </a:graphic>
      </p:graphicFrame>
      <p:graphicFrame>
        <p:nvGraphicFramePr>
          <p:cNvPr id="28" name="Táblázat 27">
            <a:extLst>
              <a:ext uri="{FF2B5EF4-FFF2-40B4-BE49-F238E27FC236}">
                <a16:creationId xmlns:a16="http://schemas.microsoft.com/office/drawing/2014/main" id="{231D8E36-5F7F-157D-0197-CAF5F27B4A67}"/>
              </a:ext>
            </a:extLst>
          </p:cNvPr>
          <p:cNvGraphicFramePr>
            <a:graphicFrameLocks noGrp="1"/>
          </p:cNvGraphicFramePr>
          <p:nvPr/>
        </p:nvGraphicFramePr>
        <p:xfrm>
          <a:off x="2485109" y="5568365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 b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cxnSp>
        <p:nvCxnSpPr>
          <p:cNvPr id="53" name="Egyenes összekötő 52">
            <a:extLst>
              <a:ext uri="{FF2B5EF4-FFF2-40B4-BE49-F238E27FC236}">
                <a16:creationId xmlns:a16="http://schemas.microsoft.com/office/drawing/2014/main" id="{DB12AC25-D02A-4C91-D30D-64601FB19066}"/>
              </a:ext>
            </a:extLst>
          </p:cNvPr>
          <p:cNvCxnSpPr/>
          <p:nvPr/>
        </p:nvCxnSpPr>
        <p:spPr>
          <a:xfrm flipH="1">
            <a:off x="2864749" y="5550773"/>
            <a:ext cx="377273" cy="3657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Egyenes összekötő 53">
            <a:extLst>
              <a:ext uri="{FF2B5EF4-FFF2-40B4-BE49-F238E27FC236}">
                <a16:creationId xmlns:a16="http://schemas.microsoft.com/office/drawing/2014/main" id="{889803A2-A575-4F8A-5FAB-FAB25CC126CB}"/>
              </a:ext>
            </a:extLst>
          </p:cNvPr>
          <p:cNvCxnSpPr/>
          <p:nvPr/>
        </p:nvCxnSpPr>
        <p:spPr>
          <a:xfrm flipH="1">
            <a:off x="2845491" y="5137073"/>
            <a:ext cx="377273" cy="3657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áblázat 40">
            <a:extLst>
              <a:ext uri="{FF2B5EF4-FFF2-40B4-BE49-F238E27FC236}">
                <a16:creationId xmlns:a16="http://schemas.microsoft.com/office/drawing/2014/main" id="{1F39B254-BFBD-E514-4EC4-31DE04D58B83}"/>
              </a:ext>
            </a:extLst>
          </p:cNvPr>
          <p:cNvGraphicFramePr>
            <a:graphicFrameLocks noGrp="1"/>
          </p:cNvGraphicFramePr>
          <p:nvPr/>
        </p:nvGraphicFramePr>
        <p:xfrm>
          <a:off x="2465942" y="4412614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cxnSp>
        <p:nvCxnSpPr>
          <p:cNvPr id="42" name="Egyenes összekötő 41">
            <a:extLst>
              <a:ext uri="{FF2B5EF4-FFF2-40B4-BE49-F238E27FC236}">
                <a16:creationId xmlns:a16="http://schemas.microsoft.com/office/drawing/2014/main" id="{926E9058-C608-7E16-7A4E-DA65869D0F19}"/>
              </a:ext>
            </a:extLst>
          </p:cNvPr>
          <p:cNvCxnSpPr>
            <a:endCxn id="41" idx="2"/>
          </p:cNvCxnSpPr>
          <p:nvPr/>
        </p:nvCxnSpPr>
        <p:spPr>
          <a:xfrm flipH="1">
            <a:off x="2844353" y="4412614"/>
            <a:ext cx="377273" cy="3657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Egyenes összekötő 90">
            <a:extLst>
              <a:ext uri="{FF2B5EF4-FFF2-40B4-BE49-F238E27FC236}">
                <a16:creationId xmlns:a16="http://schemas.microsoft.com/office/drawing/2014/main" id="{12438F6C-C391-257A-2659-CBE262A9CAC8}"/>
              </a:ext>
            </a:extLst>
          </p:cNvPr>
          <p:cNvCxnSpPr/>
          <p:nvPr/>
        </p:nvCxnSpPr>
        <p:spPr>
          <a:xfrm flipH="1">
            <a:off x="2857162" y="3968249"/>
            <a:ext cx="377273" cy="3657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Egyenes összekötő 92">
            <a:extLst>
              <a:ext uri="{FF2B5EF4-FFF2-40B4-BE49-F238E27FC236}">
                <a16:creationId xmlns:a16="http://schemas.microsoft.com/office/drawing/2014/main" id="{D622A96C-DEFC-2ABD-C5B0-ACB963539ECA}"/>
              </a:ext>
            </a:extLst>
          </p:cNvPr>
          <p:cNvCxnSpPr/>
          <p:nvPr/>
        </p:nvCxnSpPr>
        <p:spPr>
          <a:xfrm flipH="1">
            <a:off x="2864748" y="6043411"/>
            <a:ext cx="377273" cy="3657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nyíllal 9">
            <a:extLst>
              <a:ext uri="{FF2B5EF4-FFF2-40B4-BE49-F238E27FC236}">
                <a16:creationId xmlns:a16="http://schemas.microsoft.com/office/drawing/2014/main" id="{B5A4057A-DECF-715C-B0A5-A3D0E519E519}"/>
              </a:ext>
            </a:extLst>
          </p:cNvPr>
          <p:cNvCxnSpPr/>
          <p:nvPr/>
        </p:nvCxnSpPr>
        <p:spPr>
          <a:xfrm flipV="1">
            <a:off x="1967342" y="5349886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gyenes összekötő nyíllal 12">
            <a:extLst>
              <a:ext uri="{FF2B5EF4-FFF2-40B4-BE49-F238E27FC236}">
                <a16:creationId xmlns:a16="http://schemas.microsoft.com/office/drawing/2014/main" id="{32E1BB12-748C-4D99-5928-47C1AEC27BB8}"/>
              </a:ext>
            </a:extLst>
          </p:cNvPr>
          <p:cNvCxnSpPr/>
          <p:nvPr/>
        </p:nvCxnSpPr>
        <p:spPr>
          <a:xfrm flipV="1">
            <a:off x="1964294" y="4569598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9D91390B-A288-D1E8-7AC6-CA2F1CEC5CC9}"/>
              </a:ext>
            </a:extLst>
          </p:cNvPr>
          <p:cNvCxnSpPr/>
          <p:nvPr/>
        </p:nvCxnSpPr>
        <p:spPr>
          <a:xfrm flipV="1">
            <a:off x="1967342" y="5743078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nyíllal 14">
            <a:extLst>
              <a:ext uri="{FF2B5EF4-FFF2-40B4-BE49-F238E27FC236}">
                <a16:creationId xmlns:a16="http://schemas.microsoft.com/office/drawing/2014/main" id="{10123DF3-56CE-985B-B9F7-841D5DA1D60A}"/>
              </a:ext>
            </a:extLst>
          </p:cNvPr>
          <p:cNvCxnSpPr/>
          <p:nvPr/>
        </p:nvCxnSpPr>
        <p:spPr>
          <a:xfrm flipV="1">
            <a:off x="1967342" y="6136270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nyíllal 15">
            <a:extLst>
              <a:ext uri="{FF2B5EF4-FFF2-40B4-BE49-F238E27FC236}">
                <a16:creationId xmlns:a16="http://schemas.microsoft.com/office/drawing/2014/main" id="{58E80F86-3A7D-8B2C-3DE0-49BB7DBDF1B7}"/>
              </a:ext>
            </a:extLst>
          </p:cNvPr>
          <p:cNvCxnSpPr/>
          <p:nvPr/>
        </p:nvCxnSpPr>
        <p:spPr>
          <a:xfrm flipV="1">
            <a:off x="1967342" y="4133734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gyenes összekötő nyíllal 24">
            <a:extLst>
              <a:ext uri="{FF2B5EF4-FFF2-40B4-BE49-F238E27FC236}">
                <a16:creationId xmlns:a16="http://schemas.microsoft.com/office/drawing/2014/main" id="{7A7F3A66-90D5-6DFB-0014-53317C4115C5}"/>
              </a:ext>
            </a:extLst>
          </p:cNvPr>
          <p:cNvCxnSpPr/>
          <p:nvPr/>
        </p:nvCxnSpPr>
        <p:spPr>
          <a:xfrm flipV="1">
            <a:off x="3155031" y="4138306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gyenes összekötő nyíllal 45">
            <a:extLst>
              <a:ext uri="{FF2B5EF4-FFF2-40B4-BE49-F238E27FC236}">
                <a16:creationId xmlns:a16="http://schemas.microsoft.com/office/drawing/2014/main" id="{618216A6-6221-8278-8F04-68FAF3F8452D}"/>
              </a:ext>
            </a:extLst>
          </p:cNvPr>
          <p:cNvCxnSpPr/>
          <p:nvPr/>
        </p:nvCxnSpPr>
        <p:spPr>
          <a:xfrm flipV="1">
            <a:off x="4287206" y="4133737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gyenes összekötő nyíllal 46">
            <a:extLst>
              <a:ext uri="{FF2B5EF4-FFF2-40B4-BE49-F238E27FC236}">
                <a16:creationId xmlns:a16="http://schemas.microsoft.com/office/drawing/2014/main" id="{6560E05E-CB0C-A721-9A3A-4D82F2E802DC}"/>
              </a:ext>
            </a:extLst>
          </p:cNvPr>
          <p:cNvCxnSpPr/>
          <p:nvPr/>
        </p:nvCxnSpPr>
        <p:spPr>
          <a:xfrm flipV="1">
            <a:off x="3094310" y="5327026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gyenes összekötő nyíllal 47">
            <a:extLst>
              <a:ext uri="{FF2B5EF4-FFF2-40B4-BE49-F238E27FC236}">
                <a16:creationId xmlns:a16="http://schemas.microsoft.com/office/drawing/2014/main" id="{1ED119CA-36A2-0F22-477F-2B76B78954E2}"/>
              </a:ext>
            </a:extLst>
          </p:cNvPr>
          <p:cNvCxnSpPr/>
          <p:nvPr/>
        </p:nvCxnSpPr>
        <p:spPr>
          <a:xfrm flipV="1">
            <a:off x="3088997" y="6114802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gyenes összekötő nyíllal 48">
            <a:extLst>
              <a:ext uri="{FF2B5EF4-FFF2-40B4-BE49-F238E27FC236}">
                <a16:creationId xmlns:a16="http://schemas.microsoft.com/office/drawing/2014/main" id="{D539BB9B-30D8-85F8-B33E-C9A2ACAF2797}"/>
              </a:ext>
            </a:extLst>
          </p:cNvPr>
          <p:cNvCxnSpPr/>
          <p:nvPr/>
        </p:nvCxnSpPr>
        <p:spPr>
          <a:xfrm flipV="1">
            <a:off x="5459024" y="5352172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gyenes összekötő nyíllal 49">
            <a:extLst>
              <a:ext uri="{FF2B5EF4-FFF2-40B4-BE49-F238E27FC236}">
                <a16:creationId xmlns:a16="http://schemas.microsoft.com/office/drawing/2014/main" id="{15D26D8A-976C-1EC2-5CD5-3EE9A995F4BB}"/>
              </a:ext>
            </a:extLst>
          </p:cNvPr>
          <p:cNvCxnSpPr/>
          <p:nvPr/>
        </p:nvCxnSpPr>
        <p:spPr>
          <a:xfrm flipV="1">
            <a:off x="4249210" y="5345314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artalom helye 2">
            <a:extLst>
              <a:ext uri="{FF2B5EF4-FFF2-40B4-BE49-F238E27FC236}">
                <a16:creationId xmlns:a16="http://schemas.microsoft.com/office/drawing/2014/main" id="{61CFD264-8D5E-3657-2FEB-3F3AB58B4A66}"/>
              </a:ext>
            </a:extLst>
          </p:cNvPr>
          <p:cNvSpPr txBox="1">
            <a:spLocks/>
          </p:cNvSpPr>
          <p:nvPr/>
        </p:nvSpPr>
        <p:spPr>
          <a:xfrm>
            <a:off x="4906676" y="1332177"/>
            <a:ext cx="2910205" cy="24874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</a:pPr>
            <a:r>
              <a:rPr lang="hu-HU" i="1">
                <a:ea typeface="Calibri" panose="020F0502020204030204" pitchFamily="34" charset="0"/>
                <a:cs typeface="CMMI12"/>
              </a:rPr>
              <a:t>T</a:t>
            </a:r>
            <a:r>
              <a:rPr lang="hu-HU">
                <a:ea typeface="Calibri" panose="020F0502020204030204" pitchFamily="34" charset="0"/>
                <a:cs typeface="F29"/>
              </a:rPr>
              <a:t>:E1*</a:t>
            </a:r>
            <a:r>
              <a:rPr lang="hu-HU">
                <a:ea typeface="Calibri" panose="020F0502020204030204" pitchFamily="34" charset="0"/>
                <a:cs typeface="CMR12"/>
              </a:rPr>
              <a:t>[</a:t>
            </a:r>
            <a:r>
              <a:rPr lang="hu-HU" i="1">
                <a:ea typeface="Calibri" panose="020F0502020204030204" pitchFamily="34" charset="0"/>
                <a:cs typeface="CMMI12"/>
              </a:rPr>
              <a:t>m</a:t>
            </a:r>
            <a:r>
              <a:rPr lang="hu-HU">
                <a:ea typeface="Calibri" panose="020F0502020204030204" pitchFamily="34" charset="0"/>
                <a:cs typeface="CMR12"/>
              </a:rPr>
              <a:t>]</a:t>
            </a:r>
            <a:endParaRPr lang="hu-HU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hu-HU">
                <a:ea typeface="Calibri" panose="020F0502020204030204" pitchFamily="34" charset="0"/>
                <a:cs typeface="F29"/>
              </a:rPr>
              <a:t>listaelemek:</a:t>
            </a:r>
            <a:endParaRPr lang="hu-HU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spcAft>
                <a:spcPts val="800"/>
              </a:spcAft>
            </a:pPr>
            <a:r>
              <a:rPr lang="hu-HU" sz="1800" i="1" err="1">
                <a:ea typeface="Calibri" panose="020F0502020204030204" pitchFamily="34" charset="0"/>
                <a:cs typeface="CMMI12"/>
              </a:rPr>
              <a:t>key</a:t>
            </a:r>
            <a:r>
              <a:rPr lang="hu-HU" sz="1800">
                <a:ea typeface="Calibri" panose="020F0502020204030204" pitchFamily="34" charset="0"/>
                <a:cs typeface="CMMI12"/>
              </a:rPr>
              <a:t> </a:t>
            </a:r>
            <a:endParaRPr lang="hu-HU" sz="18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spcAft>
                <a:spcPts val="800"/>
              </a:spcAft>
            </a:pPr>
            <a:r>
              <a:rPr lang="hu-HU" sz="1800" i="1" err="1">
                <a:ea typeface="Calibri" panose="020F0502020204030204" pitchFamily="34" charset="0"/>
                <a:cs typeface="CMMI12"/>
              </a:rPr>
              <a:t>next</a:t>
            </a:r>
            <a:r>
              <a:rPr lang="hu-HU" sz="1800">
                <a:ea typeface="Calibri" panose="020F0502020204030204" pitchFamily="34" charset="0"/>
                <a:cs typeface="CMMI12"/>
              </a:rPr>
              <a:t> </a:t>
            </a:r>
            <a:endParaRPr lang="hu-HU" sz="18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spcAft>
                <a:spcPts val="800"/>
              </a:spcAft>
            </a:pPr>
            <a:r>
              <a:rPr lang="hu-HU" sz="1800">
                <a:ea typeface="Calibri" panose="020F0502020204030204" pitchFamily="34" charset="0"/>
                <a:cs typeface="F29"/>
              </a:rPr>
              <a:t>járulékos mezők</a:t>
            </a:r>
            <a:br>
              <a:rPr lang="hu-HU" sz="1800">
                <a:ea typeface="Calibri" panose="020F0502020204030204" pitchFamily="34" charset="0"/>
                <a:cs typeface="F29"/>
              </a:rPr>
            </a:br>
            <a:r>
              <a:rPr lang="hu-HU" sz="1800">
                <a:ea typeface="Calibri" panose="020F0502020204030204" pitchFamily="34" charset="0"/>
                <a:cs typeface="F29"/>
              </a:rPr>
              <a:t>(</a:t>
            </a:r>
            <a:r>
              <a:rPr lang="hu-HU" sz="1800" err="1">
                <a:ea typeface="Calibri" panose="020F0502020204030204" pitchFamily="34" charset="0"/>
                <a:cs typeface="F29"/>
              </a:rPr>
              <a:t>satellite</a:t>
            </a:r>
            <a:r>
              <a:rPr lang="hu-HU" sz="1800">
                <a:ea typeface="Calibri" panose="020F0502020204030204" pitchFamily="34" charset="0"/>
                <a:cs typeface="F29"/>
              </a:rPr>
              <a:t> </a:t>
            </a:r>
            <a:r>
              <a:rPr lang="hu-HU" sz="1800" err="1">
                <a:ea typeface="Calibri" panose="020F0502020204030204" pitchFamily="34" charset="0"/>
                <a:cs typeface="F29"/>
              </a:rPr>
              <a:t>data</a:t>
            </a:r>
            <a:r>
              <a:rPr lang="hu-HU" sz="1800">
                <a:ea typeface="Calibri" panose="020F0502020204030204" pitchFamily="34" charset="0"/>
                <a:cs typeface="F29"/>
              </a:rPr>
              <a:t>)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22EA83FA-3CD4-7D83-380D-C3AB46D35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6881" y="1583984"/>
            <a:ext cx="2932541" cy="116324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F77ED803-B60B-87B1-8FC8-DE5A624D362E}"/>
              </a:ext>
            </a:extLst>
          </p:cNvPr>
          <p:cNvSpPr txBox="1"/>
          <p:nvPr/>
        </p:nvSpPr>
        <p:spPr>
          <a:xfrm>
            <a:off x="570785" y="4001209"/>
            <a:ext cx="766877" cy="29700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defTabSz="265113">
              <a:buNone/>
            </a:pPr>
            <a:r>
              <a:rPr lang="hu-HU" sz="1200" i="1"/>
              <a:t>	</a:t>
            </a:r>
            <a:r>
              <a:rPr lang="hu-HU" sz="1300" i="1"/>
              <a:t>T</a:t>
            </a:r>
            <a:r>
              <a:rPr lang="hu-HU" sz="1300"/>
              <a:t> [0]</a:t>
            </a:r>
          </a:p>
          <a:p>
            <a:pPr marL="265113" lvl="1" indent="0">
              <a:buNone/>
            </a:pPr>
            <a:br>
              <a:rPr lang="hu-HU" sz="1300" i="1"/>
            </a:br>
            <a:r>
              <a:rPr lang="hu-HU" sz="1300" i="1"/>
              <a:t>T</a:t>
            </a:r>
            <a:r>
              <a:rPr lang="hu-HU" sz="1300"/>
              <a:t> [1]</a:t>
            </a:r>
          </a:p>
          <a:p>
            <a:pPr marL="265113" lvl="1" indent="0">
              <a:buNone/>
            </a:pPr>
            <a:br>
              <a:rPr lang="hu-HU" sz="1300" i="1"/>
            </a:br>
            <a:r>
              <a:rPr lang="hu-HU" sz="1300" i="1"/>
              <a:t>T</a:t>
            </a:r>
            <a:r>
              <a:rPr lang="hu-HU" sz="1300"/>
              <a:t> [2]</a:t>
            </a:r>
          </a:p>
          <a:p>
            <a:pPr marL="265113" lvl="1" indent="0">
              <a:buNone/>
            </a:pPr>
            <a:br>
              <a:rPr lang="hu-HU" sz="1300" i="1"/>
            </a:br>
            <a:r>
              <a:rPr lang="hu-HU" sz="1300" i="1"/>
              <a:t>T</a:t>
            </a:r>
            <a:r>
              <a:rPr lang="hu-HU" sz="1300"/>
              <a:t> [3]</a:t>
            </a:r>
          </a:p>
          <a:p>
            <a:pPr marL="265113" lvl="1" indent="0">
              <a:buNone/>
            </a:pPr>
            <a:br>
              <a:rPr lang="hu-HU" sz="1300" i="1"/>
            </a:br>
            <a:r>
              <a:rPr lang="hu-HU" sz="1300" i="1"/>
              <a:t>T</a:t>
            </a:r>
            <a:r>
              <a:rPr lang="hu-HU" sz="1300"/>
              <a:t> [4]</a:t>
            </a:r>
          </a:p>
          <a:p>
            <a:pPr marL="265113" lvl="1" indent="0">
              <a:buNone/>
            </a:pPr>
            <a:br>
              <a:rPr lang="hu-HU" sz="1300" i="1"/>
            </a:br>
            <a:r>
              <a:rPr lang="hu-HU" sz="1300" i="1"/>
              <a:t>T</a:t>
            </a:r>
            <a:r>
              <a:rPr lang="hu-HU" sz="1300"/>
              <a:t> [5]</a:t>
            </a:r>
          </a:p>
          <a:p>
            <a:pPr marL="265113" lvl="1" indent="0">
              <a:buNone/>
            </a:pPr>
            <a:br>
              <a:rPr lang="hu-HU" sz="1300" i="1"/>
            </a:br>
            <a:r>
              <a:rPr lang="hu-HU" sz="1300" i="1"/>
              <a:t>T</a:t>
            </a:r>
            <a:r>
              <a:rPr lang="hu-HU" sz="1300"/>
              <a:t> [6]</a:t>
            </a:r>
          </a:p>
          <a:p>
            <a:endParaRPr lang="hu-HU"/>
          </a:p>
        </p:txBody>
      </p:sp>
      <p:pic>
        <p:nvPicPr>
          <p:cNvPr id="9" name="Kép 8" descr="A képen szöveg, képernyőkép, diagram, Betűtípu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572752FA-607E-B05D-081D-ABA70507BD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34" y="3873044"/>
            <a:ext cx="6619218" cy="290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656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F990468-2095-1615-BBD5-75D69EC33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15708"/>
            <a:ext cx="10018713" cy="1163097"/>
          </a:xfrm>
        </p:spPr>
        <p:txBody>
          <a:bodyPr>
            <a:normAutofit fontScale="90000"/>
          </a:bodyPr>
          <a:lstStyle/>
          <a:p>
            <a:r>
              <a:rPr lang="hu-HU"/>
              <a:t>Kulcsütközés feloldása láncolással: műveletek</a:t>
            </a:r>
            <a:br>
              <a:rPr lang="hu-HU"/>
            </a:br>
            <a:r>
              <a:rPr lang="hu-HU" sz="3300"/>
              <a:t>(</a:t>
            </a:r>
            <a:r>
              <a:rPr lang="hu-HU" sz="3300" err="1"/>
              <a:t>search</a:t>
            </a:r>
            <a:r>
              <a:rPr lang="hu-HU" sz="3300"/>
              <a:t> and update </a:t>
            </a:r>
            <a:r>
              <a:rPr lang="hu-HU" sz="3300" err="1"/>
              <a:t>operations</a:t>
            </a:r>
            <a:r>
              <a:rPr lang="hu-HU" sz="3300"/>
              <a:t>)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B92585EE-E2C6-1261-D797-EF22C434F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112" y="1367951"/>
            <a:ext cx="4709568" cy="278916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677FE812-3944-7CAC-E331-0568617C3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5933" y="4463893"/>
            <a:ext cx="4000847" cy="1905165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6C5C1754-9076-6EEE-E1A7-0AC0263DE3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9189" y="3276251"/>
            <a:ext cx="2773920" cy="150889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FDD88447-2756-1A47-54C5-E67318D9C4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9189" y="5149710"/>
            <a:ext cx="4069433" cy="1097375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FB4DFDF7-E968-DB5F-30F1-4D3522827B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2072" y="1356912"/>
            <a:ext cx="3803928" cy="150889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734497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ercs: vízszintes 3">
            <a:extLst>
              <a:ext uri="{FF2B5EF4-FFF2-40B4-BE49-F238E27FC236}">
                <a16:creationId xmlns:a16="http://schemas.microsoft.com/office/drawing/2014/main" id="{BDD26128-0A05-4810-B4BF-A11ED0ED00F1}"/>
              </a:ext>
            </a:extLst>
          </p:cNvPr>
          <p:cNvSpPr/>
          <p:nvPr/>
        </p:nvSpPr>
        <p:spPr>
          <a:xfrm>
            <a:off x="6604670" y="1574800"/>
            <a:ext cx="2865120" cy="2905759"/>
          </a:xfrm>
          <a:prstGeom prst="horizontalScroll">
            <a:avLst>
              <a:gd name="adj" fmla="val 7805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artalom helye 2">
                <a:extLst>
                  <a:ext uri="{FF2B5EF4-FFF2-40B4-BE49-F238E27FC236}">
                    <a16:creationId xmlns:a16="http://schemas.microsoft.com/office/drawing/2014/main" id="{6B9679B9-241A-8A24-CEEE-BB576271B8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40510" y="934720"/>
                <a:ext cx="5724211" cy="592328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200">
                    <a:effectLst/>
                    <a:ea typeface="CMMI12"/>
                    <a:cs typeface="Times New Roman" panose="02020603050405020304" pitchFamily="18" charset="0"/>
                  </a:rPr>
                  <a:t>Műveletigény: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i="1">
                    <a:effectLst/>
                    <a:ea typeface="CMMI12"/>
                    <a:cs typeface="Times New Roman" panose="02020603050405020304" pitchFamily="18" charset="0"/>
                  </a:rPr>
                  <a:t>T</a:t>
                </a:r>
                <a:r>
                  <a:rPr lang="hu-HU" i="1" baseline="-25000">
                    <a:effectLst/>
                    <a:ea typeface="CMR8"/>
                    <a:cs typeface="Times New Roman" panose="02020603050405020304" pitchFamily="18" charset="0"/>
                  </a:rPr>
                  <a:t>init</a:t>
                </a: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(</a:t>
                </a:r>
                <a:r>
                  <a:rPr lang="hu-HU" i="1">
                    <a:effectLst/>
                    <a:ea typeface="CMMI12"/>
                    <a:cs typeface="Times New Roman" panose="02020603050405020304" pitchFamily="18" charset="0"/>
                  </a:rPr>
                  <a:t>m</a:t>
                </a: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) </a:t>
                </a:r>
                <a:r>
                  <a:rPr lang="hu-HU">
                    <a:effectLst/>
                    <a:ea typeface="CMSY10"/>
                    <a:cs typeface="Cambria Math" panose="02040503050406030204" pitchFamily="18" charset="0"/>
                  </a:rPr>
                  <a:t>∈</a:t>
                </a:r>
                <a:r>
                  <a:rPr lang="hu-HU">
                    <a:effectLst/>
                    <a:ea typeface="CMSY10"/>
                    <a:cs typeface="Times New Roman" panose="02020603050405020304" pitchFamily="18" charset="0"/>
                  </a:rPr>
                  <a:t> </a:t>
                </a: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Θ(</a:t>
                </a:r>
                <a:r>
                  <a:rPr lang="hu-HU" i="1">
                    <a:effectLst/>
                    <a:ea typeface="CMMI12"/>
                    <a:cs typeface="Times New Roman" panose="02020603050405020304" pitchFamily="18" charset="0"/>
                  </a:rPr>
                  <a:t>m</a:t>
                </a: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)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i="1" err="1">
                    <a:effectLst/>
                    <a:ea typeface="CMMI12"/>
                    <a:cs typeface="Times New Roman" panose="02020603050405020304" pitchFamily="18" charset="0"/>
                  </a:rPr>
                  <a:t>T</a:t>
                </a:r>
                <a:r>
                  <a:rPr lang="hu-HU" i="1" baseline="-25000" err="1">
                    <a:effectLst/>
                    <a:ea typeface="CMR8"/>
                    <a:cs typeface="Times New Roman" panose="02020603050405020304" pitchFamily="18" charset="0"/>
                  </a:rPr>
                  <a:t>műveletek</a:t>
                </a: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(</a:t>
                </a:r>
                <a:r>
                  <a:rPr lang="hu-HU" i="1">
                    <a:effectLst/>
                    <a:ea typeface="CMMI12"/>
                    <a:cs typeface="Times New Roman" panose="02020603050405020304" pitchFamily="18" charset="0"/>
                  </a:rPr>
                  <a:t>m</a:t>
                </a: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) :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 </a:t>
                </a:r>
                <a:r>
                  <a:rPr lang="hu-HU" i="1" err="1">
                    <a:effectLst/>
                    <a:ea typeface="CMR12"/>
                    <a:cs typeface="Times New Roman" panose="02020603050405020304" pitchFamily="18" charset="0"/>
                  </a:rPr>
                  <a:t>mT</a:t>
                </a: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 </a:t>
                </a:r>
                <a:r>
                  <a:rPr lang="hu-HU">
                    <a:effectLst/>
                    <a:ea typeface="CMSY10"/>
                    <a:cs typeface="Cambria Math" panose="02040503050406030204" pitchFamily="18" charset="0"/>
                  </a:rPr>
                  <a:t>∈</a:t>
                </a:r>
                <a:r>
                  <a:rPr lang="hu-HU">
                    <a:effectLst/>
                    <a:ea typeface="CMSY10"/>
                    <a:cs typeface="Times New Roman" panose="02020603050405020304" pitchFamily="18" charset="0"/>
                  </a:rPr>
                  <a:t> </a:t>
                </a: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Θ(1)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i="1">
                    <a:effectLst/>
                    <a:ea typeface="CMR12"/>
                    <a:cs typeface="Times New Roman" panose="02020603050405020304" pitchFamily="18" charset="0"/>
                  </a:rPr>
                  <a:t>MT</a:t>
                </a: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(</a:t>
                </a:r>
                <a:r>
                  <a:rPr lang="hu-HU" i="1">
                    <a:effectLst/>
                    <a:ea typeface="CMR12"/>
                    <a:cs typeface="Times New Roman" panose="02020603050405020304" pitchFamily="18" charset="0"/>
                  </a:rPr>
                  <a:t>n</a:t>
                </a: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) </a:t>
                </a:r>
                <a:r>
                  <a:rPr lang="hu-HU">
                    <a:effectLst/>
                    <a:ea typeface="CMSY10"/>
                    <a:cs typeface="Cambria Math" panose="02040503050406030204" pitchFamily="18" charset="0"/>
                  </a:rPr>
                  <a:t>∈</a:t>
                </a:r>
                <a:r>
                  <a:rPr lang="hu-HU">
                    <a:effectLst/>
                    <a:ea typeface="CMSY10"/>
                    <a:cs typeface="Times New Roman" panose="02020603050405020304" pitchFamily="18" charset="0"/>
                  </a:rPr>
                  <a:t> </a:t>
                </a: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Θ(</a:t>
                </a:r>
                <a:r>
                  <a:rPr lang="hu-HU" i="1">
                    <a:effectLst/>
                    <a:ea typeface="CMR12"/>
                    <a:cs typeface="Times New Roman" panose="02020603050405020304" pitchFamily="18" charset="0"/>
                  </a:rPr>
                  <a:t>n</a:t>
                </a: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)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600" i="1">
                    <a:effectLst/>
                    <a:cs typeface="CMMI12"/>
                  </a:rPr>
                  <a:t>AT</a:t>
                </a:r>
                <a:r>
                  <a:rPr lang="hu-HU" sz="1600">
                    <a:effectLst/>
                    <a:cs typeface="CMR12"/>
                  </a:rPr>
                  <a:t>(</a:t>
                </a:r>
                <a:r>
                  <a:rPr lang="hu-HU" sz="1600" i="1" err="1">
                    <a:effectLst/>
                    <a:cs typeface="CMMI12"/>
                  </a:rPr>
                  <a:t>n</a:t>
                </a:r>
                <a:r>
                  <a:rPr lang="hu-HU" sz="1600" err="1">
                    <a:effectLst/>
                    <a:cs typeface="CMMI12"/>
                  </a:rPr>
                  <a:t>,</a:t>
                </a:r>
                <a:r>
                  <a:rPr lang="hu-HU" sz="1600" i="1" err="1">
                    <a:effectLst/>
                    <a:cs typeface="CMMI12"/>
                  </a:rPr>
                  <a:t>m</a:t>
                </a:r>
                <a:r>
                  <a:rPr lang="hu-HU" sz="1600">
                    <a:effectLst/>
                    <a:cs typeface="CMR12"/>
                  </a:rPr>
                  <a:t>) </a:t>
                </a:r>
                <a:r>
                  <a:rPr lang="en-US" sz="1600">
                    <a:effectLst/>
                    <a:cs typeface="CMSY10"/>
                  </a:rPr>
                  <a:t>∈ </a:t>
                </a:r>
                <a:r>
                  <a:rPr lang="en-US" sz="1600">
                    <a:effectLst/>
                    <a:cs typeface="CMR12"/>
                  </a:rPr>
                  <a:t>Θ</a:t>
                </a:r>
                <a:r>
                  <a:rPr lang="hu-HU" sz="1600">
                    <a:effectLst/>
                    <a:cs typeface="CMR12"/>
                  </a:rPr>
                  <a:t>(1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16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</m:ctrlPr>
                      </m:fPr>
                      <m:num>
                        <m:r>
                          <a:rPr lang="hu-HU" sz="16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𝑛</m:t>
                        </m:r>
                      </m:num>
                      <m:den>
                        <m:r>
                          <a:rPr lang="hu-HU" sz="16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𝑚</m:t>
                        </m:r>
                      </m:den>
                    </m:f>
                  </m:oMath>
                </a14:m>
                <a:r>
                  <a:rPr lang="hu-HU" sz="1600">
                    <a:effectLst/>
                    <a:cs typeface="CMR12"/>
                  </a:rPr>
                  <a:t>)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hu-HU" sz="600" i="1">
                  <a:effectLst/>
                  <a:ea typeface="Calibri" panose="020F0502020204030204" pitchFamily="34" charset="0"/>
                  <a:cs typeface="CMMI12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 i="1">
                    <a:effectLst/>
                    <a:ea typeface="Calibri" panose="020F0502020204030204" pitchFamily="34" charset="0"/>
                    <a:cs typeface="CMMI12"/>
                  </a:rPr>
                  <a:t>AT</a:t>
                </a:r>
                <a:r>
                  <a:rPr lang="hu-HU" sz="200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000" i="1" err="1">
                    <a:effectLst/>
                    <a:ea typeface="Calibri" panose="020F0502020204030204" pitchFamily="34" charset="0"/>
                    <a:cs typeface="CMMI12"/>
                  </a:rPr>
                  <a:t>n,m</a:t>
                </a:r>
                <a:r>
                  <a:rPr lang="hu-HU" sz="200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hu-HU" sz="2000">
                    <a:effectLst/>
                    <a:ea typeface="Calibri" panose="020F0502020204030204" pitchFamily="34" charset="0"/>
                    <a:cs typeface="F29"/>
                  </a:rPr>
                  <a:t>feltétele: </a:t>
                </a:r>
                <a:endParaRPr lang="hu-HU" sz="20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h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: 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U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1800">
                    <a:effectLst/>
                    <a:ea typeface="Calibri" panose="020F0502020204030204" pitchFamily="34" charset="0"/>
                    <a:cs typeface="CMSY10"/>
                  </a:rPr>
                  <a:t>→ 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0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MI12"/>
                  </a:rPr>
                  <a:t>..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en-US" sz="1800">
                    <a:effectLst/>
                    <a:ea typeface="Calibri" panose="020F0502020204030204" pitchFamily="34" charset="0"/>
                    <a:cs typeface="CMSY10"/>
                  </a:rPr>
                  <a:t>−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1) </a:t>
                </a:r>
                <a:r>
                  <a:rPr lang="hu-HU" sz="1800" err="1">
                    <a:effectLst/>
                    <a:ea typeface="Calibri" panose="020F0502020204030204" pitchFamily="34" charset="0"/>
                    <a:cs typeface="F29"/>
                  </a:rPr>
                  <a:t>fv</a:t>
                </a:r>
                <a:r>
                  <a:rPr lang="hu-HU" sz="1800">
                    <a:effectLst/>
                    <a:ea typeface="Calibri" panose="020F0502020204030204" pitchFamily="34" charset="0"/>
                    <a:cs typeface="F29"/>
                  </a:rPr>
                  <a:t> </a:t>
                </a:r>
                <a:r>
                  <a:rPr lang="hu-HU" sz="1800">
                    <a:effectLst/>
                    <a:ea typeface="Calibri" panose="020F0502020204030204" pitchFamily="34" charset="0"/>
                    <a:cs typeface="F78"/>
                  </a:rPr>
                  <a:t>egyszerű egyenletes hasítás</a:t>
                </a:r>
                <a:endParaRPr lang="hu-HU" sz="18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>
                    <a:effectLst/>
                    <a:ea typeface="Calibri" panose="020F0502020204030204" pitchFamily="34" charset="0"/>
                    <a:cs typeface="F29"/>
                  </a:rPr>
                  <a:t>a résekhez tartozó listák átlagos hossza 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</m:ctrlPr>
                      </m:fPr>
                      <m:num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𝑛</m:t>
                        </m:r>
                      </m:num>
                      <m:den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𝑚</m:t>
                        </m:r>
                      </m:den>
                    </m:f>
                  </m:oMath>
                </a14:m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 =</a:t>
                </a:r>
                <a:r>
                  <a:rPr lang="en-US" sz="1800">
                    <a:effectLst/>
                    <a:ea typeface="Calibri" panose="020F0502020204030204" pitchFamily="34" charset="0"/>
                    <a:cs typeface="CMMI12"/>
                  </a:rPr>
                  <a:t>α</a:t>
                </a:r>
                <a:r>
                  <a:rPr lang="hu-HU" sz="1800">
                    <a:effectLst/>
                    <a:ea typeface="Calibri" panose="020F0502020204030204" pitchFamily="34" charset="0"/>
                    <a:cs typeface="F29"/>
                  </a:rPr>
                  <a:t>.</a:t>
                </a:r>
                <a:endParaRPr lang="hu-HU" sz="18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</m:ctrlPr>
                      </m:fPr>
                      <m:num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𝑛</m:t>
                        </m:r>
                      </m:num>
                      <m:den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𝑚</m:t>
                        </m:r>
                      </m:den>
                    </m:f>
                  </m:oMath>
                </a14:m>
                <a:r>
                  <a:rPr lang="hu-HU" sz="1800">
                    <a:effectLst/>
                    <a:ea typeface="Calibri" panose="020F0502020204030204" pitchFamily="34" charset="0"/>
                    <a:cs typeface="CMMI8"/>
                  </a:rPr>
                  <a:t> </a:t>
                </a:r>
                <a:r>
                  <a:rPr lang="en-US" sz="180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MI12"/>
                  </a:rPr>
                  <a:t>O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(1) =&gt;</a:t>
                </a:r>
                <a:r>
                  <a:rPr lang="hu-HU" sz="1800">
                    <a:ea typeface="Calibri" panose="020F0502020204030204" pitchFamily="34" charset="0"/>
                    <a:cs typeface="CMR12"/>
                  </a:rPr>
                  <a:t> 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AT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800" i="1" err="1">
                    <a:effectLst/>
                    <a:ea typeface="Calibri" panose="020F0502020204030204" pitchFamily="34" charset="0"/>
                    <a:cs typeface="CMMI12"/>
                  </a:rPr>
                  <a:t>n,m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en-US" sz="180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:r>
                  <a:rPr lang="en-US" sz="1800">
                    <a:effectLst/>
                    <a:ea typeface="Calibri" panose="020F0502020204030204" pitchFamily="34" charset="0"/>
                    <a:cs typeface="CMR12"/>
                  </a:rPr>
                  <a:t>Θ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(1) </a:t>
                </a:r>
                <a:r>
                  <a:rPr lang="hu-HU" sz="1800">
                    <a:effectLst/>
                    <a:ea typeface="Calibri" panose="020F0502020204030204" pitchFamily="34" charset="0"/>
                    <a:cs typeface="F29"/>
                  </a:rPr>
                  <a:t>is teljesül</a:t>
                </a:r>
                <a:endParaRPr lang="hu-HU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artalom helye 2">
                <a:extLst>
                  <a:ext uri="{FF2B5EF4-FFF2-40B4-BE49-F238E27FC236}">
                    <a16:creationId xmlns:a16="http://schemas.microsoft.com/office/drawing/2014/main" id="{6B9679B9-241A-8A24-CEEE-BB576271B8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40510" y="934720"/>
                <a:ext cx="5724211" cy="5923280"/>
              </a:xfrm>
              <a:blipFill>
                <a:blip r:embed="rId2"/>
                <a:stretch>
                  <a:fillRect l="-23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ím 1">
            <a:extLst>
              <a:ext uri="{FF2B5EF4-FFF2-40B4-BE49-F238E27FC236}">
                <a16:creationId xmlns:a16="http://schemas.microsoft.com/office/drawing/2014/main" id="{AF990468-2095-1615-BBD5-75D69EC33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15708"/>
            <a:ext cx="10018713" cy="893245"/>
          </a:xfrm>
        </p:spPr>
        <p:txBody>
          <a:bodyPr>
            <a:normAutofit/>
          </a:bodyPr>
          <a:lstStyle/>
          <a:p>
            <a:r>
              <a:rPr lang="hu-HU"/>
              <a:t>Kulcsütközés feloldása láncolással: műveletek</a:t>
            </a:r>
            <a:endParaRPr lang="hu-HU" sz="3300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1AD9E64F-D53E-B1F4-D48E-4A3D7FB96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14" y="2355055"/>
            <a:ext cx="5632996" cy="339399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8" name="Cím 1">
            <a:extLst>
              <a:ext uri="{FF2B5EF4-FFF2-40B4-BE49-F238E27FC236}">
                <a16:creationId xmlns:a16="http://schemas.microsoft.com/office/drawing/2014/main" id="{4E68C876-7195-B90A-70F0-CD0F8A2F2C57}"/>
              </a:ext>
            </a:extLst>
          </p:cNvPr>
          <p:cNvSpPr txBox="1">
            <a:spLocks/>
          </p:cNvSpPr>
          <p:nvPr/>
        </p:nvSpPr>
        <p:spPr>
          <a:xfrm>
            <a:off x="1748471" y="725068"/>
            <a:ext cx="4459289" cy="1042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hu-HU" sz="2400"/>
              <a:t>(</a:t>
            </a:r>
            <a:r>
              <a:rPr lang="hu-HU" sz="2400" err="1"/>
              <a:t>search</a:t>
            </a:r>
            <a:r>
              <a:rPr lang="hu-HU" sz="2400"/>
              <a:t> and update </a:t>
            </a:r>
            <a:r>
              <a:rPr lang="hu-HU" sz="2400" err="1"/>
              <a:t>operations</a:t>
            </a:r>
            <a:r>
              <a:rPr lang="hu-HU" sz="24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17483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1E7226E-EDE0-08CB-834D-CC5D419FC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1" y="0"/>
            <a:ext cx="10018713" cy="883920"/>
          </a:xfrm>
        </p:spPr>
        <p:txBody>
          <a:bodyPr>
            <a:normAutofit/>
          </a:bodyPr>
          <a:lstStyle/>
          <a:p>
            <a:r>
              <a:rPr lang="hu-HU" kern="100">
                <a:ea typeface="Aptos" panose="020B0004020202020204" pitchFamily="34" charset="0"/>
                <a:cs typeface="Times New Roman" panose="02020603050405020304" pitchFamily="18" charset="0"/>
              </a:rPr>
              <a:t>Láncolt </a:t>
            </a:r>
            <a:r>
              <a:rPr lang="hu-HU" kern="100" err="1">
                <a:ea typeface="Aptos" panose="020B0004020202020204" pitchFamily="34" charset="0"/>
                <a:cs typeface="Times New Roman" panose="02020603050405020304" pitchFamily="18" charset="0"/>
              </a:rPr>
              <a:t>hashelés</a:t>
            </a:r>
            <a:r>
              <a:rPr lang="hu-HU" kern="10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hu-HU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műveletek C# kódja *</a:t>
            </a:r>
            <a:endParaRPr lang="hu-HU" sz="7200"/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162CFEDD-6268-3D0E-03A5-C07164258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012" y="1305991"/>
            <a:ext cx="2972215" cy="5048955"/>
          </a:xfrm>
          <a:custGeom>
            <a:avLst/>
            <a:gdLst>
              <a:gd name="csX0" fmla="*/ 0 w 2972215"/>
              <a:gd name="csY0" fmla="*/ 0 h 5048955"/>
              <a:gd name="csX1" fmla="*/ 534999 w 2972215"/>
              <a:gd name="csY1" fmla="*/ 0 h 5048955"/>
              <a:gd name="csX2" fmla="*/ 1040275 w 2972215"/>
              <a:gd name="csY2" fmla="*/ 0 h 5048955"/>
              <a:gd name="csX3" fmla="*/ 1604996 w 2972215"/>
              <a:gd name="csY3" fmla="*/ 0 h 5048955"/>
              <a:gd name="csX4" fmla="*/ 2229161 w 2972215"/>
              <a:gd name="csY4" fmla="*/ 0 h 5048955"/>
              <a:gd name="csX5" fmla="*/ 2972215 w 2972215"/>
              <a:gd name="csY5" fmla="*/ 0 h 5048955"/>
              <a:gd name="csX6" fmla="*/ 2972215 w 2972215"/>
              <a:gd name="csY6" fmla="*/ 460016 h 5048955"/>
              <a:gd name="csX7" fmla="*/ 2972215 w 2972215"/>
              <a:gd name="csY7" fmla="*/ 920032 h 5048955"/>
              <a:gd name="csX8" fmla="*/ 2972215 w 2972215"/>
              <a:gd name="csY8" fmla="*/ 1481027 h 5048955"/>
              <a:gd name="csX9" fmla="*/ 2972215 w 2972215"/>
              <a:gd name="csY9" fmla="*/ 2092511 h 5048955"/>
              <a:gd name="csX10" fmla="*/ 2972215 w 2972215"/>
              <a:gd name="csY10" fmla="*/ 2653506 h 5048955"/>
              <a:gd name="csX11" fmla="*/ 2972215 w 2972215"/>
              <a:gd name="csY11" fmla="*/ 3113522 h 5048955"/>
              <a:gd name="csX12" fmla="*/ 2972215 w 2972215"/>
              <a:gd name="csY12" fmla="*/ 3523049 h 5048955"/>
              <a:gd name="csX13" fmla="*/ 2972215 w 2972215"/>
              <a:gd name="csY13" fmla="*/ 4033554 h 5048955"/>
              <a:gd name="csX14" fmla="*/ 2972215 w 2972215"/>
              <a:gd name="csY14" fmla="*/ 5048955 h 5048955"/>
              <a:gd name="csX15" fmla="*/ 2407494 w 2972215"/>
              <a:gd name="csY15" fmla="*/ 5048955 h 5048955"/>
              <a:gd name="csX16" fmla="*/ 1872495 w 2972215"/>
              <a:gd name="csY16" fmla="*/ 5048955 h 5048955"/>
              <a:gd name="csX17" fmla="*/ 1337497 w 2972215"/>
              <a:gd name="csY17" fmla="*/ 5048955 h 5048955"/>
              <a:gd name="csX18" fmla="*/ 683609 w 2972215"/>
              <a:gd name="csY18" fmla="*/ 5048955 h 5048955"/>
              <a:gd name="csX19" fmla="*/ 0 w 2972215"/>
              <a:gd name="csY19" fmla="*/ 5048955 h 5048955"/>
              <a:gd name="csX20" fmla="*/ 0 w 2972215"/>
              <a:gd name="csY20" fmla="*/ 4437470 h 5048955"/>
              <a:gd name="csX21" fmla="*/ 0 w 2972215"/>
              <a:gd name="csY21" fmla="*/ 4027944 h 5048955"/>
              <a:gd name="csX22" fmla="*/ 0 w 2972215"/>
              <a:gd name="csY22" fmla="*/ 3466949 h 5048955"/>
              <a:gd name="csX23" fmla="*/ 0 w 2972215"/>
              <a:gd name="csY23" fmla="*/ 2905954 h 5048955"/>
              <a:gd name="csX24" fmla="*/ 0 w 2972215"/>
              <a:gd name="csY24" fmla="*/ 2243980 h 5048955"/>
              <a:gd name="csX25" fmla="*/ 0 w 2972215"/>
              <a:gd name="csY25" fmla="*/ 1682985 h 5048955"/>
              <a:gd name="csX26" fmla="*/ 0 w 2972215"/>
              <a:gd name="csY26" fmla="*/ 1021011 h 5048955"/>
              <a:gd name="csX27" fmla="*/ 0 w 2972215"/>
              <a:gd name="csY27" fmla="*/ 560995 h 5048955"/>
              <a:gd name="csX28" fmla="*/ 0 w 2972215"/>
              <a:gd name="csY28" fmla="*/ 0 h 50489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2972215" h="5048955" fill="none" extrusionOk="0">
                <a:moveTo>
                  <a:pt x="0" y="0"/>
                </a:moveTo>
                <a:cubicBezTo>
                  <a:pt x="224475" y="-8953"/>
                  <a:pt x="313676" y="64060"/>
                  <a:pt x="534999" y="0"/>
                </a:cubicBezTo>
                <a:cubicBezTo>
                  <a:pt x="756322" y="-64060"/>
                  <a:pt x="897568" y="6248"/>
                  <a:pt x="1040275" y="0"/>
                </a:cubicBezTo>
                <a:cubicBezTo>
                  <a:pt x="1182982" y="-6248"/>
                  <a:pt x="1361041" y="10463"/>
                  <a:pt x="1604996" y="0"/>
                </a:cubicBezTo>
                <a:cubicBezTo>
                  <a:pt x="1848951" y="-10463"/>
                  <a:pt x="1971637" y="31918"/>
                  <a:pt x="2229161" y="0"/>
                </a:cubicBezTo>
                <a:cubicBezTo>
                  <a:pt x="2486686" y="-31918"/>
                  <a:pt x="2611687" y="84933"/>
                  <a:pt x="2972215" y="0"/>
                </a:cubicBezTo>
                <a:cubicBezTo>
                  <a:pt x="3019216" y="167003"/>
                  <a:pt x="2957205" y="265571"/>
                  <a:pt x="2972215" y="460016"/>
                </a:cubicBezTo>
                <a:cubicBezTo>
                  <a:pt x="2987225" y="654461"/>
                  <a:pt x="2926769" y="699674"/>
                  <a:pt x="2972215" y="920032"/>
                </a:cubicBezTo>
                <a:cubicBezTo>
                  <a:pt x="3017661" y="1140390"/>
                  <a:pt x="2938690" y="1319690"/>
                  <a:pt x="2972215" y="1481027"/>
                </a:cubicBezTo>
                <a:cubicBezTo>
                  <a:pt x="3005740" y="1642365"/>
                  <a:pt x="2961366" y="1858849"/>
                  <a:pt x="2972215" y="2092511"/>
                </a:cubicBezTo>
                <a:cubicBezTo>
                  <a:pt x="2983064" y="2326173"/>
                  <a:pt x="2950826" y="2498572"/>
                  <a:pt x="2972215" y="2653506"/>
                </a:cubicBezTo>
                <a:cubicBezTo>
                  <a:pt x="2993604" y="2808441"/>
                  <a:pt x="2940695" y="2963443"/>
                  <a:pt x="2972215" y="3113522"/>
                </a:cubicBezTo>
                <a:cubicBezTo>
                  <a:pt x="3003735" y="3263601"/>
                  <a:pt x="2930620" y="3337062"/>
                  <a:pt x="2972215" y="3523049"/>
                </a:cubicBezTo>
                <a:cubicBezTo>
                  <a:pt x="3013810" y="3709036"/>
                  <a:pt x="2913362" y="3824300"/>
                  <a:pt x="2972215" y="4033554"/>
                </a:cubicBezTo>
                <a:cubicBezTo>
                  <a:pt x="3031068" y="4242809"/>
                  <a:pt x="2937600" y="4844669"/>
                  <a:pt x="2972215" y="5048955"/>
                </a:cubicBezTo>
                <a:cubicBezTo>
                  <a:pt x="2801481" y="5059180"/>
                  <a:pt x="2675208" y="5010630"/>
                  <a:pt x="2407494" y="5048955"/>
                </a:cubicBezTo>
                <a:cubicBezTo>
                  <a:pt x="2139780" y="5087280"/>
                  <a:pt x="2010651" y="5008351"/>
                  <a:pt x="1872495" y="5048955"/>
                </a:cubicBezTo>
                <a:cubicBezTo>
                  <a:pt x="1734339" y="5089559"/>
                  <a:pt x="1523066" y="5013201"/>
                  <a:pt x="1337497" y="5048955"/>
                </a:cubicBezTo>
                <a:cubicBezTo>
                  <a:pt x="1151928" y="5084709"/>
                  <a:pt x="921624" y="5020534"/>
                  <a:pt x="683609" y="5048955"/>
                </a:cubicBezTo>
                <a:cubicBezTo>
                  <a:pt x="445594" y="5077376"/>
                  <a:pt x="229859" y="5000828"/>
                  <a:pt x="0" y="5048955"/>
                </a:cubicBezTo>
                <a:cubicBezTo>
                  <a:pt x="-28061" y="4794493"/>
                  <a:pt x="32689" y="4726389"/>
                  <a:pt x="0" y="4437470"/>
                </a:cubicBezTo>
                <a:cubicBezTo>
                  <a:pt x="-32689" y="4148551"/>
                  <a:pt x="29547" y="4211980"/>
                  <a:pt x="0" y="4027944"/>
                </a:cubicBezTo>
                <a:cubicBezTo>
                  <a:pt x="-29547" y="3843908"/>
                  <a:pt x="43282" y="3597643"/>
                  <a:pt x="0" y="3466949"/>
                </a:cubicBezTo>
                <a:cubicBezTo>
                  <a:pt x="-43282" y="3336256"/>
                  <a:pt x="24904" y="3041565"/>
                  <a:pt x="0" y="2905954"/>
                </a:cubicBezTo>
                <a:cubicBezTo>
                  <a:pt x="-24904" y="2770344"/>
                  <a:pt x="49590" y="2555213"/>
                  <a:pt x="0" y="2243980"/>
                </a:cubicBezTo>
                <a:cubicBezTo>
                  <a:pt x="-49590" y="1932747"/>
                  <a:pt x="25417" y="1835289"/>
                  <a:pt x="0" y="1682985"/>
                </a:cubicBezTo>
                <a:cubicBezTo>
                  <a:pt x="-25417" y="1530681"/>
                  <a:pt x="78765" y="1290006"/>
                  <a:pt x="0" y="1021011"/>
                </a:cubicBezTo>
                <a:cubicBezTo>
                  <a:pt x="-78765" y="752016"/>
                  <a:pt x="44173" y="688030"/>
                  <a:pt x="0" y="560995"/>
                </a:cubicBezTo>
                <a:cubicBezTo>
                  <a:pt x="-44173" y="433960"/>
                  <a:pt x="19433" y="138458"/>
                  <a:pt x="0" y="0"/>
                </a:cubicBezTo>
                <a:close/>
              </a:path>
              <a:path w="2972215" h="5048955" stroke="0" extrusionOk="0">
                <a:moveTo>
                  <a:pt x="0" y="0"/>
                </a:moveTo>
                <a:cubicBezTo>
                  <a:pt x="312455" y="-72151"/>
                  <a:pt x="506702" y="77932"/>
                  <a:pt x="653887" y="0"/>
                </a:cubicBezTo>
                <a:cubicBezTo>
                  <a:pt x="801072" y="-77932"/>
                  <a:pt x="1083494" y="32059"/>
                  <a:pt x="1218608" y="0"/>
                </a:cubicBezTo>
                <a:cubicBezTo>
                  <a:pt x="1353722" y="-32059"/>
                  <a:pt x="1613997" y="35477"/>
                  <a:pt x="1813051" y="0"/>
                </a:cubicBezTo>
                <a:cubicBezTo>
                  <a:pt x="2012105" y="-35477"/>
                  <a:pt x="2167657" y="64401"/>
                  <a:pt x="2407494" y="0"/>
                </a:cubicBezTo>
                <a:cubicBezTo>
                  <a:pt x="2647331" y="-64401"/>
                  <a:pt x="2815577" y="54809"/>
                  <a:pt x="2972215" y="0"/>
                </a:cubicBezTo>
                <a:cubicBezTo>
                  <a:pt x="3047328" y="274961"/>
                  <a:pt x="2946481" y="523427"/>
                  <a:pt x="2972215" y="661974"/>
                </a:cubicBezTo>
                <a:cubicBezTo>
                  <a:pt x="2997949" y="800521"/>
                  <a:pt x="2967504" y="965283"/>
                  <a:pt x="2972215" y="1121990"/>
                </a:cubicBezTo>
                <a:cubicBezTo>
                  <a:pt x="2976926" y="1278697"/>
                  <a:pt x="2929968" y="1566452"/>
                  <a:pt x="2972215" y="1682985"/>
                </a:cubicBezTo>
                <a:cubicBezTo>
                  <a:pt x="3014462" y="1799518"/>
                  <a:pt x="2959905" y="1972696"/>
                  <a:pt x="2972215" y="2143001"/>
                </a:cubicBezTo>
                <a:cubicBezTo>
                  <a:pt x="2984525" y="2313306"/>
                  <a:pt x="2955990" y="2443460"/>
                  <a:pt x="2972215" y="2603017"/>
                </a:cubicBezTo>
                <a:cubicBezTo>
                  <a:pt x="2988440" y="2762574"/>
                  <a:pt x="2893243" y="2963601"/>
                  <a:pt x="2972215" y="3264991"/>
                </a:cubicBezTo>
                <a:cubicBezTo>
                  <a:pt x="3051187" y="3566381"/>
                  <a:pt x="2965697" y="3503502"/>
                  <a:pt x="2972215" y="3725007"/>
                </a:cubicBezTo>
                <a:cubicBezTo>
                  <a:pt x="2978733" y="3946512"/>
                  <a:pt x="2962806" y="4145973"/>
                  <a:pt x="2972215" y="4286002"/>
                </a:cubicBezTo>
                <a:cubicBezTo>
                  <a:pt x="2981624" y="4426032"/>
                  <a:pt x="2938267" y="4754528"/>
                  <a:pt x="2972215" y="5048955"/>
                </a:cubicBezTo>
                <a:cubicBezTo>
                  <a:pt x="2677807" y="5126843"/>
                  <a:pt x="2618583" y="5008068"/>
                  <a:pt x="2318328" y="5048955"/>
                </a:cubicBezTo>
                <a:cubicBezTo>
                  <a:pt x="2018073" y="5089842"/>
                  <a:pt x="1871617" y="5013785"/>
                  <a:pt x="1694163" y="5048955"/>
                </a:cubicBezTo>
                <a:cubicBezTo>
                  <a:pt x="1516709" y="5084125"/>
                  <a:pt x="1249324" y="5023126"/>
                  <a:pt x="1069997" y="5048955"/>
                </a:cubicBezTo>
                <a:cubicBezTo>
                  <a:pt x="890670" y="5074784"/>
                  <a:pt x="764437" y="5034209"/>
                  <a:pt x="564721" y="5048955"/>
                </a:cubicBezTo>
                <a:cubicBezTo>
                  <a:pt x="365005" y="5063701"/>
                  <a:pt x="280804" y="5012198"/>
                  <a:pt x="0" y="5048955"/>
                </a:cubicBezTo>
                <a:cubicBezTo>
                  <a:pt x="-32606" y="4938247"/>
                  <a:pt x="47486" y="4802764"/>
                  <a:pt x="0" y="4639429"/>
                </a:cubicBezTo>
                <a:cubicBezTo>
                  <a:pt x="-47486" y="4476094"/>
                  <a:pt x="25706" y="4323703"/>
                  <a:pt x="0" y="4179413"/>
                </a:cubicBezTo>
                <a:cubicBezTo>
                  <a:pt x="-25706" y="4035123"/>
                  <a:pt x="15376" y="3820311"/>
                  <a:pt x="0" y="3668907"/>
                </a:cubicBezTo>
                <a:cubicBezTo>
                  <a:pt x="-15376" y="3517503"/>
                  <a:pt x="54068" y="3307432"/>
                  <a:pt x="0" y="3158402"/>
                </a:cubicBezTo>
                <a:cubicBezTo>
                  <a:pt x="-54068" y="3009373"/>
                  <a:pt x="32527" y="2788275"/>
                  <a:pt x="0" y="2597407"/>
                </a:cubicBezTo>
                <a:cubicBezTo>
                  <a:pt x="-32527" y="2406540"/>
                  <a:pt x="34418" y="2159492"/>
                  <a:pt x="0" y="2036412"/>
                </a:cubicBezTo>
                <a:cubicBezTo>
                  <a:pt x="-34418" y="1913333"/>
                  <a:pt x="65961" y="1630029"/>
                  <a:pt x="0" y="1424927"/>
                </a:cubicBezTo>
                <a:cubicBezTo>
                  <a:pt x="-65961" y="1219826"/>
                  <a:pt x="40977" y="1101626"/>
                  <a:pt x="0" y="1015401"/>
                </a:cubicBezTo>
                <a:cubicBezTo>
                  <a:pt x="-40977" y="929176"/>
                  <a:pt x="48483" y="451433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391161D0-E693-70CC-6F36-AA9F97584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528" y="958619"/>
            <a:ext cx="3091411" cy="5743700"/>
          </a:xfrm>
          <a:custGeom>
            <a:avLst/>
            <a:gdLst>
              <a:gd name="csX0" fmla="*/ 0 w 3091411"/>
              <a:gd name="csY0" fmla="*/ 0 h 5743700"/>
              <a:gd name="csX1" fmla="*/ 577063 w 3091411"/>
              <a:gd name="csY1" fmla="*/ 0 h 5743700"/>
              <a:gd name="csX2" fmla="*/ 1092299 w 3091411"/>
              <a:gd name="csY2" fmla="*/ 0 h 5743700"/>
              <a:gd name="csX3" fmla="*/ 1545705 w 3091411"/>
              <a:gd name="csY3" fmla="*/ 0 h 5743700"/>
              <a:gd name="csX4" fmla="*/ 1968198 w 3091411"/>
              <a:gd name="csY4" fmla="*/ 0 h 5743700"/>
              <a:gd name="csX5" fmla="*/ 2514348 w 3091411"/>
              <a:gd name="csY5" fmla="*/ 0 h 5743700"/>
              <a:gd name="csX6" fmla="*/ 3091411 w 3091411"/>
              <a:gd name="csY6" fmla="*/ 0 h 5743700"/>
              <a:gd name="csX7" fmla="*/ 3091411 w 3091411"/>
              <a:gd name="csY7" fmla="*/ 459496 h 5743700"/>
              <a:gd name="csX8" fmla="*/ 3091411 w 3091411"/>
              <a:gd name="csY8" fmla="*/ 918992 h 5743700"/>
              <a:gd name="csX9" fmla="*/ 3091411 w 3091411"/>
              <a:gd name="csY9" fmla="*/ 1321051 h 5743700"/>
              <a:gd name="csX10" fmla="*/ 3091411 w 3091411"/>
              <a:gd name="csY10" fmla="*/ 1837984 h 5743700"/>
              <a:gd name="csX11" fmla="*/ 3091411 w 3091411"/>
              <a:gd name="csY11" fmla="*/ 2469791 h 5743700"/>
              <a:gd name="csX12" fmla="*/ 3091411 w 3091411"/>
              <a:gd name="csY12" fmla="*/ 2986724 h 5743700"/>
              <a:gd name="csX13" fmla="*/ 3091411 w 3091411"/>
              <a:gd name="csY13" fmla="*/ 3675968 h 5743700"/>
              <a:gd name="csX14" fmla="*/ 3091411 w 3091411"/>
              <a:gd name="csY14" fmla="*/ 4250338 h 5743700"/>
              <a:gd name="csX15" fmla="*/ 3091411 w 3091411"/>
              <a:gd name="csY15" fmla="*/ 4882145 h 5743700"/>
              <a:gd name="csX16" fmla="*/ 3091411 w 3091411"/>
              <a:gd name="csY16" fmla="*/ 5743700 h 5743700"/>
              <a:gd name="csX17" fmla="*/ 2607090 w 3091411"/>
              <a:gd name="csY17" fmla="*/ 5743700 h 5743700"/>
              <a:gd name="csX18" fmla="*/ 2060941 w 3091411"/>
              <a:gd name="csY18" fmla="*/ 5743700 h 5743700"/>
              <a:gd name="csX19" fmla="*/ 1576620 w 3091411"/>
              <a:gd name="csY19" fmla="*/ 5743700 h 5743700"/>
              <a:gd name="csX20" fmla="*/ 1030470 w 3091411"/>
              <a:gd name="csY20" fmla="*/ 5743700 h 5743700"/>
              <a:gd name="csX21" fmla="*/ 515235 w 3091411"/>
              <a:gd name="csY21" fmla="*/ 5743700 h 5743700"/>
              <a:gd name="csX22" fmla="*/ 0 w 3091411"/>
              <a:gd name="csY22" fmla="*/ 5743700 h 5743700"/>
              <a:gd name="csX23" fmla="*/ 0 w 3091411"/>
              <a:gd name="csY23" fmla="*/ 5111893 h 5743700"/>
              <a:gd name="csX24" fmla="*/ 0 w 3091411"/>
              <a:gd name="csY24" fmla="*/ 4652397 h 5743700"/>
              <a:gd name="csX25" fmla="*/ 0 w 3091411"/>
              <a:gd name="csY25" fmla="*/ 4192901 h 5743700"/>
              <a:gd name="csX26" fmla="*/ 0 w 3091411"/>
              <a:gd name="csY26" fmla="*/ 3618531 h 5743700"/>
              <a:gd name="csX27" fmla="*/ 0 w 3091411"/>
              <a:gd name="csY27" fmla="*/ 3216472 h 5743700"/>
              <a:gd name="csX28" fmla="*/ 0 w 3091411"/>
              <a:gd name="csY28" fmla="*/ 2756976 h 5743700"/>
              <a:gd name="csX29" fmla="*/ 0 w 3091411"/>
              <a:gd name="csY29" fmla="*/ 2240043 h 5743700"/>
              <a:gd name="csX30" fmla="*/ 0 w 3091411"/>
              <a:gd name="csY30" fmla="*/ 1608236 h 5743700"/>
              <a:gd name="csX31" fmla="*/ 0 w 3091411"/>
              <a:gd name="csY31" fmla="*/ 976429 h 5743700"/>
              <a:gd name="csX32" fmla="*/ 0 w 3091411"/>
              <a:gd name="csY32" fmla="*/ 574370 h 5743700"/>
              <a:gd name="csX33" fmla="*/ 0 w 3091411"/>
              <a:gd name="csY33" fmla="*/ 0 h 5743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3091411" h="5743700" fill="none" extrusionOk="0">
                <a:moveTo>
                  <a:pt x="0" y="0"/>
                </a:moveTo>
                <a:cubicBezTo>
                  <a:pt x="226111" y="-12437"/>
                  <a:pt x="430375" y="65454"/>
                  <a:pt x="577063" y="0"/>
                </a:cubicBezTo>
                <a:cubicBezTo>
                  <a:pt x="723751" y="-65454"/>
                  <a:pt x="951874" y="14365"/>
                  <a:pt x="1092299" y="0"/>
                </a:cubicBezTo>
                <a:cubicBezTo>
                  <a:pt x="1232724" y="-14365"/>
                  <a:pt x="1378863" y="14556"/>
                  <a:pt x="1545705" y="0"/>
                </a:cubicBezTo>
                <a:cubicBezTo>
                  <a:pt x="1712547" y="-14556"/>
                  <a:pt x="1828254" y="1944"/>
                  <a:pt x="1968198" y="0"/>
                </a:cubicBezTo>
                <a:cubicBezTo>
                  <a:pt x="2108142" y="-1944"/>
                  <a:pt x="2281972" y="46383"/>
                  <a:pt x="2514348" y="0"/>
                </a:cubicBezTo>
                <a:cubicBezTo>
                  <a:pt x="2746724" y="-46383"/>
                  <a:pt x="2818074" y="10621"/>
                  <a:pt x="3091411" y="0"/>
                </a:cubicBezTo>
                <a:cubicBezTo>
                  <a:pt x="3135088" y="192684"/>
                  <a:pt x="3047261" y="253814"/>
                  <a:pt x="3091411" y="459496"/>
                </a:cubicBezTo>
                <a:cubicBezTo>
                  <a:pt x="3135561" y="665178"/>
                  <a:pt x="3089889" y="751009"/>
                  <a:pt x="3091411" y="918992"/>
                </a:cubicBezTo>
                <a:cubicBezTo>
                  <a:pt x="3092933" y="1086975"/>
                  <a:pt x="3054613" y="1209635"/>
                  <a:pt x="3091411" y="1321051"/>
                </a:cubicBezTo>
                <a:cubicBezTo>
                  <a:pt x="3128209" y="1432467"/>
                  <a:pt x="3030200" y="1686353"/>
                  <a:pt x="3091411" y="1837984"/>
                </a:cubicBezTo>
                <a:cubicBezTo>
                  <a:pt x="3152622" y="1989615"/>
                  <a:pt x="3070146" y="2261547"/>
                  <a:pt x="3091411" y="2469791"/>
                </a:cubicBezTo>
                <a:cubicBezTo>
                  <a:pt x="3112676" y="2678035"/>
                  <a:pt x="3044837" y="2816966"/>
                  <a:pt x="3091411" y="2986724"/>
                </a:cubicBezTo>
                <a:cubicBezTo>
                  <a:pt x="3137985" y="3156482"/>
                  <a:pt x="3083679" y="3516157"/>
                  <a:pt x="3091411" y="3675968"/>
                </a:cubicBezTo>
                <a:cubicBezTo>
                  <a:pt x="3099143" y="3835779"/>
                  <a:pt x="3051245" y="4058438"/>
                  <a:pt x="3091411" y="4250338"/>
                </a:cubicBezTo>
                <a:cubicBezTo>
                  <a:pt x="3131577" y="4442238"/>
                  <a:pt x="3067810" y="4625943"/>
                  <a:pt x="3091411" y="4882145"/>
                </a:cubicBezTo>
                <a:cubicBezTo>
                  <a:pt x="3115012" y="5138347"/>
                  <a:pt x="2999302" y="5455418"/>
                  <a:pt x="3091411" y="5743700"/>
                </a:cubicBezTo>
                <a:cubicBezTo>
                  <a:pt x="2977280" y="5782890"/>
                  <a:pt x="2770793" y="5692099"/>
                  <a:pt x="2607090" y="5743700"/>
                </a:cubicBezTo>
                <a:cubicBezTo>
                  <a:pt x="2443387" y="5795301"/>
                  <a:pt x="2245532" y="5698124"/>
                  <a:pt x="2060941" y="5743700"/>
                </a:cubicBezTo>
                <a:cubicBezTo>
                  <a:pt x="1876350" y="5789276"/>
                  <a:pt x="1710415" y="5690813"/>
                  <a:pt x="1576620" y="5743700"/>
                </a:cubicBezTo>
                <a:cubicBezTo>
                  <a:pt x="1442825" y="5796587"/>
                  <a:pt x="1297655" y="5720177"/>
                  <a:pt x="1030470" y="5743700"/>
                </a:cubicBezTo>
                <a:cubicBezTo>
                  <a:pt x="763285" y="5767223"/>
                  <a:pt x="621141" y="5713235"/>
                  <a:pt x="515235" y="5743700"/>
                </a:cubicBezTo>
                <a:cubicBezTo>
                  <a:pt x="409329" y="5774165"/>
                  <a:pt x="195979" y="5697524"/>
                  <a:pt x="0" y="5743700"/>
                </a:cubicBezTo>
                <a:cubicBezTo>
                  <a:pt x="-54793" y="5476289"/>
                  <a:pt x="42124" y="5295606"/>
                  <a:pt x="0" y="5111893"/>
                </a:cubicBezTo>
                <a:cubicBezTo>
                  <a:pt x="-42124" y="4928180"/>
                  <a:pt x="52831" y="4753059"/>
                  <a:pt x="0" y="4652397"/>
                </a:cubicBezTo>
                <a:cubicBezTo>
                  <a:pt x="-52831" y="4551735"/>
                  <a:pt x="13924" y="4416320"/>
                  <a:pt x="0" y="4192901"/>
                </a:cubicBezTo>
                <a:cubicBezTo>
                  <a:pt x="-13924" y="3969482"/>
                  <a:pt x="37780" y="3742439"/>
                  <a:pt x="0" y="3618531"/>
                </a:cubicBezTo>
                <a:cubicBezTo>
                  <a:pt x="-37780" y="3494623"/>
                  <a:pt x="29369" y="3367340"/>
                  <a:pt x="0" y="3216472"/>
                </a:cubicBezTo>
                <a:cubicBezTo>
                  <a:pt x="-29369" y="3065604"/>
                  <a:pt x="9258" y="2959111"/>
                  <a:pt x="0" y="2756976"/>
                </a:cubicBezTo>
                <a:cubicBezTo>
                  <a:pt x="-9258" y="2554841"/>
                  <a:pt x="45150" y="2448602"/>
                  <a:pt x="0" y="2240043"/>
                </a:cubicBezTo>
                <a:cubicBezTo>
                  <a:pt x="-45150" y="2031484"/>
                  <a:pt x="50977" y="1782628"/>
                  <a:pt x="0" y="1608236"/>
                </a:cubicBezTo>
                <a:cubicBezTo>
                  <a:pt x="-50977" y="1433844"/>
                  <a:pt x="49297" y="1275266"/>
                  <a:pt x="0" y="976429"/>
                </a:cubicBezTo>
                <a:cubicBezTo>
                  <a:pt x="-49297" y="677592"/>
                  <a:pt x="13275" y="670757"/>
                  <a:pt x="0" y="574370"/>
                </a:cubicBezTo>
                <a:cubicBezTo>
                  <a:pt x="-13275" y="477983"/>
                  <a:pt x="37668" y="245693"/>
                  <a:pt x="0" y="0"/>
                </a:cubicBezTo>
                <a:close/>
              </a:path>
              <a:path w="3091411" h="5743700" stroke="0" extrusionOk="0">
                <a:moveTo>
                  <a:pt x="0" y="0"/>
                </a:moveTo>
                <a:cubicBezTo>
                  <a:pt x="251581" y="-39773"/>
                  <a:pt x="397037" y="33402"/>
                  <a:pt x="577063" y="0"/>
                </a:cubicBezTo>
                <a:cubicBezTo>
                  <a:pt x="757089" y="-33402"/>
                  <a:pt x="879769" y="17242"/>
                  <a:pt x="1061384" y="0"/>
                </a:cubicBezTo>
                <a:cubicBezTo>
                  <a:pt x="1242999" y="-17242"/>
                  <a:pt x="1459002" y="56760"/>
                  <a:pt x="1576620" y="0"/>
                </a:cubicBezTo>
                <a:cubicBezTo>
                  <a:pt x="1694238" y="-56760"/>
                  <a:pt x="1902840" y="21994"/>
                  <a:pt x="2091855" y="0"/>
                </a:cubicBezTo>
                <a:cubicBezTo>
                  <a:pt x="2280870" y="-21994"/>
                  <a:pt x="2685243" y="61354"/>
                  <a:pt x="3091411" y="0"/>
                </a:cubicBezTo>
                <a:cubicBezTo>
                  <a:pt x="3161089" y="328067"/>
                  <a:pt x="3080724" y="401552"/>
                  <a:pt x="3091411" y="689244"/>
                </a:cubicBezTo>
                <a:cubicBezTo>
                  <a:pt x="3102098" y="976936"/>
                  <a:pt x="3040207" y="962394"/>
                  <a:pt x="3091411" y="1148740"/>
                </a:cubicBezTo>
                <a:cubicBezTo>
                  <a:pt x="3142615" y="1335086"/>
                  <a:pt x="3037108" y="1514632"/>
                  <a:pt x="3091411" y="1723110"/>
                </a:cubicBezTo>
                <a:cubicBezTo>
                  <a:pt x="3145714" y="1931588"/>
                  <a:pt x="3074928" y="2012683"/>
                  <a:pt x="3091411" y="2182606"/>
                </a:cubicBezTo>
                <a:cubicBezTo>
                  <a:pt x="3107894" y="2352529"/>
                  <a:pt x="3089506" y="2502433"/>
                  <a:pt x="3091411" y="2642102"/>
                </a:cubicBezTo>
                <a:cubicBezTo>
                  <a:pt x="3093316" y="2781771"/>
                  <a:pt x="3078716" y="3108737"/>
                  <a:pt x="3091411" y="3331346"/>
                </a:cubicBezTo>
                <a:cubicBezTo>
                  <a:pt x="3104106" y="3553955"/>
                  <a:pt x="3073974" y="3607287"/>
                  <a:pt x="3091411" y="3790842"/>
                </a:cubicBezTo>
                <a:cubicBezTo>
                  <a:pt x="3108848" y="3974397"/>
                  <a:pt x="3047389" y="4154253"/>
                  <a:pt x="3091411" y="4365212"/>
                </a:cubicBezTo>
                <a:cubicBezTo>
                  <a:pt x="3135433" y="4576171"/>
                  <a:pt x="3043734" y="4803998"/>
                  <a:pt x="3091411" y="4939582"/>
                </a:cubicBezTo>
                <a:cubicBezTo>
                  <a:pt x="3139088" y="5075166"/>
                  <a:pt x="3081502" y="5546891"/>
                  <a:pt x="3091411" y="5743700"/>
                </a:cubicBezTo>
                <a:cubicBezTo>
                  <a:pt x="2804495" y="5798268"/>
                  <a:pt x="2721871" y="5732725"/>
                  <a:pt x="2514348" y="5743700"/>
                </a:cubicBezTo>
                <a:cubicBezTo>
                  <a:pt x="2306825" y="5754675"/>
                  <a:pt x="2179004" y="5699626"/>
                  <a:pt x="1968198" y="5743700"/>
                </a:cubicBezTo>
                <a:cubicBezTo>
                  <a:pt x="1757392" y="5787774"/>
                  <a:pt x="1699794" y="5712555"/>
                  <a:pt x="1545706" y="5743700"/>
                </a:cubicBezTo>
                <a:cubicBezTo>
                  <a:pt x="1391618" y="5774845"/>
                  <a:pt x="1292604" y="5714503"/>
                  <a:pt x="1123213" y="5743700"/>
                </a:cubicBezTo>
                <a:cubicBezTo>
                  <a:pt x="953822" y="5772897"/>
                  <a:pt x="817702" y="5713758"/>
                  <a:pt x="700720" y="5743700"/>
                </a:cubicBezTo>
                <a:cubicBezTo>
                  <a:pt x="583738" y="5773642"/>
                  <a:pt x="231460" y="5683637"/>
                  <a:pt x="0" y="5743700"/>
                </a:cubicBezTo>
                <a:cubicBezTo>
                  <a:pt x="-2280" y="5597568"/>
                  <a:pt x="62801" y="5445270"/>
                  <a:pt x="0" y="5169330"/>
                </a:cubicBezTo>
                <a:cubicBezTo>
                  <a:pt x="-62801" y="4893390"/>
                  <a:pt x="8574" y="4908327"/>
                  <a:pt x="0" y="4652397"/>
                </a:cubicBezTo>
                <a:cubicBezTo>
                  <a:pt x="-8574" y="4396467"/>
                  <a:pt x="23136" y="4289591"/>
                  <a:pt x="0" y="4078027"/>
                </a:cubicBezTo>
                <a:cubicBezTo>
                  <a:pt x="-23136" y="3866463"/>
                  <a:pt x="36143" y="3671043"/>
                  <a:pt x="0" y="3503657"/>
                </a:cubicBezTo>
                <a:cubicBezTo>
                  <a:pt x="-36143" y="3336271"/>
                  <a:pt x="15838" y="3007070"/>
                  <a:pt x="0" y="2871850"/>
                </a:cubicBezTo>
                <a:cubicBezTo>
                  <a:pt x="-15838" y="2736630"/>
                  <a:pt x="47080" y="2596063"/>
                  <a:pt x="0" y="2469791"/>
                </a:cubicBezTo>
                <a:cubicBezTo>
                  <a:pt x="-47080" y="2343519"/>
                  <a:pt x="41148" y="2176908"/>
                  <a:pt x="0" y="1895421"/>
                </a:cubicBezTo>
                <a:cubicBezTo>
                  <a:pt x="-41148" y="1613934"/>
                  <a:pt x="30945" y="1591583"/>
                  <a:pt x="0" y="1435925"/>
                </a:cubicBezTo>
                <a:cubicBezTo>
                  <a:pt x="-30945" y="1280267"/>
                  <a:pt x="55127" y="1007232"/>
                  <a:pt x="0" y="804118"/>
                </a:cubicBezTo>
                <a:cubicBezTo>
                  <a:pt x="-55127" y="601004"/>
                  <a:pt x="34683" y="339942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18A0A1E3-3AE6-86EE-81C1-A3332C3C1D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486" y="958619"/>
            <a:ext cx="2789550" cy="5743700"/>
          </a:xfrm>
          <a:custGeom>
            <a:avLst/>
            <a:gdLst>
              <a:gd name="csX0" fmla="*/ 0 w 2789550"/>
              <a:gd name="csY0" fmla="*/ 0 h 5743700"/>
              <a:gd name="csX1" fmla="*/ 585806 w 2789550"/>
              <a:gd name="csY1" fmla="*/ 0 h 5743700"/>
              <a:gd name="csX2" fmla="*/ 1171611 w 2789550"/>
              <a:gd name="csY2" fmla="*/ 0 h 5743700"/>
              <a:gd name="csX3" fmla="*/ 1729521 w 2789550"/>
              <a:gd name="csY3" fmla="*/ 0 h 5743700"/>
              <a:gd name="csX4" fmla="*/ 2231640 w 2789550"/>
              <a:gd name="csY4" fmla="*/ 0 h 5743700"/>
              <a:gd name="csX5" fmla="*/ 2789550 w 2789550"/>
              <a:gd name="csY5" fmla="*/ 0 h 5743700"/>
              <a:gd name="csX6" fmla="*/ 2789550 w 2789550"/>
              <a:gd name="csY6" fmla="*/ 631807 h 5743700"/>
              <a:gd name="csX7" fmla="*/ 2789550 w 2789550"/>
              <a:gd name="csY7" fmla="*/ 1263614 h 5743700"/>
              <a:gd name="csX8" fmla="*/ 2789550 w 2789550"/>
              <a:gd name="csY8" fmla="*/ 1837984 h 5743700"/>
              <a:gd name="csX9" fmla="*/ 2789550 w 2789550"/>
              <a:gd name="csY9" fmla="*/ 2297480 h 5743700"/>
              <a:gd name="csX10" fmla="*/ 2789550 w 2789550"/>
              <a:gd name="csY10" fmla="*/ 2699539 h 5743700"/>
              <a:gd name="csX11" fmla="*/ 2789550 w 2789550"/>
              <a:gd name="csY11" fmla="*/ 3216472 h 5743700"/>
              <a:gd name="csX12" fmla="*/ 2789550 w 2789550"/>
              <a:gd name="csY12" fmla="*/ 3848279 h 5743700"/>
              <a:gd name="csX13" fmla="*/ 2789550 w 2789550"/>
              <a:gd name="csY13" fmla="*/ 4365212 h 5743700"/>
              <a:gd name="csX14" fmla="*/ 2789550 w 2789550"/>
              <a:gd name="csY14" fmla="*/ 5054456 h 5743700"/>
              <a:gd name="csX15" fmla="*/ 2789550 w 2789550"/>
              <a:gd name="csY15" fmla="*/ 5743700 h 5743700"/>
              <a:gd name="csX16" fmla="*/ 2203745 w 2789550"/>
              <a:gd name="csY16" fmla="*/ 5743700 h 5743700"/>
              <a:gd name="csX17" fmla="*/ 1590043 w 2789550"/>
              <a:gd name="csY17" fmla="*/ 5743700 h 5743700"/>
              <a:gd name="csX18" fmla="*/ 1004238 w 2789550"/>
              <a:gd name="csY18" fmla="*/ 5743700 h 5743700"/>
              <a:gd name="csX19" fmla="*/ 0 w 2789550"/>
              <a:gd name="csY19" fmla="*/ 5743700 h 5743700"/>
              <a:gd name="csX20" fmla="*/ 0 w 2789550"/>
              <a:gd name="csY20" fmla="*/ 5226767 h 5743700"/>
              <a:gd name="csX21" fmla="*/ 0 w 2789550"/>
              <a:gd name="csY21" fmla="*/ 4652397 h 5743700"/>
              <a:gd name="csX22" fmla="*/ 0 w 2789550"/>
              <a:gd name="csY22" fmla="*/ 3963153 h 5743700"/>
              <a:gd name="csX23" fmla="*/ 0 w 2789550"/>
              <a:gd name="csY23" fmla="*/ 3388783 h 5743700"/>
              <a:gd name="csX24" fmla="*/ 0 w 2789550"/>
              <a:gd name="csY24" fmla="*/ 2699539 h 5743700"/>
              <a:gd name="csX25" fmla="*/ 0 w 2789550"/>
              <a:gd name="csY25" fmla="*/ 2240043 h 5743700"/>
              <a:gd name="csX26" fmla="*/ 0 w 2789550"/>
              <a:gd name="csY26" fmla="*/ 1780547 h 5743700"/>
              <a:gd name="csX27" fmla="*/ 0 w 2789550"/>
              <a:gd name="csY27" fmla="*/ 1206177 h 5743700"/>
              <a:gd name="csX28" fmla="*/ 0 w 2789550"/>
              <a:gd name="csY28" fmla="*/ 804118 h 5743700"/>
              <a:gd name="csX29" fmla="*/ 0 w 2789550"/>
              <a:gd name="csY29" fmla="*/ 0 h 5743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2789550" h="5743700" fill="none" extrusionOk="0">
                <a:moveTo>
                  <a:pt x="0" y="0"/>
                </a:moveTo>
                <a:cubicBezTo>
                  <a:pt x="217748" y="-49820"/>
                  <a:pt x="425278" y="63570"/>
                  <a:pt x="585806" y="0"/>
                </a:cubicBezTo>
                <a:cubicBezTo>
                  <a:pt x="746334" y="-63570"/>
                  <a:pt x="882158" y="26093"/>
                  <a:pt x="1171611" y="0"/>
                </a:cubicBezTo>
                <a:cubicBezTo>
                  <a:pt x="1461065" y="-26093"/>
                  <a:pt x="1475586" y="5712"/>
                  <a:pt x="1729521" y="0"/>
                </a:cubicBezTo>
                <a:cubicBezTo>
                  <a:pt x="1983456" y="-5712"/>
                  <a:pt x="2051326" y="30971"/>
                  <a:pt x="2231640" y="0"/>
                </a:cubicBezTo>
                <a:cubicBezTo>
                  <a:pt x="2411954" y="-30971"/>
                  <a:pt x="2610859" y="60283"/>
                  <a:pt x="2789550" y="0"/>
                </a:cubicBezTo>
                <a:cubicBezTo>
                  <a:pt x="2847760" y="128620"/>
                  <a:pt x="2742448" y="395850"/>
                  <a:pt x="2789550" y="631807"/>
                </a:cubicBezTo>
                <a:cubicBezTo>
                  <a:pt x="2836652" y="867764"/>
                  <a:pt x="2783273" y="1043486"/>
                  <a:pt x="2789550" y="1263614"/>
                </a:cubicBezTo>
                <a:cubicBezTo>
                  <a:pt x="2795827" y="1483742"/>
                  <a:pt x="2772970" y="1713237"/>
                  <a:pt x="2789550" y="1837984"/>
                </a:cubicBezTo>
                <a:cubicBezTo>
                  <a:pt x="2806130" y="1962731"/>
                  <a:pt x="2788028" y="2129497"/>
                  <a:pt x="2789550" y="2297480"/>
                </a:cubicBezTo>
                <a:cubicBezTo>
                  <a:pt x="2791072" y="2465463"/>
                  <a:pt x="2752752" y="2588123"/>
                  <a:pt x="2789550" y="2699539"/>
                </a:cubicBezTo>
                <a:cubicBezTo>
                  <a:pt x="2826348" y="2810955"/>
                  <a:pt x="2728339" y="3064841"/>
                  <a:pt x="2789550" y="3216472"/>
                </a:cubicBezTo>
                <a:cubicBezTo>
                  <a:pt x="2850761" y="3368103"/>
                  <a:pt x="2768285" y="3640035"/>
                  <a:pt x="2789550" y="3848279"/>
                </a:cubicBezTo>
                <a:cubicBezTo>
                  <a:pt x="2810815" y="4056523"/>
                  <a:pt x="2742976" y="4195454"/>
                  <a:pt x="2789550" y="4365212"/>
                </a:cubicBezTo>
                <a:cubicBezTo>
                  <a:pt x="2836124" y="4534970"/>
                  <a:pt x="2781818" y="4894645"/>
                  <a:pt x="2789550" y="5054456"/>
                </a:cubicBezTo>
                <a:cubicBezTo>
                  <a:pt x="2797282" y="5214267"/>
                  <a:pt x="2735599" y="5428746"/>
                  <a:pt x="2789550" y="5743700"/>
                </a:cubicBezTo>
                <a:cubicBezTo>
                  <a:pt x="2609840" y="5772875"/>
                  <a:pt x="2384439" y="5711301"/>
                  <a:pt x="2203745" y="5743700"/>
                </a:cubicBezTo>
                <a:cubicBezTo>
                  <a:pt x="2023051" y="5776099"/>
                  <a:pt x="1814721" y="5742625"/>
                  <a:pt x="1590043" y="5743700"/>
                </a:cubicBezTo>
                <a:cubicBezTo>
                  <a:pt x="1365365" y="5744775"/>
                  <a:pt x="1174586" y="5682426"/>
                  <a:pt x="1004238" y="5743700"/>
                </a:cubicBezTo>
                <a:cubicBezTo>
                  <a:pt x="833891" y="5804974"/>
                  <a:pt x="421277" y="5648185"/>
                  <a:pt x="0" y="5743700"/>
                </a:cubicBezTo>
                <a:cubicBezTo>
                  <a:pt x="-60373" y="5490652"/>
                  <a:pt x="28683" y="5401334"/>
                  <a:pt x="0" y="5226767"/>
                </a:cubicBezTo>
                <a:cubicBezTo>
                  <a:pt x="-28683" y="5052200"/>
                  <a:pt x="42781" y="4931141"/>
                  <a:pt x="0" y="4652397"/>
                </a:cubicBezTo>
                <a:cubicBezTo>
                  <a:pt x="-42781" y="4373653"/>
                  <a:pt x="25084" y="4101788"/>
                  <a:pt x="0" y="3963153"/>
                </a:cubicBezTo>
                <a:cubicBezTo>
                  <a:pt x="-25084" y="3824518"/>
                  <a:pt x="58093" y="3668740"/>
                  <a:pt x="0" y="3388783"/>
                </a:cubicBezTo>
                <a:cubicBezTo>
                  <a:pt x="-58093" y="3108826"/>
                  <a:pt x="7662" y="2979472"/>
                  <a:pt x="0" y="2699539"/>
                </a:cubicBezTo>
                <a:cubicBezTo>
                  <a:pt x="-7662" y="2419606"/>
                  <a:pt x="52831" y="2340705"/>
                  <a:pt x="0" y="2240043"/>
                </a:cubicBezTo>
                <a:cubicBezTo>
                  <a:pt x="-52831" y="2139381"/>
                  <a:pt x="13924" y="2003966"/>
                  <a:pt x="0" y="1780547"/>
                </a:cubicBezTo>
                <a:cubicBezTo>
                  <a:pt x="-13924" y="1557128"/>
                  <a:pt x="37780" y="1330085"/>
                  <a:pt x="0" y="1206177"/>
                </a:cubicBezTo>
                <a:cubicBezTo>
                  <a:pt x="-37780" y="1082269"/>
                  <a:pt x="29369" y="954986"/>
                  <a:pt x="0" y="804118"/>
                </a:cubicBezTo>
                <a:cubicBezTo>
                  <a:pt x="-29369" y="653250"/>
                  <a:pt x="64398" y="370039"/>
                  <a:pt x="0" y="0"/>
                </a:cubicBezTo>
                <a:close/>
              </a:path>
              <a:path w="2789550" h="5743700" stroke="0" extrusionOk="0">
                <a:moveTo>
                  <a:pt x="0" y="0"/>
                </a:moveTo>
                <a:cubicBezTo>
                  <a:pt x="134698" y="-41840"/>
                  <a:pt x="394807" y="58113"/>
                  <a:pt x="613701" y="0"/>
                </a:cubicBezTo>
                <a:cubicBezTo>
                  <a:pt x="832595" y="-58113"/>
                  <a:pt x="947902" y="55926"/>
                  <a:pt x="1143716" y="0"/>
                </a:cubicBezTo>
                <a:cubicBezTo>
                  <a:pt x="1339530" y="-55926"/>
                  <a:pt x="1572091" y="66019"/>
                  <a:pt x="1701626" y="0"/>
                </a:cubicBezTo>
                <a:cubicBezTo>
                  <a:pt x="1831161" y="-66019"/>
                  <a:pt x="2055013" y="48679"/>
                  <a:pt x="2259536" y="0"/>
                </a:cubicBezTo>
                <a:cubicBezTo>
                  <a:pt x="2464059" y="-48679"/>
                  <a:pt x="2615580" y="14094"/>
                  <a:pt x="2789550" y="0"/>
                </a:cubicBezTo>
                <a:cubicBezTo>
                  <a:pt x="2859228" y="328067"/>
                  <a:pt x="2778863" y="401552"/>
                  <a:pt x="2789550" y="689244"/>
                </a:cubicBezTo>
                <a:cubicBezTo>
                  <a:pt x="2800237" y="976936"/>
                  <a:pt x="2738346" y="962394"/>
                  <a:pt x="2789550" y="1148740"/>
                </a:cubicBezTo>
                <a:cubicBezTo>
                  <a:pt x="2840754" y="1335086"/>
                  <a:pt x="2735247" y="1514632"/>
                  <a:pt x="2789550" y="1723110"/>
                </a:cubicBezTo>
                <a:cubicBezTo>
                  <a:pt x="2843853" y="1931588"/>
                  <a:pt x="2773067" y="2012683"/>
                  <a:pt x="2789550" y="2182606"/>
                </a:cubicBezTo>
                <a:cubicBezTo>
                  <a:pt x="2806033" y="2352529"/>
                  <a:pt x="2787645" y="2502433"/>
                  <a:pt x="2789550" y="2642102"/>
                </a:cubicBezTo>
                <a:cubicBezTo>
                  <a:pt x="2791455" y="2781771"/>
                  <a:pt x="2776855" y="3108737"/>
                  <a:pt x="2789550" y="3331346"/>
                </a:cubicBezTo>
                <a:cubicBezTo>
                  <a:pt x="2802245" y="3553955"/>
                  <a:pt x="2772113" y="3607287"/>
                  <a:pt x="2789550" y="3790842"/>
                </a:cubicBezTo>
                <a:cubicBezTo>
                  <a:pt x="2806987" y="3974397"/>
                  <a:pt x="2745528" y="4154253"/>
                  <a:pt x="2789550" y="4365212"/>
                </a:cubicBezTo>
                <a:cubicBezTo>
                  <a:pt x="2833572" y="4576171"/>
                  <a:pt x="2741873" y="4803998"/>
                  <a:pt x="2789550" y="4939582"/>
                </a:cubicBezTo>
                <a:cubicBezTo>
                  <a:pt x="2837227" y="5075166"/>
                  <a:pt x="2779641" y="5546891"/>
                  <a:pt x="2789550" y="5743700"/>
                </a:cubicBezTo>
                <a:cubicBezTo>
                  <a:pt x="2534133" y="5789306"/>
                  <a:pt x="2363599" y="5733340"/>
                  <a:pt x="2175849" y="5743700"/>
                </a:cubicBezTo>
                <a:cubicBezTo>
                  <a:pt x="1988099" y="5754060"/>
                  <a:pt x="1769910" y="5699555"/>
                  <a:pt x="1590043" y="5743700"/>
                </a:cubicBezTo>
                <a:cubicBezTo>
                  <a:pt x="1410176" y="5787845"/>
                  <a:pt x="1285771" y="5714325"/>
                  <a:pt x="1115820" y="5743700"/>
                </a:cubicBezTo>
                <a:cubicBezTo>
                  <a:pt x="945869" y="5773075"/>
                  <a:pt x="825726" y="5720497"/>
                  <a:pt x="641596" y="5743700"/>
                </a:cubicBezTo>
                <a:cubicBezTo>
                  <a:pt x="457466" y="5766903"/>
                  <a:pt x="213865" y="5675122"/>
                  <a:pt x="0" y="5743700"/>
                </a:cubicBezTo>
                <a:cubicBezTo>
                  <a:pt x="-309" y="5560890"/>
                  <a:pt x="12802" y="5509987"/>
                  <a:pt x="0" y="5341641"/>
                </a:cubicBezTo>
                <a:cubicBezTo>
                  <a:pt x="-12802" y="5173295"/>
                  <a:pt x="49017" y="4935325"/>
                  <a:pt x="0" y="4824708"/>
                </a:cubicBezTo>
                <a:cubicBezTo>
                  <a:pt x="-49017" y="4714091"/>
                  <a:pt x="8574" y="4563705"/>
                  <a:pt x="0" y="4307775"/>
                </a:cubicBezTo>
                <a:cubicBezTo>
                  <a:pt x="-8574" y="4051845"/>
                  <a:pt x="23136" y="3944969"/>
                  <a:pt x="0" y="3733405"/>
                </a:cubicBezTo>
                <a:cubicBezTo>
                  <a:pt x="-23136" y="3521841"/>
                  <a:pt x="36143" y="3326421"/>
                  <a:pt x="0" y="3159035"/>
                </a:cubicBezTo>
                <a:cubicBezTo>
                  <a:pt x="-36143" y="2991649"/>
                  <a:pt x="15838" y="2662448"/>
                  <a:pt x="0" y="2527228"/>
                </a:cubicBezTo>
                <a:cubicBezTo>
                  <a:pt x="-15838" y="2392008"/>
                  <a:pt x="47080" y="2251441"/>
                  <a:pt x="0" y="2125169"/>
                </a:cubicBezTo>
                <a:cubicBezTo>
                  <a:pt x="-47080" y="1998897"/>
                  <a:pt x="41148" y="1832286"/>
                  <a:pt x="0" y="1550799"/>
                </a:cubicBezTo>
                <a:cubicBezTo>
                  <a:pt x="-41148" y="1269312"/>
                  <a:pt x="30945" y="1246961"/>
                  <a:pt x="0" y="1091303"/>
                </a:cubicBezTo>
                <a:cubicBezTo>
                  <a:pt x="-30945" y="935645"/>
                  <a:pt x="20665" y="277652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6D72066D-C512-5958-6277-0E83B76350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157" y="2377703"/>
            <a:ext cx="1657581" cy="2905530"/>
          </a:xfrm>
          <a:custGeom>
            <a:avLst/>
            <a:gdLst>
              <a:gd name="csX0" fmla="*/ 0 w 1657581"/>
              <a:gd name="csY0" fmla="*/ 0 h 2905530"/>
              <a:gd name="csX1" fmla="*/ 569103 w 1657581"/>
              <a:gd name="csY1" fmla="*/ 0 h 2905530"/>
              <a:gd name="csX2" fmla="*/ 1105054 w 1657581"/>
              <a:gd name="csY2" fmla="*/ 0 h 2905530"/>
              <a:gd name="csX3" fmla="*/ 1657581 w 1657581"/>
              <a:gd name="csY3" fmla="*/ 0 h 2905530"/>
              <a:gd name="csX4" fmla="*/ 1657581 w 1657581"/>
              <a:gd name="csY4" fmla="*/ 493940 h 2905530"/>
              <a:gd name="csX5" fmla="*/ 1657581 w 1657581"/>
              <a:gd name="csY5" fmla="*/ 1075046 h 2905530"/>
              <a:gd name="csX6" fmla="*/ 1657581 w 1657581"/>
              <a:gd name="csY6" fmla="*/ 1598042 h 2905530"/>
              <a:gd name="csX7" fmla="*/ 1657581 w 1657581"/>
              <a:gd name="csY7" fmla="*/ 2121037 h 2905530"/>
              <a:gd name="csX8" fmla="*/ 1657581 w 1657581"/>
              <a:gd name="csY8" fmla="*/ 2905530 h 2905530"/>
              <a:gd name="csX9" fmla="*/ 1138206 w 1657581"/>
              <a:gd name="csY9" fmla="*/ 2905530 h 2905530"/>
              <a:gd name="csX10" fmla="*/ 585679 w 1657581"/>
              <a:gd name="csY10" fmla="*/ 2905530 h 2905530"/>
              <a:gd name="csX11" fmla="*/ 0 w 1657581"/>
              <a:gd name="csY11" fmla="*/ 2905530 h 2905530"/>
              <a:gd name="csX12" fmla="*/ 0 w 1657581"/>
              <a:gd name="csY12" fmla="*/ 2295369 h 2905530"/>
              <a:gd name="csX13" fmla="*/ 0 w 1657581"/>
              <a:gd name="csY13" fmla="*/ 1743318 h 2905530"/>
              <a:gd name="csX14" fmla="*/ 0 w 1657581"/>
              <a:gd name="csY14" fmla="*/ 1133157 h 2905530"/>
              <a:gd name="csX15" fmla="*/ 0 w 1657581"/>
              <a:gd name="csY15" fmla="*/ 552051 h 2905530"/>
              <a:gd name="csX16" fmla="*/ 0 w 1657581"/>
              <a:gd name="csY16" fmla="*/ 0 h 29055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657581" h="2905530" fill="none" extrusionOk="0">
                <a:moveTo>
                  <a:pt x="0" y="0"/>
                </a:moveTo>
                <a:cubicBezTo>
                  <a:pt x="252050" y="-12317"/>
                  <a:pt x="454957" y="45871"/>
                  <a:pt x="569103" y="0"/>
                </a:cubicBezTo>
                <a:cubicBezTo>
                  <a:pt x="683249" y="-45871"/>
                  <a:pt x="894100" y="35329"/>
                  <a:pt x="1105054" y="0"/>
                </a:cubicBezTo>
                <a:cubicBezTo>
                  <a:pt x="1316008" y="-35329"/>
                  <a:pt x="1450977" y="33082"/>
                  <a:pt x="1657581" y="0"/>
                </a:cubicBezTo>
                <a:cubicBezTo>
                  <a:pt x="1682218" y="114572"/>
                  <a:pt x="1652735" y="381975"/>
                  <a:pt x="1657581" y="493940"/>
                </a:cubicBezTo>
                <a:cubicBezTo>
                  <a:pt x="1662427" y="605905"/>
                  <a:pt x="1652036" y="859514"/>
                  <a:pt x="1657581" y="1075046"/>
                </a:cubicBezTo>
                <a:cubicBezTo>
                  <a:pt x="1663126" y="1290578"/>
                  <a:pt x="1609851" y="1357703"/>
                  <a:pt x="1657581" y="1598042"/>
                </a:cubicBezTo>
                <a:cubicBezTo>
                  <a:pt x="1705311" y="1838381"/>
                  <a:pt x="1595067" y="1864848"/>
                  <a:pt x="1657581" y="2121037"/>
                </a:cubicBezTo>
                <a:cubicBezTo>
                  <a:pt x="1720095" y="2377227"/>
                  <a:pt x="1654304" y="2620627"/>
                  <a:pt x="1657581" y="2905530"/>
                </a:cubicBezTo>
                <a:cubicBezTo>
                  <a:pt x="1490095" y="2927394"/>
                  <a:pt x="1291196" y="2869397"/>
                  <a:pt x="1138206" y="2905530"/>
                </a:cubicBezTo>
                <a:cubicBezTo>
                  <a:pt x="985217" y="2941663"/>
                  <a:pt x="772770" y="2887408"/>
                  <a:pt x="585679" y="2905530"/>
                </a:cubicBezTo>
                <a:cubicBezTo>
                  <a:pt x="398588" y="2923652"/>
                  <a:pt x="177031" y="2887869"/>
                  <a:pt x="0" y="2905530"/>
                </a:cubicBezTo>
                <a:cubicBezTo>
                  <a:pt x="-26705" y="2671173"/>
                  <a:pt x="43237" y="2576922"/>
                  <a:pt x="0" y="2295369"/>
                </a:cubicBezTo>
                <a:cubicBezTo>
                  <a:pt x="-43237" y="2013816"/>
                  <a:pt x="2617" y="2012646"/>
                  <a:pt x="0" y="1743318"/>
                </a:cubicBezTo>
                <a:cubicBezTo>
                  <a:pt x="-2617" y="1473990"/>
                  <a:pt x="47628" y="1341781"/>
                  <a:pt x="0" y="1133157"/>
                </a:cubicBezTo>
                <a:cubicBezTo>
                  <a:pt x="-47628" y="924533"/>
                  <a:pt x="8601" y="686386"/>
                  <a:pt x="0" y="552051"/>
                </a:cubicBezTo>
                <a:cubicBezTo>
                  <a:pt x="-8601" y="417716"/>
                  <a:pt x="14775" y="227821"/>
                  <a:pt x="0" y="0"/>
                </a:cubicBezTo>
                <a:close/>
              </a:path>
              <a:path w="1657581" h="2905530" stroke="0" extrusionOk="0">
                <a:moveTo>
                  <a:pt x="0" y="0"/>
                </a:moveTo>
                <a:cubicBezTo>
                  <a:pt x="146245" y="-55510"/>
                  <a:pt x="389518" y="15111"/>
                  <a:pt x="585679" y="0"/>
                </a:cubicBezTo>
                <a:cubicBezTo>
                  <a:pt x="781840" y="-15111"/>
                  <a:pt x="904659" y="48650"/>
                  <a:pt x="1121630" y="0"/>
                </a:cubicBezTo>
                <a:cubicBezTo>
                  <a:pt x="1338601" y="-48650"/>
                  <a:pt x="1463153" y="20519"/>
                  <a:pt x="1657581" y="0"/>
                </a:cubicBezTo>
                <a:cubicBezTo>
                  <a:pt x="1682898" y="271631"/>
                  <a:pt x="1622975" y="292122"/>
                  <a:pt x="1657581" y="581106"/>
                </a:cubicBezTo>
                <a:cubicBezTo>
                  <a:pt x="1692187" y="870090"/>
                  <a:pt x="1598381" y="896818"/>
                  <a:pt x="1657581" y="1191267"/>
                </a:cubicBezTo>
                <a:cubicBezTo>
                  <a:pt x="1716781" y="1485716"/>
                  <a:pt x="1620240" y="1526533"/>
                  <a:pt x="1657581" y="1714263"/>
                </a:cubicBezTo>
                <a:cubicBezTo>
                  <a:pt x="1694922" y="1901993"/>
                  <a:pt x="1618396" y="2091697"/>
                  <a:pt x="1657581" y="2237258"/>
                </a:cubicBezTo>
                <a:cubicBezTo>
                  <a:pt x="1696766" y="2382819"/>
                  <a:pt x="1608757" y="2703593"/>
                  <a:pt x="1657581" y="2905530"/>
                </a:cubicBezTo>
                <a:cubicBezTo>
                  <a:pt x="1497134" y="2910409"/>
                  <a:pt x="1324944" y="2901947"/>
                  <a:pt x="1138206" y="2905530"/>
                </a:cubicBezTo>
                <a:cubicBezTo>
                  <a:pt x="951469" y="2909113"/>
                  <a:pt x="727625" y="2882891"/>
                  <a:pt x="618830" y="2905530"/>
                </a:cubicBezTo>
                <a:cubicBezTo>
                  <a:pt x="510035" y="2928169"/>
                  <a:pt x="126330" y="2836587"/>
                  <a:pt x="0" y="2905530"/>
                </a:cubicBezTo>
                <a:cubicBezTo>
                  <a:pt x="-61601" y="2761913"/>
                  <a:pt x="23111" y="2636275"/>
                  <a:pt x="0" y="2382535"/>
                </a:cubicBezTo>
                <a:cubicBezTo>
                  <a:pt x="-23111" y="2128796"/>
                  <a:pt x="46354" y="2034904"/>
                  <a:pt x="0" y="1859539"/>
                </a:cubicBezTo>
                <a:cubicBezTo>
                  <a:pt x="-46354" y="1684174"/>
                  <a:pt x="45809" y="1465976"/>
                  <a:pt x="0" y="1278433"/>
                </a:cubicBezTo>
                <a:cubicBezTo>
                  <a:pt x="-45809" y="1090890"/>
                  <a:pt x="25368" y="1026586"/>
                  <a:pt x="0" y="784493"/>
                </a:cubicBezTo>
                <a:cubicBezTo>
                  <a:pt x="-25368" y="542400"/>
                  <a:pt x="71740" y="367202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4183896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84310" y="487680"/>
            <a:ext cx="10018713" cy="1752599"/>
          </a:xfrm>
        </p:spPr>
        <p:txBody>
          <a:bodyPr/>
          <a:lstStyle/>
          <a:p>
            <a:r>
              <a:rPr lang="hu-HU"/>
              <a:t>A hasítófüggvény megválasztása </a:t>
            </a:r>
            <a:br>
              <a:rPr lang="hu-HU"/>
            </a:br>
            <a:r>
              <a:rPr lang="hu-HU"/>
              <a:t>( </a:t>
            </a:r>
            <a:r>
              <a:rPr lang="hu-HU" err="1"/>
              <a:t>good</a:t>
            </a:r>
            <a:r>
              <a:rPr lang="hu-HU"/>
              <a:t> </a:t>
            </a:r>
            <a:r>
              <a:rPr lang="hu-HU" err="1"/>
              <a:t>hash</a:t>
            </a:r>
            <a:r>
              <a:rPr lang="hu-HU"/>
              <a:t> </a:t>
            </a:r>
            <a:r>
              <a:rPr lang="hu-HU" err="1"/>
              <a:t>functions</a:t>
            </a:r>
            <a:r>
              <a:rPr lang="hu-HU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1484310" y="2153919"/>
                <a:ext cx="10018713" cy="4436067"/>
              </a:xfrm>
            </p:spPr>
            <p:txBody>
              <a:bodyPr>
                <a:normAutofit/>
              </a:bodyPr>
              <a:lstStyle/>
              <a:p>
                <a:r>
                  <a:rPr lang="hu-HU" sz="2800"/>
                  <a:t>Osztó módszer (</a:t>
                </a:r>
                <a:r>
                  <a:rPr lang="hu-HU" sz="2800" err="1"/>
                  <a:t>division</a:t>
                </a:r>
                <a:r>
                  <a:rPr lang="hu-HU" sz="2800"/>
                  <a:t> </a:t>
                </a:r>
                <a:r>
                  <a:rPr lang="hu-HU" sz="2800" err="1"/>
                  <a:t>method</a:t>
                </a:r>
                <a:r>
                  <a:rPr lang="hu-HU" sz="2800"/>
                  <a:t>)</a:t>
                </a:r>
              </a:p>
              <a:p>
                <a:pPr lvl="1"/>
                <a:r>
                  <a:rPr lang="hu-HU" i="1">
                    <a:effectLst/>
                    <a:cs typeface="CMR12"/>
                  </a:rPr>
                  <a:t>k </a:t>
                </a:r>
                <a:r>
                  <a:rPr lang="hu-HU">
                    <a:effectLst/>
                    <a:ea typeface="CMSY10"/>
                    <a:cs typeface="Cambria Math" panose="02040503050406030204" pitchFamily="18" charset="0"/>
                  </a:rPr>
                  <a:t>∈ </a:t>
                </a:r>
                <a14:m>
                  <m:oMath xmlns:m="http://schemas.openxmlformats.org/officeDocument/2006/math">
                    <m:r>
                      <a:rPr lang="hu-H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ℤ</m:t>
                    </m:r>
                  </m:oMath>
                </a14:m>
                <a:endParaRPr lang="hu-HU" sz="2400" i="1"/>
              </a:p>
              <a:p>
                <a:pPr lvl="1"/>
                <a:r>
                  <a:rPr lang="hu-HU" sz="2400" i="1"/>
                  <a:t>h</a:t>
                </a:r>
                <a:r>
                  <a:rPr lang="hu-HU" sz="2400"/>
                  <a:t>(</a:t>
                </a:r>
                <a:r>
                  <a:rPr lang="hu-HU" sz="2400" i="1"/>
                  <a:t>k</a:t>
                </a:r>
                <a:r>
                  <a:rPr lang="hu-HU" sz="2400"/>
                  <a:t>)</a:t>
                </a:r>
                <a:r>
                  <a:rPr lang="en-US" sz="2400"/>
                  <a:t> = </a:t>
                </a:r>
                <a:r>
                  <a:rPr lang="en-US" sz="2400" i="1"/>
                  <a:t>k</a:t>
                </a:r>
                <a:r>
                  <a:rPr lang="en-US" sz="2400"/>
                  <a:t> mod </a:t>
                </a:r>
                <a:r>
                  <a:rPr lang="hu-HU" sz="2400" i="1"/>
                  <a:t>m </a:t>
                </a:r>
                <a:endParaRPr lang="hu-HU" sz="2400"/>
              </a:p>
              <a:p>
                <a:pPr lvl="1"/>
                <a:r>
                  <a:rPr lang="hu-HU" sz="2400" i="1"/>
                  <a:t>m </a:t>
                </a:r>
                <a:r>
                  <a:rPr lang="hu-HU" sz="2400"/>
                  <a:t>olyan prím, amely nincs közel a kettő hatványhoz </a:t>
                </a:r>
              </a:p>
              <a:p>
                <a:pPr lvl="2">
                  <a:buFont typeface="Wingdings" panose="05000000000000000000" pitchFamily="2" charset="2"/>
                  <a:buChar char="Ø"/>
                </a:pPr>
                <a:r>
                  <a:rPr lang="hu-HU" sz="2200"/>
                  <a:t> egyenletesen szór [0..(</a:t>
                </a:r>
                <a:r>
                  <a:rPr lang="hu-HU" sz="2200" i="1"/>
                  <a:t>m</a:t>
                </a:r>
                <a:r>
                  <a:rPr lang="hu-HU" sz="2200"/>
                  <a:t>-1)]</a:t>
                </a:r>
              </a:p>
              <a:p>
                <a:pPr lvl="1"/>
                <a:r>
                  <a:rPr lang="hu-HU" sz="2400"/>
                  <a:t>Pl. 2000 rekord és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hu-HU" sz="2400">
                        <a:latin typeface="Cambria Math" panose="02040503050406030204" pitchFamily="18" charset="0"/>
                      </a:rPr>
                      <m:t>α</m:t>
                    </m:r>
                    <m:r>
                      <a:rPr lang="hu-HU" sz="2400" i="1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hu-HU" sz="2400"/>
                  <a:t>3 </a:t>
                </a:r>
              </a:p>
              <a:p>
                <a:pPr lvl="2">
                  <a:buFont typeface="Wingdings" panose="05000000000000000000" pitchFamily="2" charset="2"/>
                  <a:buChar char="Ø"/>
                </a:pPr>
                <a:r>
                  <a:rPr lang="hu-HU" sz="2200"/>
                  <a:t>701 </a:t>
                </a:r>
              </a:p>
              <a:p>
                <a:pPr lvl="2"/>
                <a:r>
                  <a:rPr lang="hu-HU" sz="2200"/>
                  <a:t>(közel esik a 2000/3-hoz, de távol 512 és 1024 </a:t>
                </a:r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2153919"/>
                <a:ext cx="10018713" cy="4436067"/>
              </a:xfrm>
              <a:blipFill>
                <a:blip r:embed="rId2"/>
                <a:stretch>
                  <a:fillRect l="-20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25316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84310" y="243841"/>
            <a:ext cx="10018713" cy="1005840"/>
          </a:xfrm>
        </p:spPr>
        <p:txBody>
          <a:bodyPr/>
          <a:lstStyle/>
          <a:p>
            <a:r>
              <a:rPr lang="hu-HU"/>
              <a:t>A hasítófüggvény megválasztása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249681"/>
                <a:ext cx="10018713" cy="523400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hu-HU" sz="2800"/>
                  <a:t>Kulcsok a [0; 1) intervallumon (egyszerű szorzó módszer)</a:t>
                </a:r>
              </a:p>
              <a:p>
                <a:pPr lvl="1"/>
                <a:r>
                  <a:rPr lang="hu-HU" sz="2400"/>
                  <a:t>Ha a kulcsok egyenletesen oszlanak el</a:t>
                </a:r>
              </a:p>
              <a:p>
                <a:pPr lvl="2">
                  <a:buFont typeface="Wingdings" panose="05000000000000000000" pitchFamily="2" charset="2"/>
                  <a:buChar char="Ø"/>
                </a:pPr>
                <a:r>
                  <a:rPr lang="hu-HU" sz="2200" i="1"/>
                  <a:t>h</a:t>
                </a:r>
                <a:r>
                  <a:rPr lang="hu-HU" sz="2200"/>
                  <a:t>(</a:t>
                </a:r>
                <a:r>
                  <a:rPr lang="hu-HU" sz="2200" i="1"/>
                  <a:t>k</a:t>
                </a:r>
                <a:r>
                  <a:rPr lang="hu-HU" sz="2200"/>
                  <a:t>)</a:t>
                </a:r>
                <a:r>
                  <a:rPr lang="en-US" sz="2200"/>
                  <a:t> =</a:t>
                </a:r>
                <a:r>
                  <a:rPr lang="hu-HU" sz="2200"/>
                  <a:t>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hu-HU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sz="22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hu-HU" sz="22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hu-HU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hu-HU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hu-HU" sz="2200"/>
              </a:p>
              <a:p>
                <a:r>
                  <a:rPr lang="hu-HU" sz="2800"/>
                  <a:t>Szorzó módszer (</a:t>
                </a:r>
                <a:r>
                  <a:rPr lang="hu-HU" sz="2800" err="1"/>
                  <a:t>multiplication</a:t>
                </a:r>
                <a:r>
                  <a:rPr lang="hu-HU" sz="2800"/>
                  <a:t> </a:t>
                </a:r>
                <a:r>
                  <a:rPr lang="hu-HU" sz="2800" err="1"/>
                  <a:t>method</a:t>
                </a:r>
                <a:r>
                  <a:rPr lang="hu-HU" sz="2800"/>
                  <a:t>)</a:t>
                </a:r>
              </a:p>
              <a:p>
                <a:pPr lvl="1"/>
                <a:r>
                  <a:rPr lang="hu-HU" i="1">
                    <a:cs typeface="CMR12"/>
                  </a:rPr>
                  <a:t>k </a:t>
                </a:r>
                <a:r>
                  <a:rPr lang="hu-HU">
                    <a:ea typeface="CMSY10"/>
                    <a:cs typeface="Cambria Math" panose="02040503050406030204" pitchFamily="18" charset="0"/>
                  </a:rPr>
                  <a:t>∈</a:t>
                </a:r>
                <a14:m>
                  <m:oMath xmlns:m="http://schemas.openxmlformats.org/officeDocument/2006/math">
                    <m:r>
                      <a:rPr lang="hu-HU" sz="2400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hu-HU" sz="2400"/>
              </a:p>
              <a:p>
                <a:pPr lvl="1"/>
                <a:r>
                  <a:rPr lang="hu-HU" sz="2400" i="1"/>
                  <a:t>h</a:t>
                </a:r>
                <a:r>
                  <a:rPr lang="hu-HU" sz="2400"/>
                  <a:t>(</a:t>
                </a:r>
                <a:r>
                  <a:rPr lang="hu-HU" sz="2400" i="1"/>
                  <a:t>k</a:t>
                </a:r>
                <a:r>
                  <a:rPr lang="hu-HU" sz="2400"/>
                  <a:t>)</a:t>
                </a:r>
                <a:r>
                  <a:rPr lang="en-US" sz="2400"/>
                  <a:t> =</a:t>
                </a:r>
                <a:r>
                  <a:rPr lang="hu-HU" sz="2400"/>
                  <a:t>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hu-H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hu-HU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}∗</m:t>
                        </m:r>
                        <m:r>
                          <a:rPr lang="hu-HU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hu-HU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u-HU" sz="2400"/>
                  <a:t>(0 &lt; </a:t>
                </a:r>
                <a:r>
                  <a:rPr lang="hu-HU" sz="2400" i="1"/>
                  <a:t>A</a:t>
                </a:r>
                <a:r>
                  <a:rPr lang="hu-HU" sz="2400"/>
                  <a:t> &lt; 1)</a:t>
                </a:r>
              </a:p>
              <a:p>
                <a:pPr lvl="1"/>
                <a:r>
                  <a:rPr lang="hu-HU" sz="2400"/>
                  <a:t>Nem minden konstanssal szór egyformán jól</a:t>
                </a:r>
              </a:p>
              <a:p>
                <a:pPr lvl="1"/>
                <a:r>
                  <a:rPr lang="hu-HU" sz="2400" err="1"/>
                  <a:t>Knuth</a:t>
                </a:r>
                <a:r>
                  <a:rPr lang="hu-HU" sz="2400"/>
                  <a:t>: </a:t>
                </a:r>
                <a14:m>
                  <m:oMath xmlns:m="http://schemas.openxmlformats.org/officeDocument/2006/math">
                    <m:r>
                      <a:rPr lang="hu-HU" i="1" smtClean="0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𝐴</m:t>
                    </m:r>
                    <m:r>
                      <a:rPr lang="hu-HU" i="1" smtClean="0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=</m:t>
                    </m:r>
                    <m:f>
                      <m:fPr>
                        <m:ctrlPr>
                          <a:rPr lang="hu-HU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hu-HU" i="1">
                                <a:effectLst/>
                                <a:latin typeface="Cambria Math" panose="02040503050406030204" pitchFamily="18" charset="0"/>
                                <a:ea typeface="CMR12"/>
                                <a:cs typeface="CMR12"/>
                              </a:rPr>
                            </m:ctrlPr>
                          </m:radPr>
                          <m:deg/>
                          <m:e>
                            <m:r>
                              <a:rPr lang="hu-HU" i="1">
                                <a:effectLst/>
                                <a:latin typeface="Cambria Math" panose="02040503050406030204" pitchFamily="18" charset="0"/>
                                <a:ea typeface="CMR12"/>
                                <a:cs typeface="CMR12"/>
                              </a:rPr>
                              <m:t>5</m:t>
                            </m:r>
                          </m:e>
                        </m:rad>
                        <m:r>
                          <a:rPr lang="hu-HU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−1</m:t>
                        </m:r>
                      </m:num>
                      <m:den>
                        <m:r>
                          <a:rPr lang="hu-HU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2</m:t>
                        </m:r>
                      </m:den>
                    </m:f>
                    <m:r>
                      <a:rPr lang="hu-HU" i="1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 ≈0,618</m:t>
                    </m:r>
                  </m:oMath>
                </a14:m>
                <a:endParaRPr lang="hu-HU" sz="2400"/>
              </a:p>
              <a:p>
                <a:pPr lvl="1"/>
                <a:r>
                  <a:rPr lang="hu-HU" sz="2400"/>
                  <a:t>Osztó módszerrel szembeni előny</a:t>
                </a:r>
              </a:p>
              <a:p>
                <a:pPr lvl="2"/>
                <a:r>
                  <a:rPr lang="hu-HU" sz="2200"/>
                  <a:t>nem érzékeny a hasító tábla méretére </a:t>
                </a:r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249681"/>
                <a:ext cx="10018713" cy="5234003"/>
              </a:xfrm>
              <a:blipFill>
                <a:blip r:embed="rId2"/>
                <a:stretch>
                  <a:fillRect l="-2007" t="-2328" b="-5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47725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0E1DE-DB51-6D28-356F-8027773CF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92230C6-726F-8FFD-A8D1-D887D6A16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0"/>
            <a:ext cx="10018713" cy="1366345"/>
          </a:xfrm>
        </p:spPr>
        <p:txBody>
          <a:bodyPr/>
          <a:lstStyle/>
          <a:p>
            <a:r>
              <a:rPr lang="hu-HU"/>
              <a:t>A hasítófüggvény megválasztása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5C54A1B-54DB-4708-982F-9800E9947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8189" y="1366345"/>
            <a:ext cx="9144834" cy="5178834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Előjel nélküli egész kulcsok esetén a szorzó módszer helyett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Táblaméret: kettő hatvány 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err="1">
                <a:effectLst/>
                <a:ea typeface="Calibri" panose="020F0502020204030204" pitchFamily="34" charset="0"/>
                <a:cs typeface="F29"/>
              </a:rPr>
              <a:t>Tfh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 kulcsok: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w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biten ábrázolt természetes számok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 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0 </a:t>
            </a:r>
            <a:r>
              <a:rPr lang="en-US">
                <a:effectLst/>
                <a:ea typeface="Calibri" panose="020F0502020204030204" pitchFamily="34" charset="0"/>
                <a:cs typeface="CMSY10"/>
              </a:rPr>
              <a:t>≤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en-US">
                <a:effectLst/>
                <a:ea typeface="Calibri" panose="020F0502020204030204" pitchFamily="34" charset="0"/>
                <a:cs typeface="CMSY10"/>
              </a:rPr>
              <a:t>≤ 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2</a:t>
            </a:r>
            <a:r>
              <a:rPr lang="hu-HU" i="1" baseline="30000">
                <a:effectLst/>
                <a:ea typeface="Calibri" panose="020F0502020204030204" pitchFamily="34" charset="0"/>
                <a:cs typeface="CMMI8"/>
              </a:rPr>
              <a:t>w</a:t>
            </a:r>
            <a:r>
              <a:rPr lang="hu-HU">
                <a:effectLst/>
                <a:ea typeface="Calibri" panose="020F0502020204030204" pitchFamily="34" charset="0"/>
                <a:cs typeface="CMMI8"/>
              </a:rPr>
              <a:t> </a:t>
            </a:r>
            <a:r>
              <a:rPr lang="hu-HU">
                <a:effectLst/>
                <a:ea typeface="CMSY10"/>
                <a:cs typeface="CMSY10"/>
              </a:rPr>
              <a:t>–</a:t>
            </a:r>
            <a:r>
              <a:rPr lang="hu-HU">
                <a:effectLst/>
                <a:ea typeface="Calibri" panose="020F0502020204030204" pitchFamily="34" charset="0"/>
                <a:cs typeface="CMSY10"/>
              </a:rPr>
              <a:t> 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1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Ábrázoljuk szintén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w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biten az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s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= </a:t>
            </a:r>
            <a:r>
              <a:rPr lang="hu-HU">
                <a:effectLst/>
                <a:ea typeface="CMSY10"/>
                <a:cs typeface="Cambria Math" panose="02040503050406030204" pitchFamily="18" charset="0"/>
              </a:rPr>
              <a:t>⌊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A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>
                <a:effectLst/>
                <a:ea typeface="CMSY10"/>
                <a:cs typeface="Cambria Math" panose="02040503050406030204" pitchFamily="18" charset="0"/>
              </a:rPr>
              <a:t>∗</a:t>
            </a:r>
            <a:r>
              <a:rPr lang="hu-HU">
                <a:effectLst/>
                <a:ea typeface="Calibri" panose="020F0502020204030204" pitchFamily="34" charset="0"/>
                <a:cs typeface="CMSY10"/>
              </a:rPr>
              <a:t> 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2</a:t>
            </a:r>
            <a:r>
              <a:rPr lang="hu-HU" i="1" baseline="30000">
                <a:effectLst/>
                <a:ea typeface="Calibri" panose="020F0502020204030204" pitchFamily="34" charset="0"/>
                <a:cs typeface="CMMI8"/>
              </a:rPr>
              <a:t>w</a:t>
            </a:r>
            <a:r>
              <a:rPr lang="hu-HU">
                <a:effectLst/>
                <a:ea typeface="CMSY10"/>
                <a:cs typeface="Cambria Math" panose="02040503050406030204" pitchFamily="18" charset="0"/>
              </a:rPr>
              <a:t> ⌋</a:t>
            </a:r>
            <a:r>
              <a:rPr lang="hu-HU">
                <a:effectLst/>
                <a:ea typeface="Calibri" panose="020F0502020204030204" pitchFamily="34" charset="0"/>
                <a:cs typeface="CMSY10"/>
              </a:rPr>
              <a:t> 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konstanst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000">
                <a:latin typeface="F29"/>
                <a:ea typeface="Calibri" panose="020F0502020204030204" pitchFamily="34" charset="0"/>
                <a:cs typeface="CMMI12"/>
              </a:rPr>
              <a:t>L!</a:t>
            </a:r>
            <a:r>
              <a:rPr lang="hu-HU" sz="2000" i="1">
                <a:effectLst/>
                <a:latin typeface="CMMI12"/>
                <a:ea typeface="Calibri" panose="020F0502020204030204" pitchFamily="34" charset="0"/>
                <a:cs typeface="CMMI12"/>
              </a:rPr>
              <a:t> m</a:t>
            </a:r>
            <a:r>
              <a:rPr lang="hu-HU" sz="2000">
                <a:effectLst/>
                <a:latin typeface="CMMI12"/>
                <a:ea typeface="Calibri" panose="020F0502020204030204" pitchFamily="34" charset="0"/>
                <a:cs typeface="CMMI12"/>
              </a:rPr>
              <a:t> </a:t>
            </a:r>
            <a:r>
              <a:rPr lang="hu-HU" sz="2000">
                <a:effectLst/>
                <a:latin typeface="CMR12"/>
                <a:ea typeface="Calibri" panose="020F0502020204030204" pitchFamily="34" charset="0"/>
                <a:cs typeface="CMR12"/>
              </a:rPr>
              <a:t>= 2</a:t>
            </a:r>
            <a:r>
              <a:rPr lang="hu-HU" sz="2000" i="1" baseline="30000">
                <a:effectLst/>
                <a:latin typeface="CMMI8"/>
                <a:ea typeface="Calibri" panose="020F0502020204030204" pitchFamily="34" charset="0"/>
                <a:cs typeface="CMMI8"/>
              </a:rPr>
              <a:t>p</a:t>
            </a:r>
            <a:r>
              <a:rPr lang="hu-HU" sz="2000">
                <a:effectLst/>
                <a:latin typeface="F29"/>
                <a:ea typeface="Calibri" panose="020F0502020204030204" pitchFamily="34" charset="0"/>
                <a:cs typeface="F29"/>
              </a:rPr>
              <a:t> ,  </a:t>
            </a:r>
            <a:r>
              <a:rPr lang="hu-HU" sz="2000" i="1">
                <a:effectLst/>
                <a:latin typeface="CMMI12"/>
                <a:ea typeface="Calibri" panose="020F0502020204030204" pitchFamily="34" charset="0"/>
                <a:cs typeface="CMMI12"/>
              </a:rPr>
              <a:t>q</a:t>
            </a:r>
            <a:r>
              <a:rPr lang="hu-HU" sz="2000">
                <a:effectLst/>
                <a:latin typeface="CMMI12"/>
                <a:ea typeface="Calibri" panose="020F0502020204030204" pitchFamily="34" charset="0"/>
                <a:cs typeface="CMMI12"/>
              </a:rPr>
              <a:t> </a:t>
            </a:r>
            <a:r>
              <a:rPr lang="hu-HU" sz="2000">
                <a:effectLst/>
                <a:latin typeface="CMR12"/>
                <a:ea typeface="Calibri" panose="020F0502020204030204" pitchFamily="34" charset="0"/>
                <a:cs typeface="CMR12"/>
              </a:rPr>
              <a:t>= 2</a:t>
            </a:r>
            <a:r>
              <a:rPr lang="hu-HU" sz="2000" i="1" baseline="30000">
                <a:effectLst/>
                <a:latin typeface="CMMI8"/>
                <a:ea typeface="Calibri" panose="020F0502020204030204" pitchFamily="34" charset="0"/>
                <a:cs typeface="CMMI8"/>
              </a:rPr>
              <a:t>w</a:t>
            </a:r>
            <a:r>
              <a:rPr lang="hu-HU" sz="2000">
                <a:effectLst/>
                <a:latin typeface="CMMI8"/>
                <a:ea typeface="Calibri" panose="020F0502020204030204" pitchFamily="34" charset="0"/>
                <a:cs typeface="CMMI8"/>
              </a:rPr>
              <a:t> </a:t>
            </a:r>
            <a:r>
              <a:rPr lang="en-US" sz="2000">
                <a:effectLst/>
                <a:latin typeface="CMSY10"/>
                <a:ea typeface="Calibri" panose="020F0502020204030204" pitchFamily="34" charset="0"/>
                <a:cs typeface="CMSY10"/>
              </a:rPr>
              <a:t>− </a:t>
            </a:r>
            <a:r>
              <a:rPr lang="hu-HU" sz="2000">
                <a:effectLst/>
                <a:latin typeface="CMR12"/>
                <a:ea typeface="Calibri" panose="020F0502020204030204" pitchFamily="34" charset="0"/>
                <a:cs typeface="CMR12"/>
              </a:rPr>
              <a:t>1 </a:t>
            </a:r>
            <a:r>
              <a:rPr lang="hu-HU" sz="2000">
                <a:effectLst/>
                <a:latin typeface="F29"/>
                <a:ea typeface="Calibri" panose="020F0502020204030204" pitchFamily="34" charset="0"/>
                <a:cs typeface="F29"/>
              </a:rPr>
              <a:t>és  </a:t>
            </a:r>
            <a:r>
              <a:rPr lang="hu-HU" sz="2000" i="1">
                <a:effectLst/>
                <a:latin typeface="CMMI12"/>
                <a:ea typeface="Calibri" panose="020F0502020204030204" pitchFamily="34" charset="0"/>
                <a:cs typeface="CMMI12"/>
              </a:rPr>
              <a:t>r</a:t>
            </a:r>
            <a:r>
              <a:rPr lang="hu-HU" sz="2000">
                <a:effectLst/>
                <a:latin typeface="CMMI12"/>
                <a:ea typeface="Calibri" panose="020F0502020204030204" pitchFamily="34" charset="0"/>
                <a:cs typeface="CMMI12"/>
              </a:rPr>
              <a:t> </a:t>
            </a:r>
            <a:r>
              <a:rPr lang="hu-HU" sz="2000">
                <a:effectLst/>
                <a:latin typeface="CMR12"/>
                <a:ea typeface="Calibri" panose="020F0502020204030204" pitchFamily="34" charset="0"/>
                <a:cs typeface="CMR12"/>
              </a:rPr>
              <a:t>= </a:t>
            </a:r>
            <a:r>
              <a:rPr lang="hu-HU" sz="2000" i="1">
                <a:effectLst/>
                <a:latin typeface="CMMI12"/>
                <a:ea typeface="Calibri" panose="020F0502020204030204" pitchFamily="34" charset="0"/>
                <a:cs typeface="CMMI12"/>
              </a:rPr>
              <a:t>w</a:t>
            </a:r>
            <a:r>
              <a:rPr lang="hu-HU" sz="2000">
                <a:effectLst/>
                <a:latin typeface="CMMI12"/>
                <a:ea typeface="Calibri" panose="020F0502020204030204" pitchFamily="34" charset="0"/>
                <a:cs typeface="CMMI12"/>
              </a:rPr>
              <a:t> </a:t>
            </a:r>
            <a:r>
              <a:rPr lang="hu-HU" sz="2000">
                <a:effectLst/>
                <a:latin typeface="F29"/>
                <a:ea typeface="CMSY10"/>
                <a:cs typeface="CMSY10"/>
              </a:rPr>
              <a:t>–</a:t>
            </a:r>
            <a:r>
              <a:rPr lang="hu-HU" sz="2000">
                <a:effectLst/>
                <a:latin typeface="CMSY10"/>
                <a:ea typeface="Calibri" panose="020F0502020204030204" pitchFamily="34" charset="0"/>
                <a:cs typeface="CMSY10"/>
              </a:rPr>
              <a:t> </a:t>
            </a:r>
            <a:r>
              <a:rPr lang="hu-HU" sz="2000" i="1">
                <a:effectLst/>
                <a:latin typeface="CMMI12"/>
                <a:ea typeface="Calibri" panose="020F0502020204030204" pitchFamily="34" charset="0"/>
                <a:cs typeface="CMMI12"/>
              </a:rPr>
              <a:t>p</a:t>
            </a:r>
            <a:endParaRPr lang="hu-HU"/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dupla szavas, előjel nélküli egész aritmetikát használunk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CMR12"/>
              </a:rPr>
              <a:t>&amp;: 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a </a:t>
            </a:r>
            <a:r>
              <a:rPr lang="hu-HU" err="1">
                <a:effectLst/>
                <a:ea typeface="Calibri" panose="020F0502020204030204" pitchFamily="34" charset="0"/>
                <a:cs typeface="F29"/>
              </a:rPr>
              <a:t>bitenkénti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 és művelet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CMMI12"/>
              </a:rPr>
              <a:t>&gt;&gt;: 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bitléptetés jobbra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i="1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) = ((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s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>
                <a:effectLst/>
                <a:ea typeface="CMSY10"/>
                <a:cs typeface="Cambria Math" panose="02040503050406030204" pitchFamily="18" charset="0"/>
              </a:rPr>
              <a:t>∗</a:t>
            </a:r>
            <a:r>
              <a:rPr lang="hu-HU">
                <a:effectLst/>
                <a:ea typeface="Calibri" panose="020F0502020204030204" pitchFamily="34" charset="0"/>
                <a:cs typeface="CMSY10"/>
              </a:rPr>
              <a:t>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) &amp;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q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&gt;&gt;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r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160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628688" y="320842"/>
            <a:ext cx="10018713" cy="1752599"/>
          </a:xfrm>
        </p:spPr>
        <p:txBody>
          <a:bodyPr/>
          <a:lstStyle/>
          <a:p>
            <a:r>
              <a:rPr lang="hu-HU"/>
              <a:t>A hasítófüggvény megválasztása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484310" y="1941095"/>
            <a:ext cx="10018713" cy="1752599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800">
                <a:effectLst/>
                <a:ea typeface="Calibri" panose="020F0502020204030204" pitchFamily="34" charset="0"/>
                <a:cs typeface="F29"/>
              </a:rPr>
              <a:t>Mindhárom módszer feltételezi, hogy a kulcsok számok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hu-HU" sz="28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sillag: 32 ágú 4">
            <a:extLst>
              <a:ext uri="{FF2B5EF4-FFF2-40B4-BE49-F238E27FC236}">
                <a16:creationId xmlns:a16="http://schemas.microsoft.com/office/drawing/2014/main" id="{4C2C284A-3954-08C0-E2DC-D14D5B423C8E}"/>
              </a:ext>
            </a:extLst>
          </p:cNvPr>
          <p:cNvSpPr/>
          <p:nvPr/>
        </p:nvSpPr>
        <p:spPr>
          <a:xfrm>
            <a:off x="1140773" y="3302000"/>
            <a:ext cx="10362250" cy="3332480"/>
          </a:xfrm>
          <a:prstGeom prst="star32">
            <a:avLst>
              <a:gd name="adj" fmla="val 4388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800">
                <a:effectLst/>
                <a:ea typeface="Calibri" panose="020F0502020204030204" pitchFamily="34" charset="0"/>
                <a:cs typeface="F29"/>
              </a:rPr>
              <a:t>Pl. </a:t>
            </a:r>
            <a:r>
              <a:rPr lang="hu-HU" sz="2800" err="1">
                <a:effectLst/>
                <a:ea typeface="Calibri" panose="020F0502020204030204" pitchFamily="34" charset="0"/>
                <a:cs typeface="F29"/>
              </a:rPr>
              <a:t>sztringek</a:t>
            </a:r>
            <a:r>
              <a:rPr lang="hu-HU" sz="2800">
                <a:effectLst/>
                <a:ea typeface="Calibri" panose="020F0502020204030204" pitchFamily="34" charset="0"/>
                <a:cs typeface="F29"/>
              </a:rPr>
              <a:t> esetén</a:t>
            </a:r>
            <a:endParaRPr lang="hu-HU" sz="28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a karakterek ~ megfelelő számrendszerbeli előjel nélküli egész számok számjegyei</a:t>
            </a:r>
            <a:endParaRPr lang="hu-HU" sz="24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a </a:t>
            </a:r>
            <a:r>
              <a:rPr lang="hu-HU" sz="2400" err="1">
                <a:effectLst/>
                <a:ea typeface="Calibri" panose="020F0502020204030204" pitchFamily="34" charset="0"/>
                <a:cs typeface="F29"/>
              </a:rPr>
              <a:t>sztringek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 ~ nagy természetes számok</a:t>
            </a:r>
            <a:endParaRPr lang="hu-HU" sz="24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860357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123579" y="275080"/>
            <a:ext cx="8596668" cy="965891"/>
          </a:xfrm>
        </p:spPr>
        <p:txBody>
          <a:bodyPr>
            <a:normAutofit fontScale="90000"/>
          </a:bodyPr>
          <a:lstStyle/>
          <a:p>
            <a:r>
              <a:rPr lang="hu-HU"/>
              <a:t>Nyílt címzéses (</a:t>
            </a:r>
            <a:r>
              <a:rPr lang="hu-HU" err="1"/>
              <a:t>open</a:t>
            </a:r>
            <a:r>
              <a:rPr lang="hu-HU"/>
              <a:t> </a:t>
            </a:r>
            <a:r>
              <a:rPr lang="hu-HU" err="1"/>
              <a:t>addressing</a:t>
            </a:r>
            <a:r>
              <a:rPr lang="hu-HU"/>
              <a:t>) </a:t>
            </a:r>
            <a:r>
              <a:rPr lang="hu-HU" err="1"/>
              <a:t>hashelés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797666" y="1236030"/>
            <a:ext cx="9752650" cy="5527628"/>
          </a:xfrm>
        </p:spPr>
        <p:txBody>
          <a:bodyPr>
            <a:normAutofit fontScale="925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/>
              <a:t>Az adatrekordok közvetlenül a résekben vannak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/>
              <a:t>hasító tábla: </a:t>
            </a:r>
            <a:r>
              <a:rPr lang="hu-HU" i="1"/>
              <a:t>T</a:t>
            </a:r>
            <a:r>
              <a:rPr lang="hu-HU"/>
              <a:t> : </a:t>
            </a:r>
            <a:r>
              <a:rPr lang="hu-HU" i="1"/>
              <a:t>R</a:t>
            </a:r>
            <a:r>
              <a:rPr lang="hu-HU"/>
              <a:t>[</a:t>
            </a:r>
            <a:r>
              <a:rPr lang="hu-HU" i="1"/>
              <a:t>m</a:t>
            </a:r>
            <a:r>
              <a:rPr lang="hu-HU"/>
              <a:t>]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/>
              <a:t>rekordok: R típus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/>
              <a:t>Egyedi kulcsok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/>
              <a:t>Rések (</a:t>
            </a:r>
            <a:r>
              <a:rPr lang="hu-HU" err="1"/>
              <a:t>slots</a:t>
            </a:r>
            <a:r>
              <a:rPr lang="hu-HU"/>
              <a:t>)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/>
              <a:t>Szabad (free) (üres </a:t>
            </a:r>
            <a:r>
              <a:rPr lang="hu-HU" sz="1800" b="0" i="0" u="none" strike="noStrike" baseline="0">
                <a:latin typeface="F29"/>
              </a:rPr>
              <a:t>(</a:t>
            </a:r>
            <a:r>
              <a:rPr lang="hu-HU" sz="1800" b="0" i="0" u="none" strike="noStrike" baseline="0" err="1">
                <a:latin typeface="F29"/>
              </a:rPr>
              <a:t>Empty</a:t>
            </a:r>
            <a:r>
              <a:rPr lang="hu-HU" sz="1800" b="0" i="0" u="none" strike="noStrike" baseline="0">
                <a:latin typeface="F29"/>
              </a:rPr>
              <a:t>)</a:t>
            </a:r>
            <a:r>
              <a:rPr lang="hu-HU"/>
              <a:t> / </a:t>
            </a:r>
            <a:r>
              <a:rPr lang="hu-HU" err="1"/>
              <a:t>törölt</a:t>
            </a:r>
            <a:r>
              <a:rPr lang="hu-HU"/>
              <a:t> </a:t>
            </a:r>
            <a:r>
              <a:rPr lang="hu-HU" sz="1800" b="0" i="0" u="none" strike="noStrike" baseline="0">
                <a:latin typeface="F29"/>
              </a:rPr>
              <a:t>(</a:t>
            </a:r>
            <a:r>
              <a:rPr lang="hu-HU" sz="1800" b="0" i="0" u="none" strike="noStrike" baseline="0" err="1">
                <a:latin typeface="F29"/>
              </a:rPr>
              <a:t>Deleted</a:t>
            </a:r>
            <a:r>
              <a:rPr lang="hu-HU" sz="1800" b="0" i="0" u="none" strike="noStrike" baseline="0">
                <a:latin typeface="F29"/>
              </a:rPr>
              <a:t>)</a:t>
            </a:r>
            <a:r>
              <a:rPr lang="hu-HU"/>
              <a:t>)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/>
              <a:t>Foglalt (</a:t>
            </a:r>
            <a:r>
              <a:rPr lang="hu-HU" err="1"/>
              <a:t>occupied</a:t>
            </a:r>
            <a:r>
              <a:rPr lang="hu-HU"/>
              <a:t>)</a:t>
            </a:r>
          </a:p>
          <a:p>
            <a:r>
              <a:rPr lang="hu-HU" err="1"/>
              <a:t>Hashfüggvény</a:t>
            </a:r>
            <a:r>
              <a:rPr lang="hu-HU"/>
              <a:t> </a:t>
            </a:r>
          </a:p>
          <a:p>
            <a:pPr lvl="1"/>
            <a:r>
              <a:rPr lang="hu-HU"/>
              <a:t>próbafüggvény (</a:t>
            </a:r>
            <a:r>
              <a:rPr lang="hu-HU" err="1"/>
              <a:t>probing</a:t>
            </a:r>
            <a:r>
              <a:rPr lang="hu-HU"/>
              <a:t> </a:t>
            </a:r>
            <a:r>
              <a:rPr lang="hu-HU" err="1"/>
              <a:t>function</a:t>
            </a:r>
            <a:r>
              <a:rPr lang="hu-HU"/>
              <a:t>): </a:t>
            </a:r>
            <a:r>
              <a:rPr lang="hu-HU" i="1"/>
              <a:t>h </a:t>
            </a:r>
            <a:r>
              <a:rPr lang="hu-HU"/>
              <a:t>: </a:t>
            </a:r>
            <a:r>
              <a:rPr lang="hu-HU" i="1"/>
              <a:t>U </a:t>
            </a:r>
            <a:r>
              <a:rPr lang="hu-HU"/>
              <a:t>x 0..(</a:t>
            </a:r>
            <a:r>
              <a:rPr lang="hu-HU" i="1"/>
              <a:t>m</a:t>
            </a:r>
            <a:r>
              <a:rPr lang="hu-HU"/>
              <a:t>-1) -&gt;0.. </a:t>
            </a:r>
            <a:r>
              <a:rPr lang="hu-HU" i="1"/>
              <a:t>m </a:t>
            </a:r>
            <a:r>
              <a:rPr lang="hu-HU"/>
              <a:t>-1						-</a:t>
            </a:r>
          </a:p>
          <a:p>
            <a:pPr lvl="1"/>
            <a:r>
              <a:rPr lang="hu-HU"/>
              <a:t>potenciális próbasorozat (</a:t>
            </a:r>
            <a:r>
              <a:rPr lang="hu-HU" err="1"/>
              <a:t>potential</a:t>
            </a:r>
            <a:r>
              <a:rPr lang="hu-HU"/>
              <a:t> </a:t>
            </a:r>
            <a:r>
              <a:rPr lang="hu-HU" err="1"/>
              <a:t>probing</a:t>
            </a:r>
            <a:r>
              <a:rPr lang="hu-HU"/>
              <a:t> </a:t>
            </a:r>
            <a:r>
              <a:rPr lang="hu-HU" err="1"/>
              <a:t>sequence</a:t>
            </a:r>
            <a:r>
              <a:rPr lang="hu-HU"/>
              <a:t>: </a:t>
            </a:r>
            <a:r>
              <a:rPr lang="hu-HU" i="1"/>
              <a:t>&lt;h</a:t>
            </a:r>
            <a:r>
              <a:rPr lang="hu-HU"/>
              <a:t>(</a:t>
            </a:r>
            <a:r>
              <a:rPr lang="hu-HU" i="1"/>
              <a:t>k</a:t>
            </a:r>
            <a:r>
              <a:rPr lang="hu-HU"/>
              <a:t>,0), </a:t>
            </a:r>
            <a:r>
              <a:rPr lang="hu-HU" i="1"/>
              <a:t>h</a:t>
            </a:r>
            <a:r>
              <a:rPr lang="hu-HU"/>
              <a:t>(</a:t>
            </a:r>
            <a:r>
              <a:rPr lang="hu-HU" i="1"/>
              <a:t>k</a:t>
            </a:r>
            <a:r>
              <a:rPr lang="hu-HU"/>
              <a:t>,1),…,</a:t>
            </a:r>
            <a:r>
              <a:rPr lang="hu-HU" i="1"/>
              <a:t> h</a:t>
            </a:r>
            <a:r>
              <a:rPr lang="hu-HU"/>
              <a:t>(</a:t>
            </a:r>
            <a:r>
              <a:rPr lang="hu-HU" i="1" err="1"/>
              <a:t>k,m</a:t>
            </a:r>
            <a:r>
              <a:rPr lang="hu-HU" i="1"/>
              <a:t> </a:t>
            </a:r>
            <a:r>
              <a:rPr lang="hu-HU"/>
              <a:t>-1</a:t>
            </a:r>
            <a:r>
              <a:rPr lang="hu-HU" i="1"/>
              <a:t>)&gt;</a:t>
            </a:r>
            <a:endParaRPr lang="hu-HU"/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/>
              <a:t>Első elem: </a:t>
            </a:r>
            <a:r>
              <a:rPr lang="en-US" i="1"/>
              <a:t>h</a:t>
            </a:r>
            <a:r>
              <a:rPr lang="en-US" baseline="-25000"/>
              <a:t>1</a:t>
            </a:r>
            <a:r>
              <a:rPr lang="en-US"/>
              <a:t>(</a:t>
            </a:r>
            <a:r>
              <a:rPr lang="en-US" i="1"/>
              <a:t>k</a:t>
            </a:r>
            <a:r>
              <a:rPr lang="en-US"/>
              <a:t>)</a:t>
            </a:r>
            <a:r>
              <a:rPr lang="hu-HU"/>
              <a:t>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100" i="1">
                <a:effectLst/>
                <a:latin typeface="CMMI12"/>
                <a:ea typeface="Calibri" panose="020F0502020204030204" pitchFamily="34" charset="0"/>
                <a:cs typeface="CMMI12"/>
              </a:rPr>
              <a:t>m</a:t>
            </a:r>
            <a:r>
              <a:rPr lang="hu-HU" sz="2100">
                <a:effectLst/>
                <a:latin typeface="CMMI12"/>
                <a:ea typeface="Calibri" panose="020F0502020204030204" pitchFamily="34" charset="0"/>
                <a:cs typeface="CMMI12"/>
              </a:rPr>
              <a:t> </a:t>
            </a:r>
            <a:r>
              <a:rPr lang="hu-HU" sz="2100">
                <a:effectLst/>
                <a:latin typeface="F29"/>
                <a:ea typeface="Calibri" panose="020F0502020204030204" pitchFamily="34" charset="0"/>
                <a:cs typeface="F29"/>
              </a:rPr>
              <a:t>darab hasító függvény: </a:t>
            </a:r>
            <a:r>
              <a:rPr lang="hu-HU" sz="2100" i="1">
                <a:effectLst/>
                <a:latin typeface="CMMI12"/>
                <a:cs typeface="CMMI12"/>
              </a:rPr>
              <a:t>h</a:t>
            </a:r>
            <a:r>
              <a:rPr lang="hu-HU" sz="2100">
                <a:effectLst/>
                <a:latin typeface="CMR12"/>
                <a:cs typeface="CMR12"/>
              </a:rPr>
              <a:t>(</a:t>
            </a:r>
            <a:r>
              <a:rPr lang="en-US" sz="2100">
                <a:effectLst/>
                <a:latin typeface="CMSY10"/>
                <a:cs typeface="CMSY10"/>
              </a:rPr>
              <a:t>・</a:t>
            </a:r>
            <a:r>
              <a:rPr lang="hu-HU" sz="2100">
                <a:effectLst/>
                <a:latin typeface="CMMI12"/>
                <a:cs typeface="CMMI12"/>
              </a:rPr>
              <a:t>,</a:t>
            </a:r>
            <a:r>
              <a:rPr lang="hu-HU" sz="2100" i="1">
                <a:effectLst/>
                <a:latin typeface="CMMI12"/>
                <a:cs typeface="CMMI12"/>
              </a:rPr>
              <a:t> i</a:t>
            </a:r>
            <a:r>
              <a:rPr lang="hu-HU" sz="2100">
                <a:effectLst/>
                <a:latin typeface="CMR12"/>
                <a:cs typeface="CMR12"/>
              </a:rPr>
              <a:t>) : </a:t>
            </a:r>
            <a:r>
              <a:rPr lang="hu-HU" sz="2100" i="1">
                <a:effectLst/>
                <a:latin typeface="CMMI12"/>
                <a:cs typeface="CMMI12"/>
              </a:rPr>
              <a:t>U</a:t>
            </a:r>
            <a:r>
              <a:rPr lang="hu-HU" sz="2100">
                <a:effectLst/>
                <a:latin typeface="CMMI12"/>
                <a:cs typeface="CMMI12"/>
              </a:rPr>
              <a:t> </a:t>
            </a:r>
            <a:r>
              <a:rPr lang="en-US" sz="2100">
                <a:effectLst/>
                <a:latin typeface="CMSY10"/>
                <a:cs typeface="CMSY10"/>
              </a:rPr>
              <a:t>→ </a:t>
            </a:r>
            <a:r>
              <a:rPr lang="hu-HU" sz="2100">
                <a:effectLst/>
                <a:latin typeface="CMR12"/>
                <a:cs typeface="CMR12"/>
              </a:rPr>
              <a:t>0</a:t>
            </a:r>
            <a:r>
              <a:rPr lang="hu-HU" sz="2100">
                <a:effectLst/>
                <a:latin typeface="CMMI12"/>
                <a:cs typeface="CMMI12"/>
              </a:rPr>
              <a:t>..</a:t>
            </a:r>
            <a:r>
              <a:rPr lang="hu-HU" sz="2100">
                <a:effectLst/>
                <a:latin typeface="CMR12"/>
                <a:cs typeface="CMR12"/>
              </a:rPr>
              <a:t>(</a:t>
            </a:r>
            <a:r>
              <a:rPr lang="hu-HU" sz="2100" i="1">
                <a:effectLst/>
                <a:latin typeface="CMMI12"/>
                <a:cs typeface="CMMI12"/>
              </a:rPr>
              <a:t>m</a:t>
            </a:r>
            <a:r>
              <a:rPr lang="hu-HU" sz="2100">
                <a:effectLst/>
                <a:latin typeface="CMMI12"/>
                <a:cs typeface="CMMI12"/>
              </a:rPr>
              <a:t> </a:t>
            </a:r>
            <a:r>
              <a:rPr lang="en-US" sz="2100">
                <a:effectLst/>
                <a:latin typeface="CMSY10"/>
                <a:cs typeface="CMSY10"/>
              </a:rPr>
              <a:t>− </a:t>
            </a:r>
            <a:r>
              <a:rPr lang="hu-HU" sz="2100">
                <a:effectLst/>
                <a:latin typeface="CMR12"/>
                <a:cs typeface="CMR12"/>
              </a:rPr>
              <a:t>1) (</a:t>
            </a:r>
            <a:r>
              <a:rPr lang="hu-HU" sz="2100" i="1">
                <a:effectLst/>
                <a:latin typeface="CMMI12"/>
                <a:cs typeface="CMMI12"/>
              </a:rPr>
              <a:t>i</a:t>
            </a:r>
            <a:r>
              <a:rPr lang="hu-HU" sz="2100">
                <a:effectLst/>
                <a:latin typeface="CMMI12"/>
                <a:cs typeface="CMMI12"/>
              </a:rPr>
              <a:t> </a:t>
            </a:r>
            <a:r>
              <a:rPr lang="en-US" sz="2100">
                <a:effectLst/>
                <a:latin typeface="CMSY10"/>
                <a:cs typeface="CMSY10"/>
              </a:rPr>
              <a:t>∈ </a:t>
            </a:r>
            <a:r>
              <a:rPr lang="hu-HU" sz="2100">
                <a:effectLst/>
                <a:latin typeface="CMR12"/>
                <a:cs typeface="CMR12"/>
              </a:rPr>
              <a:t>0</a:t>
            </a:r>
            <a:r>
              <a:rPr lang="hu-HU" sz="2100">
                <a:effectLst/>
                <a:latin typeface="CMMI12"/>
                <a:cs typeface="CMMI12"/>
              </a:rPr>
              <a:t>..</a:t>
            </a:r>
            <a:r>
              <a:rPr lang="hu-HU" sz="2100">
                <a:effectLst/>
                <a:latin typeface="CMR12"/>
                <a:cs typeface="CMR12"/>
              </a:rPr>
              <a:t>(</a:t>
            </a:r>
            <a:r>
              <a:rPr lang="hu-HU" sz="2100" i="1">
                <a:effectLst/>
                <a:latin typeface="CMMI12"/>
                <a:cs typeface="CMMI12"/>
              </a:rPr>
              <a:t>m</a:t>
            </a:r>
            <a:r>
              <a:rPr lang="hu-HU" sz="2100">
                <a:effectLst/>
                <a:latin typeface="CMMI12"/>
                <a:cs typeface="CMMI12"/>
              </a:rPr>
              <a:t> </a:t>
            </a:r>
            <a:r>
              <a:rPr lang="en-US" sz="2100">
                <a:effectLst/>
                <a:latin typeface="CMSY10"/>
                <a:cs typeface="CMSY10"/>
              </a:rPr>
              <a:t>− </a:t>
            </a:r>
            <a:r>
              <a:rPr lang="hu-HU" sz="2100">
                <a:effectLst/>
                <a:latin typeface="CMR12"/>
                <a:cs typeface="CMR12"/>
              </a:rPr>
              <a:t>1))</a:t>
            </a:r>
            <a:endParaRPr lang="hu-HU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D806746-ECE8-400D-E684-50AD91E58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1097" y="1889500"/>
            <a:ext cx="5566584" cy="96589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1337D19B-6F31-74FA-ABE3-8CFB447522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81" y="3217364"/>
            <a:ext cx="3287800" cy="136450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7762655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53EDB60-FF54-D14F-2F84-E44119A5D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254" y="728980"/>
            <a:ext cx="10283824" cy="1157037"/>
          </a:xfrm>
        </p:spPr>
        <p:txBody>
          <a:bodyPr>
            <a:normAutofit fontScale="90000"/>
          </a:bodyPr>
          <a:lstStyle/>
          <a:p>
            <a:r>
              <a:rPr lang="hu-HU"/>
              <a:t>Nyílt címzés: beszúrás és keresés, </a:t>
            </a:r>
            <a:br>
              <a:rPr lang="hu-HU"/>
            </a:br>
            <a:r>
              <a:rPr lang="hu-HU"/>
              <a:t>ha nincs törlés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C82FE50-AA9E-FB6A-BEDE-5F465222D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418080"/>
            <a:ext cx="10018713" cy="4249420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800" i="1">
                <a:effectLst/>
                <a:ea typeface="CMMI12"/>
                <a:cs typeface="Times New Roman" panose="02020603050405020304" pitchFamily="18" charset="0"/>
              </a:rPr>
              <a:t>k</a:t>
            </a:r>
            <a:r>
              <a:rPr lang="hu-HU" sz="2800">
                <a:effectLst/>
                <a:ea typeface="CMMI12"/>
                <a:cs typeface="Times New Roman" panose="02020603050405020304" pitchFamily="18" charset="0"/>
              </a:rPr>
              <a:t> </a:t>
            </a:r>
            <a:r>
              <a:rPr lang="hu-HU" sz="28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kulcsú </a:t>
            </a:r>
            <a:r>
              <a:rPr lang="hu-HU" sz="2800" i="1">
                <a:effectLst/>
                <a:ea typeface="CMMI12"/>
                <a:cs typeface="Times New Roman" panose="02020603050405020304" pitchFamily="18" charset="0"/>
              </a:rPr>
              <a:t>r</a:t>
            </a:r>
            <a:r>
              <a:rPr lang="hu-HU" sz="2800">
                <a:effectLst/>
                <a:ea typeface="CMMI12"/>
                <a:cs typeface="Times New Roman" panose="02020603050405020304" pitchFamily="18" charset="0"/>
              </a:rPr>
              <a:t> </a:t>
            </a:r>
            <a:r>
              <a:rPr lang="hu-HU" sz="28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adat beszúrásának/ keresésének lépései: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400">
                <a:effectLst/>
                <a:ea typeface="CMMI12"/>
                <a:cs typeface="Times New Roman" panose="02020603050405020304" pitchFamily="18" charset="0"/>
              </a:rPr>
              <a:t>Próbák(</a:t>
            </a:r>
            <a:r>
              <a:rPr lang="hu-HU" sz="24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foglalt és a kulcsa nem </a:t>
            </a:r>
            <a:r>
              <a:rPr lang="hu-HU" sz="2400">
                <a:effectLst/>
                <a:ea typeface="CMMI12"/>
                <a:cs typeface="Times New Roman" panose="02020603050405020304" pitchFamily="18" charset="0"/>
              </a:rPr>
              <a:t>k</a:t>
            </a:r>
            <a:r>
              <a:rPr lang="hu-HU" sz="24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hu-HU" sz="2400">
                <a:effectLst/>
                <a:ea typeface="CMMI12"/>
                <a:cs typeface="Times New Roman" panose="02020603050405020304" pitchFamily="18" charset="0"/>
              </a:rPr>
              <a:t>):</a:t>
            </a:r>
            <a:r>
              <a:rPr lang="hu-HU" sz="2400" i="1">
                <a:effectLst/>
                <a:ea typeface="CMMI12"/>
                <a:cs typeface="Times New Roman" panose="02020603050405020304" pitchFamily="18" charset="0"/>
              </a:rPr>
              <a:t> h</a:t>
            </a:r>
            <a:r>
              <a:rPr lang="hu-HU" sz="2400">
                <a:effectLst/>
                <a:ea typeface="CMR12"/>
                <a:cs typeface="Times New Roman" panose="02020603050405020304" pitchFamily="18" charset="0"/>
              </a:rPr>
              <a:t>(</a:t>
            </a:r>
            <a:r>
              <a:rPr lang="hu-HU" sz="2400" i="1">
                <a:effectLst/>
                <a:ea typeface="CMMI12"/>
                <a:cs typeface="Times New Roman" panose="02020603050405020304" pitchFamily="18" charset="0"/>
              </a:rPr>
              <a:t>k</a:t>
            </a:r>
            <a:r>
              <a:rPr lang="hu-HU" sz="2400">
                <a:effectLst/>
                <a:ea typeface="CMMI12"/>
                <a:cs typeface="Times New Roman" panose="02020603050405020304" pitchFamily="18" charset="0"/>
              </a:rPr>
              <a:t>, </a:t>
            </a:r>
            <a:r>
              <a:rPr lang="hu-HU" sz="2400">
                <a:effectLst/>
                <a:ea typeface="CMR12"/>
                <a:cs typeface="Times New Roman" panose="02020603050405020304" pitchFamily="18" charset="0"/>
              </a:rPr>
              <a:t>0), </a:t>
            </a:r>
            <a:r>
              <a:rPr lang="hu-HU" sz="2400" i="1">
                <a:effectLst/>
                <a:ea typeface="CMMI12"/>
                <a:cs typeface="Times New Roman" panose="02020603050405020304" pitchFamily="18" charset="0"/>
              </a:rPr>
              <a:t>h</a:t>
            </a:r>
            <a:r>
              <a:rPr lang="hu-HU" sz="2400">
                <a:effectLst/>
                <a:ea typeface="CMR12"/>
                <a:cs typeface="Times New Roman" panose="02020603050405020304" pitchFamily="18" charset="0"/>
              </a:rPr>
              <a:t>(</a:t>
            </a:r>
            <a:r>
              <a:rPr lang="hu-HU" sz="2400" i="1">
                <a:effectLst/>
                <a:ea typeface="CMMI12"/>
                <a:cs typeface="Times New Roman" panose="02020603050405020304" pitchFamily="18" charset="0"/>
              </a:rPr>
              <a:t>k</a:t>
            </a:r>
            <a:r>
              <a:rPr lang="hu-HU" sz="2400">
                <a:effectLst/>
                <a:ea typeface="CMMI12"/>
                <a:cs typeface="Times New Roman" panose="02020603050405020304" pitchFamily="18" charset="0"/>
              </a:rPr>
              <a:t>, </a:t>
            </a:r>
            <a:r>
              <a:rPr lang="hu-HU" sz="2400">
                <a:effectLst/>
                <a:ea typeface="CMR12"/>
                <a:cs typeface="Times New Roman" panose="02020603050405020304" pitchFamily="18" charset="0"/>
              </a:rPr>
              <a:t>1)….</a:t>
            </a:r>
            <a:endParaRPr lang="hu-HU" sz="24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400">
                <a:effectLst/>
                <a:ea typeface="CMR12"/>
                <a:cs typeface="Times New Roman" panose="02020603050405020304" pitchFamily="18" charset="0"/>
              </a:rPr>
              <a:t>Leállás:</a:t>
            </a:r>
            <a:endParaRPr lang="hu-HU" sz="24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üres rést találunk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 i="1">
                <a:effectLst/>
                <a:ea typeface="CMMI12"/>
                <a:cs typeface="Times New Roman" panose="02020603050405020304" pitchFamily="18" charset="0"/>
              </a:rPr>
              <a:t>k</a:t>
            </a:r>
            <a:r>
              <a:rPr lang="hu-HU" sz="2000">
                <a:effectLst/>
                <a:ea typeface="CMMI12"/>
                <a:cs typeface="Times New Roman" panose="02020603050405020304" pitchFamily="18" charset="0"/>
              </a:rPr>
              <a:t> </a:t>
            </a:r>
            <a:r>
              <a:rPr lang="hu-HU" sz="20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kulcsú foglalt rést találunk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kimerítjük az összes lehetséges próbát 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sz="18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 </a:t>
            </a:r>
            <a:r>
              <a:rPr lang="hu-HU" sz="1800">
                <a:effectLst/>
                <a:ea typeface="CMSY10"/>
                <a:cs typeface="Cambria Math" panose="02040503050406030204" pitchFamily="18" charset="0"/>
              </a:rPr>
              <a:t>⟨</a:t>
            </a:r>
            <a:r>
              <a:rPr lang="hu-HU" sz="1800" i="1">
                <a:effectLst/>
                <a:ea typeface="CMMI12"/>
                <a:cs typeface="Times New Roman" panose="02020603050405020304" pitchFamily="18" charset="0"/>
              </a:rPr>
              <a:t>h</a:t>
            </a:r>
            <a:r>
              <a:rPr lang="hu-HU" sz="1800">
                <a:effectLst/>
                <a:ea typeface="CMR12"/>
                <a:cs typeface="Times New Roman" panose="02020603050405020304" pitchFamily="18" charset="0"/>
              </a:rPr>
              <a:t>(</a:t>
            </a:r>
            <a:r>
              <a:rPr lang="hu-HU" sz="1800" i="1">
                <a:effectLst/>
                <a:ea typeface="CMMI12"/>
                <a:cs typeface="Times New Roman" panose="02020603050405020304" pitchFamily="18" charset="0"/>
              </a:rPr>
              <a:t>k</a:t>
            </a:r>
            <a:r>
              <a:rPr lang="hu-HU" sz="1800">
                <a:effectLst/>
                <a:ea typeface="CMMI12"/>
                <a:cs typeface="Times New Roman" panose="02020603050405020304" pitchFamily="18" charset="0"/>
              </a:rPr>
              <a:t>, </a:t>
            </a:r>
            <a:r>
              <a:rPr lang="hu-HU" sz="1800">
                <a:effectLst/>
                <a:ea typeface="CMR12"/>
                <a:cs typeface="Times New Roman" panose="02020603050405020304" pitchFamily="18" charset="0"/>
              </a:rPr>
              <a:t>0)</a:t>
            </a:r>
            <a:r>
              <a:rPr lang="hu-HU" sz="1800">
                <a:effectLst/>
                <a:ea typeface="CMMI12"/>
                <a:cs typeface="Times New Roman" panose="02020603050405020304" pitchFamily="18" charset="0"/>
              </a:rPr>
              <a:t>, </a:t>
            </a:r>
            <a:r>
              <a:rPr lang="hu-HU" sz="1800" i="1">
                <a:effectLst/>
                <a:ea typeface="CMMI12"/>
                <a:cs typeface="Times New Roman" panose="02020603050405020304" pitchFamily="18" charset="0"/>
              </a:rPr>
              <a:t>h</a:t>
            </a:r>
            <a:r>
              <a:rPr lang="hu-HU" sz="1800">
                <a:effectLst/>
                <a:ea typeface="CMR12"/>
                <a:cs typeface="Times New Roman" panose="02020603050405020304" pitchFamily="18" charset="0"/>
              </a:rPr>
              <a:t>(</a:t>
            </a:r>
            <a:r>
              <a:rPr lang="hu-HU" sz="1800" i="1">
                <a:effectLst/>
                <a:ea typeface="CMMI12"/>
                <a:cs typeface="Times New Roman" panose="02020603050405020304" pitchFamily="18" charset="0"/>
              </a:rPr>
              <a:t>k</a:t>
            </a:r>
            <a:r>
              <a:rPr lang="hu-HU" sz="1800">
                <a:effectLst/>
                <a:ea typeface="CMMI12"/>
                <a:cs typeface="Times New Roman" panose="02020603050405020304" pitchFamily="18" charset="0"/>
              </a:rPr>
              <a:t>, </a:t>
            </a:r>
            <a:r>
              <a:rPr lang="hu-HU" sz="1800">
                <a:effectLst/>
                <a:ea typeface="CMR12"/>
                <a:cs typeface="Times New Roman" panose="02020603050405020304" pitchFamily="18" charset="0"/>
              </a:rPr>
              <a:t>1)</a:t>
            </a:r>
            <a:r>
              <a:rPr lang="hu-HU" sz="1800">
                <a:effectLst/>
                <a:ea typeface="CMMI12"/>
                <a:cs typeface="Times New Roman" panose="02020603050405020304" pitchFamily="18" charset="0"/>
              </a:rPr>
              <a:t>, . . . , </a:t>
            </a:r>
            <a:r>
              <a:rPr lang="hu-HU" sz="1800" i="1">
                <a:effectLst/>
                <a:ea typeface="CMMI12"/>
                <a:cs typeface="Times New Roman" panose="02020603050405020304" pitchFamily="18" charset="0"/>
              </a:rPr>
              <a:t>h</a:t>
            </a:r>
            <a:r>
              <a:rPr lang="hu-HU" sz="1800">
                <a:effectLst/>
                <a:ea typeface="CMR12"/>
                <a:cs typeface="Times New Roman" panose="02020603050405020304" pitchFamily="18" charset="0"/>
              </a:rPr>
              <a:t>(</a:t>
            </a:r>
            <a:r>
              <a:rPr lang="hu-HU" sz="1800" i="1" err="1">
                <a:effectLst/>
                <a:ea typeface="CMMI12"/>
                <a:cs typeface="Times New Roman" panose="02020603050405020304" pitchFamily="18" charset="0"/>
              </a:rPr>
              <a:t>k</a:t>
            </a:r>
            <a:r>
              <a:rPr lang="hu-HU" sz="1800" err="1">
                <a:effectLst/>
                <a:ea typeface="CMMI12"/>
                <a:cs typeface="Times New Roman" panose="02020603050405020304" pitchFamily="18" charset="0"/>
              </a:rPr>
              <a:t>,</a:t>
            </a:r>
            <a:r>
              <a:rPr lang="hu-HU" sz="1800" i="1" err="1">
                <a:effectLst/>
                <a:ea typeface="CMMI12"/>
                <a:cs typeface="Times New Roman" panose="02020603050405020304" pitchFamily="18" charset="0"/>
              </a:rPr>
              <a:t>m</a:t>
            </a:r>
            <a:r>
              <a:rPr lang="hu-HU" sz="1800">
                <a:effectLst/>
                <a:ea typeface="CMMI12"/>
                <a:cs typeface="Times New Roman" panose="02020603050405020304" pitchFamily="18" charset="0"/>
              </a:rPr>
              <a:t> </a:t>
            </a:r>
            <a:r>
              <a:rPr lang="hu-HU" sz="1800">
                <a:effectLst/>
                <a:ea typeface="CMSY10"/>
                <a:cs typeface="Times New Roman" panose="02020603050405020304" pitchFamily="18" charset="0"/>
              </a:rPr>
              <a:t>− </a:t>
            </a:r>
            <a:r>
              <a:rPr lang="hu-HU" sz="1800">
                <a:effectLst/>
                <a:ea typeface="CMR12"/>
                <a:cs typeface="Times New Roman" panose="02020603050405020304" pitchFamily="18" charset="0"/>
              </a:rPr>
              <a:t>1)</a:t>
            </a:r>
            <a:r>
              <a:rPr lang="hu-HU" sz="1800">
                <a:effectLst/>
                <a:ea typeface="CMSY10"/>
                <a:cs typeface="Cambria Math" panose="02040503050406030204" pitchFamily="18" charset="0"/>
              </a:rPr>
              <a:t>⟩</a:t>
            </a:r>
            <a:r>
              <a:rPr lang="hu-HU" sz="1800">
                <a:effectLst/>
                <a:ea typeface="CMSY10"/>
                <a:cs typeface="Times New Roman" panose="02020603050405020304" pitchFamily="18" charset="0"/>
              </a:rPr>
              <a:t> </a:t>
            </a:r>
            <a:r>
              <a:rPr lang="hu-HU" sz="18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potenciális próbasorozatot)</a:t>
            </a:r>
          </a:p>
        </p:txBody>
      </p:sp>
    </p:spTree>
    <p:extLst>
      <p:ext uri="{BB962C8B-B14F-4D97-AF65-F5344CB8AC3E}">
        <p14:creationId xmlns:p14="http://schemas.microsoft.com/office/powerpoint/2010/main" val="6571259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92ED0-5E16-55BD-8C41-11BD046E5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elhő 4">
            <a:extLst>
              <a:ext uri="{FF2B5EF4-FFF2-40B4-BE49-F238E27FC236}">
                <a16:creationId xmlns:a16="http://schemas.microsoft.com/office/drawing/2014/main" id="{3BFEF815-EEB8-74F3-F27A-6EB9FAADD290}"/>
              </a:ext>
            </a:extLst>
          </p:cNvPr>
          <p:cNvSpPr/>
          <p:nvPr/>
        </p:nvSpPr>
        <p:spPr>
          <a:xfrm rot="1498962">
            <a:off x="1122944" y="2486055"/>
            <a:ext cx="5444215" cy="3387389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Felhő 5">
            <a:extLst>
              <a:ext uri="{FF2B5EF4-FFF2-40B4-BE49-F238E27FC236}">
                <a16:creationId xmlns:a16="http://schemas.microsoft.com/office/drawing/2014/main" id="{FA5DB40B-647E-F7E8-C936-9D9CB38A96E8}"/>
              </a:ext>
            </a:extLst>
          </p:cNvPr>
          <p:cNvSpPr/>
          <p:nvPr/>
        </p:nvSpPr>
        <p:spPr>
          <a:xfrm rot="19956707">
            <a:off x="6587599" y="2751945"/>
            <a:ext cx="5290885" cy="3169375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C4119C8-C705-CD73-2D5B-561090526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9934" y="579120"/>
            <a:ext cx="10283824" cy="1337377"/>
          </a:xfrm>
        </p:spPr>
        <p:txBody>
          <a:bodyPr>
            <a:normAutofit/>
          </a:bodyPr>
          <a:lstStyle/>
          <a:p>
            <a:r>
              <a:rPr lang="hu-HU"/>
              <a:t>Nyílt címzés: beszúrás és keresés, </a:t>
            </a:r>
            <a:br>
              <a:rPr lang="hu-HU"/>
            </a:br>
            <a:r>
              <a:rPr lang="hu-HU"/>
              <a:t>ha nincs törlés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984A989-F79C-6D28-1151-3F15DF5478DB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9908728">
            <a:off x="7189632" y="2559714"/>
            <a:ext cx="4244932" cy="3035300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hu-HU" sz="28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Beszúrás: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4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Sikeres: üres rés 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22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ebbe tesszük az adatot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400">
                <a:ea typeface="Calibri" panose="020F0502020204030204" pitchFamily="34" charset="0"/>
                <a:cs typeface="Times New Roman" panose="02020603050405020304" pitchFamily="18" charset="0"/>
              </a:rPr>
              <a:t>Sikertelen: különben</a:t>
            </a:r>
            <a:endParaRPr lang="hu-HU" sz="24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ADE509A5-5E4F-3554-624A-A2A5C93DF4D5}"/>
              </a:ext>
            </a:extLst>
          </p:cNvPr>
          <p:cNvSpPr txBox="1">
            <a:spLocks/>
          </p:cNvSpPr>
          <p:nvPr/>
        </p:nvSpPr>
        <p:spPr>
          <a:xfrm rot="1666489">
            <a:off x="1599934" y="2834640"/>
            <a:ext cx="5383850" cy="3129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hu-HU" sz="2800">
                <a:ea typeface="Calibri" panose="020F0502020204030204" pitchFamily="34" charset="0"/>
                <a:cs typeface="Times New Roman" panose="02020603050405020304" pitchFamily="18" charset="0"/>
              </a:rPr>
              <a:t>	Keresés: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400">
                <a:ea typeface="Calibri" panose="020F0502020204030204" pitchFamily="34" charset="0"/>
                <a:cs typeface="Times New Roman" panose="02020603050405020304" pitchFamily="18" charset="0"/>
              </a:rPr>
              <a:t>Sikeres: megtaláltuk a keresett </a:t>
            </a:r>
            <a:r>
              <a:rPr lang="hu-HU" sz="2400">
                <a:ea typeface="Calibri" panose="020F0502020204030204" pitchFamily="34" charset="0"/>
              </a:rPr>
              <a:t>kulcsú foglalt rést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400">
                <a:ea typeface="Calibri" panose="020F0502020204030204" pitchFamily="34" charset="0"/>
                <a:cs typeface="Times New Roman" panose="02020603050405020304" pitchFamily="18" charset="0"/>
              </a:rPr>
              <a:t>Sikertelen: különben</a:t>
            </a:r>
          </a:p>
        </p:txBody>
      </p:sp>
    </p:spTree>
    <p:extLst>
      <p:ext uri="{BB962C8B-B14F-4D97-AF65-F5344CB8AC3E}">
        <p14:creationId xmlns:p14="http://schemas.microsoft.com/office/powerpoint/2010/main" val="20725872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90DDA1F-A4FB-2BA4-33D4-5574A0A27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577516"/>
            <a:ext cx="10018713" cy="877529"/>
          </a:xfrm>
        </p:spPr>
        <p:txBody>
          <a:bodyPr>
            <a:normAutofit/>
          </a:bodyPr>
          <a:lstStyle/>
          <a:p>
            <a:r>
              <a:rPr lang="hu-HU"/>
              <a:t>Próbasorozatok (</a:t>
            </a:r>
            <a:r>
              <a:rPr lang="hu-HU" err="1"/>
              <a:t>probe</a:t>
            </a:r>
            <a:r>
              <a:rPr lang="hu-HU"/>
              <a:t> </a:t>
            </a:r>
            <a:r>
              <a:rPr lang="hu-HU" err="1"/>
              <a:t>sequence</a:t>
            </a:r>
            <a:r>
              <a:rPr lang="hu-HU"/>
              <a:t>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419CE36-C610-3B1D-58A4-DEF6AD52F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19200"/>
            <a:ext cx="10018713" cy="5213685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4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Potenciális próbasorozat: </a:t>
            </a:r>
            <a:r>
              <a:rPr lang="hu-HU">
                <a:effectLst/>
                <a:ea typeface="CMSY10"/>
                <a:cs typeface="Cambria Math" panose="02040503050406030204" pitchFamily="18" charset="0"/>
              </a:rPr>
              <a:t>⟨</a:t>
            </a:r>
            <a:r>
              <a:rPr lang="hu-HU" i="1">
                <a:effectLst/>
                <a:ea typeface="CMMI12"/>
                <a:cs typeface="Times New Roman" panose="02020603050405020304" pitchFamily="18" charset="0"/>
              </a:rPr>
              <a:t>h</a:t>
            </a:r>
            <a:r>
              <a:rPr lang="hu-HU">
                <a:effectLst/>
                <a:ea typeface="CMR12"/>
                <a:cs typeface="Times New Roman" panose="02020603050405020304" pitchFamily="18" charset="0"/>
              </a:rPr>
              <a:t>(</a:t>
            </a:r>
            <a:r>
              <a:rPr lang="hu-HU" i="1">
                <a:effectLst/>
                <a:ea typeface="CMMI12"/>
                <a:cs typeface="Times New Roman" panose="02020603050405020304" pitchFamily="18" charset="0"/>
              </a:rPr>
              <a:t>k</a:t>
            </a:r>
            <a:r>
              <a:rPr lang="hu-HU">
                <a:effectLst/>
                <a:ea typeface="CMMI12"/>
                <a:cs typeface="Times New Roman" panose="02020603050405020304" pitchFamily="18" charset="0"/>
              </a:rPr>
              <a:t>, </a:t>
            </a:r>
            <a:r>
              <a:rPr lang="hu-HU">
                <a:effectLst/>
                <a:ea typeface="CMR12"/>
                <a:cs typeface="Times New Roman" panose="02020603050405020304" pitchFamily="18" charset="0"/>
              </a:rPr>
              <a:t>0)</a:t>
            </a:r>
            <a:r>
              <a:rPr lang="hu-HU">
                <a:effectLst/>
                <a:ea typeface="CMMI12"/>
                <a:cs typeface="Times New Roman" panose="02020603050405020304" pitchFamily="18" charset="0"/>
              </a:rPr>
              <a:t>, </a:t>
            </a:r>
            <a:r>
              <a:rPr lang="hu-HU" i="1">
                <a:effectLst/>
                <a:ea typeface="CMMI12"/>
                <a:cs typeface="Times New Roman" panose="02020603050405020304" pitchFamily="18" charset="0"/>
              </a:rPr>
              <a:t>h</a:t>
            </a:r>
            <a:r>
              <a:rPr lang="hu-HU">
                <a:effectLst/>
                <a:ea typeface="CMR12"/>
                <a:cs typeface="Times New Roman" panose="02020603050405020304" pitchFamily="18" charset="0"/>
              </a:rPr>
              <a:t>(</a:t>
            </a:r>
            <a:r>
              <a:rPr lang="hu-HU" i="1">
                <a:effectLst/>
                <a:ea typeface="CMMI12"/>
                <a:cs typeface="Times New Roman" panose="02020603050405020304" pitchFamily="18" charset="0"/>
              </a:rPr>
              <a:t>k</a:t>
            </a:r>
            <a:r>
              <a:rPr lang="hu-HU">
                <a:effectLst/>
                <a:ea typeface="CMMI12"/>
                <a:cs typeface="Times New Roman" panose="02020603050405020304" pitchFamily="18" charset="0"/>
              </a:rPr>
              <a:t>, </a:t>
            </a:r>
            <a:r>
              <a:rPr lang="hu-HU">
                <a:effectLst/>
                <a:ea typeface="CMR12"/>
                <a:cs typeface="Times New Roman" panose="02020603050405020304" pitchFamily="18" charset="0"/>
              </a:rPr>
              <a:t>1)</a:t>
            </a:r>
            <a:r>
              <a:rPr lang="hu-HU">
                <a:effectLst/>
                <a:ea typeface="CMMI12"/>
                <a:cs typeface="Times New Roman" panose="02020603050405020304" pitchFamily="18" charset="0"/>
              </a:rPr>
              <a:t>, . . . , </a:t>
            </a:r>
            <a:r>
              <a:rPr lang="hu-HU" i="1">
                <a:effectLst/>
                <a:ea typeface="CMMI12"/>
                <a:cs typeface="Times New Roman" panose="02020603050405020304" pitchFamily="18" charset="0"/>
              </a:rPr>
              <a:t>h</a:t>
            </a:r>
            <a:r>
              <a:rPr lang="hu-HU">
                <a:effectLst/>
                <a:ea typeface="CMR12"/>
                <a:cs typeface="Times New Roman" panose="02020603050405020304" pitchFamily="18" charset="0"/>
              </a:rPr>
              <a:t>(</a:t>
            </a:r>
            <a:r>
              <a:rPr lang="hu-HU" i="1">
                <a:effectLst/>
                <a:ea typeface="CMMI12"/>
                <a:cs typeface="Times New Roman" panose="02020603050405020304" pitchFamily="18" charset="0"/>
              </a:rPr>
              <a:t>k</a:t>
            </a:r>
            <a:r>
              <a:rPr lang="hu-HU">
                <a:effectLst/>
                <a:ea typeface="CMMI12"/>
                <a:cs typeface="Times New Roman" panose="02020603050405020304" pitchFamily="18" charset="0"/>
              </a:rPr>
              <a:t>, </a:t>
            </a:r>
            <a:r>
              <a:rPr lang="hu-HU" i="1">
                <a:effectLst/>
                <a:ea typeface="CMMI12"/>
                <a:cs typeface="Times New Roman" panose="02020603050405020304" pitchFamily="18" charset="0"/>
              </a:rPr>
              <a:t>m</a:t>
            </a:r>
            <a:r>
              <a:rPr lang="hu-HU">
                <a:effectLst/>
                <a:ea typeface="CMSY10"/>
                <a:cs typeface="Times New Roman" panose="02020603050405020304" pitchFamily="18" charset="0"/>
              </a:rPr>
              <a:t>−</a:t>
            </a:r>
            <a:r>
              <a:rPr lang="hu-HU">
                <a:effectLst/>
                <a:ea typeface="CMR12"/>
                <a:cs typeface="Times New Roman" panose="02020603050405020304" pitchFamily="18" charset="0"/>
              </a:rPr>
              <a:t>1)</a:t>
            </a:r>
            <a:r>
              <a:rPr lang="hu-HU">
                <a:effectLst/>
                <a:ea typeface="CMSY10"/>
                <a:cs typeface="Cambria Math" panose="02040503050406030204" pitchFamily="18" charset="0"/>
              </a:rPr>
              <a:t>⟩</a:t>
            </a:r>
            <a:endParaRPr lang="hu-HU" sz="24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műveletek elvégzésekor ténylegesen csak egy prefixét állítjuk elő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Font typeface="Cambria Math" panose="02040503050406030204" pitchFamily="18" charset="0"/>
              <a:buChar char="‼"/>
            </a:pPr>
            <a:r>
              <a:rPr lang="hu-HU">
                <a:effectLst/>
                <a:ea typeface="CMSY10"/>
                <a:cs typeface="Cambria Math" panose="02040503050406030204" pitchFamily="18" charset="0"/>
              </a:rPr>
              <a:t>⟨</a:t>
            </a:r>
            <a:r>
              <a:rPr lang="hu-HU">
                <a:effectLst/>
                <a:ea typeface="CMR12"/>
                <a:cs typeface="Times New Roman" panose="02020603050405020304" pitchFamily="18" charset="0"/>
              </a:rPr>
              <a:t>0</a:t>
            </a:r>
            <a:r>
              <a:rPr lang="hu-HU">
                <a:effectLst/>
                <a:ea typeface="CMMI12"/>
                <a:cs typeface="Times New Roman" panose="02020603050405020304" pitchFamily="18" charset="0"/>
              </a:rPr>
              <a:t>, </a:t>
            </a:r>
            <a:r>
              <a:rPr lang="hu-HU">
                <a:effectLst/>
                <a:ea typeface="CMR12"/>
                <a:cs typeface="Times New Roman" panose="02020603050405020304" pitchFamily="18" charset="0"/>
              </a:rPr>
              <a:t>1</a:t>
            </a:r>
            <a:r>
              <a:rPr lang="hu-HU">
                <a:effectLst/>
                <a:ea typeface="CMMI12"/>
                <a:cs typeface="Times New Roman" panose="02020603050405020304" pitchFamily="18" charset="0"/>
              </a:rPr>
              <a:t>, . . . , </a:t>
            </a:r>
            <a:r>
              <a:rPr lang="hu-HU">
                <a:effectLst/>
                <a:ea typeface="CMR12"/>
                <a:cs typeface="Times New Roman" panose="02020603050405020304" pitchFamily="18" charset="0"/>
              </a:rPr>
              <a:t>(</a:t>
            </a:r>
            <a:r>
              <a:rPr lang="hu-HU" i="1">
                <a:effectLst/>
                <a:ea typeface="CMMI12"/>
                <a:cs typeface="Times New Roman" panose="02020603050405020304" pitchFamily="18" charset="0"/>
              </a:rPr>
              <a:t>m</a:t>
            </a:r>
            <a:r>
              <a:rPr lang="hu-HU">
                <a:effectLst/>
                <a:ea typeface="CMMI12"/>
                <a:cs typeface="Times New Roman" panose="02020603050405020304" pitchFamily="18" charset="0"/>
              </a:rPr>
              <a:t> </a:t>
            </a:r>
            <a:r>
              <a:rPr lang="hu-HU">
                <a:effectLst/>
                <a:ea typeface="CMSY10"/>
                <a:cs typeface="Times New Roman" panose="02020603050405020304" pitchFamily="18" charset="0"/>
              </a:rPr>
              <a:t>− </a:t>
            </a:r>
            <a:r>
              <a:rPr lang="hu-HU">
                <a:effectLst/>
                <a:ea typeface="CMR12"/>
                <a:cs typeface="Times New Roman" panose="02020603050405020304" pitchFamily="18" charset="0"/>
              </a:rPr>
              <a:t>1)</a:t>
            </a:r>
            <a:r>
              <a:rPr lang="hu-HU">
                <a:effectLst/>
                <a:ea typeface="CMSY10"/>
                <a:cs typeface="Cambria Math" panose="02040503050406030204" pitchFamily="18" charset="0"/>
              </a:rPr>
              <a:t>⟩</a:t>
            </a:r>
            <a:r>
              <a:rPr lang="hu-HU">
                <a:effectLst/>
                <a:ea typeface="CMSY10"/>
                <a:cs typeface="Times New Roman" panose="02020603050405020304" pitchFamily="18" charset="0"/>
              </a:rPr>
              <a:t> </a:t>
            </a:r>
            <a:r>
              <a:rPr lang="hu-HU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egy permutációja (</a:t>
            </a:r>
            <a:r>
              <a:rPr lang="hu-HU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permutation</a:t>
            </a:r>
            <a:r>
              <a:rPr lang="hu-HU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legyen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16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az egész hasító táblát lefedje 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16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ne hivatkozzon kétszer vagy többször ugyanarra a résre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4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aktuális próbasorozat (</a:t>
            </a:r>
            <a:r>
              <a:rPr lang="hu-HU" sz="240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actual</a:t>
            </a:r>
            <a:r>
              <a:rPr lang="hu-HU" sz="24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hu-HU" sz="240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probing</a:t>
            </a:r>
            <a:r>
              <a:rPr lang="hu-HU" sz="24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hu-HU" sz="240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sequence</a:t>
            </a:r>
            <a:r>
              <a:rPr lang="hu-HU" sz="24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):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potenciális próbasorozatnak a ténylegesen előállított prefix sorozata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beszúrás/keresés a </a:t>
            </a:r>
            <a:r>
              <a:rPr lang="hu-HU" i="1">
                <a:effectLst/>
                <a:ea typeface="CMMI12"/>
                <a:cs typeface="Times New Roman" panose="02020603050405020304" pitchFamily="18" charset="0"/>
              </a:rPr>
              <a:t>h</a:t>
            </a:r>
            <a:r>
              <a:rPr lang="hu-HU">
                <a:effectLst/>
                <a:ea typeface="CMR12"/>
                <a:cs typeface="Times New Roman" panose="02020603050405020304" pitchFamily="18" charset="0"/>
              </a:rPr>
              <a:t>(</a:t>
            </a:r>
            <a:r>
              <a:rPr lang="hu-HU" i="1">
                <a:effectLst/>
                <a:ea typeface="CMMI12"/>
                <a:cs typeface="Times New Roman" panose="02020603050405020304" pitchFamily="18" charset="0"/>
              </a:rPr>
              <a:t>k</a:t>
            </a:r>
            <a:r>
              <a:rPr lang="hu-HU">
                <a:effectLst/>
                <a:ea typeface="CMMI12"/>
                <a:cs typeface="Times New Roman" panose="02020603050405020304" pitchFamily="18" charset="0"/>
              </a:rPr>
              <a:t>, </a:t>
            </a:r>
            <a:r>
              <a:rPr lang="hu-HU" i="1">
                <a:effectLst/>
                <a:ea typeface="CMMI12"/>
                <a:cs typeface="Times New Roman" panose="02020603050405020304" pitchFamily="18" charset="0"/>
              </a:rPr>
              <a:t>i</a:t>
            </a:r>
            <a:r>
              <a:rPr lang="hu-HU">
                <a:effectLst/>
                <a:ea typeface="CMMI12"/>
                <a:cs typeface="Times New Roman" panose="02020603050405020304" pitchFamily="18" charset="0"/>
              </a:rPr>
              <a:t> </a:t>
            </a:r>
            <a:r>
              <a:rPr lang="hu-HU">
                <a:effectLst/>
                <a:ea typeface="CMSY10"/>
                <a:cs typeface="Times New Roman" panose="02020603050405020304" pitchFamily="18" charset="0"/>
              </a:rPr>
              <a:t>− </a:t>
            </a:r>
            <a:r>
              <a:rPr lang="hu-HU">
                <a:effectLst/>
                <a:ea typeface="CMR12"/>
                <a:cs typeface="Times New Roman" panose="02020603050405020304" pitchFamily="18" charset="0"/>
              </a:rPr>
              <a:t>1) </a:t>
            </a:r>
            <a:r>
              <a:rPr lang="hu-HU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próbánál áll meg </a:t>
            </a:r>
            <a:r>
              <a:rPr lang="hu-HU">
                <a:effectLst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</a:t>
            </a:r>
            <a:r>
              <a:rPr lang="hu-HU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hu-HU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hu-HU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beszúrás/keresés (azaz az aktuális próbasorozat) hossza </a:t>
            </a:r>
            <a:r>
              <a:rPr lang="hu-HU" i="1">
                <a:effectLst/>
                <a:ea typeface="CMMI12"/>
                <a:cs typeface="Times New Roman" panose="02020603050405020304" pitchFamily="18" charset="0"/>
              </a:rPr>
              <a:t>i</a:t>
            </a:r>
            <a:r>
              <a:rPr lang="hu-HU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526930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ndolatbuborék: felhő 3">
            <a:extLst>
              <a:ext uri="{FF2B5EF4-FFF2-40B4-BE49-F238E27FC236}">
                <a16:creationId xmlns:a16="http://schemas.microsoft.com/office/drawing/2014/main" id="{E35BA12D-0103-E09E-A0CB-AAEA49DA413C}"/>
              </a:ext>
            </a:extLst>
          </p:cNvPr>
          <p:cNvSpPr/>
          <p:nvPr/>
        </p:nvSpPr>
        <p:spPr>
          <a:xfrm>
            <a:off x="10322560" y="4460240"/>
            <a:ext cx="1727200" cy="812800"/>
          </a:xfrm>
          <a:prstGeom prst="cloudCallout">
            <a:avLst>
              <a:gd name="adj1" fmla="val -78258"/>
              <a:gd name="adj2" fmla="val 3125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Gondolatbuborék: felhő 4">
            <a:extLst>
              <a:ext uri="{FF2B5EF4-FFF2-40B4-BE49-F238E27FC236}">
                <a16:creationId xmlns:a16="http://schemas.microsoft.com/office/drawing/2014/main" id="{6C73CC45-7E6E-6556-CC04-7D19529D0543}"/>
              </a:ext>
            </a:extLst>
          </p:cNvPr>
          <p:cNvSpPr/>
          <p:nvPr/>
        </p:nvSpPr>
        <p:spPr>
          <a:xfrm>
            <a:off x="10535920" y="3799840"/>
            <a:ext cx="1158240" cy="812800"/>
          </a:xfrm>
          <a:prstGeom prst="cloudCallout">
            <a:avLst>
              <a:gd name="adj1" fmla="val -78405"/>
              <a:gd name="adj2" fmla="val -14583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466CD295-E8DB-BA24-2C4C-F2EB150D7B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411706"/>
                <a:ext cx="10565450" cy="5129461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2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Egyenletes hasítás (uniform </a:t>
                </a:r>
                <a:r>
                  <a:rPr lang="hu-HU" sz="220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hashing</a:t>
                </a:r>
                <a:r>
                  <a:rPr lang="hu-HU" sz="22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Egy tetszőleges potenciális próbasorozat a </a:t>
                </a:r>
                <a:r>
                  <a:rPr lang="hu-HU">
                    <a:effectLst/>
                    <a:ea typeface="CMSY10"/>
                    <a:cs typeface="Cambria Math" panose="02040503050406030204" pitchFamily="18" charset="0"/>
                  </a:rPr>
                  <a:t>⟨</a:t>
                </a: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0</a:t>
                </a:r>
                <a:r>
                  <a:rPr lang="hu-HU">
                    <a:effectLst/>
                    <a:ea typeface="CMMI12"/>
                    <a:cs typeface="Times New Roman" panose="02020603050405020304" pitchFamily="18" charset="0"/>
                  </a:rPr>
                  <a:t>, </a:t>
                </a: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1</a:t>
                </a:r>
                <a:r>
                  <a:rPr lang="hu-HU">
                    <a:effectLst/>
                    <a:ea typeface="CMMI12"/>
                    <a:cs typeface="Times New Roman" panose="02020603050405020304" pitchFamily="18" charset="0"/>
                  </a:rPr>
                  <a:t>, . . . , </a:t>
                </a: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(</a:t>
                </a:r>
                <a:r>
                  <a:rPr lang="hu-HU" i="1">
                    <a:effectLst/>
                    <a:ea typeface="CMMI12"/>
                    <a:cs typeface="Times New Roman" panose="02020603050405020304" pitchFamily="18" charset="0"/>
                  </a:rPr>
                  <a:t>m</a:t>
                </a:r>
                <a:r>
                  <a:rPr lang="hu-HU">
                    <a:effectLst/>
                    <a:ea typeface="CMMI12"/>
                    <a:cs typeface="Times New Roman" panose="02020603050405020304" pitchFamily="18" charset="0"/>
                  </a:rPr>
                  <a:t> </a:t>
                </a:r>
                <a:r>
                  <a:rPr lang="hu-HU">
                    <a:effectLst/>
                    <a:ea typeface="CMSY10"/>
                    <a:cs typeface="Times New Roman" panose="02020603050405020304" pitchFamily="18" charset="0"/>
                  </a:rPr>
                  <a:t>− </a:t>
                </a: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1)</a:t>
                </a:r>
                <a:r>
                  <a:rPr lang="hu-HU">
                    <a:effectLst/>
                    <a:ea typeface="CMSY10"/>
                    <a:cs typeface="Cambria Math" panose="02040503050406030204" pitchFamily="18" charset="0"/>
                  </a:rPr>
                  <a:t>⟩</a:t>
                </a:r>
                <a:r>
                  <a:rPr lang="hu-HU">
                    <a:effectLst/>
                    <a:ea typeface="CMSY10"/>
                    <a:cs typeface="Times New Roman" panose="02020603050405020304" pitchFamily="18" charset="0"/>
                  </a:rPr>
                  <a:t> </a:t>
                </a:r>
                <a:r>
                  <a:rPr lang="hu-HU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sorozatnak mind az </a:t>
                </a:r>
                <a:r>
                  <a:rPr lang="hu-HU" i="1">
                    <a:effectLst/>
                    <a:ea typeface="CMMI12"/>
                    <a:cs typeface="Times New Roman" panose="02020603050405020304" pitchFamily="18" charset="0"/>
                  </a:rPr>
                  <a:t>m</a:t>
                </a: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! </a:t>
                </a:r>
                <a:r>
                  <a:rPr lang="hu-HU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permutációját azonos valószínűséggel állítja elő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200">
                    <a:ea typeface="Calibri" panose="020F0502020204030204" pitchFamily="34" charset="0"/>
                    <a:cs typeface="Times New Roman" panose="02020603050405020304" pitchFamily="18" charset="0"/>
                  </a:rPr>
                  <a:t>Várható lépésszám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(egyenletes hasítás, nincsenek </a:t>
                </a:r>
                <a:r>
                  <a:rPr lang="hu-HU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törölt</a:t>
                </a:r>
                <a:r>
                  <a:rPr lang="hu-HU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rések, kitöltöttségi arány: </a:t>
                </a: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0 </a:t>
                </a:r>
                <a:r>
                  <a:rPr lang="hu-HU">
                    <a:effectLst/>
                    <a:ea typeface="CMMI12"/>
                    <a:cs typeface="Times New Roman" panose="02020603050405020304" pitchFamily="18" charset="0"/>
                  </a:rPr>
                  <a:t>&lt; α &lt; </a:t>
                </a: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1)</a:t>
                </a:r>
                <a:endParaRPr lang="hu-HU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egy sikertelen keresés illetve egy sikeres beszúrás várható hossza legfeljebb	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fPr>
                      <m:num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1</m:t>
                        </m:r>
                      </m:num>
                      <m:den>
                        <m:r>
                          <a:rPr lang="hu-HU">
                            <a:effectLst/>
                            <a:latin typeface="Cambria Math" panose="02040503050406030204" pitchFamily="18" charset="0"/>
                            <a:ea typeface="CMR12"/>
                            <a:cs typeface="Times New Roman" panose="02020603050405020304" pitchFamily="18" charset="0"/>
                          </a:rPr>
                          <m:t>1 </m:t>
                        </m:r>
                        <m:r>
                          <a:rPr lang="hu-HU" i="1">
                            <a:effectLst/>
                            <a:latin typeface="Cambria Math" panose="02040503050406030204" pitchFamily="18" charset="0"/>
                            <a:ea typeface="CMSY1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hu-HU">
                            <a:effectLst/>
                            <a:latin typeface="Cambria Math" panose="02040503050406030204" pitchFamily="18" charset="0"/>
                            <a:ea typeface="CMSY1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hu-HU">
                            <a:effectLst/>
                            <a:latin typeface="Cambria Math" panose="02040503050406030204" pitchFamily="18" charset="0"/>
                            <a:ea typeface="CMMI12"/>
                            <a:cs typeface="Times New Roman" panose="02020603050405020304" pitchFamily="18" charset="0"/>
                          </a:rPr>
                          <m:t>α</m:t>
                        </m:r>
                      </m:den>
                    </m:f>
                  </m:oMath>
                </a14:m>
                <a:endParaRPr lang="hu-HU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egy sikeres keresés illetve sikertelen beszúrás várható hossza legfeljebb		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fPr>
                      <m:num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hu-HU">
                            <a:effectLst/>
                            <a:latin typeface="Cambria Math" panose="02040503050406030204" pitchFamily="18" charset="0"/>
                            <a:ea typeface="CMMI12"/>
                            <a:cs typeface="Times New Roman" panose="02020603050405020304" pitchFamily="18" charset="0"/>
                          </a:rPr>
                          <m:t>α</m:t>
                        </m:r>
                      </m:den>
                    </m:f>
                    <m:func>
                      <m:funcPr>
                        <m:ctrlPr>
                          <a:rPr lang="hu-H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hu-HU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</m:ctrlPr>
                          </m:fPr>
                          <m:num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1</m:t>
                            </m:r>
                          </m:num>
                          <m:den>
                            <m:r>
                              <a:rPr lang="hu-HU">
                                <a:effectLst/>
                                <a:latin typeface="Cambria Math" panose="02040503050406030204" pitchFamily="18" charset="0"/>
                                <a:ea typeface="CMR12"/>
                                <a:cs typeface="Times New Roman" panose="02020603050405020304" pitchFamily="18" charset="0"/>
                              </a:rPr>
                              <m:t>1 </m:t>
                            </m:r>
                            <m:r>
                              <a:rPr lang="hu-HU" i="1">
                                <a:effectLst/>
                                <a:latin typeface="Cambria Math" panose="02040503050406030204" pitchFamily="18" charset="0"/>
                                <a:ea typeface="CMSY1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hu-HU">
                                <a:effectLst/>
                                <a:latin typeface="Cambria Math" panose="02040503050406030204" pitchFamily="18" charset="0"/>
                                <a:ea typeface="CMSY1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hu-HU">
                                <a:effectLst/>
                                <a:latin typeface="Cambria Math" panose="02040503050406030204" pitchFamily="18" charset="0"/>
                                <a:ea typeface="CMMI12"/>
                                <a:cs typeface="Times New Roman" panose="02020603050405020304" pitchFamily="18" charset="0"/>
                              </a:rPr>
                              <m:t>α</m:t>
                            </m:r>
                          </m:den>
                        </m:f>
                      </m:e>
                    </m:func>
                  </m:oMath>
                </a14:m>
                <a:endParaRPr lang="hu-HU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500">
                    <a:effectLst/>
                    <a:ea typeface="CMR12"/>
                    <a:cs typeface="Times New Roman" panose="02020603050405020304" pitchFamily="18" charset="0"/>
                  </a:rPr>
                  <a:t>50%</a:t>
                </a:r>
                <a:r>
                  <a:rPr lang="hu-HU" sz="15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-os kitöltöttség mellett egy sikertelen keresés (illetve egy sikeres beszúrás) várható hossza legfeljebb </a:t>
                </a:r>
                <a:r>
                  <a:rPr lang="hu-HU" sz="1500">
                    <a:effectLst/>
                    <a:ea typeface="CMR12"/>
                    <a:cs typeface="Times New Roman" panose="02020603050405020304" pitchFamily="18" charset="0"/>
                  </a:rPr>
                  <a:t>2</a:t>
                </a:r>
                <a:r>
                  <a:rPr lang="hu-HU" sz="15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,</a:t>
                </a:r>
                <a:br>
                  <a:rPr lang="hu-HU" sz="15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hu-HU" sz="15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míg egy sikeres keresésé (illetve egy sikertelen beszúrásé) kisebb, mint 1,387 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500">
                    <a:effectLst/>
                    <a:ea typeface="CMR12"/>
                    <a:cs typeface="Times New Roman" panose="02020603050405020304" pitchFamily="18" charset="0"/>
                  </a:rPr>
                  <a:t>90%</a:t>
                </a:r>
                <a:r>
                  <a:rPr lang="hu-HU" sz="15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-os kitöltöttség mellett pedig egy sikertelen keresés (illetve egy sikeres beszúrás) várható hossza legfeljebb </a:t>
                </a:r>
                <a:r>
                  <a:rPr lang="hu-HU" sz="1500">
                    <a:effectLst/>
                    <a:ea typeface="CMR12"/>
                    <a:cs typeface="Times New Roman" panose="02020603050405020304" pitchFamily="18" charset="0"/>
                  </a:rPr>
                  <a:t>10</a:t>
                </a:r>
                <a:r>
                  <a:rPr lang="hu-HU" sz="15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, míg egy</a:t>
                </a:r>
                <a:r>
                  <a:rPr lang="hu-HU" sz="1500" i="1">
                    <a:effectLst/>
                    <a:ea typeface="CMR12"/>
                    <a:cs typeface="Times New Roman" panose="02020603050405020304" pitchFamily="18" charset="0"/>
                  </a:rPr>
                  <a:t> </a:t>
                </a:r>
                <a:r>
                  <a:rPr lang="hu-HU" sz="1500">
                    <a:effectLst/>
                    <a:ea typeface="Calibri" panose="020F0502020204030204" pitchFamily="34" charset="0"/>
                    <a:cs typeface="F29"/>
                  </a:rPr>
                  <a:t>míg egy sikeres keresésé (illetve egy sikertelen beszúrásé) kisebb, mint 2,559</a:t>
                </a:r>
                <a:endParaRPr lang="hu-HU" sz="1500"/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466CD295-E8DB-BA24-2C4C-F2EB150D7B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411706"/>
                <a:ext cx="10565450" cy="5129461"/>
              </a:xfrm>
              <a:blipFill>
                <a:blip r:embed="rId2"/>
                <a:stretch>
                  <a:fillRect l="-1269" t="-4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ím 1">
            <a:extLst>
              <a:ext uri="{FF2B5EF4-FFF2-40B4-BE49-F238E27FC236}">
                <a16:creationId xmlns:a16="http://schemas.microsoft.com/office/drawing/2014/main" id="{66BBFAD4-0731-47FB-23BE-03AF1C0D0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16832"/>
            <a:ext cx="10018713" cy="1094874"/>
          </a:xfrm>
        </p:spPr>
        <p:txBody>
          <a:bodyPr/>
          <a:lstStyle/>
          <a:p>
            <a:r>
              <a:rPr lang="hu-HU"/>
              <a:t>Egyenletes hasítás, várható lépésszám</a:t>
            </a:r>
          </a:p>
        </p:txBody>
      </p:sp>
    </p:spTree>
    <p:extLst>
      <p:ext uri="{BB962C8B-B14F-4D97-AF65-F5344CB8AC3E}">
        <p14:creationId xmlns:p14="http://schemas.microsoft.com/office/powerpoint/2010/main" val="39294933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A55C40F-2076-1B50-335B-9199A4C8A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3937" y="240890"/>
            <a:ext cx="10018713" cy="1993231"/>
          </a:xfrm>
        </p:spPr>
        <p:txBody>
          <a:bodyPr>
            <a:normAutofit/>
          </a:bodyPr>
          <a:lstStyle/>
          <a:p>
            <a:r>
              <a:rPr lang="hu-HU"/>
              <a:t>Nyílt címzésű hasítótábla műveletei, </a:t>
            </a:r>
            <a:br>
              <a:rPr lang="hu-HU"/>
            </a:br>
            <a:r>
              <a:rPr lang="hu-HU"/>
              <a:t>ha van törlés is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0E97B80-8927-887D-091F-1DB5668FC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819" y="2332522"/>
            <a:ext cx="10018713" cy="4162668"/>
          </a:xfrm>
        </p:spPr>
        <p:txBody>
          <a:bodyPr>
            <a:normAutofit/>
          </a:bodyPr>
          <a:lstStyle/>
          <a:p>
            <a:r>
              <a:rPr lang="hu-HU" sz="2800"/>
              <a:t>Törlés:</a:t>
            </a:r>
          </a:p>
          <a:p>
            <a:pPr lvl="1"/>
            <a:r>
              <a:rPr lang="hu-HU" sz="2800"/>
              <a:t>Sikeres keresés</a:t>
            </a:r>
          </a:p>
          <a:p>
            <a:pPr lvl="1"/>
            <a:r>
              <a:rPr lang="hu-HU" sz="2800"/>
              <a:t>A megtalált </a:t>
            </a:r>
            <a:r>
              <a:rPr lang="hu-HU" sz="2800" i="1"/>
              <a:t>i</a:t>
            </a:r>
            <a:r>
              <a:rPr lang="hu-HU" sz="2800"/>
              <a:t> rés kulcsát </a:t>
            </a:r>
            <a:r>
              <a:rPr lang="hu-HU" sz="2800" err="1"/>
              <a:t>töröltre</a:t>
            </a:r>
            <a:r>
              <a:rPr lang="hu-HU" sz="2800"/>
              <a:t> (</a:t>
            </a:r>
            <a:r>
              <a:rPr lang="hu-HU" sz="2800" i="1"/>
              <a:t>D</a:t>
            </a:r>
            <a:r>
              <a:rPr lang="hu-HU" sz="2800"/>
              <a:t>) állítjuk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Miért nem </a:t>
            </a:r>
            <a:r>
              <a:rPr lang="hu-HU" sz="2400">
                <a:effectLst/>
                <a:ea typeface="Calibri" panose="020F0502020204030204" pitchFamily="34" charset="0"/>
                <a:cs typeface="F78"/>
              </a:rPr>
              <a:t>üres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-re (</a:t>
            </a:r>
            <a:r>
              <a:rPr lang="hu-HU" sz="2400">
                <a:effectLst/>
                <a:ea typeface="Calibri" panose="020F0502020204030204" pitchFamily="34" charset="0"/>
                <a:cs typeface="CMMI12"/>
              </a:rPr>
              <a:t>E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) állítjuk?</a:t>
            </a:r>
            <a:endParaRPr lang="hu-HU" sz="24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a </a:t>
            </a:r>
            <a:r>
              <a:rPr lang="hu-HU" sz="2000" i="1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 sz="200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kulcsú adatot kulcsütközés miatt a </a:t>
            </a:r>
            <a:r>
              <a:rPr lang="hu-HU" sz="2000" i="1">
                <a:effectLst/>
                <a:ea typeface="Calibri" panose="020F0502020204030204" pitchFamily="34" charset="0"/>
                <a:cs typeface="CMMI12"/>
              </a:rPr>
              <a:t>T</a:t>
            </a:r>
            <a:r>
              <a:rPr lang="hu-HU" sz="2000">
                <a:effectLst/>
                <a:ea typeface="Calibri" panose="020F0502020204030204" pitchFamily="34" charset="0"/>
                <a:cs typeface="CMR12"/>
              </a:rPr>
              <a:t>[</a:t>
            </a:r>
            <a:r>
              <a:rPr lang="hu-HU" sz="2000" i="1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 sz="200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000" i="1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 sz="200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2000">
                <a:effectLst/>
                <a:ea typeface="Calibri" panose="020F0502020204030204" pitchFamily="34" charset="0"/>
                <a:cs typeface="CMR12"/>
              </a:rPr>
              <a:t>1)] </a:t>
            </a: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helyre tettük</a:t>
            </a:r>
            <a:endParaRPr lang="hu-HU" sz="20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majd töröltük a </a:t>
            </a:r>
            <a:r>
              <a:rPr lang="hu-HU" sz="2000" i="1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 sz="200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000" i="1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 sz="200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2000">
                <a:effectLst/>
                <a:ea typeface="Calibri" panose="020F0502020204030204" pitchFamily="34" charset="0"/>
                <a:cs typeface="CMR12"/>
              </a:rPr>
              <a:t>0) </a:t>
            </a: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helyen levő adatot </a:t>
            </a:r>
            <a:br>
              <a:rPr lang="hu-HU" sz="2000">
                <a:effectLst/>
                <a:ea typeface="Calibri" panose="020F0502020204030204" pitchFamily="34" charset="0"/>
                <a:cs typeface="F29"/>
              </a:rPr>
            </a:b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(azaz a </a:t>
            </a:r>
            <a:r>
              <a:rPr lang="hu-HU" sz="2000" i="1">
                <a:effectLst/>
                <a:ea typeface="Calibri" panose="020F0502020204030204" pitchFamily="34" charset="0"/>
                <a:cs typeface="CMMI12"/>
              </a:rPr>
              <a:t>T</a:t>
            </a:r>
            <a:r>
              <a:rPr lang="hu-HU" sz="2000">
                <a:effectLst/>
                <a:ea typeface="Calibri" panose="020F0502020204030204" pitchFamily="34" charset="0"/>
                <a:cs typeface="CMR12"/>
              </a:rPr>
              <a:t>[</a:t>
            </a:r>
            <a:r>
              <a:rPr lang="hu-HU" sz="2000" i="1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 sz="200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000" i="1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 sz="200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2000">
                <a:effectLst/>
                <a:ea typeface="Calibri" panose="020F0502020204030204" pitchFamily="34" charset="0"/>
                <a:cs typeface="CMR12"/>
              </a:rPr>
              <a:t>0)] </a:t>
            </a: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rést üresre állítottuk)</a:t>
            </a:r>
            <a:endParaRPr lang="hu-HU" sz="20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3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egy ezt követő keresés nem találná meg a </a:t>
            </a:r>
            <a:r>
              <a:rPr lang="hu-HU" sz="2000" i="1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 sz="200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kulcsú adatot</a:t>
            </a:r>
            <a:endParaRPr lang="hu-HU" sz="20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7476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57A59-C2C4-7A7B-6C5F-A2334390D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9FE32CB-4807-D133-2962-3E24B546D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325" y="661738"/>
            <a:ext cx="10018713" cy="1516626"/>
          </a:xfrm>
        </p:spPr>
        <p:txBody>
          <a:bodyPr>
            <a:normAutofit/>
          </a:bodyPr>
          <a:lstStyle/>
          <a:p>
            <a:r>
              <a:rPr lang="hu-HU"/>
              <a:t>Nyílt címzésű hasítótábla műveletei, </a:t>
            </a:r>
            <a:br>
              <a:rPr lang="hu-HU"/>
            </a:br>
            <a:r>
              <a:rPr lang="hu-HU"/>
              <a:t>ha van törlés is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F592098-2412-E233-B4A4-AE149893D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5179" y="2322352"/>
            <a:ext cx="10018713" cy="3873910"/>
          </a:xfrm>
        </p:spPr>
        <p:txBody>
          <a:bodyPr>
            <a:normAutofit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800">
                <a:effectLst/>
                <a:ea typeface="Calibri" panose="020F0502020204030204" pitchFamily="34" charset="0"/>
                <a:cs typeface="F48"/>
              </a:rPr>
              <a:t>Keresés:</a:t>
            </a:r>
            <a:endParaRPr lang="hu-HU" sz="28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Átlépjük a </a:t>
            </a:r>
            <a:r>
              <a:rPr lang="hu-HU" sz="2400" err="1">
                <a:effectLst/>
                <a:ea typeface="Calibri" panose="020F0502020204030204" pitchFamily="34" charset="0"/>
                <a:cs typeface="F29"/>
              </a:rPr>
              <a:t>törölt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 réseket (</a:t>
            </a:r>
            <a:r>
              <a:rPr lang="hu-HU" sz="2400" err="1">
                <a:effectLst/>
                <a:ea typeface="Calibri" panose="020F0502020204030204" pitchFamily="34" charset="0"/>
                <a:cs typeface="F29"/>
              </a:rPr>
              <a:t>deleted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 </a:t>
            </a:r>
            <a:r>
              <a:rPr lang="hu-HU" sz="2400" err="1">
                <a:effectLst/>
                <a:ea typeface="Calibri" panose="020F0502020204030204" pitchFamily="34" charset="0"/>
                <a:cs typeface="F29"/>
              </a:rPr>
              <a:t>slots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)  is</a:t>
            </a:r>
            <a:endParaRPr lang="hu-HU" sz="24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Leállás</a:t>
            </a:r>
            <a:endParaRPr lang="hu-HU" sz="24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sikeres keresés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sz="18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Keresett kulcsú elem megtalálása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Sikertelen keresés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sz="1800">
                <a:effectLst/>
                <a:ea typeface="Calibri" panose="020F0502020204030204" pitchFamily="34" charset="0"/>
                <a:cs typeface="F29"/>
              </a:rPr>
              <a:t>üres rés (</a:t>
            </a:r>
            <a:r>
              <a:rPr lang="hu-HU" sz="1800" err="1">
                <a:effectLst/>
                <a:ea typeface="Calibri" panose="020F0502020204030204" pitchFamily="34" charset="0"/>
                <a:cs typeface="F29"/>
              </a:rPr>
              <a:t>empty</a:t>
            </a:r>
            <a:r>
              <a:rPr lang="hu-HU" sz="1800">
                <a:effectLst/>
                <a:ea typeface="Calibri" panose="020F0502020204030204" pitchFamily="34" charset="0"/>
                <a:cs typeface="F29"/>
              </a:rPr>
              <a:t> </a:t>
            </a:r>
            <a:r>
              <a:rPr lang="hu-HU" sz="1800" err="1">
                <a:effectLst/>
                <a:ea typeface="Calibri" panose="020F0502020204030204" pitchFamily="34" charset="0"/>
                <a:cs typeface="F29"/>
              </a:rPr>
              <a:t>slot</a:t>
            </a:r>
            <a:r>
              <a:rPr lang="hu-HU" sz="1800">
                <a:effectLst/>
                <a:ea typeface="Calibri" panose="020F0502020204030204" pitchFamily="34" charset="0"/>
                <a:cs typeface="F29"/>
              </a:rPr>
              <a:t>)</a:t>
            </a:r>
            <a:endParaRPr lang="hu-HU" sz="18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sz="1800">
                <a:effectLst/>
                <a:ea typeface="Calibri" panose="020F0502020204030204" pitchFamily="34" charset="0"/>
                <a:cs typeface="F29"/>
              </a:rPr>
              <a:t>a potenciális próbasorozat kimerítése</a:t>
            </a:r>
            <a:endParaRPr lang="hu-HU" sz="2200"/>
          </a:p>
        </p:txBody>
      </p:sp>
    </p:spTree>
    <p:extLst>
      <p:ext uri="{BB962C8B-B14F-4D97-AF65-F5344CB8AC3E}">
        <p14:creationId xmlns:p14="http://schemas.microsoft.com/office/powerpoint/2010/main" val="36496723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EB743BB-9107-04C0-8CF6-8AE58E0CE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794611"/>
            <a:ext cx="10018713" cy="1526458"/>
          </a:xfrm>
        </p:spPr>
        <p:txBody>
          <a:bodyPr/>
          <a:lstStyle/>
          <a:p>
            <a:r>
              <a:rPr lang="hu-HU"/>
              <a:t>Nyílt címzésű hasítótábla műveletei, </a:t>
            </a:r>
            <a:br>
              <a:rPr lang="hu-HU"/>
            </a:br>
            <a:r>
              <a:rPr lang="hu-HU"/>
              <a:t>ha van törlés is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ED9DA37-5C0A-C742-6340-32381C4FB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590799"/>
            <a:ext cx="10371359" cy="4102509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48"/>
              </a:rPr>
              <a:t>Beszúrás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Teljes keresés a beszúrandó adat kulcsára</a:t>
            </a:r>
            <a:endParaRPr lang="hu-HU" sz="24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Közben az első </a:t>
            </a:r>
            <a:r>
              <a:rPr lang="hu-HU" sz="2000" err="1">
                <a:effectLst/>
                <a:ea typeface="Calibri" panose="020F0502020204030204" pitchFamily="34" charset="0"/>
                <a:cs typeface="F29"/>
              </a:rPr>
              <a:t>törölt</a:t>
            </a: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 rés megjegyzése</a:t>
            </a:r>
            <a:endParaRPr lang="hu-HU" sz="20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Sikertelen beszúrás 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Sikeres keresés (duplikált kulcsot nem engedünk meg)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A potenciális próbasorozat kimerítése (a hasítótábla tele van)</a:t>
            </a:r>
            <a:endParaRPr lang="hu-HU" sz="20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56173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D0B10-B9B1-4908-314E-DCEAEBDAF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410386C-E5A7-36C5-5919-0859ECEF8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753971"/>
            <a:ext cx="10018713" cy="1526458"/>
          </a:xfrm>
        </p:spPr>
        <p:txBody>
          <a:bodyPr/>
          <a:lstStyle/>
          <a:p>
            <a:r>
              <a:rPr lang="hu-HU"/>
              <a:t>Nyílt címzésű hasítótábla műveletei, </a:t>
            </a:r>
            <a:br>
              <a:rPr lang="hu-HU"/>
            </a:br>
            <a:r>
              <a:rPr lang="hu-HU"/>
              <a:t>ha van törlés is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7FB99E3-7C85-DFD5-1369-3DA68432D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458719"/>
            <a:ext cx="10371359" cy="3950109"/>
          </a:xfrm>
        </p:spPr>
        <p:txBody>
          <a:bodyPr>
            <a:normAutofit/>
          </a:bodyPr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Sikeres beszúrás: sikertelen keresés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Ha találtunk közben </a:t>
            </a:r>
            <a:r>
              <a:rPr lang="hu-HU" sz="2000" err="1">
                <a:effectLst/>
                <a:ea typeface="Calibri" panose="020F0502020204030204" pitchFamily="34" charset="0"/>
                <a:cs typeface="F29"/>
              </a:rPr>
              <a:t>törölt</a:t>
            </a: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 rést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sz="1800">
                <a:effectLst/>
                <a:ea typeface="Calibri" panose="020F0502020204030204" pitchFamily="34" charset="0"/>
                <a:cs typeface="F29"/>
              </a:rPr>
              <a:t>a beszúrandó adatot az elsőként talált </a:t>
            </a:r>
            <a:r>
              <a:rPr lang="hu-HU" sz="1800" err="1">
                <a:effectLst/>
                <a:ea typeface="Calibri" panose="020F0502020204030204" pitchFamily="34" charset="0"/>
                <a:cs typeface="F29"/>
              </a:rPr>
              <a:t>törölt</a:t>
            </a:r>
            <a:r>
              <a:rPr lang="hu-HU" sz="1800">
                <a:effectLst/>
                <a:ea typeface="Calibri" panose="020F0502020204030204" pitchFamily="34" charset="0"/>
                <a:cs typeface="F29"/>
              </a:rPr>
              <a:t> résbe tesszük 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sz="1800">
                <a:effectLst/>
                <a:ea typeface="Calibri" panose="020F0502020204030204" pitchFamily="34" charset="0"/>
                <a:cs typeface="F29"/>
              </a:rPr>
              <a:t>jövőbeli keresések hossza a lehető legkisebb legyen</a:t>
            </a:r>
            <a:endParaRPr lang="hu-HU" sz="18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Ha nem talál </a:t>
            </a:r>
            <a:r>
              <a:rPr lang="hu-HU" sz="2000" err="1">
                <a:effectLst/>
                <a:ea typeface="Calibri" panose="020F0502020204030204" pitchFamily="34" charset="0"/>
                <a:cs typeface="F29"/>
              </a:rPr>
              <a:t>törölt</a:t>
            </a: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 rést-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sz="1800">
                <a:effectLst/>
                <a:ea typeface="Calibri" panose="020F0502020204030204" pitchFamily="34" charset="0"/>
                <a:cs typeface="F29"/>
              </a:rPr>
              <a:t>üres résen áll meg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sz="1800">
                <a:effectLst/>
                <a:ea typeface="Calibri" panose="020F0502020204030204" pitchFamily="34" charset="0"/>
                <a:cs typeface="F29"/>
              </a:rPr>
              <a:t>a beszúrandó adatot ebbe az üres résbe tesszük</a:t>
            </a:r>
            <a:endParaRPr lang="hu-HU" sz="1800"/>
          </a:p>
        </p:txBody>
      </p:sp>
    </p:spTree>
    <p:extLst>
      <p:ext uri="{BB962C8B-B14F-4D97-AF65-F5344CB8AC3E}">
        <p14:creationId xmlns:p14="http://schemas.microsoft.com/office/powerpoint/2010/main" val="181116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EB743BB-9107-04C0-8CF6-8AE58E0CE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64691"/>
            <a:ext cx="10018713" cy="1526458"/>
          </a:xfrm>
        </p:spPr>
        <p:txBody>
          <a:bodyPr/>
          <a:lstStyle/>
          <a:p>
            <a:r>
              <a:rPr lang="hu-HU"/>
              <a:t>Nyílt címzésű hasítótábla műveletei, </a:t>
            </a:r>
            <a:br>
              <a:rPr lang="hu-HU"/>
            </a:br>
            <a:r>
              <a:rPr lang="hu-HU"/>
              <a:t>ha van törlés is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ED9DA37-5C0A-C742-6340-32381C4FB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691149"/>
            <a:ext cx="10018713" cy="5002160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200">
                <a:effectLst/>
                <a:ea typeface="Calibri" panose="020F0502020204030204" pitchFamily="34" charset="0"/>
                <a:cs typeface="F29"/>
              </a:rPr>
              <a:t>Hasító táblák karbantartása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Ha elég sokáig használunk egy nyílt címzésű hasító táblát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Elszaporodhatnak a </a:t>
            </a:r>
            <a:r>
              <a:rPr lang="hu-HU" err="1">
                <a:effectLst/>
                <a:ea typeface="Calibri" panose="020F0502020204030204" pitchFamily="34" charset="0"/>
                <a:cs typeface="F29"/>
              </a:rPr>
              <a:t>törölt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 rések, és elfogyhatnak az üres rések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A tábla esetleg közel sincs tele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A sikertelen keresések az egész táblát végig fogják nézni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>
                <a:ea typeface="Calibri" panose="020F0502020204030204" pitchFamily="34" charset="0"/>
                <a:cs typeface="F29"/>
              </a:rPr>
              <a:t>Érdemes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 a táblát időnkénti frissíteni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err="1">
                <a:effectLst/>
                <a:ea typeface="Calibri" panose="020F0502020204030204" pitchFamily="34" charset="0"/>
                <a:cs typeface="F29"/>
              </a:rPr>
              <a:t>Törölt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 rések megszüntetése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Kimásolja az adatokat egy temporális területre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Üresre inicializálja a táblát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A kimentett adatokat egyesével újra beszúrja</a:t>
            </a:r>
            <a:r>
              <a:rPr lang="hu-HU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31855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498B4A7-AD2C-10FC-AB85-471F415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924339"/>
          </a:xfrm>
        </p:spPr>
        <p:txBody>
          <a:bodyPr/>
          <a:lstStyle/>
          <a:p>
            <a:r>
              <a:rPr lang="hu-HU" sz="4000">
                <a:effectLst/>
                <a:latin typeface="F29"/>
                <a:ea typeface="Calibri" panose="020F0502020204030204" pitchFamily="34" charset="0"/>
                <a:cs typeface="F29"/>
              </a:rPr>
              <a:t>Próbasorozat előállítása: 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F2E4CC9-0F13-196E-ECAB-F7F437FC4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10748"/>
            <a:ext cx="10018713" cy="4661451"/>
          </a:xfrm>
        </p:spPr>
        <p:txBody>
          <a:bodyPr>
            <a:normAutofit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200">
                <a:effectLst/>
                <a:ea typeface="CMSY10"/>
                <a:cs typeface="Cambria Math" panose="02040503050406030204" pitchFamily="18" charset="0"/>
              </a:rPr>
              <a:t>⟨</a:t>
            </a:r>
            <a:r>
              <a:rPr lang="hu-HU" sz="2200" i="1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 sz="220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200" i="1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 sz="220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2200">
                <a:effectLst/>
                <a:ea typeface="Calibri" panose="020F0502020204030204" pitchFamily="34" charset="0"/>
                <a:cs typeface="CMR12"/>
              </a:rPr>
              <a:t>0)</a:t>
            </a:r>
            <a:r>
              <a:rPr lang="hu-HU" sz="220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2200" i="1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 sz="220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200" i="1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 sz="220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2200">
                <a:effectLst/>
                <a:ea typeface="Calibri" panose="020F0502020204030204" pitchFamily="34" charset="0"/>
                <a:cs typeface="CMR12"/>
              </a:rPr>
              <a:t>1)</a:t>
            </a:r>
            <a:r>
              <a:rPr lang="hu-HU" sz="2200">
                <a:effectLst/>
                <a:ea typeface="Calibri" panose="020F0502020204030204" pitchFamily="34" charset="0"/>
                <a:cs typeface="CMMI12"/>
              </a:rPr>
              <a:t>, . . . , </a:t>
            </a:r>
            <a:r>
              <a:rPr lang="hu-HU" sz="2200" i="1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 sz="220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200" i="1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 sz="220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2200" i="1">
                <a:effectLst/>
                <a:ea typeface="Calibri" panose="020F0502020204030204" pitchFamily="34" charset="0"/>
                <a:cs typeface="CMMI12"/>
              </a:rPr>
              <a:t>m</a:t>
            </a:r>
            <a:r>
              <a:rPr lang="hu-HU" sz="220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en-US" sz="2200">
                <a:effectLst/>
                <a:ea typeface="Calibri" panose="020F0502020204030204" pitchFamily="34" charset="0"/>
                <a:cs typeface="CMSY10"/>
              </a:rPr>
              <a:t>− </a:t>
            </a:r>
            <a:r>
              <a:rPr lang="hu-HU" sz="2200">
                <a:effectLst/>
                <a:ea typeface="Calibri" panose="020F0502020204030204" pitchFamily="34" charset="0"/>
                <a:cs typeface="CMR12"/>
              </a:rPr>
              <a:t>1)</a:t>
            </a:r>
            <a:r>
              <a:rPr lang="hu-HU" sz="2200">
                <a:effectLst/>
                <a:ea typeface="CMSY10"/>
                <a:cs typeface="Cambria Math" panose="02040503050406030204" pitchFamily="18" charset="0"/>
              </a:rPr>
              <a:t>⟩</a:t>
            </a:r>
            <a:r>
              <a:rPr lang="hu-HU" sz="2200">
                <a:effectLst/>
                <a:ea typeface="Calibri" panose="020F0502020204030204" pitchFamily="34" charset="0"/>
                <a:cs typeface="CMSY10"/>
              </a:rPr>
              <a:t> </a:t>
            </a:r>
            <a:r>
              <a:rPr lang="hu-HU" sz="2200">
                <a:effectLst/>
                <a:ea typeface="Calibri" panose="020F0502020204030204" pitchFamily="34" charset="0"/>
                <a:cs typeface="F29"/>
              </a:rPr>
              <a:t>próbasorozat (részleges) előállítása:</a:t>
            </a:r>
            <a:endParaRPr lang="hu-HU" sz="22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Egy  </a:t>
            </a:r>
            <a:r>
              <a:rPr lang="hu-HU" b="1">
                <a:effectLst/>
                <a:ea typeface="Calibri" panose="020F0502020204030204" pitchFamily="34" charset="0"/>
                <a:cs typeface="F29"/>
              </a:rPr>
              <a:t>elsődleges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 </a:t>
            </a:r>
            <a:r>
              <a:rPr lang="hu-HU" i="1"/>
              <a:t>h</a:t>
            </a:r>
            <a:r>
              <a:rPr lang="hu-HU" baseline="-25000"/>
              <a:t>1</a:t>
            </a:r>
            <a:r>
              <a:rPr lang="hu-HU">
                <a:effectLst/>
                <a:ea typeface="Calibri" panose="020F0502020204030204" pitchFamily="34" charset="0"/>
                <a:cs typeface="CMR8"/>
              </a:rPr>
              <a:t> 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: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en-US">
                <a:effectLst/>
                <a:ea typeface="Calibri" panose="020F0502020204030204" pitchFamily="34" charset="0"/>
                <a:cs typeface="CMSY10"/>
              </a:rPr>
              <a:t>→ 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0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..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m</a:t>
            </a:r>
            <a:r>
              <a:rPr lang="en-US">
                <a:effectLst/>
                <a:ea typeface="Calibri" panose="020F0502020204030204" pitchFamily="34" charset="0"/>
                <a:cs typeface="CMSY10"/>
              </a:rPr>
              <a:t>−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1) </a:t>
            </a:r>
            <a:r>
              <a:rPr lang="hu-HU" b="1">
                <a:effectLst/>
                <a:ea typeface="Calibri" panose="020F0502020204030204" pitchFamily="34" charset="0"/>
                <a:cs typeface="F29"/>
              </a:rPr>
              <a:t>hasítófüggvény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 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az értéke egyben az első próba indexét,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0)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-t adja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Szükség esetén : ebből kiindulva lépkedünk a réseken </a:t>
            </a:r>
            <a:r>
              <a:rPr lang="hu-HU" err="1">
                <a:effectLst/>
                <a:ea typeface="Calibri" panose="020F0502020204030204" pitchFamily="34" charset="0"/>
                <a:cs typeface="F29"/>
              </a:rPr>
              <a:t>továb:b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Elvárás:  </a:t>
            </a:r>
            <a:r>
              <a:rPr lang="hu-HU" i="1"/>
              <a:t>h</a:t>
            </a:r>
            <a:r>
              <a:rPr lang="hu-HU" baseline="-25000"/>
              <a:t>1</a:t>
            </a:r>
            <a:r>
              <a:rPr lang="hu-HU">
                <a:effectLst/>
                <a:ea typeface="Calibri" panose="020F0502020204030204" pitchFamily="34" charset="0"/>
                <a:cs typeface="CMR8"/>
              </a:rPr>
              <a:t> </a:t>
            </a:r>
            <a:r>
              <a:rPr lang="hu-HU" b="1">
                <a:effectLst/>
                <a:ea typeface="Calibri" panose="020F0502020204030204" pitchFamily="34" charset="0"/>
                <a:cs typeface="F29"/>
              </a:rPr>
              <a:t>egyszerű egyenletes hasítás (uniform </a:t>
            </a:r>
            <a:r>
              <a:rPr lang="hu-HU" b="1" err="1">
                <a:effectLst/>
                <a:ea typeface="Calibri" panose="020F0502020204030204" pitchFamily="34" charset="0"/>
                <a:cs typeface="F29"/>
              </a:rPr>
              <a:t>hashing</a:t>
            </a:r>
            <a:r>
              <a:rPr lang="hu-HU" b="1">
                <a:effectLst/>
                <a:ea typeface="Calibri" panose="020F0502020204030204" pitchFamily="34" charset="0"/>
                <a:cs typeface="F29"/>
              </a:rPr>
              <a:t>) 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legyen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Feltesszük: a kulcsok természetes számok (így lehet pl.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D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= </a:t>
            </a:r>
            <a:r>
              <a:rPr lang="en-US">
                <a:effectLst/>
                <a:ea typeface="Calibri" panose="020F0502020204030204" pitchFamily="34" charset="0"/>
                <a:cs typeface="CMSY10"/>
              </a:rPr>
              <a:t>−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1 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és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E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= </a:t>
            </a:r>
            <a:r>
              <a:rPr lang="en-US">
                <a:effectLst/>
                <a:ea typeface="Calibri" panose="020F0502020204030204" pitchFamily="34" charset="0"/>
                <a:cs typeface="CMSY10"/>
              </a:rPr>
              <a:t>−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2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)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200">
                <a:effectLst/>
                <a:ea typeface="Calibri" panose="020F0502020204030204" pitchFamily="34" charset="0"/>
                <a:cs typeface="F29"/>
              </a:rPr>
              <a:t>Három stratégia:</a:t>
            </a:r>
            <a:endParaRPr lang="hu-HU" sz="22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hu-HU"/>
              <a:t>Lineáris próba</a:t>
            </a:r>
          </a:p>
          <a:p>
            <a:pPr lvl="1"/>
            <a:r>
              <a:rPr lang="hu-HU"/>
              <a:t>Négyzetes próba</a:t>
            </a:r>
          </a:p>
          <a:p>
            <a:pPr lvl="1"/>
            <a:r>
              <a:rPr lang="hu-HU"/>
              <a:t>Kettős hasítás</a:t>
            </a:r>
          </a:p>
        </p:txBody>
      </p:sp>
    </p:spTree>
    <p:extLst>
      <p:ext uri="{BB962C8B-B14F-4D97-AF65-F5344CB8AC3E}">
        <p14:creationId xmlns:p14="http://schemas.microsoft.com/office/powerpoint/2010/main" val="23892789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519780" y="428624"/>
            <a:ext cx="10572290" cy="990212"/>
          </a:xfrm>
        </p:spPr>
        <p:txBody>
          <a:bodyPr/>
          <a:lstStyle/>
          <a:p>
            <a:r>
              <a:rPr lang="hu-HU"/>
              <a:t>Lineáris próba (</a:t>
            </a:r>
            <a:r>
              <a:rPr lang="hu-HU" err="1"/>
              <a:t>linear</a:t>
            </a:r>
            <a:r>
              <a:rPr lang="hu-HU"/>
              <a:t> </a:t>
            </a:r>
            <a:r>
              <a:rPr lang="hu-HU" err="1"/>
              <a:t>probing</a:t>
            </a:r>
            <a:r>
              <a:rPr lang="hu-HU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1659835" y="1844842"/>
                <a:ext cx="9713015" cy="4889334"/>
              </a:xfrm>
            </p:spPr>
            <p:txBody>
              <a:bodyPr>
                <a:normAutofit/>
              </a:bodyPr>
              <a:lstStyle/>
              <a:p>
                <a:r>
                  <a:rPr lang="en-US" i="1"/>
                  <a:t>h</a:t>
                </a:r>
                <a:r>
                  <a:rPr lang="en-US"/>
                  <a:t>(</a:t>
                </a:r>
                <a:r>
                  <a:rPr lang="en-US" i="1"/>
                  <a:t>k</a:t>
                </a:r>
                <a:r>
                  <a:rPr lang="en-US"/>
                  <a:t>, </a:t>
                </a:r>
                <a:r>
                  <a:rPr lang="hu-HU" i="1"/>
                  <a:t>i</a:t>
                </a:r>
                <a:r>
                  <a:rPr lang="en-US"/>
                  <a:t>) = </a:t>
                </a:r>
                <a:r>
                  <a:rPr lang="hu-HU"/>
                  <a:t>(</a:t>
                </a:r>
                <a:r>
                  <a:rPr lang="hu-HU" i="1"/>
                  <a:t>h</a:t>
                </a:r>
                <a:r>
                  <a:rPr lang="hu-HU" baseline="-25000"/>
                  <a:t>1</a:t>
                </a:r>
                <a:r>
                  <a:rPr lang="hu-HU"/>
                  <a:t>(</a:t>
                </a:r>
                <a:r>
                  <a:rPr lang="hu-HU" i="1"/>
                  <a:t>k</a:t>
                </a:r>
                <a:r>
                  <a:rPr lang="hu-HU"/>
                  <a:t>) +</a:t>
                </a:r>
                <a:r>
                  <a:rPr lang="hu-HU" i="1"/>
                  <a:t>i</a:t>
                </a:r>
                <a:r>
                  <a:rPr lang="en-US"/>
                  <a:t>) mod </a:t>
                </a:r>
                <a:r>
                  <a:rPr lang="en-US" i="1"/>
                  <a:t>m</a:t>
                </a:r>
                <a:r>
                  <a:rPr lang="hu-HU" i="1"/>
                  <a:t>		 </a:t>
                </a:r>
                <a:r>
                  <a:rPr lang="hu-HU"/>
                  <a:t>(</a:t>
                </a:r>
                <a:r>
                  <a:rPr lang="hu-HU" i="1"/>
                  <a:t>i</a:t>
                </a:r>
                <a:r>
                  <a:rPr lang="hu-HU"/>
                  <a:t> </a:t>
                </a:r>
                <a14:m>
                  <m:oMath xmlns:m="http://schemas.openxmlformats.org/officeDocument/2006/math">
                    <m:r>
                      <a:rPr lang="hu-HU" i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hu-HU"/>
                  <a:t> 0..</a:t>
                </a:r>
                <a:r>
                  <a:rPr lang="hu-HU" i="1"/>
                  <a:t>m</a:t>
                </a:r>
                <a:r>
                  <a:rPr lang="hu-HU"/>
                  <a:t>-1)</a:t>
                </a:r>
              </a:p>
              <a:p>
                <a:r>
                  <a:rPr lang="hu-HU"/>
                  <a:t>Előnye: </a:t>
                </a:r>
              </a:p>
              <a:p>
                <a:pPr lvl="1"/>
                <a:r>
                  <a:rPr lang="hu-HU" sz="2200"/>
                  <a:t>Könnyű implementálni</a:t>
                </a:r>
              </a:p>
              <a:p>
                <a:r>
                  <a:rPr lang="hu-HU"/>
                  <a:t>Hátrányai:</a:t>
                </a:r>
              </a:p>
              <a:p>
                <a:pPr lvl="1"/>
                <a:r>
                  <a:rPr lang="hu-HU" sz="2200"/>
                  <a:t>Ha két kulcsra h(</a:t>
                </a:r>
                <a:r>
                  <a:rPr lang="hu-HU" sz="2200" i="1"/>
                  <a:t>k</a:t>
                </a:r>
                <a:r>
                  <a:rPr lang="hu-HU" sz="2200" baseline="-25000"/>
                  <a:t>1</a:t>
                </a:r>
                <a:r>
                  <a:rPr lang="hu-HU" sz="2200"/>
                  <a:t>, 0) = h(</a:t>
                </a:r>
                <a:r>
                  <a:rPr lang="hu-HU" sz="2200" i="1"/>
                  <a:t>k</a:t>
                </a:r>
                <a:r>
                  <a:rPr lang="hu-HU" sz="2200" baseline="-25000"/>
                  <a:t>2 </a:t>
                </a:r>
                <a:r>
                  <a:rPr lang="hu-HU" sz="2200"/>
                  <a:t>, 0) </a:t>
                </a:r>
              </a:p>
              <a:p>
                <a:pPr lvl="2"/>
                <a:r>
                  <a:rPr lang="hu-HU" sz="2000"/>
                  <a:t>másodlagos csomósodás (</a:t>
                </a:r>
                <a:r>
                  <a:rPr lang="hu-HU" sz="2000" err="1"/>
                  <a:t>secondary</a:t>
                </a:r>
                <a:r>
                  <a:rPr lang="hu-HU" sz="2000"/>
                  <a:t> </a:t>
                </a:r>
                <a:r>
                  <a:rPr lang="hu-HU" sz="2000" err="1"/>
                  <a:t>clustering</a:t>
                </a:r>
                <a:r>
                  <a:rPr lang="hu-HU" sz="2000"/>
                  <a:t>):</a:t>
                </a:r>
              </a:p>
              <a:p>
                <a:pPr lvl="3"/>
                <a:r>
                  <a:rPr lang="hu-HU" sz="1800"/>
                  <a:t>az egész próbasorozatuk megegyezik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hu-HU" sz="2200"/>
                  <a:t>Összesen csak </a:t>
                </a:r>
                <a:r>
                  <a:rPr lang="hu-HU" sz="2200" i="1"/>
                  <a:t>m</a:t>
                </a:r>
                <a:r>
                  <a:rPr lang="hu-HU" sz="2200"/>
                  <a:t> db különböző próbasorozat van</a:t>
                </a:r>
              </a:p>
              <a:p>
                <a:pPr lvl="2"/>
                <a:r>
                  <a:rPr lang="hu-HU"/>
                  <a:t>az egyenletes hasításhoz szükséges </a:t>
                </a:r>
                <a:r>
                  <a:rPr lang="hu-HU" i="1"/>
                  <a:t>m</a:t>
                </a:r>
                <a:r>
                  <a:rPr lang="hu-HU"/>
                  <a:t>! db próbasorozathoz képest</a:t>
                </a:r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59835" y="1844842"/>
                <a:ext cx="9713015" cy="4889334"/>
              </a:xfrm>
              <a:blipFill>
                <a:blip r:embed="rId3"/>
                <a:stretch>
                  <a:fillRect l="-1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69538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DEBE06E-85D9-D3F9-65F1-0C1F0074F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D4FC8B3-571F-5134-161D-E5F26530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560" y="845719"/>
            <a:ext cx="10572290" cy="990212"/>
          </a:xfrm>
        </p:spPr>
        <p:txBody>
          <a:bodyPr/>
          <a:lstStyle/>
          <a:p>
            <a:r>
              <a:rPr lang="hu-HU"/>
              <a:t>Lineáris próba (</a:t>
            </a:r>
            <a:r>
              <a:rPr lang="hu-HU" err="1"/>
              <a:t>linear</a:t>
            </a:r>
            <a:r>
              <a:rPr lang="hu-HU"/>
              <a:t> </a:t>
            </a:r>
            <a:r>
              <a:rPr lang="hu-HU" err="1"/>
              <a:t>probing</a:t>
            </a:r>
            <a:r>
              <a:rPr lang="hu-HU"/>
              <a:t>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62F8930-74A7-F217-3100-B8A76EAB2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9835" y="1957136"/>
            <a:ext cx="9713015" cy="4777039"/>
          </a:xfrm>
        </p:spPr>
        <p:txBody>
          <a:bodyPr>
            <a:normAutofit/>
          </a:bodyPr>
          <a:lstStyle/>
          <a:p>
            <a:r>
              <a:rPr lang="hu-HU"/>
              <a:t>Hátrányai:</a:t>
            </a:r>
          </a:p>
          <a:p>
            <a:pPr lvl="1"/>
            <a:r>
              <a:rPr lang="hu-HU" sz="2200"/>
              <a:t>Elsődleges csomósodás (</a:t>
            </a:r>
            <a:r>
              <a:rPr lang="hu-HU" sz="2200" err="1"/>
              <a:t>primary</a:t>
            </a:r>
            <a:r>
              <a:rPr lang="hu-HU" sz="2200"/>
              <a:t> </a:t>
            </a:r>
            <a:r>
              <a:rPr lang="hu-HU" sz="2200" err="1"/>
              <a:t>clustering</a:t>
            </a:r>
            <a:r>
              <a:rPr lang="hu-HU" sz="2200"/>
              <a:t>): </a:t>
            </a:r>
          </a:p>
          <a:p>
            <a:pPr lvl="2"/>
            <a:r>
              <a:rPr lang="hu-HU" sz="1900"/>
              <a:t>a különböző próba sorozatok összekapcsolódásával foglalt rések hosszú, összefüggő sorozatai alakulhatnak ki</a:t>
            </a:r>
          </a:p>
          <a:p>
            <a:pPr lvl="2"/>
            <a:r>
              <a:rPr lang="hu-HU" sz="1900"/>
              <a:t>megnöveli a várható keresési időt </a:t>
            </a:r>
          </a:p>
          <a:p>
            <a:pPr lvl="2"/>
            <a:r>
              <a:rPr lang="hu-HU" sz="1700"/>
              <a:t>pl. két szabad rés között (ciklikusan értve) </a:t>
            </a:r>
            <a:r>
              <a:rPr lang="hu-HU" sz="1700" i="1"/>
              <a:t>i</a:t>
            </a:r>
            <a:r>
              <a:rPr lang="hu-HU" sz="1700"/>
              <a:t> db foglalt rés </a:t>
            </a:r>
          </a:p>
          <a:p>
            <a:pPr lvl="3"/>
            <a:r>
              <a:rPr lang="hu-HU" sz="1500"/>
              <a:t>legalább (</a:t>
            </a:r>
            <a:r>
              <a:rPr lang="hu-HU" sz="1500" i="1"/>
              <a:t>i</a:t>
            </a:r>
            <a:r>
              <a:rPr lang="hu-HU" sz="1500"/>
              <a:t> + 2)/</a:t>
            </a:r>
            <a:r>
              <a:rPr lang="hu-HU" sz="1500" i="1"/>
              <a:t>m</a:t>
            </a:r>
            <a:r>
              <a:rPr lang="hu-HU" sz="1500"/>
              <a:t> valószínűséggel a következő sikeres beszúráskor ez a csomó még hosszabb lesz</a:t>
            </a:r>
          </a:p>
          <a:p>
            <a:pPr lvl="3"/>
            <a:r>
              <a:rPr lang="hu-HU" sz="1500"/>
              <a:t>előfordulhat, hogy közben összekapcsolódik egy másik csomóval. </a:t>
            </a:r>
          </a:p>
          <a:p>
            <a:r>
              <a:rPr lang="hu-HU"/>
              <a:t>Használata:</a:t>
            </a:r>
          </a:p>
          <a:p>
            <a:pPr lvl="1"/>
            <a:r>
              <a:rPr lang="hu-HU" sz="2200"/>
              <a:t>Ha a kulcsütközés valószínűsége elenyészően kicsi</a:t>
            </a:r>
          </a:p>
        </p:txBody>
      </p:sp>
    </p:spTree>
    <p:extLst>
      <p:ext uri="{BB962C8B-B14F-4D97-AF65-F5344CB8AC3E}">
        <p14:creationId xmlns:p14="http://schemas.microsoft.com/office/powerpoint/2010/main" val="32313502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40267" y="789581"/>
            <a:ext cx="4751165" cy="990212"/>
          </a:xfrm>
        </p:spPr>
        <p:txBody>
          <a:bodyPr/>
          <a:lstStyle/>
          <a:p>
            <a:r>
              <a:rPr lang="hu-HU"/>
              <a:t>Lineáris próba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440267" y="1885958"/>
                <a:ext cx="10932583" cy="4872651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i="1"/>
                  <a:t>h</a:t>
                </a:r>
                <a:r>
                  <a:rPr lang="en-US"/>
                  <a:t>(</a:t>
                </a:r>
                <a:r>
                  <a:rPr lang="en-US" i="1"/>
                  <a:t>k</a:t>
                </a:r>
                <a:r>
                  <a:rPr lang="en-US"/>
                  <a:t>, </a:t>
                </a:r>
                <a:r>
                  <a:rPr lang="hu-HU" i="1"/>
                  <a:t>i</a:t>
                </a:r>
                <a:r>
                  <a:rPr lang="en-US"/>
                  <a:t>) = </a:t>
                </a:r>
                <a:r>
                  <a:rPr lang="hu-HU"/>
                  <a:t>(</a:t>
                </a:r>
                <a:r>
                  <a:rPr lang="hu-HU" i="1"/>
                  <a:t>h</a:t>
                </a:r>
                <a:r>
                  <a:rPr lang="hu-HU" baseline="-25000"/>
                  <a:t>1</a:t>
                </a:r>
                <a:r>
                  <a:rPr lang="hu-HU"/>
                  <a:t>(</a:t>
                </a:r>
                <a:r>
                  <a:rPr lang="hu-HU" i="1"/>
                  <a:t>k</a:t>
                </a:r>
                <a:r>
                  <a:rPr lang="hu-HU"/>
                  <a:t>) +</a:t>
                </a:r>
                <a:r>
                  <a:rPr lang="hu-HU" i="1"/>
                  <a:t>i</a:t>
                </a:r>
                <a:r>
                  <a:rPr lang="en-US"/>
                  <a:t>) mod </a:t>
                </a:r>
                <a:r>
                  <a:rPr lang="en-US" i="1"/>
                  <a:t>m</a:t>
                </a:r>
                <a:r>
                  <a:rPr lang="hu-HU" i="1"/>
                  <a:t>		 </a:t>
                </a:r>
                <a:r>
                  <a:rPr lang="hu-HU"/>
                  <a:t>(</a:t>
                </a:r>
                <a:r>
                  <a:rPr lang="hu-HU" i="1"/>
                  <a:t>i</a:t>
                </a:r>
                <a:r>
                  <a:rPr lang="hu-HU"/>
                  <a:t> </a:t>
                </a:r>
                <a14:m>
                  <m:oMath xmlns:m="http://schemas.openxmlformats.org/officeDocument/2006/math">
                    <m:r>
                      <a:rPr lang="hu-HU" i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hu-HU"/>
                  <a:t> 0..</a:t>
                </a:r>
                <a:r>
                  <a:rPr lang="hu-HU" i="1"/>
                  <a:t>m</a:t>
                </a:r>
                <a:r>
                  <a:rPr lang="hu-HU"/>
                  <a:t>-1)</a:t>
                </a:r>
                <a:r>
                  <a:rPr lang="hu-HU" i="1"/>
                  <a:t> </a:t>
                </a:r>
                <a:endParaRPr lang="hu-HU"/>
              </a:p>
              <a:p>
                <a:r>
                  <a:rPr lang="en-US"/>
                  <a:t> P</a:t>
                </a:r>
                <a:r>
                  <a:rPr lang="hu-HU"/>
                  <a:t>é</a:t>
                </a:r>
                <a:r>
                  <a:rPr lang="en-US" err="1"/>
                  <a:t>lda</a:t>
                </a:r>
                <a:r>
                  <a:rPr lang="en-US"/>
                  <a:t>:</a:t>
                </a:r>
                <a:r>
                  <a:rPr lang="hu-HU"/>
                  <a:t> </a:t>
                </a:r>
                <a:r>
                  <a:rPr lang="en-US"/>
                  <a:t> </a:t>
                </a:r>
                <a:r>
                  <a:rPr lang="en-US" i="1"/>
                  <a:t>m</a:t>
                </a:r>
                <a:r>
                  <a:rPr lang="en-US"/>
                  <a:t> = 11, </a:t>
                </a:r>
                <a:r>
                  <a:rPr lang="hu-HU" i="1"/>
                  <a:t>h</a:t>
                </a:r>
                <a:r>
                  <a:rPr lang="hu-HU" baseline="-25000"/>
                  <a:t>1</a:t>
                </a:r>
                <a:r>
                  <a:rPr lang="hu-HU">
                    <a:latin typeface="CMR8"/>
                    <a:ea typeface="Calibri" panose="020F0502020204030204" pitchFamily="34" charset="0"/>
                    <a:cs typeface="CMR8"/>
                  </a:rPr>
                  <a:t> 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: </a:t>
                </a:r>
                <a:r>
                  <a:rPr lang="hu-HU" i="1">
                    <a:latin typeface="CMMI12"/>
                    <a:ea typeface="Calibri" panose="020F0502020204030204" pitchFamily="34" charset="0"/>
                    <a:cs typeface="CMMI12"/>
                  </a:rPr>
                  <a:t>U</a:t>
                </a:r>
                <a:r>
                  <a:rPr lang="hu-HU">
                    <a:latin typeface="CMMI12"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>
                    <a:latin typeface="CMSY10"/>
                    <a:ea typeface="Calibri" panose="020F0502020204030204" pitchFamily="34" charset="0"/>
                    <a:cs typeface="CMSY10"/>
                  </a:rPr>
                  <a:t>→ 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0</a:t>
                </a:r>
                <a:r>
                  <a:rPr lang="hu-HU">
                    <a:latin typeface="CMMI12"/>
                    <a:ea typeface="Calibri" panose="020F0502020204030204" pitchFamily="34" charset="0"/>
                    <a:cs typeface="CMMI12"/>
                  </a:rPr>
                  <a:t>..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i="1">
                    <a:latin typeface="CMMI12"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en-US">
                    <a:latin typeface="CMSY10"/>
                    <a:ea typeface="Calibri" panose="020F0502020204030204" pitchFamily="34" charset="0"/>
                    <a:cs typeface="CMSY10"/>
                  </a:rPr>
                  <a:t>−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1), </a:t>
                </a:r>
                <a:r>
                  <a:rPr lang="hu-HU" i="1"/>
                  <a:t>h</a:t>
                </a:r>
                <a:r>
                  <a:rPr lang="hu-HU" baseline="-25000"/>
                  <a:t>1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(k)= </a:t>
                </a:r>
                <a:r>
                  <a:rPr lang="hu-HU" i="1">
                    <a:latin typeface="CMR12"/>
                    <a:ea typeface="Calibri" panose="020F0502020204030204" pitchFamily="34" charset="0"/>
                    <a:cs typeface="CMR12"/>
                  </a:rPr>
                  <a:t>k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 </a:t>
                </a:r>
                <a:r>
                  <a:rPr lang="hu-HU" err="1">
                    <a:latin typeface="CMR12"/>
                    <a:ea typeface="Calibri" panose="020F0502020204030204" pitchFamily="34" charset="0"/>
                    <a:cs typeface="CMR12"/>
                  </a:rPr>
                  <a:t>mod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 </a:t>
                </a:r>
                <a:r>
                  <a:rPr lang="hu-HU" i="1">
                    <a:latin typeface="CMR12"/>
                    <a:ea typeface="Calibri" panose="020F0502020204030204" pitchFamily="34" charset="0"/>
                    <a:cs typeface="CMR12"/>
                  </a:rPr>
                  <a:t>m</a:t>
                </a:r>
                <a:endParaRPr lang="hu-HU"/>
              </a:p>
              <a:p>
                <a:endParaRPr lang="hu-HU"/>
              </a:p>
              <a:p>
                <a:endParaRPr lang="hu-HU" sz="1200"/>
              </a:p>
              <a:p>
                <a:endParaRPr lang="hu-HU"/>
              </a:p>
              <a:p>
                <a:endParaRPr lang="hu-HU"/>
              </a:p>
              <a:p>
                <a:endParaRPr lang="hu-HU"/>
              </a:p>
              <a:p>
                <a:endParaRPr lang="hu-HU"/>
              </a:p>
              <a:p>
                <a:endParaRPr lang="hu-HU"/>
              </a:p>
              <a:p>
                <a:r>
                  <a:rPr lang="hu-HU"/>
                  <a:t>Táblaméretet célszerű prímszámnak választani</a:t>
                </a:r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0267" y="1885958"/>
                <a:ext cx="10932583" cy="4872651"/>
              </a:xfrm>
              <a:blipFill>
                <a:blip r:embed="rId3"/>
                <a:stretch>
                  <a:fillRect l="-1394" t="-1000" b="-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áblázat 3"/>
          <p:cNvGraphicFramePr>
            <a:graphicFrameLocks noGrp="1"/>
          </p:cNvGraphicFramePr>
          <p:nvPr/>
        </p:nvGraphicFramePr>
        <p:xfrm>
          <a:off x="440267" y="2912533"/>
          <a:ext cx="409786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701">
                  <a:extLst>
                    <a:ext uri="{9D8B030D-6E8A-4147-A177-3AD203B41FA5}">
                      <a16:colId xmlns:a16="http://schemas.microsoft.com/office/drawing/2014/main" val="1540362462"/>
                    </a:ext>
                  </a:extLst>
                </a:gridCol>
                <a:gridCol w="418505">
                  <a:extLst>
                    <a:ext uri="{9D8B030D-6E8A-4147-A177-3AD203B41FA5}">
                      <a16:colId xmlns:a16="http://schemas.microsoft.com/office/drawing/2014/main" val="2972390046"/>
                    </a:ext>
                  </a:extLst>
                </a:gridCol>
                <a:gridCol w="1011388">
                  <a:extLst>
                    <a:ext uri="{9D8B030D-6E8A-4147-A177-3AD203B41FA5}">
                      <a16:colId xmlns:a16="http://schemas.microsoft.com/office/drawing/2014/main" val="2748415893"/>
                    </a:ext>
                  </a:extLst>
                </a:gridCol>
                <a:gridCol w="1604271">
                  <a:extLst>
                    <a:ext uri="{9D8B030D-6E8A-4147-A177-3AD203B41FA5}">
                      <a16:colId xmlns:a16="http://schemas.microsoft.com/office/drawing/2014/main" val="100558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/>
                        <a:t>Művelet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i="1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i="1"/>
                        <a:t>h</a:t>
                      </a:r>
                      <a:r>
                        <a:rPr lang="hu-HU" baseline="-25000"/>
                        <a:t>1</a:t>
                      </a:r>
                      <a:r>
                        <a:rPr lang="hu-HU"/>
                        <a:t>(</a:t>
                      </a:r>
                      <a:r>
                        <a:rPr lang="hu-HU" i="1"/>
                        <a:t>k</a:t>
                      </a:r>
                      <a:r>
                        <a:rPr lang="hu-HU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/>
                        <a:t>Próbasorozat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612160"/>
                  </a:ext>
                </a:extLst>
              </a:tr>
            </a:tbl>
          </a:graphicData>
        </a:graphic>
      </p:graphicFrame>
      <p:graphicFrame>
        <p:nvGraphicFramePr>
          <p:cNvPr id="5" name="Táblázat 4"/>
          <p:cNvGraphicFramePr>
            <a:graphicFrameLocks noGrp="1"/>
          </p:cNvGraphicFramePr>
          <p:nvPr/>
        </p:nvGraphicFramePr>
        <p:xfrm>
          <a:off x="4389118" y="999065"/>
          <a:ext cx="6685283" cy="861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7753">
                  <a:extLst>
                    <a:ext uri="{9D8B030D-6E8A-4147-A177-3AD203B41FA5}">
                      <a16:colId xmlns:a16="http://schemas.microsoft.com/office/drawing/2014/main" val="2538351587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581106803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1851550320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1437807383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2765059415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951163473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1582643428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1725952424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4014628455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1079529502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845457948"/>
                    </a:ext>
                  </a:extLst>
                </a:gridCol>
              </a:tblGrid>
              <a:tr h="430954"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895575"/>
                  </a:ext>
                </a:extLst>
              </a:tr>
              <a:tr h="430954"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47397"/>
                  </a:ext>
                </a:extLst>
              </a:tr>
            </a:tbl>
          </a:graphicData>
        </a:graphic>
      </p:graphicFrame>
      <p:graphicFrame>
        <p:nvGraphicFramePr>
          <p:cNvPr id="6" name="Tábláza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342401"/>
              </p:ext>
            </p:extLst>
          </p:nvPr>
        </p:nvGraphicFramePr>
        <p:xfrm>
          <a:off x="440267" y="3358924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7" name="Tábláza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385616"/>
              </p:ext>
            </p:extLst>
          </p:nvPr>
        </p:nvGraphicFramePr>
        <p:xfrm>
          <a:off x="440267" y="3792840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8" name="Tábláza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572754"/>
              </p:ext>
            </p:extLst>
          </p:nvPr>
        </p:nvGraphicFramePr>
        <p:xfrm>
          <a:off x="440267" y="4220196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,3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9" name="Tábláza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150107"/>
              </p:ext>
            </p:extLst>
          </p:nvPr>
        </p:nvGraphicFramePr>
        <p:xfrm>
          <a:off x="449913" y="4650170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0" name="Tábláza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753716"/>
              </p:ext>
            </p:extLst>
          </p:nvPr>
        </p:nvGraphicFramePr>
        <p:xfrm>
          <a:off x="440267" y="5061049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1" name="Tábláza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990407"/>
              </p:ext>
            </p:extLst>
          </p:nvPr>
        </p:nvGraphicFramePr>
        <p:xfrm>
          <a:off x="440267" y="5493343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Töröl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3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2" name="Tábláza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014420"/>
              </p:ext>
            </p:extLst>
          </p:nvPr>
        </p:nvGraphicFramePr>
        <p:xfrm>
          <a:off x="4755919" y="3425297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10, 0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3" name="Tábláza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667123"/>
              </p:ext>
            </p:extLst>
          </p:nvPr>
        </p:nvGraphicFramePr>
        <p:xfrm>
          <a:off x="4755918" y="3922570"/>
          <a:ext cx="4434208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96063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78408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97510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Keres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3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4, 5, 6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✗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5" name="Táblázat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053042"/>
              </p:ext>
            </p:extLst>
          </p:nvPr>
        </p:nvGraphicFramePr>
        <p:xfrm>
          <a:off x="4755919" y="4926973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3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✗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6" name="Tábláza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923639"/>
              </p:ext>
            </p:extLst>
          </p:nvPr>
        </p:nvGraphicFramePr>
        <p:xfrm>
          <a:off x="4755919" y="5512605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Keres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10, 0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8" name="Táblázat 17"/>
          <p:cNvGraphicFramePr>
            <a:graphicFrameLocks noGrp="1"/>
          </p:cNvGraphicFramePr>
          <p:nvPr/>
        </p:nvGraphicFramePr>
        <p:xfrm>
          <a:off x="4755918" y="2913232"/>
          <a:ext cx="409786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701">
                  <a:extLst>
                    <a:ext uri="{9D8B030D-6E8A-4147-A177-3AD203B41FA5}">
                      <a16:colId xmlns:a16="http://schemas.microsoft.com/office/drawing/2014/main" val="1540362462"/>
                    </a:ext>
                  </a:extLst>
                </a:gridCol>
                <a:gridCol w="418505">
                  <a:extLst>
                    <a:ext uri="{9D8B030D-6E8A-4147-A177-3AD203B41FA5}">
                      <a16:colId xmlns:a16="http://schemas.microsoft.com/office/drawing/2014/main" val="2972390046"/>
                    </a:ext>
                  </a:extLst>
                </a:gridCol>
                <a:gridCol w="1011388">
                  <a:extLst>
                    <a:ext uri="{9D8B030D-6E8A-4147-A177-3AD203B41FA5}">
                      <a16:colId xmlns:a16="http://schemas.microsoft.com/office/drawing/2014/main" val="2748415893"/>
                    </a:ext>
                  </a:extLst>
                </a:gridCol>
                <a:gridCol w="1604271">
                  <a:extLst>
                    <a:ext uri="{9D8B030D-6E8A-4147-A177-3AD203B41FA5}">
                      <a16:colId xmlns:a16="http://schemas.microsoft.com/office/drawing/2014/main" val="100558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/>
                        <a:t>Művelet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i="1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i="1"/>
                        <a:t>h</a:t>
                      </a:r>
                      <a:r>
                        <a:rPr lang="hu-HU" baseline="-25000"/>
                        <a:t>1</a:t>
                      </a:r>
                      <a:r>
                        <a:rPr lang="hu-HU"/>
                        <a:t>(</a:t>
                      </a:r>
                      <a:r>
                        <a:rPr lang="hu-HU" i="1"/>
                        <a:t>k</a:t>
                      </a:r>
                      <a:r>
                        <a:rPr lang="hu-HU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/>
                        <a:t>Próbasorozat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612160"/>
                  </a:ext>
                </a:extLst>
              </a:tr>
            </a:tbl>
          </a:graphicData>
        </a:graphic>
      </p:graphicFrame>
      <p:graphicFrame>
        <p:nvGraphicFramePr>
          <p:cNvPr id="19" name="Táblázat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481255"/>
              </p:ext>
            </p:extLst>
          </p:nvPr>
        </p:nvGraphicFramePr>
        <p:xfrm>
          <a:off x="4755918" y="4382565"/>
          <a:ext cx="4434208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96063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78408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97510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3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4, 5, 6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sp>
        <p:nvSpPr>
          <p:cNvPr id="20" name="Folyamatábra: Feldolgozás 19"/>
          <p:cNvSpPr/>
          <p:nvPr/>
        </p:nvSpPr>
        <p:spPr>
          <a:xfrm>
            <a:off x="5621811" y="1473609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24</a:t>
            </a:r>
          </a:p>
        </p:txBody>
      </p:sp>
      <p:sp>
        <p:nvSpPr>
          <p:cNvPr id="21" name="Folyamatábra: Feldolgozás 20"/>
          <p:cNvSpPr/>
          <p:nvPr/>
        </p:nvSpPr>
        <p:spPr>
          <a:xfrm>
            <a:off x="4400971" y="1473200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21</a:t>
            </a:r>
          </a:p>
        </p:txBody>
      </p:sp>
      <p:sp>
        <p:nvSpPr>
          <p:cNvPr id="22" name="Folyamatábra: Feldolgozás 21"/>
          <p:cNvSpPr/>
          <p:nvPr/>
        </p:nvSpPr>
        <p:spPr>
          <a:xfrm>
            <a:off x="6235947" y="1473817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57</a:t>
            </a:r>
          </a:p>
        </p:txBody>
      </p:sp>
      <p:sp>
        <p:nvSpPr>
          <p:cNvPr id="24" name="Folyamatábra: Feldolgozás 23"/>
          <p:cNvSpPr/>
          <p:nvPr/>
        </p:nvSpPr>
        <p:spPr>
          <a:xfrm>
            <a:off x="6230831" y="1465416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D</a:t>
            </a:r>
          </a:p>
        </p:txBody>
      </p:sp>
      <p:sp>
        <p:nvSpPr>
          <p:cNvPr id="25" name="Folyamatábra: Feldolgozás 24"/>
          <p:cNvSpPr/>
          <p:nvPr/>
        </p:nvSpPr>
        <p:spPr>
          <a:xfrm>
            <a:off x="10492042" y="1473200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32</a:t>
            </a:r>
          </a:p>
        </p:txBody>
      </p:sp>
      <p:sp>
        <p:nvSpPr>
          <p:cNvPr id="26" name="Folyamatábra: Feldolgozás 25"/>
          <p:cNvSpPr/>
          <p:nvPr/>
        </p:nvSpPr>
        <p:spPr>
          <a:xfrm>
            <a:off x="7445132" y="1474175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16</a:t>
            </a:r>
          </a:p>
        </p:txBody>
      </p:sp>
      <p:sp>
        <p:nvSpPr>
          <p:cNvPr id="27" name="Folyamatábra: Feldolgozás 26"/>
          <p:cNvSpPr/>
          <p:nvPr/>
        </p:nvSpPr>
        <p:spPr>
          <a:xfrm>
            <a:off x="6838164" y="1473200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15</a:t>
            </a:r>
          </a:p>
        </p:txBody>
      </p:sp>
      <p:sp>
        <p:nvSpPr>
          <p:cNvPr id="28" name="Folyamatábra: Feldolgozás 27"/>
          <p:cNvSpPr/>
          <p:nvPr/>
        </p:nvSpPr>
        <p:spPr>
          <a:xfrm>
            <a:off x="8063678" y="1472225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Folyamatábra: Feldolgozás 22"/>
          <p:cNvSpPr/>
          <p:nvPr/>
        </p:nvSpPr>
        <p:spPr>
          <a:xfrm>
            <a:off x="6230722" y="1463466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Szövegdoboz 29"/>
              <p:cNvSpPr txBox="1"/>
              <p:nvPr/>
            </p:nvSpPr>
            <p:spPr>
              <a:xfrm>
                <a:off x="2489199" y="110692"/>
                <a:ext cx="7963593" cy="761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/>
                  <a:t>A kitöltöttségi arányszám: </a:t>
                </a:r>
                <a:r>
                  <a:rPr lang="en-US"/>
                  <a:t>α </a:t>
                </a:r>
                <a:r>
                  <a:rPr lang="de-DE"/>
                  <a:t>=</a:t>
                </a:r>
                <a:r>
                  <a:rPr lang="hu-HU"/>
                  <a:t>6/11</a:t>
                </a:r>
              </a:p>
              <a:p>
                <a:r>
                  <a:rPr lang="hu-HU"/>
                  <a:t>Sikeres keresés várható lépésszáma (egyenletes hasítás esetén):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hu-H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a:rPr lang="hu-HU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hu-HU">
                        <a:latin typeface="Cambria Math" panose="02040503050406030204" pitchFamily="18" charset="0"/>
                      </a:rPr>
                      <m:t>ln</m:t>
                    </m:r>
                    <m:r>
                      <a:rPr lang="hu-HU" i="1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hu-H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hu-H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hu-HU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a:rPr lang="hu-HU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hu-HU"/>
                  <a:t> </a:t>
                </a:r>
                <a14:m>
                  <m:oMath xmlns:m="http://schemas.openxmlformats.org/officeDocument/2006/math">
                    <m:r>
                      <a:rPr lang="hu-HU" i="1">
                        <a:latin typeface="Cambria Math" panose="02040503050406030204" pitchFamily="18" charset="0"/>
                      </a:rPr>
                      <m:t>≈1,73</m:t>
                    </m:r>
                  </m:oMath>
                </a14:m>
                <a:endParaRPr lang="hu-HU"/>
              </a:p>
            </p:txBody>
          </p:sp>
        </mc:Choice>
        <mc:Fallback xmlns="">
          <p:sp>
            <p:nvSpPr>
              <p:cNvPr id="30" name="Szövegdoboz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9199" y="110692"/>
                <a:ext cx="7963593" cy="761940"/>
              </a:xfrm>
              <a:prstGeom prst="rect">
                <a:avLst/>
              </a:prstGeom>
              <a:blipFill>
                <a:blip r:embed="rId4"/>
                <a:stretch>
                  <a:fillRect l="-612" t="-4000" b="-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8981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mph" presetSubtype="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9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7" presetClass="emph" presetSubtype="0" fill="remove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7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8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7" presetClass="emph" presetSubtype="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5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7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7" presetClass="emph" presetSubtype="0" fill="remove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5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6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7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1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2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3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5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6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7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8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500"/>
                            </p:stCondLst>
                            <p:childTnLst>
                              <p:par>
                                <p:cTn id="161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2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63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4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5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2000"/>
                            </p:stCondLst>
                            <p:childTnLst>
                              <p:par>
                                <p:cTn id="16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7" presetClass="emph" presetSubtype="0" fill="remove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83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4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5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500"/>
                            </p:stCondLst>
                            <p:childTnLst>
                              <p:par>
                                <p:cTn id="187" presetID="27" presetClass="emph" presetSubtype="0" fill="remove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8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89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0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1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1000"/>
                            </p:stCondLst>
                            <p:childTnLst>
                              <p:par>
                                <p:cTn id="193" presetID="27" presetClass="emph" presetSubtype="0" fill="remove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4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95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6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7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9" presetID="27" presetClass="emph" presetSubtype="0" fill="remove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0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01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2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2000"/>
                            </p:stCondLst>
                            <p:childTnLst>
                              <p:par>
                                <p:cTn id="20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7" presetClass="emph" presetSubtype="0" fill="remove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0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21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2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3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500"/>
                            </p:stCondLst>
                            <p:childTnLst>
                              <p:par>
                                <p:cTn id="225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6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27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8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9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500"/>
                            </p:stCondLst>
                            <p:childTnLst>
                              <p:par>
                                <p:cTn id="238" presetID="27" presetClass="emph" presetSubtype="0" fill="remove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9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40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1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2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4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5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46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7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0" grpId="0" animBg="1"/>
      <p:bldP spid="20" grpId="1" animBg="1"/>
      <p:bldP spid="20" grpId="2" animBg="1"/>
      <p:bldP spid="20" grpId="3" animBg="1"/>
      <p:bldP spid="20" grpId="4" animBg="1"/>
      <p:bldP spid="20" grpId="5" animBg="1"/>
      <p:bldP spid="21" grpId="0" animBg="1"/>
      <p:bldP spid="21" grpId="1" animBg="1"/>
      <p:bldP spid="22" grpId="0" animBg="1"/>
      <p:bldP spid="22" grpId="1" animBg="1"/>
      <p:bldP spid="24" grpId="0" animBg="1"/>
      <p:bldP spid="24" grpId="1" animBg="1"/>
      <p:bldP spid="24" grpId="2" animBg="1"/>
      <p:bldP spid="25" grpId="0" animBg="1"/>
      <p:bldP spid="25" grpId="1" animBg="1"/>
      <p:bldP spid="25" grpId="2" animBg="1"/>
      <p:bldP spid="26" grpId="0" animBg="1"/>
      <p:bldP spid="26" grpId="1" animBg="1"/>
      <p:bldP spid="26" grpId="2" animBg="1"/>
      <p:bldP spid="27" grpId="0" animBg="1"/>
      <p:bldP spid="27" grpId="1" animBg="1"/>
      <p:bldP spid="27" grpId="2" animBg="1"/>
      <p:bldP spid="28" grpId="0" animBg="1"/>
      <p:bldP spid="23" grpId="0" animBg="1"/>
      <p:bldP spid="23" grpId="1" animBg="1"/>
      <p:bldP spid="3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A51EF8-A020-5C58-6426-D7ED7330D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C3CD8CAA-F95D-ABB7-C478-229FA3AC79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0267" y="1885958"/>
                <a:ext cx="10932583" cy="4872651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i="1"/>
                  <a:t>h</a:t>
                </a:r>
                <a:r>
                  <a:rPr lang="en-US"/>
                  <a:t>(</a:t>
                </a:r>
                <a:r>
                  <a:rPr lang="en-US" i="1"/>
                  <a:t>k</a:t>
                </a:r>
                <a:r>
                  <a:rPr lang="en-US"/>
                  <a:t>, </a:t>
                </a:r>
                <a:r>
                  <a:rPr lang="hu-HU" i="1"/>
                  <a:t>i</a:t>
                </a:r>
                <a:r>
                  <a:rPr lang="en-US"/>
                  <a:t>) = </a:t>
                </a:r>
                <a:r>
                  <a:rPr lang="hu-HU"/>
                  <a:t>(</a:t>
                </a:r>
                <a:r>
                  <a:rPr lang="hu-HU" i="1"/>
                  <a:t>h</a:t>
                </a:r>
                <a:r>
                  <a:rPr lang="hu-HU" baseline="-25000"/>
                  <a:t>1</a:t>
                </a:r>
                <a:r>
                  <a:rPr lang="hu-HU"/>
                  <a:t>(</a:t>
                </a:r>
                <a:r>
                  <a:rPr lang="hu-HU" i="1"/>
                  <a:t>k</a:t>
                </a:r>
                <a:r>
                  <a:rPr lang="hu-HU"/>
                  <a:t>) +</a:t>
                </a:r>
                <a:r>
                  <a:rPr lang="hu-HU" i="1"/>
                  <a:t>i</a:t>
                </a:r>
                <a:r>
                  <a:rPr lang="en-US"/>
                  <a:t>) mod </a:t>
                </a:r>
                <a:r>
                  <a:rPr lang="en-US" i="1"/>
                  <a:t>m</a:t>
                </a:r>
                <a:r>
                  <a:rPr lang="hu-HU" i="1"/>
                  <a:t>		 </a:t>
                </a:r>
                <a:r>
                  <a:rPr lang="hu-HU"/>
                  <a:t>(</a:t>
                </a:r>
                <a:r>
                  <a:rPr lang="hu-HU" i="1"/>
                  <a:t>i</a:t>
                </a:r>
                <a:r>
                  <a:rPr lang="hu-HU"/>
                  <a:t> </a:t>
                </a:r>
                <a14:m>
                  <m:oMath xmlns:m="http://schemas.openxmlformats.org/officeDocument/2006/math">
                    <m:r>
                      <a:rPr lang="hu-HU" i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hu-HU"/>
                  <a:t> 0..</a:t>
                </a:r>
                <a:r>
                  <a:rPr lang="hu-HU" i="1"/>
                  <a:t>m</a:t>
                </a:r>
                <a:r>
                  <a:rPr lang="hu-HU"/>
                  <a:t>-1)</a:t>
                </a:r>
                <a:r>
                  <a:rPr lang="hu-HU" i="1"/>
                  <a:t> </a:t>
                </a:r>
                <a:endParaRPr lang="hu-HU"/>
              </a:p>
              <a:p>
                <a:r>
                  <a:rPr lang="en-US"/>
                  <a:t> P</a:t>
                </a:r>
                <a:r>
                  <a:rPr lang="hu-HU"/>
                  <a:t>é</a:t>
                </a:r>
                <a:r>
                  <a:rPr lang="en-US" err="1"/>
                  <a:t>lda</a:t>
                </a:r>
                <a:r>
                  <a:rPr lang="en-US"/>
                  <a:t>:</a:t>
                </a:r>
                <a:r>
                  <a:rPr lang="hu-HU"/>
                  <a:t> </a:t>
                </a:r>
                <a:r>
                  <a:rPr lang="en-US"/>
                  <a:t> </a:t>
                </a:r>
                <a:r>
                  <a:rPr lang="en-US" i="1"/>
                  <a:t>m</a:t>
                </a:r>
                <a:r>
                  <a:rPr lang="en-US"/>
                  <a:t> = 11, </a:t>
                </a:r>
                <a:r>
                  <a:rPr lang="hu-HU" i="1"/>
                  <a:t>h</a:t>
                </a:r>
                <a:r>
                  <a:rPr lang="hu-HU" baseline="-25000"/>
                  <a:t>1</a:t>
                </a:r>
                <a:r>
                  <a:rPr lang="hu-HU">
                    <a:latin typeface="CMR8"/>
                    <a:ea typeface="Calibri" panose="020F0502020204030204" pitchFamily="34" charset="0"/>
                    <a:cs typeface="CMR8"/>
                  </a:rPr>
                  <a:t> 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: </a:t>
                </a:r>
                <a:r>
                  <a:rPr lang="hu-HU" i="1">
                    <a:latin typeface="CMMI12"/>
                    <a:ea typeface="Calibri" panose="020F0502020204030204" pitchFamily="34" charset="0"/>
                    <a:cs typeface="CMMI12"/>
                  </a:rPr>
                  <a:t>U</a:t>
                </a:r>
                <a:r>
                  <a:rPr lang="hu-HU">
                    <a:latin typeface="CMMI12"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>
                    <a:latin typeface="CMSY10"/>
                    <a:ea typeface="Calibri" panose="020F0502020204030204" pitchFamily="34" charset="0"/>
                    <a:cs typeface="CMSY10"/>
                  </a:rPr>
                  <a:t>→ 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0</a:t>
                </a:r>
                <a:r>
                  <a:rPr lang="hu-HU">
                    <a:latin typeface="CMMI12"/>
                    <a:ea typeface="Calibri" panose="020F0502020204030204" pitchFamily="34" charset="0"/>
                    <a:cs typeface="CMMI12"/>
                  </a:rPr>
                  <a:t>..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i="1">
                    <a:latin typeface="CMMI12"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en-US">
                    <a:latin typeface="CMSY10"/>
                    <a:ea typeface="Calibri" panose="020F0502020204030204" pitchFamily="34" charset="0"/>
                    <a:cs typeface="CMSY10"/>
                  </a:rPr>
                  <a:t>−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1), </a:t>
                </a:r>
                <a:r>
                  <a:rPr lang="hu-HU" i="1"/>
                  <a:t>h</a:t>
                </a:r>
                <a:r>
                  <a:rPr lang="hu-HU" baseline="-25000"/>
                  <a:t>1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(k)= </a:t>
                </a:r>
                <a:r>
                  <a:rPr lang="hu-HU" i="1">
                    <a:latin typeface="CMR12"/>
                    <a:ea typeface="Calibri" panose="020F0502020204030204" pitchFamily="34" charset="0"/>
                    <a:cs typeface="CMR12"/>
                  </a:rPr>
                  <a:t>k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 </a:t>
                </a:r>
                <a:r>
                  <a:rPr lang="hu-HU" err="1">
                    <a:latin typeface="CMR12"/>
                    <a:ea typeface="Calibri" panose="020F0502020204030204" pitchFamily="34" charset="0"/>
                    <a:cs typeface="CMR12"/>
                  </a:rPr>
                  <a:t>mod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 </a:t>
                </a:r>
                <a:r>
                  <a:rPr lang="hu-HU" i="1">
                    <a:latin typeface="CMR12"/>
                    <a:ea typeface="Calibri" panose="020F0502020204030204" pitchFamily="34" charset="0"/>
                    <a:cs typeface="CMR12"/>
                  </a:rPr>
                  <a:t>m</a:t>
                </a:r>
                <a:endParaRPr lang="hu-HU"/>
              </a:p>
              <a:p>
                <a:endParaRPr lang="hu-HU"/>
              </a:p>
              <a:p>
                <a:endParaRPr lang="hu-HU" sz="1200"/>
              </a:p>
              <a:p>
                <a:endParaRPr lang="hu-HU"/>
              </a:p>
              <a:p>
                <a:endParaRPr lang="hu-HU"/>
              </a:p>
              <a:p>
                <a:endParaRPr lang="hu-HU"/>
              </a:p>
              <a:p>
                <a:endParaRPr lang="hu-HU"/>
              </a:p>
              <a:p>
                <a:endParaRPr lang="hu-HU"/>
              </a:p>
              <a:p>
                <a:r>
                  <a:rPr lang="hu-HU"/>
                  <a:t>Táblaméretet célszerű prímszámnak választani</a:t>
                </a: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C3CD8CAA-F95D-ABB7-C478-229FA3AC79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0267" y="1885958"/>
                <a:ext cx="10932583" cy="4872651"/>
              </a:xfrm>
              <a:blipFill>
                <a:blip r:embed="rId3"/>
                <a:stretch>
                  <a:fillRect l="-1394" t="-1000" b="-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2" name="Kép 1" descr="A képen szöveg, képernyőkép, Betűtípus, szá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B9CC91E8-B718-8269-699C-899F6093C0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2557" y="4851499"/>
            <a:ext cx="5762625" cy="781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A képen szöveg, képernyőkép, Betűtípus, szá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44CA8BCA-0A51-88F4-7F2B-E8A28863A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237" y="4508599"/>
            <a:ext cx="5762625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 képen szöveg, képernyőkép, szám, Betűtípu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C0775692-134B-789E-3CED-84B58575B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237" y="4146649"/>
            <a:ext cx="5762625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>
            <a:extLst>
              <a:ext uri="{FF2B5EF4-FFF2-40B4-BE49-F238E27FC236}">
                <a16:creationId xmlns:a16="http://schemas.microsoft.com/office/drawing/2014/main" id="{CC3FECEC-DCC9-3EE7-918A-BBACC4622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236" y="3822164"/>
            <a:ext cx="5762625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ED14095F-388D-EC72-7342-7A55DA035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67" y="789581"/>
            <a:ext cx="9262534" cy="990212"/>
          </a:xfrm>
        </p:spPr>
        <p:txBody>
          <a:bodyPr>
            <a:normAutofit/>
          </a:bodyPr>
          <a:lstStyle/>
          <a:p>
            <a:r>
              <a:rPr lang="hu-HU"/>
              <a:t>Lineáris próba nem animált változata</a:t>
            </a:r>
          </a:p>
        </p:txBody>
      </p:sp>
      <p:graphicFrame>
        <p:nvGraphicFramePr>
          <p:cNvPr id="4" name="Táblázat 3">
            <a:extLst>
              <a:ext uri="{FF2B5EF4-FFF2-40B4-BE49-F238E27FC236}">
                <a16:creationId xmlns:a16="http://schemas.microsoft.com/office/drawing/2014/main" id="{B7DBCC31-4835-C0B7-48EA-E113231AF793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2912533"/>
          <a:ext cx="409786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701">
                  <a:extLst>
                    <a:ext uri="{9D8B030D-6E8A-4147-A177-3AD203B41FA5}">
                      <a16:colId xmlns:a16="http://schemas.microsoft.com/office/drawing/2014/main" val="1540362462"/>
                    </a:ext>
                  </a:extLst>
                </a:gridCol>
                <a:gridCol w="418505">
                  <a:extLst>
                    <a:ext uri="{9D8B030D-6E8A-4147-A177-3AD203B41FA5}">
                      <a16:colId xmlns:a16="http://schemas.microsoft.com/office/drawing/2014/main" val="2972390046"/>
                    </a:ext>
                  </a:extLst>
                </a:gridCol>
                <a:gridCol w="1011388">
                  <a:extLst>
                    <a:ext uri="{9D8B030D-6E8A-4147-A177-3AD203B41FA5}">
                      <a16:colId xmlns:a16="http://schemas.microsoft.com/office/drawing/2014/main" val="2748415893"/>
                    </a:ext>
                  </a:extLst>
                </a:gridCol>
                <a:gridCol w="1604271">
                  <a:extLst>
                    <a:ext uri="{9D8B030D-6E8A-4147-A177-3AD203B41FA5}">
                      <a16:colId xmlns:a16="http://schemas.microsoft.com/office/drawing/2014/main" val="100558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/>
                        <a:t>Művelet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i="1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i="1"/>
                        <a:t>h</a:t>
                      </a:r>
                      <a:r>
                        <a:rPr lang="hu-HU" baseline="-25000"/>
                        <a:t>1</a:t>
                      </a:r>
                      <a:r>
                        <a:rPr lang="hu-HU"/>
                        <a:t>(</a:t>
                      </a:r>
                      <a:r>
                        <a:rPr lang="hu-HU" i="1"/>
                        <a:t>k</a:t>
                      </a:r>
                      <a:r>
                        <a:rPr lang="hu-HU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/>
                        <a:t>Próbasorozat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612160"/>
                  </a:ext>
                </a:extLst>
              </a:tr>
            </a:tbl>
          </a:graphicData>
        </a:graphic>
      </p:graphicFrame>
      <p:graphicFrame>
        <p:nvGraphicFramePr>
          <p:cNvPr id="6" name="Táblázat 5">
            <a:extLst>
              <a:ext uri="{FF2B5EF4-FFF2-40B4-BE49-F238E27FC236}">
                <a16:creationId xmlns:a16="http://schemas.microsoft.com/office/drawing/2014/main" id="{4F17274F-7300-C6B6-79EE-F7128079A07A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3358924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7" name="Táblázat 6">
            <a:extLst>
              <a:ext uri="{FF2B5EF4-FFF2-40B4-BE49-F238E27FC236}">
                <a16:creationId xmlns:a16="http://schemas.microsoft.com/office/drawing/2014/main" id="{2C3CD2A8-8F88-CD27-584D-C8EA39BB2A2D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3792840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8" name="Táblázat 7">
            <a:extLst>
              <a:ext uri="{FF2B5EF4-FFF2-40B4-BE49-F238E27FC236}">
                <a16:creationId xmlns:a16="http://schemas.microsoft.com/office/drawing/2014/main" id="{B579ED2E-9F3B-C27B-E008-737AF72B5AEB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4220196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,3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9" name="Táblázat 8">
            <a:extLst>
              <a:ext uri="{FF2B5EF4-FFF2-40B4-BE49-F238E27FC236}">
                <a16:creationId xmlns:a16="http://schemas.microsoft.com/office/drawing/2014/main" id="{BE2D6A65-DA12-D878-44F5-362C8C497911}"/>
              </a:ext>
            </a:extLst>
          </p:cNvPr>
          <p:cNvGraphicFramePr>
            <a:graphicFrameLocks noGrp="1"/>
          </p:cNvGraphicFramePr>
          <p:nvPr/>
        </p:nvGraphicFramePr>
        <p:xfrm>
          <a:off x="449913" y="4650170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0" name="Táblázat 9">
            <a:extLst>
              <a:ext uri="{FF2B5EF4-FFF2-40B4-BE49-F238E27FC236}">
                <a16:creationId xmlns:a16="http://schemas.microsoft.com/office/drawing/2014/main" id="{01CF3FAE-6F2B-48A4-FFAE-41B672E2B0A2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5061049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1" name="Táblázat 10">
            <a:extLst>
              <a:ext uri="{FF2B5EF4-FFF2-40B4-BE49-F238E27FC236}">
                <a16:creationId xmlns:a16="http://schemas.microsoft.com/office/drawing/2014/main" id="{744EEE74-FA1B-636F-2687-25CEE531ACEE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5493343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Töröl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3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0" name="Szövegdoboz 29">
                <a:extLst>
                  <a:ext uri="{FF2B5EF4-FFF2-40B4-BE49-F238E27FC236}">
                    <a16:creationId xmlns:a16="http://schemas.microsoft.com/office/drawing/2014/main" id="{91D1CB8B-B277-89E6-06C2-F8D9E7C4E6C8}"/>
                  </a:ext>
                </a:extLst>
              </p:cNvPr>
              <p:cNvSpPr txBox="1"/>
              <p:nvPr/>
            </p:nvSpPr>
            <p:spPr>
              <a:xfrm>
                <a:off x="2489199" y="110692"/>
                <a:ext cx="7963593" cy="761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/>
                  <a:t>A kitöltöttségi arányszám: </a:t>
                </a:r>
                <a:r>
                  <a:rPr lang="en-US"/>
                  <a:t>α </a:t>
                </a:r>
                <a:r>
                  <a:rPr lang="de-DE"/>
                  <a:t>=</a:t>
                </a:r>
                <a:r>
                  <a:rPr lang="hu-HU"/>
                  <a:t>6/11</a:t>
                </a:r>
              </a:p>
              <a:p>
                <a:r>
                  <a:rPr lang="hu-HU"/>
                  <a:t>Sikeres keresés várható lépésszáma (egyenletes hasítás esetén):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hu-H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a:rPr lang="hu-HU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hu-HU">
                        <a:latin typeface="Cambria Math" panose="02040503050406030204" pitchFamily="18" charset="0"/>
                      </a:rPr>
                      <m:t>ln</m:t>
                    </m:r>
                    <m:r>
                      <a:rPr lang="hu-HU" i="1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hu-H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hu-H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hu-HU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a:rPr lang="hu-HU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hu-HU"/>
                  <a:t> </a:t>
                </a:r>
                <a14:m>
                  <m:oMath xmlns:m="http://schemas.openxmlformats.org/officeDocument/2006/math">
                    <m:r>
                      <a:rPr lang="hu-HU" i="1">
                        <a:latin typeface="Cambria Math" panose="02040503050406030204" pitchFamily="18" charset="0"/>
                      </a:rPr>
                      <m:t>≈1,73</m:t>
                    </m:r>
                  </m:oMath>
                </a14:m>
                <a:endParaRPr lang="hu-HU"/>
              </a:p>
            </p:txBody>
          </p:sp>
        </mc:Choice>
        <mc:Fallback xmlns="">
          <p:sp>
            <p:nvSpPr>
              <p:cNvPr id="30" name="Szövegdoboz 29">
                <a:extLst>
                  <a:ext uri="{FF2B5EF4-FFF2-40B4-BE49-F238E27FC236}">
                    <a16:creationId xmlns:a16="http://schemas.microsoft.com/office/drawing/2014/main" id="{91D1CB8B-B277-89E6-06C2-F8D9E7C4E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9199" y="110692"/>
                <a:ext cx="7963593" cy="761940"/>
              </a:xfrm>
              <a:prstGeom prst="rect">
                <a:avLst/>
              </a:prstGeom>
              <a:blipFill>
                <a:blip r:embed="rId8"/>
                <a:stretch>
                  <a:fillRect l="-612" t="-4000" b="-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7">
            <a:extLst>
              <a:ext uri="{FF2B5EF4-FFF2-40B4-BE49-F238E27FC236}">
                <a16:creationId xmlns:a16="http://schemas.microsoft.com/office/drawing/2014/main" id="{93A9491A-B29F-E82D-B1CC-00B3EE750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5917" y="1346504"/>
            <a:ext cx="8973508" cy="199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hu-HU"/>
          </a:p>
        </p:txBody>
      </p:sp>
      <p:pic>
        <p:nvPicPr>
          <p:cNvPr id="1036" name="Picture 12" descr="A képen szöveg, képernyőkép, Betűtípus, szá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B5DAABB9-BA5F-B07A-E3C1-B9D2826C06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9" y="3459579"/>
            <a:ext cx="575310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 descr="A képen szöveg, képernyőkép, Betűtípus, szá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8C59A206-93FA-2239-68CE-EDBDD2044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5917" y="3098218"/>
            <a:ext cx="575310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07340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0855E2-5CB7-3C60-DE09-5D8B6E1BC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10D94E6-C856-F66D-37EE-5A74A7C7F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67" y="789581"/>
            <a:ext cx="9262534" cy="990212"/>
          </a:xfrm>
        </p:spPr>
        <p:txBody>
          <a:bodyPr>
            <a:normAutofit/>
          </a:bodyPr>
          <a:lstStyle/>
          <a:p>
            <a:r>
              <a:rPr lang="hu-HU"/>
              <a:t>Lineáris próba nem animált változata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6E03FBF3-64F2-2616-7D03-3D278476F3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0267" y="1426112"/>
                <a:ext cx="10932583" cy="5332498"/>
              </a:xfrm>
            </p:spPr>
            <p:txBody>
              <a:bodyPr>
                <a:normAutofit/>
              </a:bodyPr>
              <a:lstStyle/>
              <a:p>
                <a:r>
                  <a:rPr lang="en-US" i="1"/>
                  <a:t>h</a:t>
                </a:r>
                <a:r>
                  <a:rPr lang="en-US"/>
                  <a:t>(</a:t>
                </a:r>
                <a:r>
                  <a:rPr lang="en-US" i="1"/>
                  <a:t>k</a:t>
                </a:r>
                <a:r>
                  <a:rPr lang="en-US"/>
                  <a:t>, </a:t>
                </a:r>
                <a:r>
                  <a:rPr lang="hu-HU" i="1"/>
                  <a:t>i</a:t>
                </a:r>
                <a:r>
                  <a:rPr lang="en-US"/>
                  <a:t>) = </a:t>
                </a:r>
                <a:r>
                  <a:rPr lang="hu-HU"/>
                  <a:t>(</a:t>
                </a:r>
                <a:r>
                  <a:rPr lang="hu-HU" i="1"/>
                  <a:t>h</a:t>
                </a:r>
                <a:r>
                  <a:rPr lang="hu-HU" baseline="-25000"/>
                  <a:t>1</a:t>
                </a:r>
                <a:r>
                  <a:rPr lang="hu-HU"/>
                  <a:t>(</a:t>
                </a:r>
                <a:r>
                  <a:rPr lang="hu-HU" i="1"/>
                  <a:t>k</a:t>
                </a:r>
                <a:r>
                  <a:rPr lang="hu-HU"/>
                  <a:t>) +</a:t>
                </a:r>
                <a:r>
                  <a:rPr lang="hu-HU" i="1"/>
                  <a:t>i</a:t>
                </a:r>
                <a:r>
                  <a:rPr lang="en-US"/>
                  <a:t>) mod </a:t>
                </a:r>
                <a:r>
                  <a:rPr lang="en-US" i="1"/>
                  <a:t>m</a:t>
                </a:r>
                <a:r>
                  <a:rPr lang="hu-HU" i="1"/>
                  <a:t>		 </a:t>
                </a:r>
                <a:r>
                  <a:rPr lang="hu-HU"/>
                  <a:t>(</a:t>
                </a:r>
                <a:r>
                  <a:rPr lang="hu-HU" i="1"/>
                  <a:t>i</a:t>
                </a:r>
                <a:r>
                  <a:rPr lang="hu-HU"/>
                  <a:t> </a:t>
                </a:r>
                <a14:m>
                  <m:oMath xmlns:m="http://schemas.openxmlformats.org/officeDocument/2006/math">
                    <m:r>
                      <a:rPr lang="hu-HU" i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hu-HU"/>
                  <a:t> 0..</a:t>
                </a:r>
                <a:r>
                  <a:rPr lang="hu-HU" i="1"/>
                  <a:t>m</a:t>
                </a:r>
                <a:r>
                  <a:rPr lang="hu-HU"/>
                  <a:t>-1)</a:t>
                </a:r>
                <a:r>
                  <a:rPr lang="hu-HU" i="1"/>
                  <a:t> </a:t>
                </a:r>
                <a:endParaRPr lang="hu-HU"/>
              </a:p>
              <a:p>
                <a:r>
                  <a:rPr lang="en-US"/>
                  <a:t> P</a:t>
                </a:r>
                <a:r>
                  <a:rPr lang="hu-HU"/>
                  <a:t>é</a:t>
                </a:r>
                <a:r>
                  <a:rPr lang="en-US" err="1"/>
                  <a:t>lda</a:t>
                </a:r>
                <a:r>
                  <a:rPr lang="en-US"/>
                  <a:t>:</a:t>
                </a:r>
                <a:r>
                  <a:rPr lang="hu-HU"/>
                  <a:t> </a:t>
                </a:r>
                <a:r>
                  <a:rPr lang="en-US"/>
                  <a:t> </a:t>
                </a:r>
                <a:r>
                  <a:rPr lang="en-US" i="1"/>
                  <a:t>m</a:t>
                </a:r>
                <a:r>
                  <a:rPr lang="en-US"/>
                  <a:t> = 11, </a:t>
                </a:r>
                <a:r>
                  <a:rPr lang="hu-HU" i="1"/>
                  <a:t>h</a:t>
                </a:r>
                <a:r>
                  <a:rPr lang="hu-HU" baseline="-25000"/>
                  <a:t>1</a:t>
                </a:r>
                <a:r>
                  <a:rPr lang="hu-HU">
                    <a:latin typeface="CMR8"/>
                    <a:ea typeface="Calibri" panose="020F0502020204030204" pitchFamily="34" charset="0"/>
                    <a:cs typeface="CMR8"/>
                  </a:rPr>
                  <a:t> 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: </a:t>
                </a:r>
                <a:r>
                  <a:rPr lang="hu-HU" i="1">
                    <a:latin typeface="CMMI12"/>
                    <a:ea typeface="Calibri" panose="020F0502020204030204" pitchFamily="34" charset="0"/>
                    <a:cs typeface="CMMI12"/>
                  </a:rPr>
                  <a:t>U</a:t>
                </a:r>
                <a:r>
                  <a:rPr lang="hu-HU">
                    <a:latin typeface="CMMI12"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>
                    <a:latin typeface="CMSY10"/>
                    <a:ea typeface="Calibri" panose="020F0502020204030204" pitchFamily="34" charset="0"/>
                    <a:cs typeface="CMSY10"/>
                  </a:rPr>
                  <a:t>→ 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0</a:t>
                </a:r>
                <a:r>
                  <a:rPr lang="hu-HU">
                    <a:latin typeface="CMMI12"/>
                    <a:ea typeface="Calibri" panose="020F0502020204030204" pitchFamily="34" charset="0"/>
                    <a:cs typeface="CMMI12"/>
                  </a:rPr>
                  <a:t>..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i="1">
                    <a:latin typeface="CMMI12"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en-US">
                    <a:latin typeface="CMSY10"/>
                    <a:ea typeface="Calibri" panose="020F0502020204030204" pitchFamily="34" charset="0"/>
                    <a:cs typeface="CMSY10"/>
                  </a:rPr>
                  <a:t>−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1), </a:t>
                </a:r>
                <a:r>
                  <a:rPr lang="hu-HU" i="1"/>
                  <a:t>h</a:t>
                </a:r>
                <a:r>
                  <a:rPr lang="hu-HU" baseline="-25000"/>
                  <a:t>1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(k)= </a:t>
                </a:r>
                <a:r>
                  <a:rPr lang="hu-HU" i="1">
                    <a:latin typeface="CMR12"/>
                    <a:ea typeface="Calibri" panose="020F0502020204030204" pitchFamily="34" charset="0"/>
                    <a:cs typeface="CMR12"/>
                  </a:rPr>
                  <a:t>k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 </a:t>
                </a:r>
                <a:r>
                  <a:rPr lang="hu-HU" err="1">
                    <a:latin typeface="CMR12"/>
                    <a:ea typeface="Calibri" panose="020F0502020204030204" pitchFamily="34" charset="0"/>
                    <a:cs typeface="CMR12"/>
                  </a:rPr>
                  <a:t>mod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 </a:t>
                </a:r>
                <a:r>
                  <a:rPr lang="hu-HU" i="1">
                    <a:latin typeface="CMR12"/>
                    <a:ea typeface="Calibri" panose="020F0502020204030204" pitchFamily="34" charset="0"/>
                    <a:cs typeface="CMR12"/>
                  </a:rPr>
                  <a:t>m</a:t>
                </a:r>
                <a:endParaRPr lang="hu-HU"/>
              </a:p>
              <a:p>
                <a:endParaRPr lang="hu-HU"/>
              </a:p>
              <a:p>
                <a:endParaRPr lang="hu-HU" sz="1200"/>
              </a:p>
              <a:p>
                <a:endParaRPr lang="hu-HU"/>
              </a:p>
              <a:p>
                <a:endParaRPr lang="hu-HU"/>
              </a:p>
              <a:p>
                <a:endParaRPr lang="hu-HU"/>
              </a:p>
              <a:p>
                <a:endParaRPr lang="hu-HU"/>
              </a:p>
              <a:p>
                <a:endParaRPr lang="hu-HU"/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6E03FBF3-64F2-2616-7D03-3D278476F3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0267" y="1426112"/>
                <a:ext cx="10932583" cy="5332498"/>
              </a:xfrm>
              <a:blipFill>
                <a:blip r:embed="rId3"/>
                <a:stretch>
                  <a:fillRect l="-1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áblázat 3">
            <a:extLst>
              <a:ext uri="{FF2B5EF4-FFF2-40B4-BE49-F238E27FC236}">
                <a16:creationId xmlns:a16="http://schemas.microsoft.com/office/drawing/2014/main" id="{CF957A49-49FA-E3FE-A7FD-065EECB31E37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2912533"/>
          <a:ext cx="409786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701">
                  <a:extLst>
                    <a:ext uri="{9D8B030D-6E8A-4147-A177-3AD203B41FA5}">
                      <a16:colId xmlns:a16="http://schemas.microsoft.com/office/drawing/2014/main" val="1540362462"/>
                    </a:ext>
                  </a:extLst>
                </a:gridCol>
                <a:gridCol w="418505">
                  <a:extLst>
                    <a:ext uri="{9D8B030D-6E8A-4147-A177-3AD203B41FA5}">
                      <a16:colId xmlns:a16="http://schemas.microsoft.com/office/drawing/2014/main" val="2972390046"/>
                    </a:ext>
                  </a:extLst>
                </a:gridCol>
                <a:gridCol w="1011388">
                  <a:extLst>
                    <a:ext uri="{9D8B030D-6E8A-4147-A177-3AD203B41FA5}">
                      <a16:colId xmlns:a16="http://schemas.microsoft.com/office/drawing/2014/main" val="2748415893"/>
                    </a:ext>
                  </a:extLst>
                </a:gridCol>
                <a:gridCol w="1604271">
                  <a:extLst>
                    <a:ext uri="{9D8B030D-6E8A-4147-A177-3AD203B41FA5}">
                      <a16:colId xmlns:a16="http://schemas.microsoft.com/office/drawing/2014/main" val="100558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/>
                        <a:t>Művelet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i="1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i="1"/>
                        <a:t>h</a:t>
                      </a:r>
                      <a:r>
                        <a:rPr lang="hu-HU" baseline="-25000"/>
                        <a:t>1</a:t>
                      </a:r>
                      <a:r>
                        <a:rPr lang="hu-HU"/>
                        <a:t>(</a:t>
                      </a:r>
                      <a:r>
                        <a:rPr lang="hu-HU" i="1"/>
                        <a:t>k</a:t>
                      </a:r>
                      <a:r>
                        <a:rPr lang="hu-HU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/>
                        <a:t>Próbasorozat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612160"/>
                  </a:ext>
                </a:extLst>
              </a:tr>
            </a:tbl>
          </a:graphicData>
        </a:graphic>
      </p:graphicFrame>
      <p:graphicFrame>
        <p:nvGraphicFramePr>
          <p:cNvPr id="6" name="Táblázat 5">
            <a:extLst>
              <a:ext uri="{FF2B5EF4-FFF2-40B4-BE49-F238E27FC236}">
                <a16:creationId xmlns:a16="http://schemas.microsoft.com/office/drawing/2014/main" id="{B97CF594-F5BF-F242-5092-EFFCE2E90D2F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3358924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7" name="Táblázat 6">
            <a:extLst>
              <a:ext uri="{FF2B5EF4-FFF2-40B4-BE49-F238E27FC236}">
                <a16:creationId xmlns:a16="http://schemas.microsoft.com/office/drawing/2014/main" id="{0D2EDADF-8C6F-9A52-1879-BE55FD27ADDA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3792840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8" name="Táblázat 7">
            <a:extLst>
              <a:ext uri="{FF2B5EF4-FFF2-40B4-BE49-F238E27FC236}">
                <a16:creationId xmlns:a16="http://schemas.microsoft.com/office/drawing/2014/main" id="{5545A3F8-2F8C-2A76-5DA0-ABF561EAF85E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4220196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,3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9" name="Táblázat 8">
            <a:extLst>
              <a:ext uri="{FF2B5EF4-FFF2-40B4-BE49-F238E27FC236}">
                <a16:creationId xmlns:a16="http://schemas.microsoft.com/office/drawing/2014/main" id="{6B0CF280-6BC6-4899-785F-0819147A034B}"/>
              </a:ext>
            </a:extLst>
          </p:cNvPr>
          <p:cNvGraphicFramePr>
            <a:graphicFrameLocks noGrp="1"/>
          </p:cNvGraphicFramePr>
          <p:nvPr/>
        </p:nvGraphicFramePr>
        <p:xfrm>
          <a:off x="449913" y="4650170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0" name="Táblázat 9">
            <a:extLst>
              <a:ext uri="{FF2B5EF4-FFF2-40B4-BE49-F238E27FC236}">
                <a16:creationId xmlns:a16="http://schemas.microsoft.com/office/drawing/2014/main" id="{0808D95D-BD48-88F4-8FB2-BFB07CCC8C2A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5061049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1" name="Táblázat 10">
            <a:extLst>
              <a:ext uri="{FF2B5EF4-FFF2-40B4-BE49-F238E27FC236}">
                <a16:creationId xmlns:a16="http://schemas.microsoft.com/office/drawing/2014/main" id="{5B04E26C-0CFD-37A4-874F-D5C429BFA2BA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5493343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Töröl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3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0" name="Szövegdoboz 29">
                <a:extLst>
                  <a:ext uri="{FF2B5EF4-FFF2-40B4-BE49-F238E27FC236}">
                    <a16:creationId xmlns:a16="http://schemas.microsoft.com/office/drawing/2014/main" id="{90453801-1BF2-C889-4037-4DFD4190EACF}"/>
                  </a:ext>
                </a:extLst>
              </p:cNvPr>
              <p:cNvSpPr txBox="1"/>
              <p:nvPr/>
            </p:nvSpPr>
            <p:spPr>
              <a:xfrm>
                <a:off x="2489199" y="110692"/>
                <a:ext cx="7963593" cy="761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/>
                  <a:t>A kitöltöttségi arányszám: </a:t>
                </a:r>
                <a:r>
                  <a:rPr lang="en-US"/>
                  <a:t>α </a:t>
                </a:r>
                <a:r>
                  <a:rPr lang="de-DE"/>
                  <a:t>=</a:t>
                </a:r>
                <a:r>
                  <a:rPr lang="hu-HU"/>
                  <a:t>6/11</a:t>
                </a:r>
              </a:p>
              <a:p>
                <a:r>
                  <a:rPr lang="hu-HU"/>
                  <a:t>Sikeres keresés várható lépésszáma (egyenletes hasítás esetén):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hu-H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a:rPr lang="hu-HU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hu-HU">
                        <a:latin typeface="Cambria Math" panose="02040503050406030204" pitchFamily="18" charset="0"/>
                      </a:rPr>
                      <m:t>ln</m:t>
                    </m:r>
                    <m:r>
                      <a:rPr lang="hu-HU" i="1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hu-H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hu-H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hu-HU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a:rPr lang="hu-HU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hu-HU"/>
                  <a:t> </a:t>
                </a:r>
                <a14:m>
                  <m:oMath xmlns:m="http://schemas.openxmlformats.org/officeDocument/2006/math">
                    <m:r>
                      <a:rPr lang="hu-HU" i="1">
                        <a:latin typeface="Cambria Math" panose="02040503050406030204" pitchFamily="18" charset="0"/>
                      </a:rPr>
                      <m:t>≈1,73</m:t>
                    </m:r>
                  </m:oMath>
                </a14:m>
                <a:endParaRPr lang="hu-HU"/>
              </a:p>
            </p:txBody>
          </p:sp>
        </mc:Choice>
        <mc:Fallback xmlns="">
          <p:sp>
            <p:nvSpPr>
              <p:cNvPr id="30" name="Szövegdoboz 29">
                <a:extLst>
                  <a:ext uri="{FF2B5EF4-FFF2-40B4-BE49-F238E27FC236}">
                    <a16:creationId xmlns:a16="http://schemas.microsoft.com/office/drawing/2014/main" id="{90453801-1BF2-C889-4037-4DFD4190E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9199" y="110692"/>
                <a:ext cx="7963593" cy="761940"/>
              </a:xfrm>
              <a:prstGeom prst="rect">
                <a:avLst/>
              </a:prstGeom>
              <a:blipFill>
                <a:blip r:embed="rId4"/>
                <a:stretch>
                  <a:fillRect l="-612" t="-4000" b="-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Kép 4" descr="A képen szöveg, képernyőkép, Betűtípus, szá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4DB099BB-3F80-5DCC-CDED-E708E4ADAA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13" y="2880158"/>
            <a:ext cx="5760720" cy="3867150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426265E3-50F7-C731-D4D6-B145D1B585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1897" y="3113071"/>
            <a:ext cx="5760720" cy="711835"/>
          </a:xfrm>
          <a:prstGeom prst="rect">
            <a:avLst/>
          </a:prstGeom>
        </p:spPr>
      </p:pic>
      <p:pic>
        <p:nvPicPr>
          <p:cNvPr id="17" name="Kép 16">
            <a:extLst>
              <a:ext uri="{FF2B5EF4-FFF2-40B4-BE49-F238E27FC236}">
                <a16:creationId xmlns:a16="http://schemas.microsoft.com/office/drawing/2014/main" id="{7B75D0D4-7610-30CB-585A-D758303FCC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1897" y="4042033"/>
            <a:ext cx="5760720" cy="705485"/>
          </a:xfrm>
          <a:prstGeom prst="rect">
            <a:avLst/>
          </a:prstGeom>
        </p:spPr>
      </p:pic>
      <p:pic>
        <p:nvPicPr>
          <p:cNvPr id="22" name="Kép 21" descr="A képen szöveg, képernyőkép, Betűtípus, szá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F2A369D2-825D-4CE5-BD49-D8538727F9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6775" y="5384049"/>
            <a:ext cx="5760720" cy="732790"/>
          </a:xfrm>
          <a:prstGeom prst="rect">
            <a:avLst/>
          </a:prstGeom>
        </p:spPr>
      </p:pic>
      <p:sp>
        <p:nvSpPr>
          <p:cNvPr id="29" name="Jobb oldali kapcsos zárójel 28">
            <a:extLst>
              <a:ext uri="{FF2B5EF4-FFF2-40B4-BE49-F238E27FC236}">
                <a16:creationId xmlns:a16="http://schemas.microsoft.com/office/drawing/2014/main" id="{77723E83-B0E2-51DB-80D4-2F4431E8B34E}"/>
              </a:ext>
            </a:extLst>
          </p:cNvPr>
          <p:cNvSpPr/>
          <p:nvPr/>
        </p:nvSpPr>
        <p:spPr>
          <a:xfrm>
            <a:off x="5865226" y="5061049"/>
            <a:ext cx="345407" cy="1522631"/>
          </a:xfrm>
          <a:prstGeom prst="rightBrace">
            <a:avLst>
              <a:gd name="adj1" fmla="val 8333"/>
              <a:gd name="adj2" fmla="val 49333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8683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891593" y="653742"/>
            <a:ext cx="8833735" cy="990212"/>
          </a:xfrm>
        </p:spPr>
        <p:txBody>
          <a:bodyPr/>
          <a:lstStyle/>
          <a:p>
            <a:r>
              <a:rPr lang="hu-HU"/>
              <a:t>Négyzetes próba (</a:t>
            </a:r>
            <a:r>
              <a:rPr lang="hu-HU" err="1"/>
              <a:t>quadratic</a:t>
            </a:r>
            <a:r>
              <a:rPr lang="hu-HU"/>
              <a:t> </a:t>
            </a:r>
            <a:r>
              <a:rPr lang="hu-HU" err="1"/>
              <a:t>probing</a:t>
            </a:r>
            <a:r>
              <a:rPr lang="hu-HU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1567784" y="2184400"/>
                <a:ext cx="10160789" cy="4104968"/>
              </a:xfrm>
            </p:spPr>
            <p:txBody>
              <a:bodyPr>
                <a:normAutofit/>
              </a:bodyPr>
              <a:lstStyle/>
              <a:p>
                <a:r>
                  <a:rPr lang="en-US" sz="2800" i="1"/>
                  <a:t>h</a:t>
                </a:r>
                <a:r>
                  <a:rPr lang="en-US" sz="2800"/>
                  <a:t>(</a:t>
                </a:r>
                <a:r>
                  <a:rPr lang="en-US" sz="2800" i="1"/>
                  <a:t>k</a:t>
                </a:r>
                <a:r>
                  <a:rPr lang="en-US" sz="2800"/>
                  <a:t>, </a:t>
                </a:r>
                <a:r>
                  <a:rPr lang="hu-HU" sz="2800" i="1"/>
                  <a:t>i</a:t>
                </a:r>
                <a:r>
                  <a:rPr lang="en-US" sz="2800"/>
                  <a:t>) = </a:t>
                </a:r>
                <a:r>
                  <a:rPr lang="hu-HU" sz="2800"/>
                  <a:t>(</a:t>
                </a:r>
                <a:r>
                  <a:rPr lang="en-US" sz="2800" i="1"/>
                  <a:t>h</a:t>
                </a:r>
                <a:r>
                  <a:rPr lang="en-US" sz="2800"/>
                  <a:t>(</a:t>
                </a:r>
                <a:r>
                  <a:rPr lang="en-US" sz="2800" i="1"/>
                  <a:t>k</a:t>
                </a:r>
                <a:r>
                  <a:rPr lang="en-US" sz="2800"/>
                  <a:t>, 0) + </a:t>
                </a:r>
                <a:r>
                  <a:rPr lang="en-US" sz="2800" i="1"/>
                  <a:t>c</a:t>
                </a:r>
                <a:r>
                  <a:rPr lang="hu-HU" sz="2800" baseline="-25000"/>
                  <a:t>1</a:t>
                </a:r>
                <a:r>
                  <a:rPr lang="en-US" sz="2800"/>
                  <a:t>  · </a:t>
                </a:r>
                <a:r>
                  <a:rPr lang="hu-HU" sz="2800" i="1"/>
                  <a:t>i</a:t>
                </a:r>
                <a:r>
                  <a:rPr lang="en-US" sz="2800"/>
                  <a:t> + </a:t>
                </a:r>
                <a:r>
                  <a:rPr lang="en-US" sz="2800" i="1"/>
                  <a:t>c</a:t>
                </a:r>
                <a:r>
                  <a:rPr lang="hu-HU" sz="2800" baseline="-25000"/>
                  <a:t>2</a:t>
                </a:r>
                <a:r>
                  <a:rPr lang="en-US" sz="2800"/>
                  <a:t>  · </a:t>
                </a:r>
                <a:r>
                  <a:rPr lang="hu-HU" sz="2800" i="1"/>
                  <a:t>i</a:t>
                </a:r>
                <a:r>
                  <a:rPr lang="en-US" sz="2800" baseline="30000"/>
                  <a:t>2</a:t>
                </a:r>
                <a:r>
                  <a:rPr lang="en-US" sz="2800"/>
                  <a:t>)  mod  </a:t>
                </a:r>
                <a:r>
                  <a:rPr lang="en-US" sz="2800" i="1"/>
                  <a:t>m</a:t>
                </a:r>
                <a:r>
                  <a:rPr lang="en-US" sz="2800"/>
                  <a:t> </a:t>
                </a:r>
                <a:r>
                  <a:rPr lang="hu-HU" sz="2800"/>
                  <a:t>(</a:t>
                </a:r>
                <a:r>
                  <a:rPr lang="hu-HU" sz="2800" i="1"/>
                  <a:t>i</a:t>
                </a:r>
                <a:r>
                  <a:rPr lang="hu-HU" sz="2800"/>
                  <a:t> </a:t>
                </a:r>
                <a14:m>
                  <m:oMath xmlns:m="http://schemas.openxmlformats.org/officeDocument/2006/math">
                    <m:r>
                      <a:rPr lang="hu-HU" sz="280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hu-HU" sz="2800"/>
                  <a:t> 0..</a:t>
                </a:r>
                <a:r>
                  <a:rPr lang="hu-HU" sz="2800" i="1"/>
                  <a:t>m</a:t>
                </a:r>
                <a:r>
                  <a:rPr lang="hu-HU" sz="2800"/>
                  <a:t>-1)</a:t>
                </a:r>
                <a:r>
                  <a:rPr lang="hu-HU" sz="2800" i="1"/>
                  <a:t> </a:t>
                </a:r>
                <a:endParaRPr lang="hu-HU" sz="2800"/>
              </a:p>
              <a:p>
                <a:pPr lvl="1"/>
                <a:r>
                  <a:rPr lang="hu-HU" sz="2400"/>
                  <a:t>(</a:t>
                </a:r>
                <a:r>
                  <a:rPr lang="hu-HU" sz="2400" i="1"/>
                  <a:t>h</a:t>
                </a:r>
                <a:r>
                  <a:rPr lang="hu-HU" sz="2400" baseline="-25000"/>
                  <a:t>1</a:t>
                </a:r>
                <a:r>
                  <a:rPr lang="hu-HU" sz="2400">
                    <a:ea typeface="Calibri" panose="020F0502020204030204" pitchFamily="34" charset="0"/>
                    <a:cs typeface="CMR8"/>
                  </a:rPr>
                  <a:t> </a:t>
                </a:r>
                <a:r>
                  <a:rPr lang="hu-HU" sz="2400">
                    <a:ea typeface="Calibri" panose="020F0502020204030204" pitchFamily="34" charset="0"/>
                    <a:cs typeface="CMR12"/>
                  </a:rPr>
                  <a:t>: </a:t>
                </a:r>
                <a:r>
                  <a:rPr lang="hu-HU" sz="2400" i="1">
                    <a:ea typeface="Calibri" panose="020F0502020204030204" pitchFamily="34" charset="0"/>
                    <a:cs typeface="CMMI12"/>
                  </a:rPr>
                  <a:t>U</a:t>
                </a:r>
                <a:r>
                  <a:rPr lang="hu-HU" sz="2400"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2400">
                    <a:ea typeface="Calibri" panose="020F0502020204030204" pitchFamily="34" charset="0"/>
                    <a:cs typeface="CMSY10"/>
                  </a:rPr>
                  <a:t>→ </a:t>
                </a:r>
                <a:r>
                  <a:rPr lang="hu-HU" sz="2400">
                    <a:ea typeface="Calibri" panose="020F0502020204030204" pitchFamily="34" charset="0"/>
                    <a:cs typeface="CMR12"/>
                  </a:rPr>
                  <a:t>0</a:t>
                </a:r>
                <a:r>
                  <a:rPr lang="hu-HU" sz="2400">
                    <a:ea typeface="Calibri" panose="020F0502020204030204" pitchFamily="34" charset="0"/>
                    <a:cs typeface="CMMI12"/>
                  </a:rPr>
                  <a:t>..</a:t>
                </a:r>
                <a:r>
                  <a:rPr lang="hu-HU" sz="2400"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400" i="1"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en-US" sz="2400">
                    <a:ea typeface="Calibri" panose="020F0502020204030204" pitchFamily="34" charset="0"/>
                    <a:cs typeface="CMSY10"/>
                  </a:rPr>
                  <a:t>−</a:t>
                </a:r>
                <a:r>
                  <a:rPr lang="hu-HU" sz="2400">
                    <a:ea typeface="Calibri" panose="020F0502020204030204" pitchFamily="34" charset="0"/>
                    <a:cs typeface="CMR12"/>
                  </a:rPr>
                  <a:t>1) hasító </a:t>
                </a:r>
                <a:r>
                  <a:rPr lang="hu-HU" sz="2400" err="1">
                    <a:ea typeface="Calibri" panose="020F0502020204030204" pitchFamily="34" charset="0"/>
                    <a:cs typeface="CMR12"/>
                  </a:rPr>
                  <a:t>fv</a:t>
                </a:r>
                <a:r>
                  <a:rPr lang="hu-HU" sz="2400">
                    <a:ea typeface="Calibri" panose="020F0502020204030204" pitchFamily="34" charset="0"/>
                    <a:cs typeface="CMR12"/>
                  </a:rPr>
                  <a:t>.), </a:t>
                </a:r>
                <a:r>
                  <a:rPr lang="hu-HU" i="1">
                    <a:effectLst/>
                    <a:ea typeface="CMMI12"/>
                  </a:rPr>
                  <a:t>c</a:t>
                </a:r>
                <a:r>
                  <a:rPr lang="hu-HU" baseline="-25000">
                    <a:effectLst/>
                    <a:ea typeface="CMR8"/>
                  </a:rPr>
                  <a:t>1</a:t>
                </a:r>
                <a:r>
                  <a:rPr lang="hu-HU">
                    <a:effectLst/>
                    <a:ea typeface="CMMI12"/>
                  </a:rPr>
                  <a:t>, </a:t>
                </a:r>
                <a:r>
                  <a:rPr lang="hu-HU" i="1">
                    <a:effectLst/>
                    <a:ea typeface="CMMI12"/>
                  </a:rPr>
                  <a:t>c</a:t>
                </a:r>
                <a:r>
                  <a:rPr lang="hu-HU" baseline="-25000">
                    <a:effectLst/>
                    <a:ea typeface="CMR8"/>
                  </a:rPr>
                  <a:t>2</a:t>
                </a:r>
                <a:r>
                  <a:rPr lang="hu-HU">
                    <a:effectLst/>
                    <a:ea typeface="CMR8"/>
                  </a:rPr>
                  <a:t> </a:t>
                </a:r>
                <a:r>
                  <a:rPr lang="hu-HU">
                    <a:effectLst/>
                    <a:ea typeface="CMSY10"/>
                    <a:cs typeface="Cambria Math" panose="02040503050406030204" pitchFamily="18" charset="0"/>
                  </a:rPr>
                  <a:t>∈ </a:t>
                </a:r>
                <a14:m>
                  <m:oMath xmlns:m="http://schemas.openxmlformats.org/officeDocument/2006/math">
                    <m:r>
                      <a:rPr lang="hu-H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ℝ</m:t>
                    </m:r>
                  </m:oMath>
                </a14:m>
                <a:r>
                  <a:rPr lang="hu-HU">
                    <a:effectLst/>
                    <a:ea typeface="CMR12"/>
                  </a:rPr>
                  <a:t>; </a:t>
                </a:r>
                <a:r>
                  <a:rPr lang="hu-HU" i="1">
                    <a:effectLst/>
                    <a:ea typeface="CMMI12"/>
                  </a:rPr>
                  <a:t>c</a:t>
                </a:r>
                <a:r>
                  <a:rPr lang="hu-HU" baseline="-25000">
                    <a:effectLst/>
                    <a:ea typeface="CMR8"/>
                  </a:rPr>
                  <a:t>2</a:t>
                </a:r>
                <a:r>
                  <a:rPr lang="hu-HU">
                    <a:effectLst/>
                    <a:ea typeface="CMR12"/>
                  </a:rPr>
                  <a:t> ≠ 0</a:t>
                </a:r>
                <a:endParaRPr lang="hu-HU" sz="2400"/>
              </a:p>
              <a:p>
                <a:r>
                  <a:rPr lang="hu-HU">
                    <a:effectLst/>
                    <a:ea typeface="Calibri" panose="020F0502020204030204" pitchFamily="34" charset="0"/>
                    <a:cs typeface="F29"/>
                  </a:rPr>
                  <a:t>A különböző próbasorozatok nem kapcsolódnak össze</a:t>
                </a:r>
              </a:p>
              <a:p>
                <a:r>
                  <a:rPr lang="hu-HU"/>
                  <a:t>Másodlagos csomósodás (</a:t>
                </a:r>
                <a:r>
                  <a:rPr lang="hu-HU" err="1"/>
                  <a:t>secondary</a:t>
                </a:r>
                <a:r>
                  <a:rPr lang="hu-HU"/>
                  <a:t> </a:t>
                </a:r>
                <a:r>
                  <a:rPr lang="hu-HU" err="1"/>
                  <a:t>clustering</a:t>
                </a:r>
                <a:r>
                  <a:rPr lang="hu-HU"/>
                  <a:t>):</a:t>
                </a:r>
              </a:p>
              <a:p>
                <a:pPr lvl="1"/>
                <a:r>
                  <a:rPr lang="hu-HU" sz="2400"/>
                  <a:t>Ha két kulcsra h(</a:t>
                </a:r>
                <a:r>
                  <a:rPr lang="hu-HU" sz="2400" i="1"/>
                  <a:t>k</a:t>
                </a:r>
                <a:r>
                  <a:rPr lang="hu-HU" sz="2400" baseline="-25000"/>
                  <a:t>1</a:t>
                </a:r>
                <a:r>
                  <a:rPr lang="hu-HU" sz="2400"/>
                  <a:t>, 0) = </a:t>
                </a:r>
                <a:r>
                  <a:rPr lang="hu-HU" sz="2400" i="1"/>
                  <a:t>h</a:t>
                </a:r>
                <a:r>
                  <a:rPr lang="hu-HU" sz="2400"/>
                  <a:t>(</a:t>
                </a:r>
                <a:r>
                  <a:rPr lang="hu-HU" sz="2400" i="1"/>
                  <a:t>k</a:t>
                </a:r>
                <a:r>
                  <a:rPr lang="hu-HU" sz="2400" baseline="-25000"/>
                  <a:t>2 </a:t>
                </a:r>
                <a:r>
                  <a:rPr lang="hu-HU" sz="2400"/>
                  <a:t>, 0) -&gt; az egész próba sorozatuk megegyezik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hu-HU"/>
                  <a:t>Itt is csak </a:t>
                </a:r>
                <a:r>
                  <a:rPr lang="hu-HU" i="1"/>
                  <a:t>m</a:t>
                </a:r>
                <a:r>
                  <a:rPr lang="hu-HU"/>
                  <a:t> db különböző próbasorozat</a:t>
                </a:r>
              </a:p>
              <a:p>
                <a:pPr lvl="1"/>
                <a:r>
                  <a:rPr lang="hu-HU" sz="2400"/>
                  <a:t> (az egyenletes hasításhoz szükséges </a:t>
                </a:r>
                <a:r>
                  <a:rPr lang="hu-HU" sz="2400" i="1"/>
                  <a:t>m</a:t>
                </a:r>
                <a:r>
                  <a:rPr lang="hu-HU" sz="2400"/>
                  <a:t>! db próbasorozathoz képest)</a:t>
                </a:r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67784" y="2184400"/>
                <a:ext cx="10160789" cy="4104968"/>
              </a:xfrm>
              <a:blipFill>
                <a:blip r:embed="rId2"/>
                <a:stretch>
                  <a:fillRect l="-1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78711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27C91-15B4-E65E-A34A-458A09903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1AD7C30-0FFF-CDDF-D693-9E2CE7928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0793" y="836622"/>
            <a:ext cx="8833735" cy="990212"/>
          </a:xfrm>
        </p:spPr>
        <p:txBody>
          <a:bodyPr/>
          <a:lstStyle/>
          <a:p>
            <a:r>
              <a:rPr lang="hu-HU"/>
              <a:t>Négyzetes próba (</a:t>
            </a:r>
            <a:r>
              <a:rPr lang="hu-HU" err="1"/>
              <a:t>quadratic</a:t>
            </a:r>
            <a:r>
              <a:rPr lang="hu-HU"/>
              <a:t> </a:t>
            </a:r>
            <a:r>
              <a:rPr lang="hu-HU" err="1"/>
              <a:t>probing</a:t>
            </a:r>
            <a:r>
              <a:rPr lang="hu-HU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958281B4-1A5A-36C2-12E2-71EBCAD84E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47464" y="2052320"/>
                <a:ext cx="10160789" cy="4308168"/>
              </a:xfrm>
            </p:spPr>
            <p:txBody>
              <a:bodyPr>
                <a:normAutofit/>
              </a:bodyPr>
              <a:lstStyle/>
              <a:p>
                <a:r>
                  <a:rPr lang="hu-HU" sz="2800" i="1">
                    <a:effectLst/>
                    <a:ea typeface="CMMI12"/>
                  </a:rPr>
                  <a:t>c</a:t>
                </a:r>
                <a:r>
                  <a:rPr lang="hu-HU" sz="2800" baseline="-25000">
                    <a:effectLst/>
                    <a:ea typeface="CMR8"/>
                  </a:rPr>
                  <a:t>1</a:t>
                </a:r>
                <a:r>
                  <a:rPr lang="hu-HU" sz="2800">
                    <a:effectLst/>
                    <a:ea typeface="CMMI12"/>
                  </a:rPr>
                  <a:t>, </a:t>
                </a:r>
                <a:r>
                  <a:rPr lang="hu-HU" sz="2800" i="1">
                    <a:effectLst/>
                    <a:ea typeface="CMMI12"/>
                  </a:rPr>
                  <a:t>c</a:t>
                </a:r>
                <a:r>
                  <a:rPr lang="hu-HU" sz="2800" baseline="-25000">
                    <a:effectLst/>
                    <a:ea typeface="CMR8"/>
                  </a:rPr>
                  <a:t>2</a:t>
                </a:r>
                <a:r>
                  <a:rPr lang="hu-HU" sz="2800">
                    <a:effectLst/>
                    <a:ea typeface="CMR8"/>
                  </a:rPr>
                  <a:t> </a:t>
                </a:r>
                <a:r>
                  <a:rPr lang="hu-HU" sz="2800"/>
                  <a:t>konstansok megválasztása:</a:t>
                </a:r>
              </a:p>
              <a:p>
                <a:pPr lvl="1"/>
                <a:r>
                  <a:rPr lang="hu-HU" sz="2400" i="1"/>
                  <a:t>m</a:t>
                </a:r>
                <a:r>
                  <a:rPr lang="hu-HU" sz="2400"/>
                  <a:t> kettőhatvány -&gt; </a:t>
                </a:r>
                <a:r>
                  <a:rPr lang="hu-HU" sz="2400" i="1">
                    <a:effectLst/>
                    <a:ea typeface="CMMI12"/>
                  </a:rPr>
                  <a:t>c</a:t>
                </a:r>
                <a:r>
                  <a:rPr lang="hu-HU" sz="2400" baseline="-25000">
                    <a:effectLst/>
                    <a:ea typeface="CMR8"/>
                  </a:rPr>
                  <a:t>1</a:t>
                </a:r>
                <a:r>
                  <a:rPr lang="hu-HU" sz="2400"/>
                  <a:t> =</a:t>
                </a:r>
                <a:r>
                  <a:rPr lang="hu-HU" sz="2400">
                    <a:effectLst/>
                    <a:ea typeface="CMMI12"/>
                  </a:rPr>
                  <a:t> </a:t>
                </a:r>
                <a:r>
                  <a:rPr lang="hu-HU" sz="2400" i="1">
                    <a:effectLst/>
                    <a:ea typeface="CMMI12"/>
                  </a:rPr>
                  <a:t>c</a:t>
                </a:r>
                <a:r>
                  <a:rPr lang="hu-HU" sz="2400" baseline="-25000">
                    <a:effectLst/>
                    <a:ea typeface="CMR8"/>
                  </a:rPr>
                  <a:t>2</a:t>
                </a:r>
                <a:r>
                  <a:rPr lang="en-US" sz="2400"/>
                  <a:t> </a:t>
                </a:r>
                <a:r>
                  <a:rPr lang="hu-HU" sz="2400"/>
                  <a:t>=1/2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hu-HU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h</m:t>
                    </m:r>
                    <m:d>
                      <m:dPr>
                        <m:ctrlPr>
                          <a:rPr lang="hu-HU" sz="2000" i="1">
                            <a:latin typeface="Cambria Math" panose="02040503050406030204" pitchFamily="18" charset="0"/>
                            <a:cs typeface="F29"/>
                          </a:rPr>
                        </m:ctrlPr>
                      </m:dPr>
                      <m:e>
                        <m:r>
                          <a:rPr lang="hu-HU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𝑘</m:t>
                        </m:r>
                        <m:r>
                          <a:rPr lang="hu-HU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,</m:t>
                        </m:r>
                        <m:r>
                          <a:rPr lang="hu-HU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𝑖</m:t>
                        </m:r>
                      </m:e>
                    </m:d>
                    <m:r>
                      <a:rPr lang="hu-HU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=</m:t>
                    </m:r>
                    <m:d>
                      <m:dPr>
                        <m:ctrlPr>
                          <a:rPr lang="hu-HU" sz="2000" i="1">
                            <a:latin typeface="Cambria Math" panose="02040503050406030204" pitchFamily="18" charset="0"/>
                            <a:cs typeface="F29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hu-HU" sz="2000" i="1">
                                <a:latin typeface="Cambria Math" panose="02040503050406030204" pitchFamily="18" charset="0"/>
                                <a:cs typeface="F29"/>
                              </a:rPr>
                            </m:ctrlPr>
                          </m:sSubPr>
                          <m:e>
                            <m:r>
                              <a:rPr lang="hu-HU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h</m:t>
                            </m:r>
                          </m:e>
                          <m:sub>
                            <m:r>
                              <a:rPr lang="hu-HU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hu-HU" sz="2000" i="1">
                                <a:latin typeface="Cambria Math" panose="02040503050406030204" pitchFamily="18" charset="0"/>
                                <a:cs typeface="F29"/>
                              </a:rPr>
                            </m:ctrlPr>
                          </m:dPr>
                          <m:e>
                            <m:r>
                              <a:rPr lang="hu-HU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𝑘</m:t>
                            </m:r>
                          </m:e>
                        </m:d>
                        <m:r>
                          <a:rPr lang="hu-HU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+</m:t>
                        </m:r>
                        <m:f>
                          <m:fPr>
                            <m:ctrlPr>
                              <a:rPr lang="hu-HU" sz="2000" i="1">
                                <a:latin typeface="Cambria Math" panose="02040503050406030204" pitchFamily="18" charset="0"/>
                                <a:cs typeface="F29"/>
                              </a:rPr>
                            </m:ctrlPr>
                          </m:fPr>
                          <m:num>
                            <m:r>
                              <a:rPr lang="hu-HU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𝑖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hu-HU" sz="2000" i="1">
                                    <a:latin typeface="Cambria Math" panose="02040503050406030204" pitchFamily="18" charset="0"/>
                                    <a:cs typeface="F29"/>
                                  </a:rPr>
                                </m:ctrlPr>
                              </m:sSupPr>
                              <m:e>
                                <m:r>
                                  <a:rPr lang="hu-HU" sz="2000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F29"/>
                                  </a:rPr>
                                  <m:t>𝑖</m:t>
                                </m:r>
                              </m:e>
                              <m:sup>
                                <m:r>
                                  <a:rPr lang="hu-HU" sz="2000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F29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hu-HU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hu-HU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𝑚𝑜𝑑</m:t>
                    </m:r>
                    <m:r>
                      <a:rPr lang="hu-HU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 </m:t>
                    </m:r>
                    <m:r>
                      <a:rPr lang="hu-HU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𝑚</m:t>
                    </m:r>
                    <m:r>
                      <a:rPr lang="hu-HU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          </m:t>
                    </m:r>
                    <m:r>
                      <m:rPr>
                        <m:nor/>
                      </m:rPr>
                      <a:rPr lang="hu-HU" sz="2000" dirty="0"/>
                      <m:t>(</m:t>
                    </m:r>
                    <m:r>
                      <m:rPr>
                        <m:nor/>
                      </m:rPr>
                      <a:rPr lang="hu-HU" sz="2000" i="1" dirty="0"/>
                      <m:t>i</m:t>
                    </m:r>
                    <m:r>
                      <m:rPr>
                        <m:nor/>
                      </m:rPr>
                      <a:rPr lang="hu-HU" sz="2000" dirty="0"/>
                      <m:t> </m:t>
                    </m:r>
                    <m:r>
                      <a:rPr lang="hu-HU" sz="200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hu-HU" sz="2000" dirty="0"/>
                      <m:t> 0..</m:t>
                    </m:r>
                    <m:r>
                      <m:rPr>
                        <m:nor/>
                      </m:rPr>
                      <a:rPr lang="hu-HU" sz="2000" i="1" dirty="0"/>
                      <m:t>m</m:t>
                    </m:r>
                    <m:r>
                      <m:rPr>
                        <m:nor/>
                      </m:rPr>
                      <a:rPr lang="hu-HU" sz="2000" dirty="0"/>
                      <m:t>−1)</m:t>
                    </m:r>
                  </m:oMath>
                </a14:m>
                <a:endParaRPr lang="hu-HU" sz="2000"/>
              </a:p>
              <a:p>
                <a:pPr lvl="2"/>
                <a14:m>
                  <m:oMath xmlns:m="http://schemas.openxmlformats.org/officeDocument/2006/math">
                    <m:r>
                      <a:rPr lang="hu-HU" sz="20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(</m:t>
                    </m:r>
                    <m:r>
                      <a:rPr lang="hu-HU" sz="20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h</m:t>
                    </m:r>
                    <m:d>
                      <m:dPr>
                        <m:ctrlPr>
                          <a:rPr lang="hu-HU" sz="2000" i="1">
                            <a:effectLst/>
                            <a:latin typeface="Cambria Math" panose="02040503050406030204" pitchFamily="18" charset="0"/>
                            <a:cs typeface="F29"/>
                          </a:rPr>
                        </m:ctrlPr>
                      </m:dPr>
                      <m:e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𝑘</m:t>
                        </m:r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,</m:t>
                        </m:r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𝑖</m:t>
                        </m:r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+1</m:t>
                        </m:r>
                      </m:e>
                    </m:d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−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h</m:t>
                    </m:r>
                    <m:d>
                      <m:dPr>
                        <m:ctrlPr>
                          <a:rPr lang="hu-HU" sz="2000" i="1">
                            <a:effectLst/>
                            <a:latin typeface="Cambria Math" panose="02040503050406030204" pitchFamily="18" charset="0"/>
                            <a:cs typeface="F29"/>
                          </a:rPr>
                        </m:ctrlPr>
                      </m:dPr>
                      <m:e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𝑘</m:t>
                        </m:r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,</m:t>
                        </m:r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𝑖</m:t>
                        </m:r>
                      </m:e>
                    </m:d>
                    <m:r>
                      <a:rPr lang="hu-HU" sz="20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)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 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𝑚𝑜𝑑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 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𝑚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=</m:t>
                    </m:r>
                    <m:d>
                      <m:dPr>
                        <m:ctrlPr>
                          <a:rPr lang="hu-HU" sz="2000" i="1">
                            <a:effectLst/>
                            <a:latin typeface="Cambria Math" panose="02040503050406030204" pitchFamily="18" charset="0"/>
                            <a:cs typeface="F29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hu-HU" sz="2000" i="1">
                                <a:effectLst/>
                                <a:latin typeface="Cambria Math" panose="02040503050406030204" pitchFamily="18" charset="0"/>
                                <a:cs typeface="F29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hu-HU" sz="2000" i="1">
                                    <a:effectLst/>
                                    <a:latin typeface="Cambria Math" panose="02040503050406030204" pitchFamily="18" charset="0"/>
                                    <a:cs typeface="F29"/>
                                  </a:rPr>
                                </m:ctrlPr>
                              </m:dPr>
                              <m:e>
                                <m:r>
                                  <a:rPr lang="hu-HU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F29"/>
                                  </a:rPr>
                                  <m:t>𝑖</m:t>
                                </m:r>
                                <m:r>
                                  <a:rPr lang="hu-HU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F29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hu-HU" sz="2000" i="1">
                                    <a:effectLst/>
                                    <a:latin typeface="Cambria Math" panose="02040503050406030204" pitchFamily="18" charset="0"/>
                                    <a:cs typeface="F29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hu-HU" sz="2000" i="1">
                                        <a:effectLst/>
                                        <a:latin typeface="Cambria Math" panose="02040503050406030204" pitchFamily="18" charset="0"/>
                                        <a:cs typeface="F29"/>
                                      </a:rPr>
                                    </m:ctrlPr>
                                  </m:dPr>
                                  <m:e>
                                    <m:r>
                                      <a:rPr lang="hu-HU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F29"/>
                                      </a:rPr>
                                      <m:t>𝑖</m:t>
                                    </m:r>
                                    <m:r>
                                      <a:rPr lang="hu-HU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F29"/>
                                      </a:rPr>
                                      <m:t>+1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hu-HU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F29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2</m:t>
                            </m:r>
                          </m:den>
                        </m:f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− </m:t>
                        </m:r>
                        <m:f>
                          <m:fPr>
                            <m:ctrlPr>
                              <a:rPr lang="hu-HU" sz="2000" i="1">
                                <a:effectLst/>
                                <a:latin typeface="Cambria Math" panose="02040503050406030204" pitchFamily="18" charset="0"/>
                                <a:cs typeface="F29"/>
                              </a:rPr>
                            </m:ctrlPr>
                          </m:fPr>
                          <m:num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𝑖</m:t>
                            </m:r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hu-HU" sz="2000" i="1">
                                    <a:effectLst/>
                                    <a:latin typeface="Cambria Math" panose="02040503050406030204" pitchFamily="18" charset="0"/>
                                    <a:cs typeface="F29"/>
                                  </a:rPr>
                                </m:ctrlPr>
                              </m:sSupPr>
                              <m:e>
                                <m:r>
                                  <a:rPr lang="hu-HU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F29"/>
                                  </a:rPr>
                                  <m:t>𝑖</m:t>
                                </m:r>
                              </m:e>
                              <m:sup>
                                <m:r>
                                  <a:rPr lang="hu-HU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F29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𝑚𝑜𝑑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 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𝑚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=</m:t>
                    </m:r>
                    <m:d>
                      <m:dPr>
                        <m:ctrlPr>
                          <a:rPr lang="hu-HU" sz="2000" i="1">
                            <a:effectLst/>
                            <a:latin typeface="Cambria Math" panose="02040503050406030204" pitchFamily="18" charset="0"/>
                            <a:cs typeface="F29"/>
                          </a:rPr>
                        </m:ctrlPr>
                      </m:dPr>
                      <m:e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𝑖</m:t>
                        </m:r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+1</m:t>
                        </m:r>
                      </m:e>
                    </m:d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 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𝑚𝑜𝑑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 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𝑚</m:t>
                    </m:r>
                  </m:oMath>
                </a14:m>
                <a:endParaRPr lang="hu-HU" sz="1600"/>
              </a:p>
              <a:p>
                <a:pPr lvl="2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hu-HU" sz="24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h</m:t>
                    </m:r>
                    <m:d>
                      <m:dPr>
                        <m:ctrlPr>
                          <a:rPr lang="hu-HU" sz="2400" i="1">
                            <a:effectLst/>
                            <a:latin typeface="Cambria Math" panose="02040503050406030204" pitchFamily="18" charset="0"/>
                            <a:cs typeface="F29"/>
                          </a:rPr>
                        </m:ctrlPr>
                      </m:dPr>
                      <m:e>
                        <m:r>
                          <a:rPr lang="hu-HU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𝑘</m:t>
                        </m:r>
                        <m:r>
                          <a:rPr lang="hu-HU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,</m:t>
                        </m:r>
                        <m:r>
                          <a:rPr lang="hu-HU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𝑖</m:t>
                        </m:r>
                        <m:r>
                          <a:rPr lang="hu-HU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+1</m:t>
                        </m:r>
                      </m:e>
                    </m:d>
                    <m:r>
                      <a:rPr lang="hu-HU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=(</m:t>
                    </m:r>
                    <m:r>
                      <a:rPr lang="hu-HU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h</m:t>
                    </m:r>
                    <m:d>
                      <m:dPr>
                        <m:ctrlPr>
                          <a:rPr lang="hu-HU" sz="2400" i="1">
                            <a:effectLst/>
                            <a:latin typeface="Cambria Math" panose="02040503050406030204" pitchFamily="18" charset="0"/>
                            <a:cs typeface="F29"/>
                          </a:rPr>
                        </m:ctrlPr>
                      </m:dPr>
                      <m:e>
                        <m:r>
                          <a:rPr lang="hu-HU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𝑘</m:t>
                        </m:r>
                        <m:r>
                          <a:rPr lang="hu-HU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,</m:t>
                        </m:r>
                        <m:r>
                          <a:rPr lang="hu-HU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𝑖</m:t>
                        </m:r>
                      </m:e>
                    </m:d>
                    <m:r>
                      <a:rPr lang="hu-HU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+</m:t>
                    </m:r>
                    <m:r>
                      <a:rPr lang="hu-HU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𝑖</m:t>
                    </m:r>
                    <m:r>
                      <a:rPr lang="hu-HU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+1) </m:t>
                    </m:r>
                    <m:r>
                      <a:rPr lang="hu-HU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𝑚𝑜𝑑</m:t>
                    </m:r>
                    <m:r>
                      <a:rPr lang="hu-HU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 </m:t>
                    </m:r>
                    <m:r>
                      <a:rPr lang="hu-HU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𝑚</m:t>
                    </m:r>
                  </m:oMath>
                </a14:m>
                <a:endParaRPr lang="hu-HU" sz="1600"/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958281B4-1A5A-36C2-12E2-71EBCAD84E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47464" y="2052320"/>
                <a:ext cx="10160789" cy="4308168"/>
              </a:xfrm>
              <a:blipFill>
                <a:blip r:embed="rId2"/>
                <a:stretch>
                  <a:fillRect l="-1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48391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olyamatábra: Feldolgozás 32"/>
          <p:cNvSpPr/>
          <p:nvPr/>
        </p:nvSpPr>
        <p:spPr>
          <a:xfrm>
            <a:off x="6253379" y="1459651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aphicFrame>
        <p:nvGraphicFramePr>
          <p:cNvPr id="14" name="Táblázat 13"/>
          <p:cNvGraphicFramePr>
            <a:graphicFrameLocks noGrp="1"/>
          </p:cNvGraphicFramePr>
          <p:nvPr/>
        </p:nvGraphicFramePr>
        <p:xfrm>
          <a:off x="4403278" y="1010567"/>
          <a:ext cx="4856368" cy="856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7046">
                  <a:extLst>
                    <a:ext uri="{9D8B030D-6E8A-4147-A177-3AD203B41FA5}">
                      <a16:colId xmlns:a16="http://schemas.microsoft.com/office/drawing/2014/main" val="1539220463"/>
                    </a:ext>
                  </a:extLst>
                </a:gridCol>
                <a:gridCol w="607046">
                  <a:extLst>
                    <a:ext uri="{9D8B030D-6E8A-4147-A177-3AD203B41FA5}">
                      <a16:colId xmlns:a16="http://schemas.microsoft.com/office/drawing/2014/main" val="3985253597"/>
                    </a:ext>
                  </a:extLst>
                </a:gridCol>
                <a:gridCol w="607046">
                  <a:extLst>
                    <a:ext uri="{9D8B030D-6E8A-4147-A177-3AD203B41FA5}">
                      <a16:colId xmlns:a16="http://schemas.microsoft.com/office/drawing/2014/main" val="1235555896"/>
                    </a:ext>
                  </a:extLst>
                </a:gridCol>
                <a:gridCol w="607046">
                  <a:extLst>
                    <a:ext uri="{9D8B030D-6E8A-4147-A177-3AD203B41FA5}">
                      <a16:colId xmlns:a16="http://schemas.microsoft.com/office/drawing/2014/main" val="788788296"/>
                    </a:ext>
                  </a:extLst>
                </a:gridCol>
                <a:gridCol w="607046">
                  <a:extLst>
                    <a:ext uri="{9D8B030D-6E8A-4147-A177-3AD203B41FA5}">
                      <a16:colId xmlns:a16="http://schemas.microsoft.com/office/drawing/2014/main" val="923440203"/>
                    </a:ext>
                  </a:extLst>
                </a:gridCol>
                <a:gridCol w="607046">
                  <a:extLst>
                    <a:ext uri="{9D8B030D-6E8A-4147-A177-3AD203B41FA5}">
                      <a16:colId xmlns:a16="http://schemas.microsoft.com/office/drawing/2014/main" val="3127607781"/>
                    </a:ext>
                  </a:extLst>
                </a:gridCol>
                <a:gridCol w="607046">
                  <a:extLst>
                    <a:ext uri="{9D8B030D-6E8A-4147-A177-3AD203B41FA5}">
                      <a16:colId xmlns:a16="http://schemas.microsoft.com/office/drawing/2014/main" val="3253742140"/>
                    </a:ext>
                  </a:extLst>
                </a:gridCol>
                <a:gridCol w="607046">
                  <a:extLst>
                    <a:ext uri="{9D8B030D-6E8A-4147-A177-3AD203B41FA5}">
                      <a16:colId xmlns:a16="http://schemas.microsoft.com/office/drawing/2014/main" val="220913237"/>
                    </a:ext>
                  </a:extLst>
                </a:gridCol>
              </a:tblGrid>
              <a:tr h="428419"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9165411"/>
                  </a:ext>
                </a:extLst>
              </a:tr>
              <a:tr h="428419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455271"/>
                  </a:ext>
                </a:extLst>
              </a:tr>
            </a:tbl>
          </a:graphicData>
        </a:graphic>
      </p:graphicFrame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40268" y="940188"/>
            <a:ext cx="4097864" cy="990212"/>
          </a:xfrm>
        </p:spPr>
        <p:txBody>
          <a:bodyPr/>
          <a:lstStyle/>
          <a:p>
            <a:r>
              <a:rPr lang="hu-HU"/>
              <a:t>Négyzetes próba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53143" y="1860972"/>
            <a:ext cx="8620859" cy="4801085"/>
          </a:xfrm>
        </p:spPr>
        <p:txBody>
          <a:bodyPr>
            <a:normAutofit/>
          </a:bodyPr>
          <a:lstStyle/>
          <a:p>
            <a:r>
              <a:rPr lang="en-US"/>
              <a:t>P</a:t>
            </a:r>
            <a:r>
              <a:rPr lang="hu-HU"/>
              <a:t>é</a:t>
            </a:r>
            <a:r>
              <a:rPr lang="en-US" err="1"/>
              <a:t>lda</a:t>
            </a:r>
            <a:r>
              <a:rPr lang="en-US"/>
              <a:t>:</a:t>
            </a:r>
            <a:r>
              <a:rPr lang="hu-HU"/>
              <a:t> </a:t>
            </a:r>
            <a:r>
              <a:rPr lang="en-US"/>
              <a:t> </a:t>
            </a:r>
            <a:r>
              <a:rPr lang="en-US" i="1"/>
              <a:t>m</a:t>
            </a:r>
            <a:r>
              <a:rPr lang="en-US"/>
              <a:t> = </a:t>
            </a:r>
            <a:r>
              <a:rPr lang="hu-HU"/>
              <a:t>8</a:t>
            </a:r>
            <a:r>
              <a:rPr lang="en-US"/>
              <a:t>, P</a:t>
            </a:r>
            <a:r>
              <a:rPr lang="hu-HU"/>
              <a:t>é</a:t>
            </a:r>
            <a:r>
              <a:rPr lang="en-US" err="1"/>
              <a:t>lda</a:t>
            </a:r>
            <a:r>
              <a:rPr lang="en-US"/>
              <a:t>:</a:t>
            </a:r>
            <a:r>
              <a:rPr lang="hu-HU"/>
              <a:t> </a:t>
            </a:r>
            <a:r>
              <a:rPr lang="en-US"/>
              <a:t> </a:t>
            </a:r>
            <a:r>
              <a:rPr lang="en-US" i="1"/>
              <a:t>m</a:t>
            </a:r>
            <a:r>
              <a:rPr lang="en-US"/>
              <a:t> = 11, </a:t>
            </a:r>
            <a:r>
              <a:rPr lang="hu-HU" i="1"/>
              <a:t>h</a:t>
            </a:r>
            <a:r>
              <a:rPr lang="hu-HU" baseline="-25000"/>
              <a:t>1</a:t>
            </a:r>
            <a:r>
              <a:rPr lang="hu-HU">
                <a:latin typeface="CMR8"/>
                <a:ea typeface="Calibri" panose="020F0502020204030204" pitchFamily="34" charset="0"/>
                <a:cs typeface="CMR8"/>
              </a:rPr>
              <a:t> 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: </a:t>
            </a:r>
            <a:r>
              <a:rPr lang="hu-HU" i="1">
                <a:latin typeface="CMMI12"/>
                <a:ea typeface="Calibri" panose="020F0502020204030204" pitchFamily="34" charset="0"/>
                <a:cs typeface="CMMI12"/>
              </a:rPr>
              <a:t>U</a:t>
            </a:r>
            <a:r>
              <a:rPr lang="hu-HU">
                <a:latin typeface="CMMI12"/>
                <a:ea typeface="Calibri" panose="020F0502020204030204" pitchFamily="34" charset="0"/>
                <a:cs typeface="CMMI12"/>
              </a:rPr>
              <a:t> </a:t>
            </a:r>
            <a:r>
              <a:rPr lang="en-US">
                <a:latin typeface="CMSY10"/>
                <a:ea typeface="Calibri" panose="020F0502020204030204" pitchFamily="34" charset="0"/>
                <a:cs typeface="CMSY10"/>
              </a:rPr>
              <a:t>→ 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0</a:t>
            </a:r>
            <a:r>
              <a:rPr lang="hu-HU">
                <a:latin typeface="CMMI12"/>
                <a:ea typeface="Calibri" panose="020F0502020204030204" pitchFamily="34" charset="0"/>
                <a:cs typeface="CMMI12"/>
              </a:rPr>
              <a:t>..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(</a:t>
            </a:r>
            <a:r>
              <a:rPr lang="hu-HU" i="1">
                <a:latin typeface="CMMI12"/>
                <a:ea typeface="Calibri" panose="020F0502020204030204" pitchFamily="34" charset="0"/>
                <a:cs typeface="CMMI12"/>
              </a:rPr>
              <a:t>m</a:t>
            </a:r>
            <a:r>
              <a:rPr lang="en-US">
                <a:latin typeface="CMSY10"/>
                <a:ea typeface="Calibri" panose="020F0502020204030204" pitchFamily="34" charset="0"/>
                <a:cs typeface="CMSY10"/>
              </a:rPr>
              <a:t>−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1), </a:t>
            </a:r>
            <a:r>
              <a:rPr lang="hu-HU" i="1"/>
              <a:t>h</a:t>
            </a:r>
            <a:r>
              <a:rPr lang="hu-HU" baseline="-25000"/>
              <a:t>1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(k)= </a:t>
            </a:r>
            <a:r>
              <a:rPr lang="hu-HU" i="1">
                <a:latin typeface="CMR12"/>
                <a:ea typeface="Calibri" panose="020F0502020204030204" pitchFamily="34" charset="0"/>
                <a:cs typeface="CMR12"/>
              </a:rPr>
              <a:t>k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 </a:t>
            </a:r>
            <a:r>
              <a:rPr lang="hu-HU" err="1">
                <a:latin typeface="CMR12"/>
                <a:ea typeface="Calibri" panose="020F0502020204030204" pitchFamily="34" charset="0"/>
                <a:cs typeface="CMR12"/>
              </a:rPr>
              <a:t>mod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 </a:t>
            </a:r>
            <a:r>
              <a:rPr lang="hu-HU" i="1">
                <a:latin typeface="CMR12"/>
                <a:ea typeface="Calibri" panose="020F0502020204030204" pitchFamily="34" charset="0"/>
                <a:cs typeface="CMR12"/>
              </a:rPr>
              <a:t>m</a:t>
            </a:r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</p:txBody>
      </p:sp>
      <p:graphicFrame>
        <p:nvGraphicFramePr>
          <p:cNvPr id="4" name="Táblázat 3"/>
          <p:cNvGraphicFramePr>
            <a:graphicFrameLocks noGrp="1"/>
          </p:cNvGraphicFramePr>
          <p:nvPr/>
        </p:nvGraphicFramePr>
        <p:xfrm>
          <a:off x="440267" y="3143704"/>
          <a:ext cx="409786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701">
                  <a:extLst>
                    <a:ext uri="{9D8B030D-6E8A-4147-A177-3AD203B41FA5}">
                      <a16:colId xmlns:a16="http://schemas.microsoft.com/office/drawing/2014/main" val="1540362462"/>
                    </a:ext>
                  </a:extLst>
                </a:gridCol>
                <a:gridCol w="418505">
                  <a:extLst>
                    <a:ext uri="{9D8B030D-6E8A-4147-A177-3AD203B41FA5}">
                      <a16:colId xmlns:a16="http://schemas.microsoft.com/office/drawing/2014/main" val="2972390046"/>
                    </a:ext>
                  </a:extLst>
                </a:gridCol>
                <a:gridCol w="1011388">
                  <a:extLst>
                    <a:ext uri="{9D8B030D-6E8A-4147-A177-3AD203B41FA5}">
                      <a16:colId xmlns:a16="http://schemas.microsoft.com/office/drawing/2014/main" val="2748415893"/>
                    </a:ext>
                  </a:extLst>
                </a:gridCol>
                <a:gridCol w="1604271">
                  <a:extLst>
                    <a:ext uri="{9D8B030D-6E8A-4147-A177-3AD203B41FA5}">
                      <a16:colId xmlns:a16="http://schemas.microsoft.com/office/drawing/2014/main" val="100558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/>
                        <a:t>Művelet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i="1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i="1"/>
                        <a:t>h</a:t>
                      </a:r>
                      <a:r>
                        <a:rPr lang="hu-HU" baseline="-25000"/>
                        <a:t>1</a:t>
                      </a:r>
                      <a:r>
                        <a:rPr lang="hu-HU"/>
                        <a:t>(</a:t>
                      </a:r>
                      <a:r>
                        <a:rPr lang="hu-HU" i="1"/>
                        <a:t>k</a:t>
                      </a:r>
                      <a:r>
                        <a:rPr lang="hu-HU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/>
                        <a:t>Próbasorozat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612160"/>
                  </a:ext>
                </a:extLst>
              </a:tr>
            </a:tbl>
          </a:graphicData>
        </a:graphic>
      </p:graphicFrame>
      <p:graphicFrame>
        <p:nvGraphicFramePr>
          <p:cNvPr id="6" name="Tábláza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750337"/>
              </p:ext>
            </p:extLst>
          </p:nvPr>
        </p:nvGraphicFramePr>
        <p:xfrm>
          <a:off x="440267" y="3577029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7" name="Tábláza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767196"/>
              </p:ext>
            </p:extLst>
          </p:nvPr>
        </p:nvGraphicFramePr>
        <p:xfrm>
          <a:off x="440267" y="3993447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8" name="Tábláza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177772"/>
              </p:ext>
            </p:extLst>
          </p:nvPr>
        </p:nvGraphicFramePr>
        <p:xfrm>
          <a:off x="440267" y="4403887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9" name="Tábláza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323555"/>
              </p:ext>
            </p:extLst>
          </p:nvPr>
        </p:nvGraphicFramePr>
        <p:xfrm>
          <a:off x="440267" y="4826349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7, 0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0" name="Tábláza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688307"/>
              </p:ext>
            </p:extLst>
          </p:nvPr>
        </p:nvGraphicFramePr>
        <p:xfrm>
          <a:off x="440267" y="5248620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4, 5, 7, 2 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1" name="Tábláza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170800"/>
              </p:ext>
            </p:extLst>
          </p:nvPr>
        </p:nvGraphicFramePr>
        <p:xfrm>
          <a:off x="440267" y="5664386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Töröl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2" name="Tábláza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167186"/>
              </p:ext>
            </p:extLst>
          </p:nvPr>
        </p:nvGraphicFramePr>
        <p:xfrm>
          <a:off x="5089294" y="3587222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Keres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4,5,7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,2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3" name="Tábláza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088046"/>
              </p:ext>
            </p:extLst>
          </p:nvPr>
        </p:nvGraphicFramePr>
        <p:xfrm>
          <a:off x="5089292" y="4000516"/>
          <a:ext cx="4434208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96063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87809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965704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Keres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0, 2, 5, 1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✗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5" name="Táblázat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237635"/>
              </p:ext>
            </p:extLst>
          </p:nvPr>
        </p:nvGraphicFramePr>
        <p:xfrm>
          <a:off x="5089294" y="4836961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Töröl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3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✗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8" name="Táblázat 17"/>
          <p:cNvGraphicFramePr>
            <a:graphicFrameLocks noGrp="1"/>
          </p:cNvGraphicFramePr>
          <p:nvPr/>
        </p:nvGraphicFramePr>
        <p:xfrm>
          <a:off x="5089293" y="3155015"/>
          <a:ext cx="409786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701">
                  <a:extLst>
                    <a:ext uri="{9D8B030D-6E8A-4147-A177-3AD203B41FA5}">
                      <a16:colId xmlns:a16="http://schemas.microsoft.com/office/drawing/2014/main" val="1540362462"/>
                    </a:ext>
                  </a:extLst>
                </a:gridCol>
                <a:gridCol w="418505">
                  <a:extLst>
                    <a:ext uri="{9D8B030D-6E8A-4147-A177-3AD203B41FA5}">
                      <a16:colId xmlns:a16="http://schemas.microsoft.com/office/drawing/2014/main" val="2972390046"/>
                    </a:ext>
                  </a:extLst>
                </a:gridCol>
                <a:gridCol w="1011388">
                  <a:extLst>
                    <a:ext uri="{9D8B030D-6E8A-4147-A177-3AD203B41FA5}">
                      <a16:colId xmlns:a16="http://schemas.microsoft.com/office/drawing/2014/main" val="2748415893"/>
                    </a:ext>
                  </a:extLst>
                </a:gridCol>
                <a:gridCol w="1604271">
                  <a:extLst>
                    <a:ext uri="{9D8B030D-6E8A-4147-A177-3AD203B41FA5}">
                      <a16:colId xmlns:a16="http://schemas.microsoft.com/office/drawing/2014/main" val="100558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/>
                        <a:t>Művelet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i="1"/>
                        <a:t>h</a:t>
                      </a:r>
                      <a:r>
                        <a:rPr lang="hu-HU" baseline="-25000"/>
                        <a:t>1</a:t>
                      </a:r>
                      <a:r>
                        <a:rPr lang="hu-HU"/>
                        <a:t>(</a:t>
                      </a:r>
                      <a:r>
                        <a:rPr lang="hu-HU" i="1"/>
                        <a:t>k</a:t>
                      </a:r>
                      <a:r>
                        <a:rPr lang="hu-HU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/>
                        <a:t>Próbasorozat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612160"/>
                  </a:ext>
                </a:extLst>
              </a:tr>
            </a:tbl>
          </a:graphicData>
        </a:graphic>
      </p:graphicFrame>
      <p:graphicFrame>
        <p:nvGraphicFramePr>
          <p:cNvPr id="19" name="Táblázat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456489"/>
              </p:ext>
            </p:extLst>
          </p:nvPr>
        </p:nvGraphicFramePr>
        <p:xfrm>
          <a:off x="5089293" y="4413856"/>
          <a:ext cx="4434208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96063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78408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97510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4, 5, 7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2, 6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sp>
        <p:nvSpPr>
          <p:cNvPr id="20" name="Folyamatábra: Feldolgozás 19"/>
          <p:cNvSpPr/>
          <p:nvPr/>
        </p:nvSpPr>
        <p:spPr>
          <a:xfrm>
            <a:off x="5621811" y="1473609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4</a:t>
            </a:r>
          </a:p>
        </p:txBody>
      </p:sp>
      <p:sp>
        <p:nvSpPr>
          <p:cNvPr id="21" name="Folyamatábra: Feldolgozás 20"/>
          <p:cNvSpPr/>
          <p:nvPr/>
        </p:nvSpPr>
        <p:spPr>
          <a:xfrm>
            <a:off x="4400971" y="1473200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79</a:t>
            </a:r>
          </a:p>
        </p:txBody>
      </p:sp>
      <p:sp>
        <p:nvSpPr>
          <p:cNvPr id="26" name="Folyamatábra: Feldolgozás 25"/>
          <p:cNvSpPr/>
          <p:nvPr/>
        </p:nvSpPr>
        <p:spPr>
          <a:xfrm>
            <a:off x="7445132" y="1474175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21</a:t>
            </a:r>
          </a:p>
        </p:txBody>
      </p:sp>
      <p:sp>
        <p:nvSpPr>
          <p:cNvPr id="27" name="Folyamatábra: Feldolgozás 26"/>
          <p:cNvSpPr/>
          <p:nvPr/>
        </p:nvSpPr>
        <p:spPr>
          <a:xfrm>
            <a:off x="6838164" y="1473200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12</a:t>
            </a:r>
          </a:p>
        </p:txBody>
      </p:sp>
      <p:sp>
        <p:nvSpPr>
          <p:cNvPr id="28" name="Folyamatábra: Feldolgozás 27"/>
          <p:cNvSpPr/>
          <p:nvPr/>
        </p:nvSpPr>
        <p:spPr>
          <a:xfrm>
            <a:off x="5025421" y="1463157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" name="Folyamatábra: Feldolgozás 24"/>
          <p:cNvSpPr/>
          <p:nvPr/>
        </p:nvSpPr>
        <p:spPr>
          <a:xfrm>
            <a:off x="8669688" y="1473200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39</a:t>
            </a:r>
          </a:p>
        </p:txBody>
      </p:sp>
      <p:sp>
        <p:nvSpPr>
          <p:cNvPr id="24" name="Folyamatábra: Feldolgozás 23"/>
          <p:cNvSpPr/>
          <p:nvPr/>
        </p:nvSpPr>
        <p:spPr>
          <a:xfrm>
            <a:off x="8669688" y="1480031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D</a:t>
            </a:r>
          </a:p>
        </p:txBody>
      </p:sp>
      <p:sp>
        <p:nvSpPr>
          <p:cNvPr id="23" name="Folyamatábra: Feldolgozás 22"/>
          <p:cNvSpPr/>
          <p:nvPr/>
        </p:nvSpPr>
        <p:spPr>
          <a:xfrm>
            <a:off x="8669687" y="1477912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28</a:t>
            </a:r>
          </a:p>
        </p:txBody>
      </p:sp>
      <p:sp>
        <p:nvSpPr>
          <p:cNvPr id="32" name="Folyamatábra: Feldolgozás 31"/>
          <p:cNvSpPr/>
          <p:nvPr/>
        </p:nvSpPr>
        <p:spPr>
          <a:xfrm>
            <a:off x="8077913" y="1474065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Folyamatábra: Feldolgozás 4">
            <a:extLst>
              <a:ext uri="{FF2B5EF4-FFF2-40B4-BE49-F238E27FC236}">
                <a16:creationId xmlns:a16="http://schemas.microsoft.com/office/drawing/2014/main" id="{0819A0C9-BC0C-8A8C-90B9-4EF051109807}"/>
              </a:ext>
            </a:extLst>
          </p:cNvPr>
          <p:cNvSpPr/>
          <p:nvPr/>
        </p:nvSpPr>
        <p:spPr>
          <a:xfrm>
            <a:off x="6269875" y="1473200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35850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7" presetClass="emph" presetSubtype="0" fill="remove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1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7" presetClass="emph" presetSubtype="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1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7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3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500"/>
                            </p:stCondLst>
                            <p:childTnLst>
                              <p:par>
                                <p:cTn id="9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7" presetClass="emph" presetSubtype="0" fill="remove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2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3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1" presetClass="exit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7" presetClass="emph" presetSubtype="0" fill="remove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0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1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2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45" presetID="27" presetClass="emph" presetSubtype="0" fill="remove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6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7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8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9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000"/>
                            </p:stCondLst>
                            <p:childTnLst>
                              <p:par>
                                <p:cTn id="151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2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3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4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5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500"/>
                            </p:stCondLst>
                            <p:childTnLst>
                              <p:par>
                                <p:cTn id="157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8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9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0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1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7" presetClass="emph" presetSubtype="0" fill="remove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2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73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4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5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500"/>
                            </p:stCondLst>
                            <p:childTnLst>
                              <p:par>
                                <p:cTn id="177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79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0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1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1000"/>
                            </p:stCondLst>
                            <p:childTnLst>
                              <p:par>
                                <p:cTn id="183" presetID="27" presetClass="emph" presetSubtype="0" fill="remove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85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6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7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1500"/>
                            </p:stCondLst>
                            <p:childTnLst>
                              <p:par>
                                <p:cTn id="189" presetID="27" presetClass="emph" presetSubtype="0" fill="remove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0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91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2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3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2000"/>
                            </p:stCondLst>
                            <p:childTnLst>
                              <p:par>
                                <p:cTn id="19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7" presetClass="emph" presetSubtype="0" fill="remove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0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1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2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3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500"/>
                            </p:stCondLst>
                            <p:childTnLst>
                              <p:par>
                                <p:cTn id="215" presetID="27" presetClass="emph" presetSubtype="0" fill="remove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6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7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8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9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21" presetID="27" presetClass="emph" presetSubtype="0" fill="remove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2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23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4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5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27" presetID="27" presetClass="emph" presetSubtype="0" fill="remove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8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29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0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1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2500"/>
                            </p:stCondLst>
                            <p:childTnLst>
                              <p:par>
                                <p:cTn id="2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7" presetClass="emph" presetSubtype="0" fill="remove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1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52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3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4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>
                            <p:stCondLst>
                              <p:cond delay="1000"/>
                            </p:stCondLst>
                            <p:childTnLst>
                              <p:par>
                                <p:cTn id="2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20" grpId="0" animBg="1"/>
      <p:bldP spid="20" grpId="1" animBg="1"/>
      <p:bldP spid="20" grpId="2" animBg="1"/>
      <p:bldP spid="20" grpId="3" animBg="1"/>
      <p:bldP spid="20" grpId="4" animBg="1"/>
      <p:bldP spid="21" grpId="0" animBg="1"/>
      <p:bldP spid="21" grpId="1" animBg="1"/>
      <p:bldP spid="26" grpId="0" animBg="1"/>
      <p:bldP spid="26" grpId="1" animBg="1"/>
      <p:bldP spid="26" grpId="2" animBg="1"/>
      <p:bldP spid="26" grpId="3" animBg="1"/>
      <p:bldP spid="26" grpId="4" animBg="1"/>
      <p:bldP spid="27" grpId="0" animBg="1"/>
      <p:bldP spid="27" grpId="1" animBg="1"/>
      <p:bldP spid="27" grpId="2" animBg="1"/>
      <p:bldP spid="27" grpId="3" animBg="1"/>
      <p:bldP spid="28" grpId="0" animBg="1"/>
      <p:bldP spid="25" grpId="0" animBg="1"/>
      <p:bldP spid="25" grpId="1" animBg="1"/>
      <p:bldP spid="25" grpId="2" animBg="1"/>
      <p:bldP spid="25" grpId="3" animBg="1"/>
      <p:bldP spid="25" grpId="4" animBg="1"/>
      <p:bldP spid="24" grpId="0" animBg="1"/>
      <p:bldP spid="24" grpId="1" animBg="1"/>
      <p:bldP spid="24" grpId="2" animBg="1"/>
      <p:bldP spid="24" grpId="3" animBg="1"/>
      <p:bldP spid="23" grpId="0" animBg="1"/>
      <p:bldP spid="32" grpId="0" animBg="1"/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EA98A4-3D74-ADF1-21BB-C5630F145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4A7B722-7500-0A3B-6169-C2AAEA8C1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68" y="940188"/>
            <a:ext cx="9973732" cy="990212"/>
          </a:xfrm>
        </p:spPr>
        <p:txBody>
          <a:bodyPr/>
          <a:lstStyle/>
          <a:p>
            <a:r>
              <a:rPr lang="hu-HU"/>
              <a:t>Négyzetes próba nem animált változata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5F9ADC2-C6A2-C347-6E0C-09B7DC6C5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3" y="1860972"/>
            <a:ext cx="8620859" cy="4801085"/>
          </a:xfrm>
        </p:spPr>
        <p:txBody>
          <a:bodyPr>
            <a:normAutofit/>
          </a:bodyPr>
          <a:lstStyle/>
          <a:p>
            <a:r>
              <a:rPr lang="en-US"/>
              <a:t>P</a:t>
            </a:r>
            <a:r>
              <a:rPr lang="hu-HU"/>
              <a:t>é</a:t>
            </a:r>
            <a:r>
              <a:rPr lang="en-US" err="1"/>
              <a:t>lda</a:t>
            </a:r>
            <a:r>
              <a:rPr lang="en-US"/>
              <a:t>:</a:t>
            </a:r>
            <a:r>
              <a:rPr lang="hu-HU"/>
              <a:t> </a:t>
            </a:r>
            <a:r>
              <a:rPr lang="en-US"/>
              <a:t> </a:t>
            </a:r>
            <a:r>
              <a:rPr lang="en-US" i="1"/>
              <a:t>m</a:t>
            </a:r>
            <a:r>
              <a:rPr lang="en-US"/>
              <a:t> = </a:t>
            </a:r>
            <a:r>
              <a:rPr lang="hu-HU"/>
              <a:t>8</a:t>
            </a:r>
            <a:r>
              <a:rPr lang="en-US"/>
              <a:t>, P</a:t>
            </a:r>
            <a:r>
              <a:rPr lang="hu-HU"/>
              <a:t>é</a:t>
            </a:r>
            <a:r>
              <a:rPr lang="en-US" err="1"/>
              <a:t>lda</a:t>
            </a:r>
            <a:r>
              <a:rPr lang="en-US"/>
              <a:t>:</a:t>
            </a:r>
            <a:r>
              <a:rPr lang="hu-HU"/>
              <a:t> </a:t>
            </a:r>
            <a:r>
              <a:rPr lang="en-US"/>
              <a:t> </a:t>
            </a:r>
            <a:r>
              <a:rPr lang="en-US" i="1"/>
              <a:t>m</a:t>
            </a:r>
            <a:r>
              <a:rPr lang="en-US"/>
              <a:t> = 11, </a:t>
            </a:r>
            <a:r>
              <a:rPr lang="hu-HU" i="1"/>
              <a:t>h</a:t>
            </a:r>
            <a:r>
              <a:rPr lang="hu-HU" baseline="-25000"/>
              <a:t>1</a:t>
            </a:r>
            <a:r>
              <a:rPr lang="hu-HU">
                <a:latin typeface="CMR8"/>
                <a:ea typeface="Calibri" panose="020F0502020204030204" pitchFamily="34" charset="0"/>
                <a:cs typeface="CMR8"/>
              </a:rPr>
              <a:t> 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: </a:t>
            </a:r>
            <a:r>
              <a:rPr lang="hu-HU" i="1">
                <a:latin typeface="CMMI12"/>
                <a:ea typeface="Calibri" panose="020F0502020204030204" pitchFamily="34" charset="0"/>
                <a:cs typeface="CMMI12"/>
              </a:rPr>
              <a:t>U</a:t>
            </a:r>
            <a:r>
              <a:rPr lang="hu-HU">
                <a:latin typeface="CMMI12"/>
                <a:ea typeface="Calibri" panose="020F0502020204030204" pitchFamily="34" charset="0"/>
                <a:cs typeface="CMMI12"/>
              </a:rPr>
              <a:t> </a:t>
            </a:r>
            <a:r>
              <a:rPr lang="en-US">
                <a:latin typeface="CMSY10"/>
                <a:ea typeface="Calibri" panose="020F0502020204030204" pitchFamily="34" charset="0"/>
                <a:cs typeface="CMSY10"/>
              </a:rPr>
              <a:t>→ 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0</a:t>
            </a:r>
            <a:r>
              <a:rPr lang="hu-HU">
                <a:latin typeface="CMMI12"/>
                <a:ea typeface="Calibri" panose="020F0502020204030204" pitchFamily="34" charset="0"/>
                <a:cs typeface="CMMI12"/>
              </a:rPr>
              <a:t>..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(</a:t>
            </a:r>
            <a:r>
              <a:rPr lang="hu-HU" i="1">
                <a:latin typeface="CMMI12"/>
                <a:ea typeface="Calibri" panose="020F0502020204030204" pitchFamily="34" charset="0"/>
                <a:cs typeface="CMMI12"/>
              </a:rPr>
              <a:t>m</a:t>
            </a:r>
            <a:r>
              <a:rPr lang="en-US">
                <a:latin typeface="CMSY10"/>
                <a:ea typeface="Calibri" panose="020F0502020204030204" pitchFamily="34" charset="0"/>
                <a:cs typeface="CMSY10"/>
              </a:rPr>
              <a:t>−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1), </a:t>
            </a:r>
            <a:r>
              <a:rPr lang="hu-HU" i="1"/>
              <a:t>h</a:t>
            </a:r>
            <a:r>
              <a:rPr lang="hu-HU" baseline="-25000"/>
              <a:t>1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(k)= </a:t>
            </a:r>
            <a:r>
              <a:rPr lang="hu-HU" i="1">
                <a:latin typeface="CMR12"/>
                <a:ea typeface="Calibri" panose="020F0502020204030204" pitchFamily="34" charset="0"/>
                <a:cs typeface="CMR12"/>
              </a:rPr>
              <a:t>k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 </a:t>
            </a:r>
            <a:r>
              <a:rPr lang="hu-HU" err="1">
                <a:latin typeface="CMR12"/>
                <a:ea typeface="Calibri" panose="020F0502020204030204" pitchFamily="34" charset="0"/>
                <a:cs typeface="CMR12"/>
              </a:rPr>
              <a:t>mod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 </a:t>
            </a:r>
            <a:r>
              <a:rPr lang="hu-HU" i="1">
                <a:latin typeface="CMR12"/>
                <a:ea typeface="Calibri" panose="020F0502020204030204" pitchFamily="34" charset="0"/>
                <a:cs typeface="CMR12"/>
              </a:rPr>
              <a:t>m</a:t>
            </a:r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</p:txBody>
      </p:sp>
      <p:graphicFrame>
        <p:nvGraphicFramePr>
          <p:cNvPr id="4" name="Táblázat 3">
            <a:extLst>
              <a:ext uri="{FF2B5EF4-FFF2-40B4-BE49-F238E27FC236}">
                <a16:creationId xmlns:a16="http://schemas.microsoft.com/office/drawing/2014/main" id="{F7E8311B-3504-B7AD-56B8-52C378923D49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3143704"/>
          <a:ext cx="409786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701">
                  <a:extLst>
                    <a:ext uri="{9D8B030D-6E8A-4147-A177-3AD203B41FA5}">
                      <a16:colId xmlns:a16="http://schemas.microsoft.com/office/drawing/2014/main" val="1540362462"/>
                    </a:ext>
                  </a:extLst>
                </a:gridCol>
                <a:gridCol w="418505">
                  <a:extLst>
                    <a:ext uri="{9D8B030D-6E8A-4147-A177-3AD203B41FA5}">
                      <a16:colId xmlns:a16="http://schemas.microsoft.com/office/drawing/2014/main" val="2972390046"/>
                    </a:ext>
                  </a:extLst>
                </a:gridCol>
                <a:gridCol w="1011388">
                  <a:extLst>
                    <a:ext uri="{9D8B030D-6E8A-4147-A177-3AD203B41FA5}">
                      <a16:colId xmlns:a16="http://schemas.microsoft.com/office/drawing/2014/main" val="2748415893"/>
                    </a:ext>
                  </a:extLst>
                </a:gridCol>
                <a:gridCol w="1604271">
                  <a:extLst>
                    <a:ext uri="{9D8B030D-6E8A-4147-A177-3AD203B41FA5}">
                      <a16:colId xmlns:a16="http://schemas.microsoft.com/office/drawing/2014/main" val="100558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/>
                        <a:t>Művelet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i="1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i="1"/>
                        <a:t>h</a:t>
                      </a:r>
                      <a:r>
                        <a:rPr lang="hu-HU" baseline="-25000"/>
                        <a:t>1</a:t>
                      </a:r>
                      <a:r>
                        <a:rPr lang="hu-HU"/>
                        <a:t>(</a:t>
                      </a:r>
                      <a:r>
                        <a:rPr lang="hu-HU" i="1"/>
                        <a:t>k</a:t>
                      </a:r>
                      <a:r>
                        <a:rPr lang="hu-HU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/>
                        <a:t>Próbasorozat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612160"/>
                  </a:ext>
                </a:extLst>
              </a:tr>
            </a:tbl>
          </a:graphicData>
        </a:graphic>
      </p:graphicFrame>
      <p:graphicFrame>
        <p:nvGraphicFramePr>
          <p:cNvPr id="6" name="Táblázat 5">
            <a:extLst>
              <a:ext uri="{FF2B5EF4-FFF2-40B4-BE49-F238E27FC236}">
                <a16:creationId xmlns:a16="http://schemas.microsoft.com/office/drawing/2014/main" id="{01770A02-BE79-444A-9C5E-B6FA4FBCD547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3577029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7" name="Táblázat 6">
            <a:extLst>
              <a:ext uri="{FF2B5EF4-FFF2-40B4-BE49-F238E27FC236}">
                <a16:creationId xmlns:a16="http://schemas.microsoft.com/office/drawing/2014/main" id="{FFE7D5CE-46CC-0FF3-71E3-D9B70F42810F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3993447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8" name="Táblázat 7">
            <a:extLst>
              <a:ext uri="{FF2B5EF4-FFF2-40B4-BE49-F238E27FC236}">
                <a16:creationId xmlns:a16="http://schemas.microsoft.com/office/drawing/2014/main" id="{66AD9594-1148-4196-3267-8B395FE1E58B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4403887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9" name="Táblázat 8">
            <a:extLst>
              <a:ext uri="{FF2B5EF4-FFF2-40B4-BE49-F238E27FC236}">
                <a16:creationId xmlns:a16="http://schemas.microsoft.com/office/drawing/2014/main" id="{5B66C061-B312-AD66-28B0-40AFB6013815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4826349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7, 0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0" name="Táblázat 9">
            <a:extLst>
              <a:ext uri="{FF2B5EF4-FFF2-40B4-BE49-F238E27FC236}">
                <a16:creationId xmlns:a16="http://schemas.microsoft.com/office/drawing/2014/main" id="{A3366CA4-2D2C-F7B9-2511-723B1F29E204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5248620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4, 5, 7, 2 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1" name="Táblázat 10">
            <a:extLst>
              <a:ext uri="{FF2B5EF4-FFF2-40B4-BE49-F238E27FC236}">
                <a16:creationId xmlns:a16="http://schemas.microsoft.com/office/drawing/2014/main" id="{C5D2A1D7-DCE0-4A89-7392-0DF9C17EB8C1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5664386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Töröl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pic>
        <p:nvPicPr>
          <p:cNvPr id="16" name="Kép 15" descr="A képen képernyőkép, szöveg, Betűtípus, szá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EA5FFEEB-6051-8195-899D-3DFDB1FE7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573" y="3219723"/>
            <a:ext cx="4384017" cy="725906"/>
          </a:xfrm>
          <a:prstGeom prst="rect">
            <a:avLst/>
          </a:prstGeom>
        </p:spPr>
      </p:pic>
      <p:pic>
        <p:nvPicPr>
          <p:cNvPr id="17" name="Kép 16">
            <a:extLst>
              <a:ext uri="{FF2B5EF4-FFF2-40B4-BE49-F238E27FC236}">
                <a16:creationId xmlns:a16="http://schemas.microsoft.com/office/drawing/2014/main" id="{EC178CC8-EDA0-CF85-2604-F4D933122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3252" y="4000781"/>
            <a:ext cx="4366870" cy="382958"/>
          </a:xfrm>
          <a:prstGeom prst="rect">
            <a:avLst/>
          </a:prstGeom>
        </p:spPr>
      </p:pic>
      <p:pic>
        <p:nvPicPr>
          <p:cNvPr id="22" name="Kép 21">
            <a:extLst>
              <a:ext uri="{FF2B5EF4-FFF2-40B4-BE49-F238E27FC236}">
                <a16:creationId xmlns:a16="http://schemas.microsoft.com/office/drawing/2014/main" id="{3E4B32F9-8C72-366C-FFE0-7B2F31850B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3092" y="4450670"/>
            <a:ext cx="4366870" cy="354379"/>
          </a:xfrm>
          <a:prstGeom prst="rect">
            <a:avLst/>
          </a:prstGeom>
        </p:spPr>
      </p:pic>
      <p:pic>
        <p:nvPicPr>
          <p:cNvPr id="29" name="Kép 28">
            <a:extLst>
              <a:ext uri="{FF2B5EF4-FFF2-40B4-BE49-F238E27FC236}">
                <a16:creationId xmlns:a16="http://schemas.microsoft.com/office/drawing/2014/main" id="{F6B64CC5-DAAD-9BF7-C837-0F7BCDD04F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2773" y="4859975"/>
            <a:ext cx="4378301" cy="371527"/>
          </a:xfrm>
          <a:prstGeom prst="rect">
            <a:avLst/>
          </a:prstGeom>
        </p:spPr>
      </p:pic>
      <p:pic>
        <p:nvPicPr>
          <p:cNvPr id="30" name="Kép 29">
            <a:extLst>
              <a:ext uri="{FF2B5EF4-FFF2-40B4-BE49-F238E27FC236}">
                <a16:creationId xmlns:a16="http://schemas.microsoft.com/office/drawing/2014/main" id="{F9BF8714-EC0F-7925-79B5-F4930B9562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2933" y="5324312"/>
            <a:ext cx="4378301" cy="320084"/>
          </a:xfrm>
          <a:prstGeom prst="rect">
            <a:avLst/>
          </a:prstGeom>
        </p:spPr>
      </p:pic>
      <p:pic>
        <p:nvPicPr>
          <p:cNvPr id="31" name="Kép 30">
            <a:extLst>
              <a:ext uri="{FF2B5EF4-FFF2-40B4-BE49-F238E27FC236}">
                <a16:creationId xmlns:a16="http://schemas.microsoft.com/office/drawing/2014/main" id="{0CE75C5D-D4D4-DE4B-9488-4F1B0DBE83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3092" y="5699838"/>
            <a:ext cx="4395448" cy="36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9100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4B7902-0C50-0145-FBDB-B2AF1EF2C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0329050-B958-2AF5-1746-9AF200A9C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68" y="940188"/>
            <a:ext cx="9973732" cy="990212"/>
          </a:xfrm>
        </p:spPr>
        <p:txBody>
          <a:bodyPr/>
          <a:lstStyle/>
          <a:p>
            <a:r>
              <a:rPr lang="hu-HU"/>
              <a:t>Négyzetes próba nem animált változata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A45F03A-67A5-6DEC-4089-666EA914C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3" y="1860972"/>
            <a:ext cx="8620859" cy="4801085"/>
          </a:xfrm>
        </p:spPr>
        <p:txBody>
          <a:bodyPr>
            <a:normAutofit/>
          </a:bodyPr>
          <a:lstStyle/>
          <a:p>
            <a:r>
              <a:rPr lang="en-US"/>
              <a:t>P</a:t>
            </a:r>
            <a:r>
              <a:rPr lang="hu-HU"/>
              <a:t>é</a:t>
            </a:r>
            <a:r>
              <a:rPr lang="en-US" err="1"/>
              <a:t>lda</a:t>
            </a:r>
            <a:r>
              <a:rPr lang="en-US"/>
              <a:t>:</a:t>
            </a:r>
            <a:r>
              <a:rPr lang="hu-HU"/>
              <a:t> </a:t>
            </a:r>
            <a:r>
              <a:rPr lang="en-US"/>
              <a:t> </a:t>
            </a:r>
            <a:r>
              <a:rPr lang="en-US" i="1"/>
              <a:t>m</a:t>
            </a:r>
            <a:r>
              <a:rPr lang="en-US"/>
              <a:t> = </a:t>
            </a:r>
            <a:r>
              <a:rPr lang="hu-HU"/>
              <a:t>8</a:t>
            </a:r>
            <a:r>
              <a:rPr lang="en-US"/>
              <a:t>, P</a:t>
            </a:r>
            <a:r>
              <a:rPr lang="hu-HU"/>
              <a:t>é</a:t>
            </a:r>
            <a:r>
              <a:rPr lang="en-US" err="1"/>
              <a:t>lda</a:t>
            </a:r>
            <a:r>
              <a:rPr lang="en-US"/>
              <a:t>:</a:t>
            </a:r>
            <a:r>
              <a:rPr lang="hu-HU"/>
              <a:t> </a:t>
            </a:r>
            <a:r>
              <a:rPr lang="en-US"/>
              <a:t> </a:t>
            </a:r>
            <a:r>
              <a:rPr lang="en-US" i="1"/>
              <a:t>m</a:t>
            </a:r>
            <a:r>
              <a:rPr lang="en-US"/>
              <a:t> = 11, </a:t>
            </a:r>
            <a:r>
              <a:rPr lang="hu-HU" i="1"/>
              <a:t>h</a:t>
            </a:r>
            <a:r>
              <a:rPr lang="hu-HU" baseline="-25000"/>
              <a:t>1</a:t>
            </a:r>
            <a:r>
              <a:rPr lang="hu-HU">
                <a:latin typeface="CMR8"/>
                <a:ea typeface="Calibri" panose="020F0502020204030204" pitchFamily="34" charset="0"/>
                <a:cs typeface="CMR8"/>
              </a:rPr>
              <a:t> 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: </a:t>
            </a:r>
            <a:r>
              <a:rPr lang="hu-HU" i="1">
                <a:latin typeface="CMMI12"/>
                <a:ea typeface="Calibri" panose="020F0502020204030204" pitchFamily="34" charset="0"/>
                <a:cs typeface="CMMI12"/>
              </a:rPr>
              <a:t>U</a:t>
            </a:r>
            <a:r>
              <a:rPr lang="hu-HU">
                <a:latin typeface="CMMI12"/>
                <a:ea typeface="Calibri" panose="020F0502020204030204" pitchFamily="34" charset="0"/>
                <a:cs typeface="CMMI12"/>
              </a:rPr>
              <a:t> </a:t>
            </a:r>
            <a:r>
              <a:rPr lang="en-US">
                <a:latin typeface="CMSY10"/>
                <a:ea typeface="Calibri" panose="020F0502020204030204" pitchFamily="34" charset="0"/>
                <a:cs typeface="CMSY10"/>
              </a:rPr>
              <a:t>→ 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0</a:t>
            </a:r>
            <a:r>
              <a:rPr lang="hu-HU">
                <a:latin typeface="CMMI12"/>
                <a:ea typeface="Calibri" panose="020F0502020204030204" pitchFamily="34" charset="0"/>
                <a:cs typeface="CMMI12"/>
              </a:rPr>
              <a:t>..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(</a:t>
            </a:r>
            <a:r>
              <a:rPr lang="hu-HU" i="1">
                <a:latin typeface="CMMI12"/>
                <a:ea typeface="Calibri" panose="020F0502020204030204" pitchFamily="34" charset="0"/>
                <a:cs typeface="CMMI12"/>
              </a:rPr>
              <a:t>m</a:t>
            </a:r>
            <a:r>
              <a:rPr lang="en-US">
                <a:latin typeface="CMSY10"/>
                <a:ea typeface="Calibri" panose="020F0502020204030204" pitchFamily="34" charset="0"/>
                <a:cs typeface="CMSY10"/>
              </a:rPr>
              <a:t>−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1), </a:t>
            </a:r>
            <a:r>
              <a:rPr lang="hu-HU" i="1"/>
              <a:t>h</a:t>
            </a:r>
            <a:r>
              <a:rPr lang="hu-HU" baseline="-25000"/>
              <a:t>1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(k)= </a:t>
            </a:r>
            <a:r>
              <a:rPr lang="hu-HU" i="1">
                <a:latin typeface="CMR12"/>
                <a:ea typeface="Calibri" panose="020F0502020204030204" pitchFamily="34" charset="0"/>
                <a:cs typeface="CMR12"/>
              </a:rPr>
              <a:t>k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 </a:t>
            </a:r>
            <a:r>
              <a:rPr lang="hu-HU" err="1">
                <a:latin typeface="CMR12"/>
                <a:ea typeface="Calibri" panose="020F0502020204030204" pitchFamily="34" charset="0"/>
                <a:cs typeface="CMR12"/>
              </a:rPr>
              <a:t>mod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 </a:t>
            </a:r>
            <a:r>
              <a:rPr lang="hu-HU" i="1">
                <a:latin typeface="CMR12"/>
                <a:ea typeface="Calibri" panose="020F0502020204030204" pitchFamily="34" charset="0"/>
                <a:cs typeface="CMR12"/>
              </a:rPr>
              <a:t>m</a:t>
            </a:r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</p:txBody>
      </p:sp>
      <p:graphicFrame>
        <p:nvGraphicFramePr>
          <p:cNvPr id="12" name="Táblázat 11">
            <a:extLst>
              <a:ext uri="{FF2B5EF4-FFF2-40B4-BE49-F238E27FC236}">
                <a16:creationId xmlns:a16="http://schemas.microsoft.com/office/drawing/2014/main" id="{94A599C7-78A4-1D1D-FD15-B0E596AE2F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323038"/>
              </p:ext>
            </p:extLst>
          </p:nvPr>
        </p:nvGraphicFramePr>
        <p:xfrm>
          <a:off x="964334" y="4003782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Keres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4,5,7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,2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3" name="Táblázat 12">
            <a:extLst>
              <a:ext uri="{FF2B5EF4-FFF2-40B4-BE49-F238E27FC236}">
                <a16:creationId xmlns:a16="http://schemas.microsoft.com/office/drawing/2014/main" id="{F3683C9F-349E-2D65-9A10-16C77D6B75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652094"/>
              </p:ext>
            </p:extLst>
          </p:nvPr>
        </p:nvGraphicFramePr>
        <p:xfrm>
          <a:off x="964332" y="4417076"/>
          <a:ext cx="4434208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96063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87809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965704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Keres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0, 2, 5, 1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✗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5" name="Táblázat 14">
            <a:extLst>
              <a:ext uri="{FF2B5EF4-FFF2-40B4-BE49-F238E27FC236}">
                <a16:creationId xmlns:a16="http://schemas.microsoft.com/office/drawing/2014/main" id="{21C23BDA-9F99-7A67-51AD-567C58A4BB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721568"/>
              </p:ext>
            </p:extLst>
          </p:nvPr>
        </p:nvGraphicFramePr>
        <p:xfrm>
          <a:off x="964334" y="5253521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Töröl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3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✗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8" name="Táblázat 17">
            <a:extLst>
              <a:ext uri="{FF2B5EF4-FFF2-40B4-BE49-F238E27FC236}">
                <a16:creationId xmlns:a16="http://schemas.microsoft.com/office/drawing/2014/main" id="{A004311C-CF54-2D8B-4096-65FAE42CB0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613267"/>
              </p:ext>
            </p:extLst>
          </p:nvPr>
        </p:nvGraphicFramePr>
        <p:xfrm>
          <a:off x="964333" y="3571575"/>
          <a:ext cx="409786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701">
                  <a:extLst>
                    <a:ext uri="{9D8B030D-6E8A-4147-A177-3AD203B41FA5}">
                      <a16:colId xmlns:a16="http://schemas.microsoft.com/office/drawing/2014/main" val="1540362462"/>
                    </a:ext>
                  </a:extLst>
                </a:gridCol>
                <a:gridCol w="418505">
                  <a:extLst>
                    <a:ext uri="{9D8B030D-6E8A-4147-A177-3AD203B41FA5}">
                      <a16:colId xmlns:a16="http://schemas.microsoft.com/office/drawing/2014/main" val="2972390046"/>
                    </a:ext>
                  </a:extLst>
                </a:gridCol>
                <a:gridCol w="1011388">
                  <a:extLst>
                    <a:ext uri="{9D8B030D-6E8A-4147-A177-3AD203B41FA5}">
                      <a16:colId xmlns:a16="http://schemas.microsoft.com/office/drawing/2014/main" val="2748415893"/>
                    </a:ext>
                  </a:extLst>
                </a:gridCol>
                <a:gridCol w="1604271">
                  <a:extLst>
                    <a:ext uri="{9D8B030D-6E8A-4147-A177-3AD203B41FA5}">
                      <a16:colId xmlns:a16="http://schemas.microsoft.com/office/drawing/2014/main" val="100558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/>
                        <a:t>Művelet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i="1"/>
                        <a:t>h</a:t>
                      </a:r>
                      <a:r>
                        <a:rPr lang="hu-HU" baseline="-25000"/>
                        <a:t>1</a:t>
                      </a:r>
                      <a:r>
                        <a:rPr lang="hu-HU"/>
                        <a:t>(</a:t>
                      </a:r>
                      <a:r>
                        <a:rPr lang="hu-HU" i="1"/>
                        <a:t>k</a:t>
                      </a:r>
                      <a:r>
                        <a:rPr lang="hu-HU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/>
                        <a:t>Próbasorozat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612160"/>
                  </a:ext>
                </a:extLst>
              </a:tr>
            </a:tbl>
          </a:graphicData>
        </a:graphic>
      </p:graphicFrame>
      <p:graphicFrame>
        <p:nvGraphicFramePr>
          <p:cNvPr id="19" name="Táblázat 18">
            <a:extLst>
              <a:ext uri="{FF2B5EF4-FFF2-40B4-BE49-F238E27FC236}">
                <a16:creationId xmlns:a16="http://schemas.microsoft.com/office/drawing/2014/main" id="{EB20B18E-03BF-712E-EA23-EEF6373B2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082024"/>
              </p:ext>
            </p:extLst>
          </p:nvPr>
        </p:nvGraphicFramePr>
        <p:xfrm>
          <a:off x="964333" y="4830416"/>
          <a:ext cx="4434208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96063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78408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97510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4, 5, 7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2, 6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pic>
        <p:nvPicPr>
          <p:cNvPr id="2052" name="Picture 4" descr="A képen szöveg, képernyőkép, Betűtípus, szá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071B50AC-31DD-6A0F-C00E-71E55FE4F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6793" y="3545143"/>
            <a:ext cx="5033683" cy="858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9A389468-9B97-1469-3D50-0236018DAF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6792" y="4462420"/>
            <a:ext cx="5042017" cy="383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4338720C-F974-D8DB-A513-6CF883016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5527" y="4921836"/>
            <a:ext cx="5033683" cy="400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Kép 1">
            <a:extLst>
              <a:ext uri="{FF2B5EF4-FFF2-40B4-BE49-F238E27FC236}">
                <a16:creationId xmlns:a16="http://schemas.microsoft.com/office/drawing/2014/main" id="{92C2756F-CC11-BF62-0827-80CB9067C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6158" y="5389669"/>
            <a:ext cx="5042017" cy="383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4489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C2BCB2-57F2-4546-12DE-2ED9E353A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olyamatábra: Feldolgozás 32">
            <a:extLst>
              <a:ext uri="{FF2B5EF4-FFF2-40B4-BE49-F238E27FC236}">
                <a16:creationId xmlns:a16="http://schemas.microsoft.com/office/drawing/2014/main" id="{43CC66BF-3ADA-3056-F36B-9B562101A898}"/>
              </a:ext>
            </a:extLst>
          </p:cNvPr>
          <p:cNvSpPr/>
          <p:nvPr/>
        </p:nvSpPr>
        <p:spPr>
          <a:xfrm>
            <a:off x="6253379" y="1459651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aphicFrame>
        <p:nvGraphicFramePr>
          <p:cNvPr id="14" name="Táblázat 13">
            <a:extLst>
              <a:ext uri="{FF2B5EF4-FFF2-40B4-BE49-F238E27FC236}">
                <a16:creationId xmlns:a16="http://schemas.microsoft.com/office/drawing/2014/main" id="{3972DE6D-B771-0BB3-E7C3-B4D6E6B21F94}"/>
              </a:ext>
            </a:extLst>
          </p:cNvPr>
          <p:cNvGraphicFramePr>
            <a:graphicFrameLocks noGrp="1"/>
          </p:cNvGraphicFramePr>
          <p:nvPr/>
        </p:nvGraphicFramePr>
        <p:xfrm>
          <a:off x="4403278" y="1010567"/>
          <a:ext cx="4856368" cy="856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7046">
                  <a:extLst>
                    <a:ext uri="{9D8B030D-6E8A-4147-A177-3AD203B41FA5}">
                      <a16:colId xmlns:a16="http://schemas.microsoft.com/office/drawing/2014/main" val="1539220463"/>
                    </a:ext>
                  </a:extLst>
                </a:gridCol>
                <a:gridCol w="607046">
                  <a:extLst>
                    <a:ext uri="{9D8B030D-6E8A-4147-A177-3AD203B41FA5}">
                      <a16:colId xmlns:a16="http://schemas.microsoft.com/office/drawing/2014/main" val="3985253597"/>
                    </a:ext>
                  </a:extLst>
                </a:gridCol>
                <a:gridCol w="607046">
                  <a:extLst>
                    <a:ext uri="{9D8B030D-6E8A-4147-A177-3AD203B41FA5}">
                      <a16:colId xmlns:a16="http://schemas.microsoft.com/office/drawing/2014/main" val="1235555896"/>
                    </a:ext>
                  </a:extLst>
                </a:gridCol>
                <a:gridCol w="607046">
                  <a:extLst>
                    <a:ext uri="{9D8B030D-6E8A-4147-A177-3AD203B41FA5}">
                      <a16:colId xmlns:a16="http://schemas.microsoft.com/office/drawing/2014/main" val="788788296"/>
                    </a:ext>
                  </a:extLst>
                </a:gridCol>
                <a:gridCol w="607046">
                  <a:extLst>
                    <a:ext uri="{9D8B030D-6E8A-4147-A177-3AD203B41FA5}">
                      <a16:colId xmlns:a16="http://schemas.microsoft.com/office/drawing/2014/main" val="923440203"/>
                    </a:ext>
                  </a:extLst>
                </a:gridCol>
                <a:gridCol w="607046">
                  <a:extLst>
                    <a:ext uri="{9D8B030D-6E8A-4147-A177-3AD203B41FA5}">
                      <a16:colId xmlns:a16="http://schemas.microsoft.com/office/drawing/2014/main" val="3127607781"/>
                    </a:ext>
                  </a:extLst>
                </a:gridCol>
                <a:gridCol w="607046">
                  <a:extLst>
                    <a:ext uri="{9D8B030D-6E8A-4147-A177-3AD203B41FA5}">
                      <a16:colId xmlns:a16="http://schemas.microsoft.com/office/drawing/2014/main" val="3253742140"/>
                    </a:ext>
                  </a:extLst>
                </a:gridCol>
                <a:gridCol w="607046">
                  <a:extLst>
                    <a:ext uri="{9D8B030D-6E8A-4147-A177-3AD203B41FA5}">
                      <a16:colId xmlns:a16="http://schemas.microsoft.com/office/drawing/2014/main" val="220913237"/>
                    </a:ext>
                  </a:extLst>
                </a:gridCol>
              </a:tblGrid>
              <a:tr h="428419"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9165411"/>
                  </a:ext>
                </a:extLst>
              </a:tr>
              <a:tr h="428419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455271"/>
                  </a:ext>
                </a:extLst>
              </a:tr>
            </a:tbl>
          </a:graphicData>
        </a:graphic>
      </p:graphicFrame>
      <p:sp>
        <p:nvSpPr>
          <p:cNvPr id="2" name="Cím 1">
            <a:extLst>
              <a:ext uri="{FF2B5EF4-FFF2-40B4-BE49-F238E27FC236}">
                <a16:creationId xmlns:a16="http://schemas.microsoft.com/office/drawing/2014/main" id="{C33D735A-FA38-D5C2-FB38-A5518743D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68" y="940188"/>
            <a:ext cx="4097864" cy="990212"/>
          </a:xfrm>
        </p:spPr>
        <p:txBody>
          <a:bodyPr/>
          <a:lstStyle/>
          <a:p>
            <a:r>
              <a:rPr lang="hu-HU"/>
              <a:t>Négyzetes próba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66FDC073-8A4D-7484-C23B-06C4A2A45A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3143" y="1860972"/>
                <a:ext cx="8620859" cy="4801085"/>
              </a:xfrm>
            </p:spPr>
            <p:txBody>
              <a:bodyPr>
                <a:normAutofit/>
              </a:bodyPr>
              <a:lstStyle/>
              <a:p>
                <a:r>
                  <a:rPr lang="en-US"/>
                  <a:t>P</a:t>
                </a:r>
                <a:r>
                  <a:rPr lang="hu-HU"/>
                  <a:t>é</a:t>
                </a:r>
                <a:r>
                  <a:rPr lang="en-US" err="1"/>
                  <a:t>lda</a:t>
                </a:r>
                <a:r>
                  <a:rPr lang="en-US"/>
                  <a:t>:</a:t>
                </a:r>
                <a:r>
                  <a:rPr lang="hu-HU"/>
                  <a:t> </a:t>
                </a:r>
                <a:r>
                  <a:rPr lang="en-US"/>
                  <a:t> </a:t>
                </a:r>
                <a:r>
                  <a:rPr lang="en-US" i="1"/>
                  <a:t>m</a:t>
                </a:r>
                <a:r>
                  <a:rPr lang="en-US"/>
                  <a:t> = </a:t>
                </a:r>
                <a:r>
                  <a:rPr lang="hu-HU"/>
                  <a:t>8</a:t>
                </a:r>
                <a:r>
                  <a:rPr lang="en-US"/>
                  <a:t>, </a:t>
                </a:r>
                <a:r>
                  <a:rPr lang="en-US" i="1"/>
                  <a:t>h</a:t>
                </a:r>
                <a:r>
                  <a:rPr lang="en-US"/>
                  <a:t> : N → 0..</a:t>
                </a:r>
                <a:r>
                  <a:rPr lang="hu-HU"/>
                  <a:t>7</a:t>
                </a:r>
                <a:r>
                  <a:rPr lang="en-US"/>
                  <a:t>, </a:t>
                </a:r>
                <a:r>
                  <a:rPr lang="en-US" i="1"/>
                  <a:t>h</a:t>
                </a:r>
                <a:r>
                  <a:rPr lang="en-US"/>
                  <a:t>(</a:t>
                </a:r>
                <a:r>
                  <a:rPr lang="en-US" i="1"/>
                  <a:t>k</a:t>
                </a:r>
                <a:r>
                  <a:rPr lang="en-US"/>
                  <a:t>, </a:t>
                </a:r>
                <a:r>
                  <a:rPr lang="en-US" i="1"/>
                  <a:t>n</a:t>
                </a:r>
                <a:r>
                  <a:rPr lang="en-US"/>
                  <a:t>) = (</a:t>
                </a:r>
                <a:r>
                  <a:rPr lang="en-US" i="1"/>
                  <a:t>k</a:t>
                </a:r>
                <a:r>
                  <a:rPr lang="en-US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hu-HU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hu-HU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hu-H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hu-HU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hu-HU"/>
                  <a:t>) </a:t>
                </a:r>
                <a:r>
                  <a:rPr lang="en-US"/>
                  <a:t>mod </a:t>
                </a:r>
                <a:r>
                  <a:rPr lang="hu-HU"/>
                  <a:t>8</a:t>
                </a:r>
              </a:p>
              <a:p>
                <a:endParaRPr lang="hu-HU"/>
              </a:p>
              <a:p>
                <a:endParaRPr lang="hu-HU"/>
              </a:p>
              <a:p>
                <a:endParaRPr lang="hu-HU"/>
              </a:p>
              <a:p>
                <a:endParaRPr lang="hu-HU"/>
              </a:p>
              <a:p>
                <a:endParaRPr lang="hu-HU"/>
              </a:p>
              <a:p>
                <a:endParaRPr lang="hu-HU"/>
              </a:p>
              <a:p>
                <a:endParaRPr lang="hu-HU"/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66FDC073-8A4D-7484-C23B-06C4A2A45A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3143" y="1860972"/>
                <a:ext cx="8620859" cy="4801085"/>
              </a:xfrm>
              <a:blipFill>
                <a:blip r:embed="rId3"/>
                <a:stretch>
                  <a:fillRect l="-17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áblázat 3">
            <a:extLst>
              <a:ext uri="{FF2B5EF4-FFF2-40B4-BE49-F238E27FC236}">
                <a16:creationId xmlns:a16="http://schemas.microsoft.com/office/drawing/2014/main" id="{173A3DC4-A4B0-0B68-210C-F797C00AFDE0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3143704"/>
          <a:ext cx="409786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701">
                  <a:extLst>
                    <a:ext uri="{9D8B030D-6E8A-4147-A177-3AD203B41FA5}">
                      <a16:colId xmlns:a16="http://schemas.microsoft.com/office/drawing/2014/main" val="1540362462"/>
                    </a:ext>
                  </a:extLst>
                </a:gridCol>
                <a:gridCol w="418505">
                  <a:extLst>
                    <a:ext uri="{9D8B030D-6E8A-4147-A177-3AD203B41FA5}">
                      <a16:colId xmlns:a16="http://schemas.microsoft.com/office/drawing/2014/main" val="2972390046"/>
                    </a:ext>
                  </a:extLst>
                </a:gridCol>
                <a:gridCol w="1011388">
                  <a:extLst>
                    <a:ext uri="{9D8B030D-6E8A-4147-A177-3AD203B41FA5}">
                      <a16:colId xmlns:a16="http://schemas.microsoft.com/office/drawing/2014/main" val="2748415893"/>
                    </a:ext>
                  </a:extLst>
                </a:gridCol>
                <a:gridCol w="1604271">
                  <a:extLst>
                    <a:ext uri="{9D8B030D-6E8A-4147-A177-3AD203B41FA5}">
                      <a16:colId xmlns:a16="http://schemas.microsoft.com/office/drawing/2014/main" val="100558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/>
                        <a:t>Művelet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i="1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i="1"/>
                        <a:t>h</a:t>
                      </a:r>
                      <a:r>
                        <a:rPr lang="hu-HU" baseline="-25000"/>
                        <a:t>1</a:t>
                      </a:r>
                      <a:r>
                        <a:rPr lang="hu-HU"/>
                        <a:t>(</a:t>
                      </a:r>
                      <a:r>
                        <a:rPr lang="hu-HU" i="1"/>
                        <a:t>k</a:t>
                      </a:r>
                      <a:r>
                        <a:rPr lang="hu-HU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/>
                        <a:t>Próbasorozat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612160"/>
                  </a:ext>
                </a:extLst>
              </a:tr>
            </a:tbl>
          </a:graphicData>
        </a:graphic>
      </p:graphicFrame>
      <p:graphicFrame>
        <p:nvGraphicFramePr>
          <p:cNvPr id="6" name="Táblázat 5">
            <a:extLst>
              <a:ext uri="{FF2B5EF4-FFF2-40B4-BE49-F238E27FC236}">
                <a16:creationId xmlns:a16="http://schemas.microsoft.com/office/drawing/2014/main" id="{66F48AF2-AC0E-23E4-91BA-E794ABCCE8EF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3577029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7" name="Táblázat 6">
            <a:extLst>
              <a:ext uri="{FF2B5EF4-FFF2-40B4-BE49-F238E27FC236}">
                <a16:creationId xmlns:a16="http://schemas.microsoft.com/office/drawing/2014/main" id="{615CA301-9FE9-27A4-A6C4-E2AD797995FD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3993447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8" name="Táblázat 7">
            <a:extLst>
              <a:ext uri="{FF2B5EF4-FFF2-40B4-BE49-F238E27FC236}">
                <a16:creationId xmlns:a16="http://schemas.microsoft.com/office/drawing/2014/main" id="{C7F4C74C-A2C6-B730-5C5B-BC37E15EA8E3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4403887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9" name="Táblázat 8">
            <a:extLst>
              <a:ext uri="{FF2B5EF4-FFF2-40B4-BE49-F238E27FC236}">
                <a16:creationId xmlns:a16="http://schemas.microsoft.com/office/drawing/2014/main" id="{3759419D-F6A3-B08E-6707-F7A4EE8CA355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4826349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7, 0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0" name="Táblázat 9">
            <a:extLst>
              <a:ext uri="{FF2B5EF4-FFF2-40B4-BE49-F238E27FC236}">
                <a16:creationId xmlns:a16="http://schemas.microsoft.com/office/drawing/2014/main" id="{C12ED6EE-5277-036E-940E-6308F2DC3122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5248620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4, 5, 7, 2 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1" name="Táblázat 10">
            <a:extLst>
              <a:ext uri="{FF2B5EF4-FFF2-40B4-BE49-F238E27FC236}">
                <a16:creationId xmlns:a16="http://schemas.microsoft.com/office/drawing/2014/main" id="{18E3F19F-6B75-01C0-63B2-4FE3F26D6310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5664386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Töröl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2" name="Táblázat 11">
            <a:extLst>
              <a:ext uri="{FF2B5EF4-FFF2-40B4-BE49-F238E27FC236}">
                <a16:creationId xmlns:a16="http://schemas.microsoft.com/office/drawing/2014/main" id="{C019FC2F-C30A-4E58-2CB0-53B267BC209A}"/>
              </a:ext>
            </a:extLst>
          </p:cNvPr>
          <p:cNvGraphicFramePr>
            <a:graphicFrameLocks noGrp="1"/>
          </p:cNvGraphicFramePr>
          <p:nvPr/>
        </p:nvGraphicFramePr>
        <p:xfrm>
          <a:off x="5089294" y="3587222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Keres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4,5,7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,2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3" name="Táblázat 12">
            <a:extLst>
              <a:ext uri="{FF2B5EF4-FFF2-40B4-BE49-F238E27FC236}">
                <a16:creationId xmlns:a16="http://schemas.microsoft.com/office/drawing/2014/main" id="{931BE7AA-A327-0014-0B06-DDC49795E5AC}"/>
              </a:ext>
            </a:extLst>
          </p:cNvPr>
          <p:cNvGraphicFramePr>
            <a:graphicFrameLocks noGrp="1"/>
          </p:cNvGraphicFramePr>
          <p:nvPr/>
        </p:nvGraphicFramePr>
        <p:xfrm>
          <a:off x="5089292" y="4000516"/>
          <a:ext cx="4434208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96063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87809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965704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Keres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0, 2, 5, 1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✗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5" name="Táblázat 14">
            <a:extLst>
              <a:ext uri="{FF2B5EF4-FFF2-40B4-BE49-F238E27FC236}">
                <a16:creationId xmlns:a16="http://schemas.microsoft.com/office/drawing/2014/main" id="{876320F2-5881-25DE-BAF0-C6C84C3C6C5D}"/>
              </a:ext>
            </a:extLst>
          </p:cNvPr>
          <p:cNvGraphicFramePr>
            <a:graphicFrameLocks noGrp="1"/>
          </p:cNvGraphicFramePr>
          <p:nvPr/>
        </p:nvGraphicFramePr>
        <p:xfrm>
          <a:off x="5089294" y="4836961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Töröl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3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✗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6" name="Táblázat 15">
            <a:extLst>
              <a:ext uri="{FF2B5EF4-FFF2-40B4-BE49-F238E27FC236}">
                <a16:creationId xmlns:a16="http://schemas.microsoft.com/office/drawing/2014/main" id="{174569F9-A93E-10DE-9582-178F5EDB4F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539198"/>
              </p:ext>
            </p:extLst>
          </p:nvPr>
        </p:nvGraphicFramePr>
        <p:xfrm>
          <a:off x="5089294" y="5254635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Töröl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4, 5, 7, 2 </a:t>
                      </a:r>
                      <a:r>
                        <a:rPr lang="hu-HU" sz="1800" kern="1200" baseline="-25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de-DE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8" name="Táblázat 17">
            <a:extLst>
              <a:ext uri="{FF2B5EF4-FFF2-40B4-BE49-F238E27FC236}">
                <a16:creationId xmlns:a16="http://schemas.microsoft.com/office/drawing/2014/main" id="{7052C2A6-9C11-90CE-7349-A6F704656E27}"/>
              </a:ext>
            </a:extLst>
          </p:cNvPr>
          <p:cNvGraphicFramePr>
            <a:graphicFrameLocks noGrp="1"/>
          </p:cNvGraphicFramePr>
          <p:nvPr/>
        </p:nvGraphicFramePr>
        <p:xfrm>
          <a:off x="5089293" y="3155015"/>
          <a:ext cx="409786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701">
                  <a:extLst>
                    <a:ext uri="{9D8B030D-6E8A-4147-A177-3AD203B41FA5}">
                      <a16:colId xmlns:a16="http://schemas.microsoft.com/office/drawing/2014/main" val="1540362462"/>
                    </a:ext>
                  </a:extLst>
                </a:gridCol>
                <a:gridCol w="418505">
                  <a:extLst>
                    <a:ext uri="{9D8B030D-6E8A-4147-A177-3AD203B41FA5}">
                      <a16:colId xmlns:a16="http://schemas.microsoft.com/office/drawing/2014/main" val="2972390046"/>
                    </a:ext>
                  </a:extLst>
                </a:gridCol>
                <a:gridCol w="1011388">
                  <a:extLst>
                    <a:ext uri="{9D8B030D-6E8A-4147-A177-3AD203B41FA5}">
                      <a16:colId xmlns:a16="http://schemas.microsoft.com/office/drawing/2014/main" val="2748415893"/>
                    </a:ext>
                  </a:extLst>
                </a:gridCol>
                <a:gridCol w="1604271">
                  <a:extLst>
                    <a:ext uri="{9D8B030D-6E8A-4147-A177-3AD203B41FA5}">
                      <a16:colId xmlns:a16="http://schemas.microsoft.com/office/drawing/2014/main" val="100558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/>
                        <a:t>Művelet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i="1"/>
                        <a:t>h</a:t>
                      </a:r>
                      <a:r>
                        <a:rPr lang="hu-HU" baseline="-25000"/>
                        <a:t>1</a:t>
                      </a:r>
                      <a:r>
                        <a:rPr lang="hu-HU"/>
                        <a:t>(</a:t>
                      </a:r>
                      <a:r>
                        <a:rPr lang="hu-HU" i="1"/>
                        <a:t>k</a:t>
                      </a:r>
                      <a:r>
                        <a:rPr lang="hu-HU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/>
                        <a:t>Próbasorozat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612160"/>
                  </a:ext>
                </a:extLst>
              </a:tr>
            </a:tbl>
          </a:graphicData>
        </a:graphic>
      </p:graphicFrame>
      <p:graphicFrame>
        <p:nvGraphicFramePr>
          <p:cNvPr id="19" name="Táblázat 18">
            <a:extLst>
              <a:ext uri="{FF2B5EF4-FFF2-40B4-BE49-F238E27FC236}">
                <a16:creationId xmlns:a16="http://schemas.microsoft.com/office/drawing/2014/main" id="{0EBF4B52-FBFA-C26A-235B-30A95EEF94C9}"/>
              </a:ext>
            </a:extLst>
          </p:cNvPr>
          <p:cNvGraphicFramePr>
            <a:graphicFrameLocks noGrp="1"/>
          </p:cNvGraphicFramePr>
          <p:nvPr/>
        </p:nvGraphicFramePr>
        <p:xfrm>
          <a:off x="5089293" y="4413856"/>
          <a:ext cx="4434208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96063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78408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97510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4, 5, 7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2, 6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sp>
        <p:nvSpPr>
          <p:cNvPr id="20" name="Folyamatábra: Feldolgozás 19">
            <a:extLst>
              <a:ext uri="{FF2B5EF4-FFF2-40B4-BE49-F238E27FC236}">
                <a16:creationId xmlns:a16="http://schemas.microsoft.com/office/drawing/2014/main" id="{809DDA8C-B2AA-EFA3-7895-A0C0D3CCEC7A}"/>
              </a:ext>
            </a:extLst>
          </p:cNvPr>
          <p:cNvSpPr/>
          <p:nvPr/>
        </p:nvSpPr>
        <p:spPr>
          <a:xfrm>
            <a:off x="5621811" y="1473609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4</a:t>
            </a:r>
          </a:p>
        </p:txBody>
      </p:sp>
      <p:sp>
        <p:nvSpPr>
          <p:cNvPr id="21" name="Folyamatábra: Feldolgozás 20">
            <a:extLst>
              <a:ext uri="{FF2B5EF4-FFF2-40B4-BE49-F238E27FC236}">
                <a16:creationId xmlns:a16="http://schemas.microsoft.com/office/drawing/2014/main" id="{C8C05D6A-D821-0DBE-1EBE-BFE88599F440}"/>
              </a:ext>
            </a:extLst>
          </p:cNvPr>
          <p:cNvSpPr/>
          <p:nvPr/>
        </p:nvSpPr>
        <p:spPr>
          <a:xfrm>
            <a:off x="4400971" y="1473200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79</a:t>
            </a:r>
          </a:p>
        </p:txBody>
      </p:sp>
      <p:sp>
        <p:nvSpPr>
          <p:cNvPr id="26" name="Folyamatábra: Feldolgozás 25">
            <a:extLst>
              <a:ext uri="{FF2B5EF4-FFF2-40B4-BE49-F238E27FC236}">
                <a16:creationId xmlns:a16="http://schemas.microsoft.com/office/drawing/2014/main" id="{D0ECEDD1-2A72-387F-5AC2-32B69928ABE3}"/>
              </a:ext>
            </a:extLst>
          </p:cNvPr>
          <p:cNvSpPr/>
          <p:nvPr/>
        </p:nvSpPr>
        <p:spPr>
          <a:xfrm>
            <a:off x="7445132" y="1474175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21</a:t>
            </a:r>
          </a:p>
        </p:txBody>
      </p:sp>
      <p:sp>
        <p:nvSpPr>
          <p:cNvPr id="27" name="Folyamatábra: Feldolgozás 26">
            <a:extLst>
              <a:ext uri="{FF2B5EF4-FFF2-40B4-BE49-F238E27FC236}">
                <a16:creationId xmlns:a16="http://schemas.microsoft.com/office/drawing/2014/main" id="{EDCB9AEA-D4AA-C31A-2587-844E3C16CA7E}"/>
              </a:ext>
            </a:extLst>
          </p:cNvPr>
          <p:cNvSpPr/>
          <p:nvPr/>
        </p:nvSpPr>
        <p:spPr>
          <a:xfrm>
            <a:off x="6838164" y="1473200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12</a:t>
            </a:r>
          </a:p>
        </p:txBody>
      </p:sp>
      <p:sp>
        <p:nvSpPr>
          <p:cNvPr id="28" name="Folyamatábra: Feldolgozás 27">
            <a:extLst>
              <a:ext uri="{FF2B5EF4-FFF2-40B4-BE49-F238E27FC236}">
                <a16:creationId xmlns:a16="http://schemas.microsoft.com/office/drawing/2014/main" id="{BF7D2090-EFD7-821E-404F-0B3F7861D512}"/>
              </a:ext>
            </a:extLst>
          </p:cNvPr>
          <p:cNvSpPr/>
          <p:nvPr/>
        </p:nvSpPr>
        <p:spPr>
          <a:xfrm>
            <a:off x="5025421" y="1463157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" name="Szövegdoboz 29">
            <a:extLst>
              <a:ext uri="{FF2B5EF4-FFF2-40B4-BE49-F238E27FC236}">
                <a16:creationId xmlns:a16="http://schemas.microsoft.com/office/drawing/2014/main" id="{F0B75FCF-165E-E007-8D05-3264D222720B}"/>
              </a:ext>
            </a:extLst>
          </p:cNvPr>
          <p:cNvSpPr txBox="1"/>
          <p:nvPr/>
        </p:nvSpPr>
        <p:spPr>
          <a:xfrm>
            <a:off x="3928028" y="204702"/>
            <a:ext cx="5752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A kitöltöttségi arányszám: </a:t>
            </a:r>
            <a:r>
              <a:rPr lang="en-US"/>
              <a:t>α </a:t>
            </a:r>
            <a:r>
              <a:rPr lang="de-DE"/>
              <a:t>=</a:t>
            </a:r>
            <a:r>
              <a:rPr lang="hu-HU"/>
              <a:t>5/8</a:t>
            </a:r>
          </a:p>
        </p:txBody>
      </p:sp>
      <p:graphicFrame>
        <p:nvGraphicFramePr>
          <p:cNvPr id="29" name="Táblázat 28">
            <a:extLst>
              <a:ext uri="{FF2B5EF4-FFF2-40B4-BE49-F238E27FC236}">
                <a16:creationId xmlns:a16="http://schemas.microsoft.com/office/drawing/2014/main" id="{079427CA-0DE9-156A-D70C-5AA1F8137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892502"/>
              </p:ext>
            </p:extLst>
          </p:nvPr>
        </p:nvGraphicFramePr>
        <p:xfrm>
          <a:off x="5080411" y="5673297"/>
          <a:ext cx="4530120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51338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7567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1328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2089829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hu-HU" sz="1800" kern="1200" baseline="-25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3</a:t>
                      </a:r>
                      <a:r>
                        <a:rPr lang="hu-HU" sz="1800" kern="1200" baseline="-25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✓</a:t>
                      </a:r>
                      <a:endParaRPr lang="hu-H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sp>
        <p:nvSpPr>
          <p:cNvPr id="25" name="Folyamatábra: Feldolgozás 24">
            <a:extLst>
              <a:ext uri="{FF2B5EF4-FFF2-40B4-BE49-F238E27FC236}">
                <a16:creationId xmlns:a16="http://schemas.microsoft.com/office/drawing/2014/main" id="{9456916F-FE2E-2ED3-0A35-331AF8446DDC}"/>
              </a:ext>
            </a:extLst>
          </p:cNvPr>
          <p:cNvSpPr/>
          <p:nvPr/>
        </p:nvSpPr>
        <p:spPr>
          <a:xfrm>
            <a:off x="8669688" y="1473200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39</a:t>
            </a:r>
          </a:p>
        </p:txBody>
      </p:sp>
      <p:sp>
        <p:nvSpPr>
          <p:cNvPr id="24" name="Folyamatábra: Feldolgozás 23">
            <a:extLst>
              <a:ext uri="{FF2B5EF4-FFF2-40B4-BE49-F238E27FC236}">
                <a16:creationId xmlns:a16="http://schemas.microsoft.com/office/drawing/2014/main" id="{6A027CFD-FEC3-C2C1-FD59-118F542EED85}"/>
              </a:ext>
            </a:extLst>
          </p:cNvPr>
          <p:cNvSpPr/>
          <p:nvPr/>
        </p:nvSpPr>
        <p:spPr>
          <a:xfrm>
            <a:off x="8669688" y="1480031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D</a:t>
            </a:r>
          </a:p>
        </p:txBody>
      </p:sp>
      <p:sp>
        <p:nvSpPr>
          <p:cNvPr id="22" name="Folyamatábra: Feldolgozás 21">
            <a:extLst>
              <a:ext uri="{FF2B5EF4-FFF2-40B4-BE49-F238E27FC236}">
                <a16:creationId xmlns:a16="http://schemas.microsoft.com/office/drawing/2014/main" id="{DDD4ED9B-56F2-115C-C163-A88AE533A7FB}"/>
              </a:ext>
            </a:extLst>
          </p:cNvPr>
          <p:cNvSpPr/>
          <p:nvPr/>
        </p:nvSpPr>
        <p:spPr>
          <a:xfrm>
            <a:off x="5631227" y="1469626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D</a:t>
            </a:r>
          </a:p>
        </p:txBody>
      </p:sp>
      <p:sp>
        <p:nvSpPr>
          <p:cNvPr id="23" name="Folyamatábra: Feldolgozás 22">
            <a:extLst>
              <a:ext uri="{FF2B5EF4-FFF2-40B4-BE49-F238E27FC236}">
                <a16:creationId xmlns:a16="http://schemas.microsoft.com/office/drawing/2014/main" id="{974F8AF1-634D-DCE1-38F5-ABDC68029894}"/>
              </a:ext>
            </a:extLst>
          </p:cNvPr>
          <p:cNvSpPr/>
          <p:nvPr/>
        </p:nvSpPr>
        <p:spPr>
          <a:xfrm>
            <a:off x="8669687" y="1477912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28</a:t>
            </a:r>
          </a:p>
        </p:txBody>
      </p:sp>
      <p:sp>
        <p:nvSpPr>
          <p:cNvPr id="32" name="Folyamatábra: Feldolgozás 31">
            <a:extLst>
              <a:ext uri="{FF2B5EF4-FFF2-40B4-BE49-F238E27FC236}">
                <a16:creationId xmlns:a16="http://schemas.microsoft.com/office/drawing/2014/main" id="{D82C7C4D-6828-607D-517F-E4295E588CD5}"/>
              </a:ext>
            </a:extLst>
          </p:cNvPr>
          <p:cNvSpPr/>
          <p:nvPr/>
        </p:nvSpPr>
        <p:spPr>
          <a:xfrm>
            <a:off x="8077913" y="1474065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" name="Folyamatábra: Feldolgozás 30">
            <a:extLst>
              <a:ext uri="{FF2B5EF4-FFF2-40B4-BE49-F238E27FC236}">
                <a16:creationId xmlns:a16="http://schemas.microsoft.com/office/drawing/2014/main" id="{85D240AD-640B-AC81-A354-482EDF9A437A}"/>
              </a:ext>
            </a:extLst>
          </p:cNvPr>
          <p:cNvSpPr/>
          <p:nvPr/>
        </p:nvSpPr>
        <p:spPr>
          <a:xfrm>
            <a:off x="5621310" y="1477592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10</a:t>
            </a:r>
          </a:p>
        </p:txBody>
      </p:sp>
      <p:sp>
        <p:nvSpPr>
          <p:cNvPr id="5" name="Folyamatábra: Feldolgozás 4">
            <a:extLst>
              <a:ext uri="{FF2B5EF4-FFF2-40B4-BE49-F238E27FC236}">
                <a16:creationId xmlns:a16="http://schemas.microsoft.com/office/drawing/2014/main" id="{A2652D28-185E-7F76-428E-BD627416D48A}"/>
              </a:ext>
            </a:extLst>
          </p:cNvPr>
          <p:cNvSpPr/>
          <p:nvPr/>
        </p:nvSpPr>
        <p:spPr>
          <a:xfrm>
            <a:off x="6269875" y="1473200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38915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0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6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2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7" presetClass="emph" presetSubtype="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2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8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6" grpId="0" animBg="1"/>
      <p:bldP spid="27" grpId="0" animBg="1"/>
      <p:bldP spid="30" grpId="0"/>
      <p:bldP spid="22" grpId="0" animBg="1"/>
      <p:bldP spid="22" grpId="1" animBg="1"/>
      <p:bldP spid="23" grpId="0" animBg="1"/>
      <p:bldP spid="31" grpId="0" animBg="1"/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D6AE110-EDA6-3E16-893C-CDC0E515D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79439"/>
            <a:ext cx="10018713" cy="887361"/>
          </a:xfrm>
        </p:spPr>
        <p:txBody>
          <a:bodyPr/>
          <a:lstStyle/>
          <a:p>
            <a:r>
              <a:rPr lang="hu-HU"/>
              <a:t>Kettős hasítás (</a:t>
            </a:r>
            <a:r>
              <a:rPr lang="hu-HU" err="1"/>
              <a:t>double</a:t>
            </a:r>
            <a:r>
              <a:rPr lang="hu-HU"/>
              <a:t> </a:t>
            </a:r>
            <a:r>
              <a:rPr lang="hu-HU" err="1"/>
              <a:t>hashing</a:t>
            </a:r>
            <a:r>
              <a:rPr lang="hu-HU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D10EA2D5-2816-7B43-F83C-0F9D25FDBD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282262"/>
                <a:ext cx="10018713" cy="4939862"/>
              </a:xfrm>
            </p:spPr>
            <p:txBody>
              <a:bodyPr>
                <a:normAutofit/>
              </a:bodyPr>
              <a:lstStyle/>
              <a:p>
                <a:r>
                  <a:rPr lang="hu-HU" i="1"/>
                  <a:t>h</a:t>
                </a:r>
                <a:r>
                  <a:rPr lang="hu-HU"/>
                  <a:t>(</a:t>
                </a:r>
                <a:r>
                  <a:rPr lang="hu-HU" i="1"/>
                  <a:t>k, i</a:t>
                </a:r>
                <a:r>
                  <a:rPr lang="hu-HU"/>
                  <a:t>) = (</a:t>
                </a:r>
                <a:r>
                  <a:rPr lang="hu-HU" i="1"/>
                  <a:t>h</a:t>
                </a:r>
                <a:r>
                  <a:rPr lang="hu-HU" baseline="-25000"/>
                  <a:t>1</a:t>
                </a:r>
                <a:r>
                  <a:rPr lang="hu-HU"/>
                  <a:t>(</a:t>
                </a:r>
                <a:r>
                  <a:rPr lang="hu-HU" i="1"/>
                  <a:t>k</a:t>
                </a:r>
                <a:r>
                  <a:rPr lang="hu-HU"/>
                  <a:t>)+ </a:t>
                </a:r>
                <a:r>
                  <a:rPr lang="hu-HU" i="1"/>
                  <a:t>i</a:t>
                </a:r>
                <a:r>
                  <a:rPr lang="hu-HU"/>
                  <a:t> · </a:t>
                </a:r>
                <a:r>
                  <a:rPr lang="hu-HU" i="1"/>
                  <a:t>h</a:t>
                </a:r>
                <a:r>
                  <a:rPr lang="hu-HU" baseline="-25000"/>
                  <a:t>2</a:t>
                </a:r>
                <a:r>
                  <a:rPr lang="hu-HU"/>
                  <a:t>(</a:t>
                </a:r>
                <a:r>
                  <a:rPr lang="hu-HU" i="1"/>
                  <a:t>k</a:t>
                </a:r>
                <a:r>
                  <a:rPr lang="hu-HU"/>
                  <a:t>)) </a:t>
                </a:r>
                <a:r>
                  <a:rPr lang="hu-HU" err="1"/>
                  <a:t>mod</a:t>
                </a:r>
                <a:r>
                  <a:rPr lang="hu-HU"/>
                  <a:t> </a:t>
                </a:r>
                <a:r>
                  <a:rPr lang="hu-HU" i="1"/>
                  <a:t>m</a:t>
                </a:r>
                <a:r>
                  <a:rPr lang="hu-HU"/>
                  <a:t>      (</a:t>
                </a:r>
                <a:r>
                  <a:rPr lang="hu-HU" i="1"/>
                  <a:t>i</a:t>
                </a:r>
                <a:r>
                  <a:rPr lang="hu-HU"/>
                  <a:t> </a:t>
                </a:r>
                <a14:m>
                  <m:oMath xmlns:m="http://schemas.openxmlformats.org/officeDocument/2006/math">
                    <m:r>
                      <a:rPr lang="hu-HU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hu-HU"/>
                  <a:t> 0..</a:t>
                </a:r>
                <a:r>
                  <a:rPr lang="hu-HU" i="1"/>
                  <a:t>m</a:t>
                </a:r>
                <a:r>
                  <a:rPr lang="hu-HU"/>
                  <a:t>-1) </a:t>
                </a:r>
              </a:p>
              <a:p>
                <a:pPr lvl="1"/>
                <a:r>
                  <a:rPr lang="hu-HU"/>
                  <a:t>(</a:t>
                </a:r>
                <a:r>
                  <a:rPr lang="hu-HU" i="1"/>
                  <a:t>h</a:t>
                </a:r>
                <a:r>
                  <a:rPr lang="hu-HU" baseline="-25000"/>
                  <a:t>1</a:t>
                </a:r>
                <a:r>
                  <a:rPr lang="hu-HU">
                    <a:ea typeface="Calibri" panose="020F0502020204030204" pitchFamily="34" charset="0"/>
                    <a:cs typeface="CMR8"/>
                  </a:rPr>
                  <a:t> </a:t>
                </a:r>
                <a:r>
                  <a:rPr lang="hu-HU">
                    <a:ea typeface="Calibri" panose="020F0502020204030204" pitchFamily="34" charset="0"/>
                    <a:cs typeface="CMR12"/>
                  </a:rPr>
                  <a:t>: </a:t>
                </a:r>
                <a:r>
                  <a:rPr lang="hu-HU" i="1">
                    <a:ea typeface="Calibri" panose="020F0502020204030204" pitchFamily="34" charset="0"/>
                    <a:cs typeface="CMMI12"/>
                  </a:rPr>
                  <a:t>U</a:t>
                </a:r>
                <a:r>
                  <a:rPr lang="hu-HU"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>
                    <a:ea typeface="Calibri" panose="020F0502020204030204" pitchFamily="34" charset="0"/>
                    <a:cs typeface="CMSY10"/>
                  </a:rPr>
                  <a:t>→ </a:t>
                </a:r>
                <a:r>
                  <a:rPr lang="hu-HU">
                    <a:ea typeface="Calibri" panose="020F0502020204030204" pitchFamily="34" charset="0"/>
                    <a:cs typeface="CMR12"/>
                  </a:rPr>
                  <a:t>0</a:t>
                </a:r>
                <a:r>
                  <a:rPr lang="hu-HU">
                    <a:ea typeface="Calibri" panose="020F0502020204030204" pitchFamily="34" charset="0"/>
                    <a:cs typeface="CMMI12"/>
                  </a:rPr>
                  <a:t>..</a:t>
                </a:r>
                <a:r>
                  <a:rPr lang="hu-HU"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i="1"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en-US">
                    <a:ea typeface="Calibri" panose="020F0502020204030204" pitchFamily="34" charset="0"/>
                    <a:cs typeface="CMSY10"/>
                  </a:rPr>
                  <a:t>−</a:t>
                </a:r>
                <a:r>
                  <a:rPr lang="hu-HU">
                    <a:ea typeface="Calibri" panose="020F0502020204030204" pitchFamily="34" charset="0"/>
                    <a:cs typeface="CMR12"/>
                  </a:rPr>
                  <a:t>1) és </a:t>
                </a:r>
                <a:r>
                  <a:rPr lang="hu-HU" i="1"/>
                  <a:t>h</a:t>
                </a:r>
                <a:r>
                  <a:rPr lang="hu-HU" baseline="-25000"/>
                  <a:t>2</a:t>
                </a:r>
                <a:r>
                  <a:rPr lang="hu-HU">
                    <a:ea typeface="Calibri" panose="020F0502020204030204" pitchFamily="34" charset="0"/>
                    <a:cs typeface="CMR8"/>
                  </a:rPr>
                  <a:t> </a:t>
                </a:r>
                <a:r>
                  <a:rPr lang="hu-HU">
                    <a:ea typeface="Calibri" panose="020F0502020204030204" pitchFamily="34" charset="0"/>
                    <a:cs typeface="CMR12"/>
                  </a:rPr>
                  <a:t>: </a:t>
                </a:r>
                <a:r>
                  <a:rPr lang="hu-HU" i="1">
                    <a:ea typeface="Calibri" panose="020F0502020204030204" pitchFamily="34" charset="0"/>
                    <a:cs typeface="CMMI12"/>
                  </a:rPr>
                  <a:t>U</a:t>
                </a:r>
                <a:r>
                  <a:rPr lang="hu-HU"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>
                    <a:ea typeface="Calibri" panose="020F0502020204030204" pitchFamily="34" charset="0"/>
                    <a:cs typeface="CMSY10"/>
                  </a:rPr>
                  <a:t>→ </a:t>
                </a:r>
                <a:r>
                  <a:rPr lang="hu-HU">
                    <a:ea typeface="Calibri" panose="020F0502020204030204" pitchFamily="34" charset="0"/>
                    <a:cs typeface="CMR12"/>
                  </a:rPr>
                  <a:t>0</a:t>
                </a:r>
                <a:r>
                  <a:rPr lang="hu-HU">
                    <a:ea typeface="Calibri" panose="020F0502020204030204" pitchFamily="34" charset="0"/>
                    <a:cs typeface="CMMI12"/>
                  </a:rPr>
                  <a:t>..</a:t>
                </a:r>
                <a:r>
                  <a:rPr lang="hu-HU"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i="1"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en-US">
                    <a:ea typeface="Calibri" panose="020F0502020204030204" pitchFamily="34" charset="0"/>
                    <a:cs typeface="CMSY10"/>
                  </a:rPr>
                  <a:t>−</a:t>
                </a:r>
                <a:r>
                  <a:rPr lang="hu-HU">
                    <a:ea typeface="Calibri" panose="020F0502020204030204" pitchFamily="34" charset="0"/>
                    <a:cs typeface="CMR12"/>
                  </a:rPr>
                  <a:t>1) hasító </a:t>
                </a:r>
                <a:r>
                  <a:rPr lang="hu-HU" err="1">
                    <a:ea typeface="Calibri" panose="020F0502020204030204" pitchFamily="34" charset="0"/>
                    <a:cs typeface="CMR12"/>
                  </a:rPr>
                  <a:t>fv</a:t>
                </a:r>
                <a:r>
                  <a:rPr lang="hu-HU">
                    <a:ea typeface="Calibri" panose="020F0502020204030204" pitchFamily="34" charset="0"/>
                    <a:cs typeface="CMR12"/>
                  </a:rPr>
                  <a:t>.-ek)</a:t>
                </a:r>
                <a:endParaRPr lang="hu-HU"/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>
                    <a:effectLst/>
                    <a:ea typeface="Calibri" panose="020F0502020204030204" pitchFamily="34" charset="0"/>
                    <a:cs typeface="F29"/>
                  </a:rPr>
                  <a:t>A próbasorozat lefedi az egész hasító táblát </a:t>
                </a:r>
                <a:r>
                  <a:rPr lang="hu-HU" sz="2000">
                    <a:effectLst/>
                    <a:ea typeface="Calibri" panose="020F0502020204030204" pitchFamily="34" charset="0"/>
                    <a:cs typeface="F29"/>
                    <a:sym typeface="Wingdings" panose="05000000000000000000" pitchFamily="2" charset="2"/>
                  </a:rPr>
                  <a:t></a:t>
                </a:r>
                <a:r>
                  <a:rPr lang="hu-HU" sz="2000">
                    <a:effectLst/>
                    <a:ea typeface="Calibri" panose="020F0502020204030204" pitchFamily="34" charset="0"/>
                    <a:cs typeface="F29"/>
                  </a:rPr>
                  <a:t> </a:t>
                </a:r>
                <a:r>
                  <a:rPr lang="hu-HU" sz="2000" i="1">
                    <a:effectLst/>
                    <a:ea typeface="Calibri" panose="020F0502020204030204" pitchFamily="34" charset="0"/>
                    <a:cs typeface="F48"/>
                  </a:rPr>
                  <a:t>h</a:t>
                </a:r>
                <a:r>
                  <a:rPr lang="hu-HU" sz="2000" baseline="-25000">
                    <a:effectLst/>
                    <a:ea typeface="Calibri" panose="020F0502020204030204" pitchFamily="34" charset="0"/>
                    <a:cs typeface="F48"/>
                  </a:rPr>
                  <a:t>2</a:t>
                </a:r>
                <a:r>
                  <a:rPr lang="hu-HU" sz="200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000" i="1">
                    <a:effectLst/>
                    <a:ea typeface="Calibri" panose="020F0502020204030204" pitchFamily="34" charset="0"/>
                    <a:cs typeface="CMMI12"/>
                  </a:rPr>
                  <a:t>k</a:t>
                </a:r>
                <a:r>
                  <a:rPr lang="hu-HU" sz="200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hu-HU" sz="2000">
                    <a:effectLst/>
                    <a:ea typeface="Calibri" panose="020F0502020204030204" pitchFamily="34" charset="0"/>
                    <a:cs typeface="F29"/>
                  </a:rPr>
                  <a:t>és </a:t>
                </a:r>
                <a:r>
                  <a:rPr lang="hu-HU" sz="2000" i="1">
                    <a:effectLst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hu-HU" sz="200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000">
                    <a:effectLst/>
                    <a:ea typeface="Calibri" panose="020F0502020204030204" pitchFamily="34" charset="0"/>
                    <a:cs typeface="F29"/>
                  </a:rPr>
                  <a:t>relatív prímek</a:t>
                </a:r>
                <a:endParaRPr lang="hu-HU" sz="20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800">
                    <a:effectLst/>
                    <a:ea typeface="Calibri" panose="020F0502020204030204" pitchFamily="34" charset="0"/>
                    <a:cs typeface="F29"/>
                  </a:rPr>
                  <a:t>kettő hatvány és 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F48"/>
                  </a:rPr>
                  <a:t>h</a:t>
                </a:r>
                <a:r>
                  <a:rPr lang="hu-HU" sz="1800" baseline="-25000">
                    <a:effectLst/>
                    <a:ea typeface="Calibri" panose="020F0502020204030204" pitchFamily="34" charset="0"/>
                    <a:cs typeface="F48"/>
                  </a:rPr>
                  <a:t>2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k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hu-HU" sz="1800">
                    <a:effectLst/>
                    <a:ea typeface="Calibri" panose="020F0502020204030204" pitchFamily="34" charset="0"/>
                    <a:cs typeface="F29"/>
                  </a:rPr>
                  <a:t>minden lehetséges kulcsra páratlan szám </a:t>
                </a:r>
                <a:endParaRPr lang="hu-HU" sz="18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>
                    <a:effectLst/>
                    <a:ea typeface="Calibri" panose="020F0502020204030204" pitchFamily="34" charset="0"/>
                    <a:cs typeface="CMMI12"/>
                  </a:rPr>
                  <a:t>m </a:t>
                </a:r>
                <a:r>
                  <a:rPr lang="hu-HU" sz="1800">
                    <a:effectLst/>
                    <a:ea typeface="Calibri" panose="020F0502020204030204" pitchFamily="34" charset="0"/>
                    <a:cs typeface="F29"/>
                  </a:rPr>
                  <a:t>prímszám</a:t>
                </a:r>
                <a:endParaRPr lang="hu-HU" sz="18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>
                    <a:effectLst/>
                    <a:ea typeface="Calibri" panose="020F0502020204030204" pitchFamily="34" charset="0"/>
                    <a:cs typeface="F29"/>
                  </a:rPr>
                  <a:t>Példa</a:t>
                </a:r>
                <a:r>
                  <a:rPr lang="hu-HU" sz="2000">
                    <a:ea typeface="Calibri" panose="020F0502020204030204" pitchFamily="34" charset="0"/>
                    <a:cs typeface="F29"/>
                  </a:rPr>
                  <a:t>:</a:t>
                </a:r>
                <a:endParaRPr lang="hu-HU" sz="2000">
                  <a:effectLst/>
                  <a:ea typeface="Calibri" panose="020F0502020204030204" pitchFamily="34" charset="0"/>
                  <a:cs typeface="F29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>
                    <a:effectLst/>
                    <a:ea typeface="Calibri" panose="020F0502020204030204" pitchFamily="34" charset="0"/>
                    <a:cs typeface="F29"/>
                  </a:rPr>
                  <a:t>ha 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800">
                    <a:effectLst/>
                    <a:ea typeface="Calibri" panose="020F0502020204030204" pitchFamily="34" charset="0"/>
                    <a:cs typeface="F29"/>
                  </a:rPr>
                  <a:t>prímszám (ami lehetőleg ne essen kettő hatvány közelébe) 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>
                    <a:effectLst/>
                    <a:ea typeface="Calibri" panose="020F0502020204030204" pitchFamily="34" charset="0"/>
                    <a:cs typeface="F29"/>
                  </a:rPr>
                  <a:t> 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hu-HU" sz="1800" i="1">
                    <a:effectLst/>
                    <a:ea typeface="CMMI12"/>
                    <a:cs typeface="CMMI12"/>
                  </a:rPr>
                  <a:t>’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SY8"/>
                  </a:rPr>
                  <a:t> </a:t>
                </a:r>
                <a:r>
                  <a:rPr lang="hu-HU" sz="1800">
                    <a:effectLst/>
                    <a:ea typeface="Calibri" panose="020F0502020204030204" pitchFamily="34" charset="0"/>
                    <a:cs typeface="F29"/>
                  </a:rPr>
                  <a:t>kicsit kisebb (mondjuk 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en-US" sz="1800">
                    <a:effectLst/>
                    <a:ea typeface="Calibri" panose="020F0502020204030204" pitchFamily="34" charset="0"/>
                    <a:cs typeface="CMSY8"/>
                  </a:rPr>
                  <a:t>′ 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= 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1800">
                    <a:effectLst/>
                    <a:ea typeface="Calibri" panose="020F0502020204030204" pitchFamily="34" charset="0"/>
                    <a:cs typeface="CMSY10"/>
                  </a:rPr>
                  <a:t>− 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1 </a:t>
                </a:r>
                <a:r>
                  <a:rPr lang="hu-HU" sz="1800">
                    <a:effectLst/>
                    <a:ea typeface="Calibri" panose="020F0502020204030204" pitchFamily="34" charset="0"/>
                    <a:cs typeface="F29"/>
                  </a:rPr>
                  <a:t>vagy 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en-US" sz="1800">
                    <a:effectLst/>
                    <a:ea typeface="Calibri" panose="020F0502020204030204" pitchFamily="34" charset="0"/>
                    <a:cs typeface="CMSY8"/>
                  </a:rPr>
                  <a:t>′ 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= 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1800">
                    <a:effectLst/>
                    <a:ea typeface="Calibri" panose="020F0502020204030204" pitchFamily="34" charset="0"/>
                    <a:cs typeface="CMSY10"/>
                  </a:rPr>
                  <a:t>− 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2</a:t>
                </a:r>
                <a:r>
                  <a:rPr lang="hu-HU" sz="1800">
                    <a:effectLst/>
                    <a:ea typeface="Calibri" panose="020F0502020204030204" pitchFamily="34" charset="0"/>
                    <a:cs typeface="F29"/>
                  </a:rPr>
                  <a:t>) </a:t>
                </a:r>
                <a:endParaRPr lang="hu-HU" sz="18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hu-HU" sz="1800" i="1">
                    <a:effectLst/>
                    <a:ea typeface="Calibri" panose="020F0502020204030204" pitchFamily="34" charset="0"/>
                    <a:cs typeface="F48"/>
                  </a:rPr>
                  <a:t>h</a:t>
                </a:r>
                <a:r>
                  <a:rPr lang="hu-HU" sz="1800" baseline="-25000">
                    <a:effectLst/>
                    <a:ea typeface="Calibri" panose="020F0502020204030204" pitchFamily="34" charset="0"/>
                    <a:cs typeface="F48"/>
                  </a:rPr>
                  <a:t>1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k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) = 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k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800" err="1">
                    <a:effectLst/>
                    <a:ea typeface="Calibri" panose="020F0502020204030204" pitchFamily="34" charset="0"/>
                    <a:cs typeface="CMR12"/>
                  </a:rPr>
                  <a:t>mod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 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MI12"/>
                  </a:rPr>
                  <a:t> 	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F48"/>
                  </a:rPr>
                  <a:t>h</a:t>
                </a:r>
                <a:r>
                  <a:rPr lang="hu-HU" sz="1800" baseline="-25000">
                    <a:effectLst/>
                    <a:ea typeface="Calibri" panose="020F0502020204030204" pitchFamily="34" charset="0"/>
                    <a:cs typeface="F48"/>
                  </a:rPr>
                  <a:t>2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k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) = 1 + (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k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800" err="1">
                    <a:effectLst/>
                    <a:ea typeface="Calibri" panose="020F0502020204030204" pitchFamily="34" charset="0"/>
                    <a:cs typeface="CMR12"/>
                  </a:rPr>
                  <a:t>mod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 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en-US" sz="1800">
                    <a:effectLst/>
                    <a:ea typeface="Calibri" panose="020F0502020204030204" pitchFamily="34" charset="0"/>
                    <a:cs typeface="CMSY8"/>
                  </a:rPr>
                  <a:t>′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endParaRPr lang="hu-HU" sz="18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D10EA2D5-2816-7B43-F83C-0F9D25FDBD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282262"/>
                <a:ext cx="10018713" cy="4939862"/>
              </a:xfrm>
              <a:blipFill>
                <a:blip r:embed="rId2"/>
                <a:stretch>
                  <a:fillRect l="-1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77505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20D5C-68D5-5B17-A07B-331A5C715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15798DD-D461-3485-BFD0-C2B35AB32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79439"/>
            <a:ext cx="10018713" cy="887361"/>
          </a:xfrm>
        </p:spPr>
        <p:txBody>
          <a:bodyPr/>
          <a:lstStyle/>
          <a:p>
            <a:r>
              <a:rPr lang="hu-HU"/>
              <a:t>Kettős hasítás (</a:t>
            </a:r>
            <a:r>
              <a:rPr lang="hu-HU" err="1"/>
              <a:t>double</a:t>
            </a:r>
            <a:r>
              <a:rPr lang="hu-HU"/>
              <a:t> </a:t>
            </a:r>
            <a:r>
              <a:rPr lang="hu-HU" err="1"/>
              <a:t>hashing</a:t>
            </a:r>
            <a:r>
              <a:rPr lang="hu-HU"/>
              <a:t>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D4160F5-E010-E802-AAD0-11B1CC146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82262"/>
            <a:ext cx="10018713" cy="4939862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Minden különböző 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i="1">
                <a:effectLst/>
                <a:ea typeface="Calibri" panose="020F0502020204030204" pitchFamily="34" charset="0"/>
                <a:cs typeface="F48"/>
              </a:rPr>
              <a:t>h</a:t>
            </a:r>
            <a:r>
              <a:rPr lang="hu-HU" baseline="-25000">
                <a:effectLst/>
                <a:ea typeface="Calibri" panose="020F0502020204030204" pitchFamily="34" charset="0"/>
                <a:cs typeface="F48"/>
              </a:rPr>
              <a:t>1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)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i="1">
                <a:effectLst/>
                <a:ea typeface="Calibri" panose="020F0502020204030204" pitchFamily="34" charset="0"/>
                <a:cs typeface="F48"/>
              </a:rPr>
              <a:t>h</a:t>
            </a:r>
            <a:r>
              <a:rPr lang="hu-HU" baseline="-25000">
                <a:effectLst/>
                <a:ea typeface="Calibri" panose="020F0502020204030204" pitchFamily="34" charset="0"/>
                <a:cs typeface="F48"/>
              </a:rPr>
              <a:t>2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)) 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pároshoz különböző próbasorozat tartozik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1800">
                <a:effectLst/>
                <a:ea typeface="Calibri" panose="020F0502020204030204" pitchFamily="34" charset="0"/>
                <a:cs typeface="F29"/>
              </a:rPr>
              <a:t> </a:t>
            </a:r>
            <a:r>
              <a:rPr lang="en-US">
                <a:effectLst/>
                <a:ea typeface="Calibri" panose="020F0502020204030204" pitchFamily="34" charset="0"/>
                <a:cs typeface="CMR12"/>
              </a:rPr>
              <a:t>Θ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m</a:t>
            </a:r>
            <a:r>
              <a:rPr lang="hu-HU" baseline="30000">
                <a:effectLst/>
                <a:ea typeface="Calibri" panose="020F0502020204030204" pitchFamily="34" charset="0"/>
                <a:cs typeface="CMR8"/>
              </a:rPr>
              <a:t>2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különböző próbasorozat lehetséges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messze van az ideális </a:t>
            </a:r>
            <a:r>
              <a:rPr lang="hu-HU" sz="2000" i="1">
                <a:effectLst/>
                <a:ea typeface="Calibri" panose="020F0502020204030204" pitchFamily="34" charset="0"/>
                <a:cs typeface="CMMI12"/>
              </a:rPr>
              <a:t>m</a:t>
            </a:r>
            <a:r>
              <a:rPr lang="hu-HU" sz="2000">
                <a:effectLst/>
                <a:ea typeface="Calibri" panose="020F0502020204030204" pitchFamily="34" charset="0"/>
                <a:cs typeface="CMR12"/>
              </a:rPr>
              <a:t>! </a:t>
            </a: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számú próbasorozattól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mégis jól közelíti annak működését</a:t>
            </a:r>
            <a:endParaRPr lang="hu-HU" sz="2000">
              <a:ea typeface="Calibri" panose="020F0502020204030204" pitchFamily="34" charset="0"/>
              <a:cs typeface="F29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>
                <a:ea typeface="Calibri" panose="020F0502020204030204" pitchFamily="34" charset="0"/>
              </a:rPr>
              <a:t>Példa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sz="1800">
                <a:ea typeface="Calibri" panose="020F0502020204030204" pitchFamily="34" charset="0"/>
              </a:rPr>
              <a:t> </a:t>
            </a:r>
            <a:r>
              <a:rPr lang="hu-HU" sz="1800" i="1">
                <a:ea typeface="Calibri" panose="020F0502020204030204" pitchFamily="34" charset="0"/>
              </a:rPr>
              <a:t>m</a:t>
            </a:r>
            <a:r>
              <a:rPr lang="hu-HU" sz="1800">
                <a:ea typeface="Calibri" panose="020F0502020204030204" pitchFamily="34" charset="0"/>
              </a:rPr>
              <a:t>=1609 és </a:t>
            </a:r>
            <a:r>
              <a:rPr lang="hu-HU" sz="1800" i="1">
                <a:ea typeface="Calibri" panose="020F0502020204030204" pitchFamily="34" charset="0"/>
              </a:rPr>
              <a:t>m’</a:t>
            </a:r>
            <a:r>
              <a:rPr lang="hu-HU" sz="1800">
                <a:ea typeface="Calibri" panose="020F0502020204030204" pitchFamily="34" charset="0"/>
              </a:rPr>
              <a:t>=1607 (</a:t>
            </a:r>
            <a:r>
              <a:rPr lang="hu-HU" sz="1800" err="1">
                <a:ea typeface="Calibri" panose="020F0502020204030204" pitchFamily="34" charset="0"/>
              </a:rPr>
              <a:t>ikerpírmek</a:t>
            </a:r>
            <a:r>
              <a:rPr lang="hu-HU" sz="1800">
                <a:ea typeface="Calibri" panose="020F0502020204030204" pitchFamily="34" charset="0"/>
              </a:rPr>
              <a:t>)</a:t>
            </a:r>
          </a:p>
          <a:p>
            <a:pPr lvl="3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1800">
                <a:ea typeface="Calibri" panose="020F0502020204030204" pitchFamily="34" charset="0"/>
              </a:rPr>
              <a:t>2.585.663 különböző </a:t>
            </a:r>
            <a:r>
              <a:rPr lang="hu-HU" sz="1800" b="0" i="0" u="none" strike="noStrike" baseline="0"/>
              <a:t>potenciális próbasorozat</a:t>
            </a:r>
          </a:p>
          <a:p>
            <a:pPr lvl="4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hu-HU" sz="1800">
                <a:ea typeface="Calibri" panose="020F0502020204030204" pitchFamily="34" charset="0"/>
              </a:rPr>
              <a:t>Lineáris és négyzetes próba estén: 1609</a:t>
            </a:r>
            <a:endParaRPr lang="hu-HU" sz="1800"/>
          </a:p>
        </p:txBody>
      </p:sp>
    </p:spTree>
    <p:extLst>
      <p:ext uri="{BB962C8B-B14F-4D97-AF65-F5344CB8AC3E}">
        <p14:creationId xmlns:p14="http://schemas.microsoft.com/office/powerpoint/2010/main" val="1984856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05432" y="562060"/>
            <a:ext cx="4108081" cy="1568419"/>
          </a:xfrm>
        </p:spPr>
        <p:txBody>
          <a:bodyPr>
            <a:normAutofit/>
          </a:bodyPr>
          <a:lstStyle/>
          <a:p>
            <a:r>
              <a:rPr lang="hu-HU"/>
              <a:t>Kettős hasítás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637750" y="-2046663"/>
                <a:ext cx="8596668" cy="4574908"/>
              </a:xfrm>
            </p:spPr>
            <p:txBody>
              <a:bodyPr/>
              <a:lstStyle/>
              <a:p>
                <a:endParaRPr lang="hu-HU"/>
              </a:p>
              <a:p>
                <a:r>
                  <a:rPr lang="hu-HU" i="1"/>
                  <a:t>h</a:t>
                </a:r>
                <a:r>
                  <a:rPr lang="hu-HU"/>
                  <a:t>(</a:t>
                </a:r>
                <a:r>
                  <a:rPr lang="hu-HU" i="1"/>
                  <a:t>k, i</a:t>
                </a:r>
                <a:r>
                  <a:rPr lang="hu-HU"/>
                  <a:t>) = (</a:t>
                </a:r>
                <a:r>
                  <a:rPr lang="hu-HU" i="1"/>
                  <a:t>h</a:t>
                </a:r>
                <a:r>
                  <a:rPr lang="hu-HU" baseline="-25000"/>
                  <a:t>1</a:t>
                </a:r>
                <a:r>
                  <a:rPr lang="hu-HU"/>
                  <a:t>(</a:t>
                </a:r>
                <a:r>
                  <a:rPr lang="hu-HU" i="1"/>
                  <a:t>k</a:t>
                </a:r>
                <a:r>
                  <a:rPr lang="hu-HU"/>
                  <a:t>)+ </a:t>
                </a:r>
                <a:r>
                  <a:rPr lang="hu-HU" i="1"/>
                  <a:t>i</a:t>
                </a:r>
                <a:r>
                  <a:rPr lang="hu-HU"/>
                  <a:t> · </a:t>
                </a:r>
                <a:r>
                  <a:rPr lang="hu-HU" i="1"/>
                  <a:t>h</a:t>
                </a:r>
                <a:r>
                  <a:rPr lang="hu-HU" baseline="-25000"/>
                  <a:t>2</a:t>
                </a:r>
                <a:r>
                  <a:rPr lang="hu-HU"/>
                  <a:t>(</a:t>
                </a:r>
                <a:r>
                  <a:rPr lang="hu-HU" i="1"/>
                  <a:t>k</a:t>
                </a:r>
                <a:r>
                  <a:rPr lang="hu-HU"/>
                  <a:t>)) </a:t>
                </a:r>
                <a:r>
                  <a:rPr lang="hu-HU" err="1"/>
                  <a:t>mod</a:t>
                </a:r>
                <a:r>
                  <a:rPr lang="hu-HU"/>
                  <a:t> </a:t>
                </a:r>
                <a:r>
                  <a:rPr lang="hu-HU" i="1"/>
                  <a:t>m</a:t>
                </a:r>
                <a:r>
                  <a:rPr lang="hu-HU"/>
                  <a:t> (</a:t>
                </a:r>
                <a:r>
                  <a:rPr lang="hu-HU" i="1"/>
                  <a:t>i</a:t>
                </a:r>
                <a:r>
                  <a:rPr lang="hu-HU"/>
                  <a:t> </a:t>
                </a:r>
                <a14:m>
                  <m:oMath xmlns:m="http://schemas.openxmlformats.org/officeDocument/2006/math">
                    <m:r>
                      <a:rPr lang="hu-HU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hu-HU"/>
                  <a:t> 0..</a:t>
                </a:r>
                <a:r>
                  <a:rPr lang="hu-HU" i="1"/>
                  <a:t>m</a:t>
                </a:r>
                <a:r>
                  <a:rPr lang="hu-HU"/>
                  <a:t>-1) </a:t>
                </a:r>
              </a:p>
              <a:p>
                <a:r>
                  <a:rPr lang="en-US"/>
                  <a:t> P</a:t>
                </a:r>
                <a:r>
                  <a:rPr lang="hu-HU"/>
                  <a:t>é</a:t>
                </a:r>
                <a:r>
                  <a:rPr lang="en-US" err="1"/>
                  <a:t>lda</a:t>
                </a:r>
                <a:r>
                  <a:rPr lang="en-US"/>
                  <a:t>:</a:t>
                </a:r>
                <a:r>
                  <a:rPr lang="hu-HU"/>
                  <a:t> </a:t>
                </a:r>
                <a:r>
                  <a:rPr lang="en-US"/>
                  <a:t> </a:t>
                </a:r>
                <a:r>
                  <a:rPr lang="en-US" i="1"/>
                  <a:t>m</a:t>
                </a:r>
                <a:r>
                  <a:rPr lang="en-US"/>
                  <a:t> = 11, </a:t>
                </a:r>
                <a:r>
                  <a:rPr lang="hu-HU" i="1"/>
                  <a:t>h</a:t>
                </a:r>
                <a:r>
                  <a:rPr lang="hu-HU" baseline="-25000"/>
                  <a:t>1</a:t>
                </a:r>
                <a:r>
                  <a:rPr lang="hu-HU"/>
                  <a:t>(</a:t>
                </a:r>
                <a:r>
                  <a:rPr lang="hu-HU" i="1"/>
                  <a:t>k</a:t>
                </a:r>
                <a:r>
                  <a:rPr lang="hu-HU"/>
                  <a:t>)</a:t>
                </a:r>
                <a:r>
                  <a:rPr lang="en-US"/>
                  <a:t> = </a:t>
                </a:r>
                <a:r>
                  <a:rPr lang="en-US" i="1"/>
                  <a:t>k</a:t>
                </a:r>
                <a:r>
                  <a:rPr lang="en-US"/>
                  <a:t> mod 11</a:t>
                </a:r>
                <a:r>
                  <a:rPr lang="hu-HU"/>
                  <a:t>, </a:t>
                </a:r>
                <a:r>
                  <a:rPr lang="hu-HU" i="1"/>
                  <a:t>h</a:t>
                </a:r>
                <a:r>
                  <a:rPr lang="hu-HU" baseline="-25000"/>
                  <a:t>2</a:t>
                </a:r>
                <a:r>
                  <a:rPr lang="hu-HU"/>
                  <a:t>(</a:t>
                </a:r>
                <a:r>
                  <a:rPr lang="hu-HU" i="1"/>
                  <a:t>k</a:t>
                </a:r>
                <a:r>
                  <a:rPr lang="hu-HU"/>
                  <a:t>)</a:t>
                </a:r>
                <a:r>
                  <a:rPr lang="en-US"/>
                  <a:t> =</a:t>
                </a:r>
                <a:r>
                  <a:rPr lang="hu-HU"/>
                  <a:t>1+ (</a:t>
                </a:r>
                <a:r>
                  <a:rPr lang="en-US" i="1"/>
                  <a:t>k</a:t>
                </a:r>
                <a:r>
                  <a:rPr lang="en-US"/>
                  <a:t> mod 1</a:t>
                </a:r>
                <a:r>
                  <a:rPr lang="hu-HU"/>
                  <a:t>0)</a:t>
                </a:r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7750" y="-2046663"/>
                <a:ext cx="8596668" cy="4574908"/>
              </a:xfrm>
              <a:blipFill>
                <a:blip r:embed="rId3"/>
                <a:stretch>
                  <a:fillRect l="-1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áblázat 4"/>
          <p:cNvGraphicFramePr>
            <a:graphicFrameLocks noGrp="1"/>
          </p:cNvGraphicFramePr>
          <p:nvPr/>
        </p:nvGraphicFramePr>
        <p:xfrm>
          <a:off x="4389118" y="999065"/>
          <a:ext cx="6685283" cy="861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7753">
                  <a:extLst>
                    <a:ext uri="{9D8B030D-6E8A-4147-A177-3AD203B41FA5}">
                      <a16:colId xmlns:a16="http://schemas.microsoft.com/office/drawing/2014/main" val="2538351587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581106803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1851550320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1437807383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2765059415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951163473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1582643428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1725952424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4014628455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1079529502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845457948"/>
                    </a:ext>
                  </a:extLst>
                </a:gridCol>
              </a:tblGrid>
              <a:tr h="430954"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895575"/>
                  </a:ext>
                </a:extLst>
              </a:tr>
              <a:tr h="430954"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47397"/>
                  </a:ext>
                </a:extLst>
              </a:tr>
            </a:tbl>
          </a:graphicData>
        </a:graphic>
      </p:graphicFrame>
      <p:sp>
        <p:nvSpPr>
          <p:cNvPr id="20" name="Folyamatábra: Feldolgozás 19"/>
          <p:cNvSpPr/>
          <p:nvPr/>
        </p:nvSpPr>
        <p:spPr>
          <a:xfrm>
            <a:off x="5023228" y="1472225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34</a:t>
            </a:r>
          </a:p>
        </p:txBody>
      </p:sp>
      <p:sp>
        <p:nvSpPr>
          <p:cNvPr id="21" name="Folyamatábra: Feldolgozás 20"/>
          <p:cNvSpPr/>
          <p:nvPr/>
        </p:nvSpPr>
        <p:spPr>
          <a:xfrm>
            <a:off x="4400971" y="1473200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141</a:t>
            </a:r>
          </a:p>
        </p:txBody>
      </p:sp>
      <p:sp>
        <p:nvSpPr>
          <p:cNvPr id="22" name="Folyamatábra: Feldolgozás 21"/>
          <p:cNvSpPr/>
          <p:nvPr/>
        </p:nvSpPr>
        <p:spPr>
          <a:xfrm>
            <a:off x="6234446" y="1472225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25</a:t>
            </a:r>
          </a:p>
        </p:txBody>
      </p:sp>
      <p:sp>
        <p:nvSpPr>
          <p:cNvPr id="25" name="Folyamatábra: Feldolgozás 24"/>
          <p:cNvSpPr/>
          <p:nvPr/>
        </p:nvSpPr>
        <p:spPr>
          <a:xfrm>
            <a:off x="9883022" y="1472225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53</a:t>
            </a:r>
          </a:p>
        </p:txBody>
      </p:sp>
      <p:sp>
        <p:nvSpPr>
          <p:cNvPr id="26" name="Folyamatábra: Feldolgozás 25"/>
          <p:cNvSpPr/>
          <p:nvPr/>
        </p:nvSpPr>
        <p:spPr>
          <a:xfrm>
            <a:off x="8053791" y="1472225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55</a:t>
            </a:r>
          </a:p>
        </p:txBody>
      </p:sp>
      <p:sp>
        <p:nvSpPr>
          <p:cNvPr id="28" name="Folyamatábra: Feldolgozás 27"/>
          <p:cNvSpPr/>
          <p:nvPr/>
        </p:nvSpPr>
        <p:spPr>
          <a:xfrm>
            <a:off x="6869716" y="1466462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Folyamatábra: Feldolgozás 22"/>
          <p:cNvSpPr/>
          <p:nvPr/>
        </p:nvSpPr>
        <p:spPr>
          <a:xfrm>
            <a:off x="5625427" y="1472225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0</a:t>
            </a:r>
          </a:p>
        </p:txBody>
      </p:sp>
      <p:graphicFrame>
        <p:nvGraphicFramePr>
          <p:cNvPr id="14" name="Táblázat 13"/>
          <p:cNvGraphicFramePr>
            <a:graphicFrameLocks noGrp="1"/>
          </p:cNvGraphicFramePr>
          <p:nvPr/>
        </p:nvGraphicFramePr>
        <p:xfrm>
          <a:off x="440267" y="2950263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384048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/>
                        <a:t>Művelet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i="1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i="1"/>
                        <a:t>h</a:t>
                      </a:r>
                      <a:r>
                        <a:rPr lang="hu-HU" baseline="-25000"/>
                        <a:t>1</a:t>
                      </a:r>
                      <a:r>
                        <a:rPr lang="hu-HU"/>
                        <a:t>(</a:t>
                      </a:r>
                      <a:r>
                        <a:rPr lang="hu-HU" i="1"/>
                        <a:t>k</a:t>
                      </a:r>
                      <a:r>
                        <a:rPr lang="hu-HU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i="1"/>
                        <a:t>h</a:t>
                      </a:r>
                      <a:r>
                        <a:rPr lang="hu-HU" baseline="-25000"/>
                        <a:t>2</a:t>
                      </a:r>
                      <a:r>
                        <a:rPr lang="hu-HU"/>
                        <a:t>(</a:t>
                      </a:r>
                      <a:r>
                        <a:rPr lang="hu-HU" i="1"/>
                        <a:t>k</a:t>
                      </a:r>
                      <a:r>
                        <a:rPr lang="hu-HU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/>
                        <a:t>Próbasorozat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31" name="Táblázat 30"/>
          <p:cNvGraphicFramePr>
            <a:graphicFrameLocks noGrp="1"/>
          </p:cNvGraphicFramePr>
          <p:nvPr/>
        </p:nvGraphicFramePr>
        <p:xfrm>
          <a:off x="5393704" y="2967746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384048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/>
                        <a:t>Művelet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i="1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i="1"/>
                        <a:t>h</a:t>
                      </a:r>
                      <a:r>
                        <a:rPr lang="hu-HU" baseline="-25000"/>
                        <a:t>1</a:t>
                      </a:r>
                      <a:r>
                        <a:rPr lang="hu-HU"/>
                        <a:t>(</a:t>
                      </a:r>
                      <a:r>
                        <a:rPr lang="hu-HU" i="1"/>
                        <a:t>k</a:t>
                      </a:r>
                      <a:r>
                        <a:rPr lang="hu-HU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i="1"/>
                        <a:t>h</a:t>
                      </a:r>
                      <a:r>
                        <a:rPr lang="hu-HU" baseline="-25000"/>
                        <a:t>2</a:t>
                      </a:r>
                      <a:r>
                        <a:rPr lang="hu-HU"/>
                        <a:t>(</a:t>
                      </a:r>
                      <a:r>
                        <a:rPr lang="hu-HU" i="1"/>
                        <a:t>k</a:t>
                      </a:r>
                      <a:r>
                        <a:rPr lang="hu-HU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/>
                        <a:t>Próbasorozat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32" name="Táblázat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015309"/>
              </p:ext>
            </p:extLst>
          </p:nvPr>
        </p:nvGraphicFramePr>
        <p:xfrm>
          <a:off x="440267" y="3456513"/>
          <a:ext cx="4762671" cy="474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461618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727102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474688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Beszúr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33" name="Táblázat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2536455"/>
              </p:ext>
            </p:extLst>
          </p:nvPr>
        </p:nvGraphicFramePr>
        <p:xfrm>
          <a:off x="440267" y="3950548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461618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727102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Beszúr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53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34" name="Táblázat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229962"/>
              </p:ext>
            </p:extLst>
          </p:nvPr>
        </p:nvGraphicFramePr>
        <p:xfrm>
          <a:off x="440266" y="4448818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605534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583186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Beszúr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141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9, 0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35" name="Táblázat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436440"/>
              </p:ext>
            </p:extLst>
          </p:nvPr>
        </p:nvGraphicFramePr>
        <p:xfrm>
          <a:off x="440266" y="4942853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564894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623826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Beszúr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0, 1, 2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36" name="Táblázat 35"/>
          <p:cNvGraphicFramePr>
            <a:graphicFrameLocks noGrp="1"/>
          </p:cNvGraphicFramePr>
          <p:nvPr/>
        </p:nvGraphicFramePr>
        <p:xfrm>
          <a:off x="440266" y="5436888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461618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727102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Beszúr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0, 6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37" name="Táblázat 36"/>
          <p:cNvGraphicFramePr>
            <a:graphicFrameLocks noGrp="1"/>
          </p:cNvGraphicFramePr>
          <p:nvPr/>
        </p:nvGraphicFramePr>
        <p:xfrm>
          <a:off x="440266" y="5947373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461618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727102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Töröl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0, 6</a:t>
                      </a:r>
                      <a:r>
                        <a:rPr lang="hu-HU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38" name="Táblázat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850342"/>
              </p:ext>
            </p:extLst>
          </p:nvPr>
        </p:nvGraphicFramePr>
        <p:xfrm>
          <a:off x="5393704" y="3456513"/>
          <a:ext cx="4808972" cy="387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83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446707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774859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769376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775200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8723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Keres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83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hu-HU" b="0" i="1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hu-HU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10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✗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39" name="Táblázat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903611"/>
              </p:ext>
            </p:extLst>
          </p:nvPr>
        </p:nvGraphicFramePr>
        <p:xfrm>
          <a:off x="5393703" y="3983381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461618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727102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Beszúr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hu-HU" b="0" i="1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40" name="Táblázat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752292"/>
              </p:ext>
            </p:extLst>
          </p:nvPr>
        </p:nvGraphicFramePr>
        <p:xfrm>
          <a:off x="5428824" y="4931193"/>
          <a:ext cx="556639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3297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Töröl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0, 3 , 6</a:t>
                      </a:r>
                      <a:r>
                        <a:rPr lang="hu-HU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9 , 1, 4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✗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41" name="Táblázat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417075"/>
              </p:ext>
            </p:extLst>
          </p:nvPr>
        </p:nvGraphicFramePr>
        <p:xfrm>
          <a:off x="5440005" y="5439283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633039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555681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Töröl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0, 1, 2</a:t>
                      </a:r>
                      <a:r>
                        <a:rPr lang="hu-HU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42" name="Táblázat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594569"/>
              </p:ext>
            </p:extLst>
          </p:nvPr>
        </p:nvGraphicFramePr>
        <p:xfrm>
          <a:off x="5440004" y="5947373"/>
          <a:ext cx="525847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824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509673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802795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774015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982167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Beszúr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hu-HU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, 7, 1,6</a:t>
                      </a:r>
                      <a:r>
                        <a:rPr lang="hu-HU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,0,5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sp>
        <p:nvSpPr>
          <p:cNvPr id="43" name="Folyamatábra: Feldolgozás 42"/>
          <p:cNvSpPr/>
          <p:nvPr/>
        </p:nvSpPr>
        <p:spPr>
          <a:xfrm>
            <a:off x="8053790" y="1472759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D</a:t>
            </a:r>
          </a:p>
        </p:txBody>
      </p:sp>
      <p:sp>
        <p:nvSpPr>
          <p:cNvPr id="24" name="Folyamatábra: Feldolgozás 23"/>
          <p:cNvSpPr/>
          <p:nvPr/>
        </p:nvSpPr>
        <p:spPr>
          <a:xfrm>
            <a:off x="5625427" y="1473200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D</a:t>
            </a:r>
          </a:p>
        </p:txBody>
      </p:sp>
      <p:sp>
        <p:nvSpPr>
          <p:cNvPr id="44" name="Folyamatábra: Feldolgozás 43"/>
          <p:cNvSpPr/>
          <p:nvPr/>
        </p:nvSpPr>
        <p:spPr>
          <a:xfrm>
            <a:off x="10487328" y="1466453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" name="Folyamatábra: Feldolgozás 26"/>
          <p:cNvSpPr/>
          <p:nvPr/>
        </p:nvSpPr>
        <p:spPr>
          <a:xfrm>
            <a:off x="5623779" y="1446624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24</a:t>
            </a:r>
          </a:p>
        </p:txBody>
      </p:sp>
      <p:sp>
        <p:nvSpPr>
          <p:cNvPr id="45" name="Szövegdoboz 44"/>
          <p:cNvSpPr txBox="1"/>
          <p:nvPr/>
        </p:nvSpPr>
        <p:spPr>
          <a:xfrm>
            <a:off x="4224472" y="1889647"/>
            <a:ext cx="57035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Próbasorozat: számtani sorozat</a:t>
            </a:r>
          </a:p>
          <a:p>
            <a:pPr lvl="1"/>
            <a:r>
              <a:rPr lang="hu-HU"/>
              <a:t>Első elem:</a:t>
            </a:r>
            <a:r>
              <a:rPr lang="hu-HU" i="1"/>
              <a:t> </a:t>
            </a:r>
            <a:r>
              <a:rPr lang="en-US" i="1"/>
              <a:t>h</a:t>
            </a:r>
            <a:r>
              <a:rPr lang="hu-HU" baseline="-25000"/>
              <a:t>1</a:t>
            </a:r>
            <a:r>
              <a:rPr lang="en-US"/>
              <a:t> : N → 0..</a:t>
            </a:r>
            <a:r>
              <a:rPr lang="hu-HU" i="1"/>
              <a:t>m</a:t>
            </a:r>
            <a:r>
              <a:rPr lang="hu-HU"/>
              <a:t>-1</a:t>
            </a:r>
          </a:p>
          <a:p>
            <a:pPr lvl="1"/>
            <a:r>
              <a:rPr lang="hu-HU"/>
              <a:t>Differencia: kulcsonként eltérő: </a:t>
            </a:r>
            <a:r>
              <a:rPr lang="en-US" i="1"/>
              <a:t>h</a:t>
            </a:r>
            <a:r>
              <a:rPr lang="hu-HU" baseline="-25000"/>
              <a:t>2</a:t>
            </a:r>
            <a:r>
              <a:rPr lang="en-US"/>
              <a:t> : </a:t>
            </a:r>
            <a:r>
              <a:rPr lang="hu-HU"/>
              <a:t>U</a:t>
            </a:r>
            <a:r>
              <a:rPr lang="en-US"/>
              <a:t> → 0..</a:t>
            </a:r>
            <a:r>
              <a:rPr lang="hu-HU" i="1"/>
              <a:t>m</a:t>
            </a:r>
            <a:r>
              <a:rPr lang="hu-HU"/>
              <a:t>-1</a:t>
            </a:r>
          </a:p>
        </p:txBody>
      </p:sp>
      <p:graphicFrame>
        <p:nvGraphicFramePr>
          <p:cNvPr id="4" name="Táblázat 3">
            <a:extLst>
              <a:ext uri="{FF2B5EF4-FFF2-40B4-BE49-F238E27FC236}">
                <a16:creationId xmlns:a16="http://schemas.microsoft.com/office/drawing/2014/main" id="{A6D0EADD-59D9-BCA5-4E38-1D8244E4D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983383"/>
              </p:ext>
            </p:extLst>
          </p:nvPr>
        </p:nvGraphicFramePr>
        <p:xfrm>
          <a:off x="5411530" y="4436034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461618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727102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Beszúr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1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sp>
        <p:nvSpPr>
          <p:cNvPr id="6" name="Folyamatábra: Feldolgozás 5">
            <a:extLst>
              <a:ext uri="{FF2B5EF4-FFF2-40B4-BE49-F238E27FC236}">
                <a16:creationId xmlns:a16="http://schemas.microsoft.com/office/drawing/2014/main" id="{A510C6FA-6C1D-E114-BB5D-F5377902B545}"/>
              </a:ext>
            </a:extLst>
          </p:cNvPr>
          <p:cNvSpPr/>
          <p:nvPr/>
        </p:nvSpPr>
        <p:spPr>
          <a:xfrm>
            <a:off x="8676531" y="1466453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29</a:t>
            </a:r>
          </a:p>
        </p:txBody>
      </p:sp>
      <p:sp>
        <p:nvSpPr>
          <p:cNvPr id="9" name="Folyamatábra: Feldolgozás 8">
            <a:extLst>
              <a:ext uri="{FF2B5EF4-FFF2-40B4-BE49-F238E27FC236}">
                <a16:creationId xmlns:a16="http://schemas.microsoft.com/office/drawing/2014/main" id="{F12858FC-75F4-8399-8762-D7BE2C65753E}"/>
              </a:ext>
            </a:extLst>
          </p:cNvPr>
          <p:cNvSpPr/>
          <p:nvPr/>
        </p:nvSpPr>
        <p:spPr>
          <a:xfrm>
            <a:off x="7440799" y="1477741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75268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mph" presetSubtype="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9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7" presetClass="emph" presetSubtype="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9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5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7" presetClass="emph" presetSubtype="0" fill="remove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5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7" presetClass="emph" presetSubtype="0" fill="remove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5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6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0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1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000"/>
                            </p:stCondLst>
                            <p:childTnLst>
                              <p:par>
                                <p:cTn id="125" presetID="2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500"/>
                            </p:stCondLst>
                            <p:childTnLst>
                              <p:par>
                                <p:cTn id="1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7" presetClass="emph" presetSubtype="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9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0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7" presetClass="emph" presetSubtype="0" fill="remove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7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98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500"/>
                            </p:stCondLst>
                            <p:childTnLst>
                              <p:par>
                                <p:cTn id="202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3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04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5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6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1000"/>
                            </p:stCondLst>
                            <p:childTnLst>
                              <p:par>
                                <p:cTn id="208" presetID="27" presetClass="emph" presetSubtype="0" fill="remove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9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0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1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1500"/>
                            </p:stCondLst>
                            <p:childTnLst>
                              <p:par>
                                <p:cTn id="214" presetID="27" presetClass="emph" presetSubtype="0" fill="remove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5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6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8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20" presetID="27" presetClass="emph" presetSubtype="0" fill="remove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1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22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7" presetClass="emph" presetSubtype="0" fill="remove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1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42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3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4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1000"/>
                            </p:stCondLst>
                            <p:childTnLst>
                              <p:par>
                                <p:cTn id="246" presetID="27" presetClass="emph" presetSubtype="0" fill="remove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7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48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9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0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1500"/>
                            </p:stCondLst>
                            <p:childTnLst>
                              <p:par>
                                <p:cTn id="252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3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54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5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6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fill="hold">
                            <p:stCondLst>
                              <p:cond delay="2000"/>
                            </p:stCondLst>
                            <p:childTnLst>
                              <p:par>
                                <p:cTn id="258" presetID="2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>
                            <p:stCondLst>
                              <p:cond delay="2500"/>
                            </p:stCondLst>
                            <p:childTnLst>
                              <p:par>
                                <p:cTn id="2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27" presetClass="emph" presetSubtype="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7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78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9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0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3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84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5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6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8" presetID="27" presetClass="emph" presetSubtype="0" fill="remove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9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0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1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2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1500"/>
                            </p:stCondLst>
                            <p:childTnLst>
                              <p:par>
                                <p:cTn id="294" presetID="27" presetClass="emph" presetSubtype="0" fill="remove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5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6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7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8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0" presetID="27" presetClass="emph" presetSubtype="0" fill="remove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1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02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3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4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2500"/>
                            </p:stCondLst>
                            <p:childTnLst>
                              <p:par>
                                <p:cTn id="30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>
                            <p:stCondLst>
                              <p:cond delay="3000"/>
                            </p:stCondLst>
                            <p:childTnLst>
                              <p:par>
                                <p:cTn id="312" presetID="2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3500"/>
                            </p:stCondLst>
                            <p:childTnLst>
                              <p:par>
                                <p:cTn id="3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0" grpId="2" animBg="1"/>
      <p:bldP spid="20" grpId="3" animBg="1"/>
      <p:bldP spid="20" grpId="4" animBg="1"/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21" grpId="6" animBg="1"/>
      <p:bldP spid="22" grpId="0" animBg="1"/>
      <p:bldP spid="22" grpId="1" animBg="1"/>
      <p:bldP spid="25" grpId="0" animBg="1"/>
      <p:bldP spid="25" grpId="1" animBg="1"/>
      <p:bldP spid="25" grpId="2" animBg="1"/>
      <p:bldP spid="26" grpId="0" animBg="1"/>
      <p:bldP spid="26" grpId="1" animBg="1"/>
      <p:bldP spid="26" grpId="2" animBg="1"/>
      <p:bldP spid="28" grpId="0" animBg="1"/>
      <p:bldP spid="23" grpId="0" animBg="1"/>
      <p:bldP spid="23" grpId="1" animBg="1"/>
      <p:bldP spid="23" grpId="2" animBg="1"/>
      <p:bldP spid="43" grpId="0" animBg="1"/>
      <p:bldP spid="43" grpId="1" animBg="1"/>
      <p:bldP spid="43" grpId="2" animBg="1"/>
      <p:bldP spid="43" grpId="3" animBg="1"/>
      <p:bldP spid="24" grpId="0" animBg="1"/>
      <p:bldP spid="24" grpId="1" animBg="1"/>
      <p:bldP spid="24" grpId="2" animBg="1"/>
      <p:bldP spid="44" grpId="0" animBg="1"/>
      <p:bldP spid="27" grpId="0" animBg="1"/>
      <p:bldP spid="45" grpId="0"/>
      <p:bldP spid="6" grpId="0" animBg="1"/>
      <p:bldP spid="6" grpId="1" animBg="1"/>
      <p:bldP spid="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39F3E5-9E49-169E-B893-E5C0E192E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EEB6CFE-BB00-D9CB-0644-3D760B584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072" y="306073"/>
            <a:ext cx="10360968" cy="1082602"/>
          </a:xfrm>
        </p:spPr>
        <p:txBody>
          <a:bodyPr>
            <a:normAutofit/>
          </a:bodyPr>
          <a:lstStyle/>
          <a:p>
            <a:r>
              <a:rPr lang="hu-HU"/>
              <a:t>Kettős hasítás nem animált változata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DF186610-162D-4A19-A43C-27AFF5532A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0266" y="1228560"/>
                <a:ext cx="8596668" cy="1723724"/>
              </a:xfrm>
            </p:spPr>
            <p:txBody>
              <a:bodyPr/>
              <a:lstStyle/>
              <a:p>
                <a:r>
                  <a:rPr lang="hu-HU" i="1"/>
                  <a:t>h</a:t>
                </a:r>
                <a:r>
                  <a:rPr lang="hu-HU"/>
                  <a:t>(</a:t>
                </a:r>
                <a:r>
                  <a:rPr lang="hu-HU" i="1"/>
                  <a:t>k, i</a:t>
                </a:r>
                <a:r>
                  <a:rPr lang="hu-HU"/>
                  <a:t>) = (</a:t>
                </a:r>
                <a:r>
                  <a:rPr lang="hu-HU" i="1"/>
                  <a:t>h</a:t>
                </a:r>
                <a:r>
                  <a:rPr lang="hu-HU" baseline="-25000"/>
                  <a:t>1</a:t>
                </a:r>
                <a:r>
                  <a:rPr lang="hu-HU"/>
                  <a:t>(</a:t>
                </a:r>
                <a:r>
                  <a:rPr lang="hu-HU" i="1"/>
                  <a:t>k</a:t>
                </a:r>
                <a:r>
                  <a:rPr lang="hu-HU"/>
                  <a:t>)+ </a:t>
                </a:r>
                <a:r>
                  <a:rPr lang="hu-HU" i="1"/>
                  <a:t>i</a:t>
                </a:r>
                <a:r>
                  <a:rPr lang="hu-HU"/>
                  <a:t> · </a:t>
                </a:r>
                <a:r>
                  <a:rPr lang="hu-HU" i="1"/>
                  <a:t>h</a:t>
                </a:r>
                <a:r>
                  <a:rPr lang="hu-HU" baseline="-25000"/>
                  <a:t>2</a:t>
                </a:r>
                <a:r>
                  <a:rPr lang="hu-HU"/>
                  <a:t>(</a:t>
                </a:r>
                <a:r>
                  <a:rPr lang="hu-HU" i="1"/>
                  <a:t>k</a:t>
                </a:r>
                <a:r>
                  <a:rPr lang="hu-HU"/>
                  <a:t>)) </a:t>
                </a:r>
                <a:r>
                  <a:rPr lang="hu-HU" err="1"/>
                  <a:t>mod</a:t>
                </a:r>
                <a:r>
                  <a:rPr lang="hu-HU"/>
                  <a:t> </a:t>
                </a:r>
                <a:r>
                  <a:rPr lang="hu-HU" i="1"/>
                  <a:t>m</a:t>
                </a:r>
                <a:r>
                  <a:rPr lang="hu-HU"/>
                  <a:t> (</a:t>
                </a:r>
                <a:r>
                  <a:rPr lang="hu-HU" i="1"/>
                  <a:t>i</a:t>
                </a:r>
                <a:r>
                  <a:rPr lang="hu-HU"/>
                  <a:t> </a:t>
                </a:r>
                <a14:m>
                  <m:oMath xmlns:m="http://schemas.openxmlformats.org/officeDocument/2006/math">
                    <m:r>
                      <a:rPr lang="hu-HU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hu-HU"/>
                  <a:t> 0..</a:t>
                </a:r>
                <a:r>
                  <a:rPr lang="hu-HU" i="1"/>
                  <a:t>m</a:t>
                </a:r>
                <a:r>
                  <a:rPr lang="hu-HU"/>
                  <a:t>-1) </a:t>
                </a:r>
              </a:p>
              <a:p>
                <a:r>
                  <a:rPr lang="en-US"/>
                  <a:t> P</a:t>
                </a:r>
                <a:r>
                  <a:rPr lang="hu-HU"/>
                  <a:t>é</a:t>
                </a:r>
                <a:r>
                  <a:rPr lang="en-US" err="1"/>
                  <a:t>lda</a:t>
                </a:r>
                <a:r>
                  <a:rPr lang="en-US"/>
                  <a:t>:</a:t>
                </a:r>
                <a:r>
                  <a:rPr lang="hu-HU"/>
                  <a:t> </a:t>
                </a:r>
                <a:r>
                  <a:rPr lang="en-US"/>
                  <a:t> </a:t>
                </a:r>
                <a:r>
                  <a:rPr lang="en-US" i="1"/>
                  <a:t>m</a:t>
                </a:r>
                <a:r>
                  <a:rPr lang="en-US"/>
                  <a:t> = 11, </a:t>
                </a:r>
                <a:r>
                  <a:rPr lang="hu-HU" i="1"/>
                  <a:t>h</a:t>
                </a:r>
                <a:r>
                  <a:rPr lang="hu-HU" baseline="-25000"/>
                  <a:t>1</a:t>
                </a:r>
                <a:r>
                  <a:rPr lang="hu-HU"/>
                  <a:t>(</a:t>
                </a:r>
                <a:r>
                  <a:rPr lang="hu-HU" i="1"/>
                  <a:t>k</a:t>
                </a:r>
                <a:r>
                  <a:rPr lang="hu-HU"/>
                  <a:t>)</a:t>
                </a:r>
                <a:r>
                  <a:rPr lang="en-US"/>
                  <a:t> = </a:t>
                </a:r>
                <a:r>
                  <a:rPr lang="en-US" i="1"/>
                  <a:t>k</a:t>
                </a:r>
                <a:r>
                  <a:rPr lang="en-US"/>
                  <a:t> mod 11</a:t>
                </a:r>
                <a:r>
                  <a:rPr lang="hu-HU"/>
                  <a:t>, </a:t>
                </a:r>
                <a:r>
                  <a:rPr lang="hu-HU" i="1"/>
                  <a:t>h</a:t>
                </a:r>
                <a:r>
                  <a:rPr lang="hu-HU" baseline="-25000"/>
                  <a:t>2</a:t>
                </a:r>
                <a:r>
                  <a:rPr lang="hu-HU"/>
                  <a:t>(</a:t>
                </a:r>
                <a:r>
                  <a:rPr lang="hu-HU" i="1"/>
                  <a:t>k</a:t>
                </a:r>
                <a:r>
                  <a:rPr lang="hu-HU"/>
                  <a:t>)</a:t>
                </a:r>
                <a:r>
                  <a:rPr lang="en-US"/>
                  <a:t> =</a:t>
                </a:r>
                <a:r>
                  <a:rPr lang="hu-HU"/>
                  <a:t>1+ (</a:t>
                </a:r>
                <a:r>
                  <a:rPr lang="en-US" i="1"/>
                  <a:t>k</a:t>
                </a:r>
                <a:r>
                  <a:rPr lang="en-US"/>
                  <a:t> mod 1</a:t>
                </a:r>
                <a:r>
                  <a:rPr lang="hu-HU"/>
                  <a:t>0)</a:t>
                </a: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DF186610-162D-4A19-A43C-27AFF5532A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0266" y="1228560"/>
                <a:ext cx="8596668" cy="1723724"/>
              </a:xfrm>
              <a:blipFill>
                <a:blip r:embed="rId3"/>
                <a:stretch>
                  <a:fillRect l="-1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Táblázat 13">
            <a:extLst>
              <a:ext uri="{FF2B5EF4-FFF2-40B4-BE49-F238E27FC236}">
                <a16:creationId xmlns:a16="http://schemas.microsoft.com/office/drawing/2014/main" id="{272C3DCC-6D56-DE38-318E-32AEE86E97F6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2950263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384048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/>
                        <a:t>Művelet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i="1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i="1"/>
                        <a:t>h</a:t>
                      </a:r>
                      <a:r>
                        <a:rPr lang="hu-HU" baseline="-25000"/>
                        <a:t>1</a:t>
                      </a:r>
                      <a:r>
                        <a:rPr lang="hu-HU"/>
                        <a:t>(</a:t>
                      </a:r>
                      <a:r>
                        <a:rPr lang="hu-HU" i="1"/>
                        <a:t>k</a:t>
                      </a:r>
                      <a:r>
                        <a:rPr lang="hu-HU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i="1"/>
                        <a:t>h</a:t>
                      </a:r>
                      <a:r>
                        <a:rPr lang="hu-HU" baseline="-25000"/>
                        <a:t>2</a:t>
                      </a:r>
                      <a:r>
                        <a:rPr lang="hu-HU"/>
                        <a:t>(</a:t>
                      </a:r>
                      <a:r>
                        <a:rPr lang="hu-HU" i="1"/>
                        <a:t>k</a:t>
                      </a:r>
                      <a:r>
                        <a:rPr lang="hu-HU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/>
                        <a:t>Próbasorozat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32" name="Táblázat 31">
            <a:extLst>
              <a:ext uri="{FF2B5EF4-FFF2-40B4-BE49-F238E27FC236}">
                <a16:creationId xmlns:a16="http://schemas.microsoft.com/office/drawing/2014/main" id="{1BC19A97-FBF1-7F61-30CB-6F4C88E69FA1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3456513"/>
          <a:ext cx="4762671" cy="474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461618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727102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474688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Beszúr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33" name="Táblázat 32">
            <a:extLst>
              <a:ext uri="{FF2B5EF4-FFF2-40B4-BE49-F238E27FC236}">
                <a16:creationId xmlns:a16="http://schemas.microsoft.com/office/drawing/2014/main" id="{ABBCC1B1-EDAB-D322-ABD2-894B04B4BD10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3950548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461618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727102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Beszúr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53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34" name="Táblázat 33">
            <a:extLst>
              <a:ext uri="{FF2B5EF4-FFF2-40B4-BE49-F238E27FC236}">
                <a16:creationId xmlns:a16="http://schemas.microsoft.com/office/drawing/2014/main" id="{4155A0D2-871D-827B-9CD2-59E7E898E0EA}"/>
              </a:ext>
            </a:extLst>
          </p:cNvPr>
          <p:cNvGraphicFramePr>
            <a:graphicFrameLocks noGrp="1"/>
          </p:cNvGraphicFramePr>
          <p:nvPr/>
        </p:nvGraphicFramePr>
        <p:xfrm>
          <a:off x="440266" y="4448818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605534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583186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Beszúr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141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9, 0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35" name="Táblázat 34">
            <a:extLst>
              <a:ext uri="{FF2B5EF4-FFF2-40B4-BE49-F238E27FC236}">
                <a16:creationId xmlns:a16="http://schemas.microsoft.com/office/drawing/2014/main" id="{ADFB7659-CF7C-94A8-6104-8FF07CE3F30C}"/>
              </a:ext>
            </a:extLst>
          </p:cNvPr>
          <p:cNvGraphicFramePr>
            <a:graphicFrameLocks noGrp="1"/>
          </p:cNvGraphicFramePr>
          <p:nvPr/>
        </p:nvGraphicFramePr>
        <p:xfrm>
          <a:off x="440266" y="4942853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564894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623826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Beszúr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0, 1, 2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36" name="Táblázat 35">
            <a:extLst>
              <a:ext uri="{FF2B5EF4-FFF2-40B4-BE49-F238E27FC236}">
                <a16:creationId xmlns:a16="http://schemas.microsoft.com/office/drawing/2014/main" id="{06563A7A-BC59-E68F-BFBC-C15DA7F78190}"/>
              </a:ext>
            </a:extLst>
          </p:cNvPr>
          <p:cNvGraphicFramePr>
            <a:graphicFrameLocks noGrp="1"/>
          </p:cNvGraphicFramePr>
          <p:nvPr/>
        </p:nvGraphicFramePr>
        <p:xfrm>
          <a:off x="440266" y="5436888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461618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727102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Beszúr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0, 6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37" name="Táblázat 36">
            <a:extLst>
              <a:ext uri="{FF2B5EF4-FFF2-40B4-BE49-F238E27FC236}">
                <a16:creationId xmlns:a16="http://schemas.microsoft.com/office/drawing/2014/main" id="{34A4C89A-6BCA-FD64-FF24-2CBCF3E76A5E}"/>
              </a:ext>
            </a:extLst>
          </p:cNvPr>
          <p:cNvGraphicFramePr>
            <a:graphicFrameLocks noGrp="1"/>
          </p:cNvGraphicFramePr>
          <p:nvPr/>
        </p:nvGraphicFramePr>
        <p:xfrm>
          <a:off x="440266" y="5947373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461618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727102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Töröl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0, 6</a:t>
                      </a:r>
                      <a:r>
                        <a:rPr lang="hu-HU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pic>
        <p:nvPicPr>
          <p:cNvPr id="7" name="Kép 6">
            <a:extLst>
              <a:ext uri="{FF2B5EF4-FFF2-40B4-BE49-F238E27FC236}">
                <a16:creationId xmlns:a16="http://schemas.microsoft.com/office/drawing/2014/main" id="{962E311B-D1ED-61C3-E19A-ECB2D7492E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1320" y="3043237"/>
            <a:ext cx="5760720" cy="710565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B910D01E-A4AA-F023-6E92-9C870C8D68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1320" y="3988117"/>
            <a:ext cx="5760720" cy="335915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8AF7BE6B-AEFE-544A-6E61-E8D825933F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1320" y="4475797"/>
            <a:ext cx="5760720" cy="344805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380D6BF3-C085-0945-48BA-4E6D950A1A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1320" y="4983797"/>
            <a:ext cx="5760720" cy="316230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8367D77E-DE7A-F20C-55B2-7A606FC0D9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1320" y="5481637"/>
            <a:ext cx="5760720" cy="329565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2D3FEB9F-5DB1-AEDF-153D-2BACB8A878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1320" y="5898197"/>
            <a:ext cx="5760720" cy="3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4571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B8E174-C607-136B-E61B-8FF1774F1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DEEBDAE-23C1-182E-4559-F22E7FEEB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370" y="34681"/>
            <a:ext cx="10360968" cy="1082602"/>
          </a:xfrm>
        </p:spPr>
        <p:txBody>
          <a:bodyPr>
            <a:normAutofit/>
          </a:bodyPr>
          <a:lstStyle/>
          <a:p>
            <a:r>
              <a:rPr lang="hu-HU"/>
              <a:t>Kettős hasítás nem animált változata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BD232BD0-AF3F-2C80-D801-26D6B903CC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8183" y="1006920"/>
                <a:ext cx="8596668" cy="1169944"/>
              </a:xfrm>
            </p:spPr>
            <p:txBody>
              <a:bodyPr/>
              <a:lstStyle/>
              <a:p>
                <a:r>
                  <a:rPr lang="hu-HU" i="1"/>
                  <a:t>h</a:t>
                </a:r>
                <a:r>
                  <a:rPr lang="hu-HU"/>
                  <a:t>(</a:t>
                </a:r>
                <a:r>
                  <a:rPr lang="hu-HU" i="1"/>
                  <a:t>k, i</a:t>
                </a:r>
                <a:r>
                  <a:rPr lang="hu-HU"/>
                  <a:t>) = (</a:t>
                </a:r>
                <a:r>
                  <a:rPr lang="hu-HU" i="1"/>
                  <a:t>h</a:t>
                </a:r>
                <a:r>
                  <a:rPr lang="hu-HU" baseline="-25000"/>
                  <a:t>1</a:t>
                </a:r>
                <a:r>
                  <a:rPr lang="hu-HU"/>
                  <a:t>(</a:t>
                </a:r>
                <a:r>
                  <a:rPr lang="hu-HU" i="1"/>
                  <a:t>k</a:t>
                </a:r>
                <a:r>
                  <a:rPr lang="hu-HU"/>
                  <a:t>)+ </a:t>
                </a:r>
                <a:r>
                  <a:rPr lang="hu-HU" i="1"/>
                  <a:t>i</a:t>
                </a:r>
                <a:r>
                  <a:rPr lang="hu-HU"/>
                  <a:t> · </a:t>
                </a:r>
                <a:r>
                  <a:rPr lang="hu-HU" i="1"/>
                  <a:t>h</a:t>
                </a:r>
                <a:r>
                  <a:rPr lang="hu-HU" baseline="-25000"/>
                  <a:t>2</a:t>
                </a:r>
                <a:r>
                  <a:rPr lang="hu-HU"/>
                  <a:t>(</a:t>
                </a:r>
                <a:r>
                  <a:rPr lang="hu-HU" i="1"/>
                  <a:t>k</a:t>
                </a:r>
                <a:r>
                  <a:rPr lang="hu-HU"/>
                  <a:t>)) </a:t>
                </a:r>
                <a:r>
                  <a:rPr lang="hu-HU" err="1"/>
                  <a:t>mod</a:t>
                </a:r>
                <a:r>
                  <a:rPr lang="hu-HU"/>
                  <a:t> </a:t>
                </a:r>
                <a:r>
                  <a:rPr lang="hu-HU" i="1"/>
                  <a:t>m</a:t>
                </a:r>
                <a:r>
                  <a:rPr lang="hu-HU"/>
                  <a:t> (</a:t>
                </a:r>
                <a:r>
                  <a:rPr lang="hu-HU" i="1"/>
                  <a:t>i</a:t>
                </a:r>
                <a:r>
                  <a:rPr lang="hu-HU"/>
                  <a:t> </a:t>
                </a:r>
                <a14:m>
                  <m:oMath xmlns:m="http://schemas.openxmlformats.org/officeDocument/2006/math">
                    <m:r>
                      <a:rPr lang="hu-HU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hu-HU"/>
                  <a:t> 0..</a:t>
                </a:r>
                <a:r>
                  <a:rPr lang="hu-HU" i="1"/>
                  <a:t>m</a:t>
                </a:r>
                <a:r>
                  <a:rPr lang="hu-HU"/>
                  <a:t>-1) </a:t>
                </a:r>
              </a:p>
              <a:p>
                <a:r>
                  <a:rPr lang="en-US"/>
                  <a:t> P</a:t>
                </a:r>
                <a:r>
                  <a:rPr lang="hu-HU"/>
                  <a:t>é</a:t>
                </a:r>
                <a:r>
                  <a:rPr lang="en-US" err="1"/>
                  <a:t>lda</a:t>
                </a:r>
                <a:r>
                  <a:rPr lang="en-US"/>
                  <a:t>:</a:t>
                </a:r>
                <a:r>
                  <a:rPr lang="hu-HU"/>
                  <a:t> </a:t>
                </a:r>
                <a:r>
                  <a:rPr lang="en-US"/>
                  <a:t> </a:t>
                </a:r>
                <a:r>
                  <a:rPr lang="en-US" i="1"/>
                  <a:t>m</a:t>
                </a:r>
                <a:r>
                  <a:rPr lang="en-US"/>
                  <a:t> = 11, </a:t>
                </a:r>
                <a:r>
                  <a:rPr lang="hu-HU" i="1"/>
                  <a:t>h</a:t>
                </a:r>
                <a:r>
                  <a:rPr lang="hu-HU" baseline="-25000"/>
                  <a:t>1</a:t>
                </a:r>
                <a:r>
                  <a:rPr lang="hu-HU"/>
                  <a:t>(</a:t>
                </a:r>
                <a:r>
                  <a:rPr lang="hu-HU" i="1"/>
                  <a:t>k</a:t>
                </a:r>
                <a:r>
                  <a:rPr lang="hu-HU"/>
                  <a:t>)</a:t>
                </a:r>
                <a:r>
                  <a:rPr lang="en-US"/>
                  <a:t> = </a:t>
                </a:r>
                <a:r>
                  <a:rPr lang="en-US" i="1"/>
                  <a:t>k</a:t>
                </a:r>
                <a:r>
                  <a:rPr lang="en-US"/>
                  <a:t> mod 11</a:t>
                </a:r>
                <a:r>
                  <a:rPr lang="hu-HU"/>
                  <a:t>, </a:t>
                </a:r>
                <a:r>
                  <a:rPr lang="hu-HU" i="1"/>
                  <a:t>h</a:t>
                </a:r>
                <a:r>
                  <a:rPr lang="hu-HU" baseline="-25000"/>
                  <a:t>2</a:t>
                </a:r>
                <a:r>
                  <a:rPr lang="hu-HU"/>
                  <a:t>(</a:t>
                </a:r>
                <a:r>
                  <a:rPr lang="hu-HU" i="1"/>
                  <a:t>k</a:t>
                </a:r>
                <a:r>
                  <a:rPr lang="hu-HU"/>
                  <a:t>)</a:t>
                </a:r>
                <a:r>
                  <a:rPr lang="en-US"/>
                  <a:t> =</a:t>
                </a:r>
                <a:r>
                  <a:rPr lang="hu-HU"/>
                  <a:t>1+ (</a:t>
                </a:r>
                <a:r>
                  <a:rPr lang="en-US" i="1"/>
                  <a:t>k</a:t>
                </a:r>
                <a:r>
                  <a:rPr lang="en-US"/>
                  <a:t> mod 1</a:t>
                </a:r>
                <a:r>
                  <a:rPr lang="hu-HU"/>
                  <a:t>0)</a:t>
                </a: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BD232BD0-AF3F-2C80-D801-26D6B903CC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8183" y="1006920"/>
                <a:ext cx="8596668" cy="1169944"/>
              </a:xfrm>
              <a:blipFill>
                <a:blip r:embed="rId3"/>
                <a:stretch>
                  <a:fillRect l="-1773" t="-7813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1" name="Táblázat 30">
            <a:extLst>
              <a:ext uri="{FF2B5EF4-FFF2-40B4-BE49-F238E27FC236}">
                <a16:creationId xmlns:a16="http://schemas.microsoft.com/office/drawing/2014/main" id="{AC73704C-336F-49FF-9B78-5D1489CDC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82431"/>
              </p:ext>
            </p:extLst>
          </p:nvPr>
        </p:nvGraphicFramePr>
        <p:xfrm>
          <a:off x="598184" y="2124466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384048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/>
                        <a:t>Művelet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i="1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i="1"/>
                        <a:t>h</a:t>
                      </a:r>
                      <a:r>
                        <a:rPr lang="hu-HU" baseline="-25000"/>
                        <a:t>1</a:t>
                      </a:r>
                      <a:r>
                        <a:rPr lang="hu-HU"/>
                        <a:t>(</a:t>
                      </a:r>
                      <a:r>
                        <a:rPr lang="hu-HU" i="1"/>
                        <a:t>k</a:t>
                      </a:r>
                      <a:r>
                        <a:rPr lang="hu-HU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i="1"/>
                        <a:t>h</a:t>
                      </a:r>
                      <a:r>
                        <a:rPr lang="hu-HU" baseline="-25000"/>
                        <a:t>2</a:t>
                      </a:r>
                      <a:r>
                        <a:rPr lang="hu-HU"/>
                        <a:t>(</a:t>
                      </a:r>
                      <a:r>
                        <a:rPr lang="hu-HU" i="1"/>
                        <a:t>k</a:t>
                      </a:r>
                      <a:r>
                        <a:rPr lang="hu-HU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/>
                        <a:t>Próbasorozat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38" name="Táblázat 37">
            <a:extLst>
              <a:ext uri="{FF2B5EF4-FFF2-40B4-BE49-F238E27FC236}">
                <a16:creationId xmlns:a16="http://schemas.microsoft.com/office/drawing/2014/main" id="{9827890B-D8D8-EAD0-8542-7F86FEECBB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255830"/>
              </p:ext>
            </p:extLst>
          </p:nvPr>
        </p:nvGraphicFramePr>
        <p:xfrm>
          <a:off x="598184" y="2613233"/>
          <a:ext cx="4808972" cy="387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83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446707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774859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769376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775200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8723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Keres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83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hu-HU" b="0" i="1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hu-HU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10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✗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39" name="Táblázat 38">
            <a:extLst>
              <a:ext uri="{FF2B5EF4-FFF2-40B4-BE49-F238E27FC236}">
                <a16:creationId xmlns:a16="http://schemas.microsoft.com/office/drawing/2014/main" id="{73304F59-9185-5185-E66B-4C32671392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912155"/>
              </p:ext>
            </p:extLst>
          </p:nvPr>
        </p:nvGraphicFramePr>
        <p:xfrm>
          <a:off x="598183" y="3140101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461618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727102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Beszúr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hu-HU" b="0" i="1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40" name="Táblázat 39">
            <a:extLst>
              <a:ext uri="{FF2B5EF4-FFF2-40B4-BE49-F238E27FC236}">
                <a16:creationId xmlns:a16="http://schemas.microsoft.com/office/drawing/2014/main" id="{BC150FBC-A285-B5BF-03E1-43259CD2E1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039316"/>
              </p:ext>
            </p:extLst>
          </p:nvPr>
        </p:nvGraphicFramePr>
        <p:xfrm>
          <a:off x="633304" y="4087913"/>
          <a:ext cx="556639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3297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Töröl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0, 3 , 6</a:t>
                      </a:r>
                      <a:r>
                        <a:rPr lang="hu-HU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9 , 1, 4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✗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41" name="Táblázat 40">
            <a:extLst>
              <a:ext uri="{FF2B5EF4-FFF2-40B4-BE49-F238E27FC236}">
                <a16:creationId xmlns:a16="http://schemas.microsoft.com/office/drawing/2014/main" id="{34AE9683-3211-488C-5CA7-B8E234BDCF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045656"/>
              </p:ext>
            </p:extLst>
          </p:nvPr>
        </p:nvGraphicFramePr>
        <p:xfrm>
          <a:off x="644485" y="4596003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633039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555681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Töröl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0, 1, 2</a:t>
                      </a:r>
                      <a:r>
                        <a:rPr lang="hu-HU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42" name="Táblázat 41">
            <a:extLst>
              <a:ext uri="{FF2B5EF4-FFF2-40B4-BE49-F238E27FC236}">
                <a16:creationId xmlns:a16="http://schemas.microsoft.com/office/drawing/2014/main" id="{A58F79C8-D31E-DB61-7A30-8DBC1BC5FA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079689"/>
              </p:ext>
            </p:extLst>
          </p:nvPr>
        </p:nvGraphicFramePr>
        <p:xfrm>
          <a:off x="644484" y="5104093"/>
          <a:ext cx="525847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824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509673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802795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774015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982167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Beszúr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hu-HU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, 7, 1,6</a:t>
                      </a:r>
                      <a:r>
                        <a:rPr lang="hu-HU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,0,5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4" name="Táblázat 3">
            <a:extLst>
              <a:ext uri="{FF2B5EF4-FFF2-40B4-BE49-F238E27FC236}">
                <a16:creationId xmlns:a16="http://schemas.microsoft.com/office/drawing/2014/main" id="{C9E1922A-1F1E-6EE0-3BDA-B1AD0C160F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076644"/>
              </p:ext>
            </p:extLst>
          </p:nvPr>
        </p:nvGraphicFramePr>
        <p:xfrm>
          <a:off x="616010" y="3592754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461618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727102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Beszúr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1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pic>
        <p:nvPicPr>
          <p:cNvPr id="5" name="Kép 4">
            <a:extLst>
              <a:ext uri="{FF2B5EF4-FFF2-40B4-BE49-F238E27FC236}">
                <a16:creationId xmlns:a16="http://schemas.microsoft.com/office/drawing/2014/main" id="{3DA489B2-774E-DD44-91BA-2DB4C1BF3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979" y="2214191"/>
            <a:ext cx="5760720" cy="708025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7EE8B11A-8BAB-7F2E-E514-65729B0F0D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4280" y="3098690"/>
            <a:ext cx="5760720" cy="333375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7A36D21F-CDA7-4095-0BCF-B5D1EDAC90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4280" y="3555890"/>
            <a:ext cx="5760720" cy="351155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6E644D9D-73BD-050C-D3FF-87042FDF31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4280" y="4094370"/>
            <a:ext cx="5760720" cy="344170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E25C7B08-3FAF-68A4-EAEA-B6E70A59A6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4280" y="4663330"/>
            <a:ext cx="5760720" cy="351790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9EBFA1EE-1883-A9E8-8D41-84891619B6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9134" y="5109173"/>
            <a:ext cx="5760720" cy="329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22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414D73-D68D-D3B0-52A8-24A6C60C0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075" y="89453"/>
            <a:ext cx="10018713" cy="983974"/>
          </a:xfrm>
        </p:spPr>
        <p:txBody>
          <a:bodyPr/>
          <a:lstStyle/>
          <a:p>
            <a:r>
              <a:rPr lang="hu-HU"/>
              <a:t>A</a:t>
            </a:r>
            <a:r>
              <a:rPr lang="pt-BR"/>
              <a:t> kett</a:t>
            </a:r>
            <a:r>
              <a:rPr lang="hu-HU"/>
              <a:t>ő</a:t>
            </a:r>
            <a:r>
              <a:rPr lang="pt-BR"/>
              <a:t>s hasítás programozása</a:t>
            </a:r>
            <a:r>
              <a:rPr lang="hu-HU"/>
              <a:t> - feladat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950F25C-91FF-AB77-7FEF-653979E5A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0626" y="884583"/>
            <a:ext cx="9972397" cy="5754756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78"/>
              </a:rPr>
              <a:t>Írjuk meg a beszúrás, a keresés és a törlés </a:t>
            </a:r>
            <a:r>
              <a:rPr lang="hu-HU" dirty="0" err="1">
                <a:effectLst/>
                <a:ea typeface="Calibri" panose="020F0502020204030204" pitchFamily="34" charset="0"/>
                <a:cs typeface="F78"/>
              </a:rPr>
              <a:t>struktogramjait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000" dirty="0">
                <a:effectLst/>
                <a:ea typeface="Calibri" panose="020F0502020204030204" pitchFamily="34" charset="0"/>
                <a:cs typeface="CMMI12"/>
              </a:rPr>
              <a:t>Param</a:t>
            </a:r>
            <a:r>
              <a:rPr lang="hu-HU" sz="2000" dirty="0">
                <a:effectLst/>
                <a:ea typeface="CMMI12"/>
                <a:cs typeface="CMMI12"/>
              </a:rPr>
              <a:t>é</a:t>
            </a:r>
            <a:r>
              <a:rPr lang="hu-HU" sz="2000" dirty="0">
                <a:effectLst/>
                <a:ea typeface="Calibri" panose="020F0502020204030204" pitchFamily="34" charset="0"/>
                <a:cs typeface="CMMI12"/>
              </a:rPr>
              <a:t>terek:</a:t>
            </a:r>
            <a:endParaRPr lang="hu-HU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i="1" dirty="0">
                <a:effectLst/>
                <a:ea typeface="Calibri" panose="020F0502020204030204" pitchFamily="34" charset="0"/>
                <a:cs typeface="CMMI12"/>
              </a:rPr>
              <a:t>x</a:t>
            </a:r>
            <a:r>
              <a:rPr lang="hu-HU" sz="1800" dirty="0">
                <a:effectLst/>
                <a:ea typeface="Calibri" panose="020F0502020204030204" pitchFamily="34" charset="0"/>
                <a:cs typeface="CMMI12"/>
              </a:rPr>
              <a:t>:</a:t>
            </a:r>
            <a:r>
              <a:rPr lang="hu-HU" sz="1800" dirty="0">
                <a:effectLst/>
                <a:ea typeface="Calibri" panose="020F0502020204030204" pitchFamily="34" charset="0"/>
                <a:cs typeface="F78"/>
              </a:rPr>
              <a:t> beszúrandó adat</a:t>
            </a:r>
            <a:endParaRPr lang="hu-HU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i="1" dirty="0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 sz="1800" dirty="0">
                <a:effectLst/>
                <a:ea typeface="Calibri" panose="020F0502020204030204" pitchFamily="34" charset="0"/>
                <a:cs typeface="CMMI12"/>
              </a:rPr>
              <a:t>: </a:t>
            </a:r>
            <a:r>
              <a:rPr lang="hu-HU" sz="1800" dirty="0">
                <a:effectLst/>
                <a:ea typeface="Calibri" panose="020F0502020204030204" pitchFamily="34" charset="0"/>
                <a:cs typeface="F78"/>
              </a:rPr>
              <a:t>a keresett kulcs,</a:t>
            </a:r>
            <a:br>
              <a:rPr lang="hu-HU" sz="1800" dirty="0">
                <a:effectLst/>
                <a:ea typeface="Calibri" panose="020F0502020204030204" pitchFamily="34" charset="0"/>
                <a:cs typeface="F78"/>
              </a:rPr>
            </a:br>
            <a:r>
              <a:rPr lang="hu-HU" sz="1800" dirty="0">
                <a:effectLst/>
                <a:ea typeface="Calibri" panose="020F0502020204030204" pitchFamily="34" charset="0"/>
                <a:cs typeface="F78"/>
              </a:rPr>
              <a:t>    illetve a törlendő adat kulcsa</a:t>
            </a:r>
            <a:endParaRPr lang="hu-HU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dirty="0">
                <a:effectLst/>
                <a:ea typeface="Calibri" panose="020F0502020204030204" pitchFamily="34" charset="0"/>
                <a:cs typeface="F78"/>
              </a:rPr>
              <a:t>A hasító tábla: </a:t>
            </a:r>
            <a:r>
              <a:rPr lang="hu-HU" sz="1800" dirty="0">
                <a:effectLst/>
                <a:ea typeface="Calibri" panose="020F0502020204030204" pitchFamily="34" charset="0"/>
                <a:cs typeface="CMMI12"/>
              </a:rPr>
              <a:t>T</a:t>
            </a:r>
            <a:r>
              <a:rPr lang="hu-HU" sz="1800" dirty="0">
                <a:effectLst/>
                <a:ea typeface="Calibri" panose="020F0502020204030204" pitchFamily="34" charset="0"/>
                <a:cs typeface="CMR12"/>
              </a:rPr>
              <a:t>[0</a:t>
            </a:r>
            <a:r>
              <a:rPr lang="hu-HU" sz="1800" dirty="0">
                <a:effectLst/>
                <a:ea typeface="Calibri" panose="020F0502020204030204" pitchFamily="34" charset="0"/>
                <a:cs typeface="CMMI12"/>
              </a:rPr>
              <a:t>..</a:t>
            </a:r>
            <a:r>
              <a:rPr lang="hu-HU" sz="1800" i="1" dirty="0">
                <a:effectLst/>
                <a:ea typeface="Calibri" panose="020F0502020204030204" pitchFamily="34" charset="0"/>
                <a:cs typeface="CMMI12"/>
              </a:rPr>
              <a:t>m</a:t>
            </a:r>
            <a:r>
              <a:rPr lang="hu-HU" sz="1800" dirty="0">
                <a:effectLst/>
                <a:ea typeface="Calibri" panose="020F0502020204030204" pitchFamily="34" charset="0"/>
                <a:cs typeface="CMR12"/>
              </a:rPr>
              <a:t>)</a:t>
            </a:r>
            <a:endParaRPr lang="hu-HU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1600" dirty="0">
                <a:effectLst/>
                <a:ea typeface="Calibri" panose="020F0502020204030204" pitchFamily="34" charset="0"/>
                <a:cs typeface="F78"/>
              </a:rPr>
              <a:t>nullától indexeljük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1600" i="1" dirty="0">
                <a:effectLst/>
                <a:ea typeface="Calibri" panose="020F0502020204030204" pitchFamily="34" charset="0"/>
                <a:cs typeface="CMMI12"/>
              </a:rPr>
              <a:t>m</a:t>
            </a:r>
            <a:r>
              <a:rPr lang="hu-HU" sz="16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1600" dirty="0">
                <a:effectLst/>
                <a:ea typeface="Calibri" panose="020F0502020204030204" pitchFamily="34" charset="0"/>
                <a:cs typeface="F78"/>
              </a:rPr>
              <a:t>a mérete</a:t>
            </a:r>
            <a:endParaRPr lang="hu-HU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hu-HU" sz="1800" dirty="0">
              <a:effectLst/>
              <a:ea typeface="Calibri" panose="020F0502020204030204" pitchFamily="34" charset="0"/>
              <a:cs typeface="F78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hu-HU" sz="1800" dirty="0">
              <a:ea typeface="Calibri" panose="020F0502020204030204" pitchFamily="34" charset="0"/>
              <a:cs typeface="F78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1800" dirty="0">
                <a:effectLst/>
                <a:ea typeface="Calibri" panose="020F0502020204030204" pitchFamily="34" charset="0"/>
                <a:cs typeface="F78"/>
              </a:rPr>
              <a:t>A nyílt címzésű hasító tábla üresre inicializálásának és az adott kulcsú foglalt rés törlésének </a:t>
            </a:r>
            <a:r>
              <a:rPr lang="hu-HU" sz="1800" dirty="0" err="1">
                <a:effectLst/>
                <a:ea typeface="Calibri" panose="020F0502020204030204" pitchFamily="34" charset="0"/>
                <a:cs typeface="F78"/>
              </a:rPr>
              <a:t>struktogramja</a:t>
            </a:r>
            <a:r>
              <a:rPr lang="hu-HU" sz="1800" dirty="0">
                <a:effectLst/>
                <a:ea typeface="Calibri" panose="020F0502020204030204" pitchFamily="34" charset="0"/>
                <a:cs typeface="F78"/>
              </a:rPr>
              <a:t> nem függ attól, hogy a beszúrást és a keresést milyen stratégiával hajtjuk végre.</a:t>
            </a:r>
            <a:endParaRPr lang="hu-HU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1D4D5663-4898-1D5B-19B6-4AFD9F48E880}"/>
              </a:ext>
            </a:extLst>
          </p:cNvPr>
          <p:cNvSpPr txBox="1">
            <a:spLocks/>
          </p:cNvSpPr>
          <p:nvPr/>
        </p:nvSpPr>
        <p:spPr>
          <a:xfrm>
            <a:off x="6096000" y="1646582"/>
            <a:ext cx="5691945" cy="40386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000" dirty="0">
                <a:latin typeface="F78"/>
                <a:ea typeface="Calibri" panose="020F0502020204030204" pitchFamily="34" charset="0"/>
                <a:cs typeface="F78"/>
              </a:rPr>
              <a:t>Eredmény:</a:t>
            </a:r>
            <a:endParaRPr lang="hu-H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600" dirty="0">
                <a:latin typeface="F78"/>
                <a:ea typeface="Calibri" panose="020F0502020204030204" pitchFamily="34" charset="0"/>
                <a:cs typeface="F78"/>
              </a:rPr>
              <a:t>Sikeres keresés: a keresett kulcsú adat pozíciója</a:t>
            </a:r>
            <a:endParaRPr lang="hu-H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600" dirty="0">
                <a:latin typeface="F78"/>
                <a:ea typeface="Calibri" panose="020F0502020204030204" pitchFamily="34" charset="0"/>
                <a:cs typeface="F78"/>
              </a:rPr>
              <a:t>Sikertelen keresés: -</a:t>
            </a:r>
            <a:r>
              <a:rPr lang="hu-HU" sz="1600" dirty="0">
                <a:latin typeface="CMR12"/>
                <a:ea typeface="Calibri" panose="020F0502020204030204" pitchFamily="34" charset="0"/>
                <a:cs typeface="CMR12"/>
              </a:rPr>
              <a:t>1</a:t>
            </a:r>
            <a:endParaRPr lang="hu-H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600" dirty="0">
                <a:latin typeface="F78"/>
                <a:ea typeface="Calibri" panose="020F0502020204030204" pitchFamily="34" charset="0"/>
                <a:cs typeface="F78"/>
              </a:rPr>
              <a:t>Sikeres beszúrás: a beszúrás pozíciója</a:t>
            </a:r>
            <a:endParaRPr lang="hu-H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600" dirty="0">
                <a:latin typeface="F78"/>
                <a:ea typeface="Calibri" panose="020F0502020204030204" pitchFamily="34" charset="0"/>
                <a:cs typeface="F78"/>
              </a:rPr>
              <a:t>Sikertelen beszúrás:</a:t>
            </a:r>
            <a:endParaRPr lang="hu-H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1600" dirty="0">
                <a:latin typeface="F78"/>
                <a:ea typeface="Calibri" panose="020F0502020204030204" pitchFamily="34" charset="0"/>
                <a:cs typeface="F78"/>
              </a:rPr>
              <a:t>Ha nincs elég hely a táblában:-</a:t>
            </a:r>
            <a:r>
              <a:rPr lang="hu-HU" sz="1600" dirty="0">
                <a:latin typeface="CMR12"/>
                <a:ea typeface="Calibri" panose="020F0502020204030204" pitchFamily="34" charset="0"/>
                <a:cs typeface="F78"/>
              </a:rPr>
              <a:t>1</a:t>
            </a:r>
            <a:endParaRPr lang="hu-H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1600" dirty="0">
                <a:latin typeface="F78"/>
                <a:ea typeface="Calibri" panose="020F0502020204030204" pitchFamily="34" charset="0"/>
                <a:cs typeface="F78"/>
              </a:rPr>
              <a:t>Ha a </a:t>
            </a:r>
            <a:r>
              <a:rPr lang="hu-HU" sz="1600" i="1" dirty="0">
                <a:latin typeface="CMMI12"/>
                <a:ea typeface="Calibri" panose="020F0502020204030204" pitchFamily="34" charset="0"/>
                <a:cs typeface="CMMI12"/>
              </a:rPr>
              <a:t>j</a:t>
            </a:r>
            <a:r>
              <a:rPr lang="hu-HU" sz="1600" dirty="0">
                <a:latin typeface="CMMI12"/>
                <a:ea typeface="Calibri" panose="020F0502020204030204" pitchFamily="34" charset="0"/>
                <a:cs typeface="CMMI12"/>
              </a:rPr>
              <a:t> </a:t>
            </a:r>
            <a:r>
              <a:rPr lang="hu-HU" sz="1600" dirty="0">
                <a:latin typeface="F78"/>
                <a:ea typeface="Calibri" panose="020F0502020204030204" pitchFamily="34" charset="0"/>
                <a:cs typeface="F78"/>
              </a:rPr>
              <a:t>indexű résben megtaláljuk a táblában a beszúrandó adat kulcsát:</a:t>
            </a:r>
            <a:r>
              <a:rPr lang="en-US" sz="1600" dirty="0">
                <a:latin typeface="CMSY10"/>
                <a:ea typeface="Calibri" panose="020F0502020204030204" pitchFamily="34" charset="0"/>
                <a:cs typeface="CMSY10"/>
              </a:rPr>
              <a:t>−</a:t>
            </a:r>
            <a:r>
              <a:rPr lang="hu-HU" sz="1600" dirty="0">
                <a:latin typeface="CMR12"/>
                <a:ea typeface="Calibri" panose="020F0502020204030204" pitchFamily="34" charset="0"/>
                <a:cs typeface="CMSY10"/>
              </a:rPr>
              <a:t>2</a:t>
            </a:r>
            <a:endParaRPr lang="hu-H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600" dirty="0">
                <a:latin typeface="F78"/>
                <a:ea typeface="Calibri" panose="020F0502020204030204" pitchFamily="34" charset="0"/>
                <a:cs typeface="F78"/>
              </a:rPr>
              <a:t>Sikeres törlés: a </a:t>
            </a:r>
            <a:r>
              <a:rPr lang="hu-HU" sz="1600" dirty="0" err="1">
                <a:latin typeface="F78"/>
                <a:ea typeface="Calibri" panose="020F0502020204030204" pitchFamily="34" charset="0"/>
                <a:cs typeface="F78"/>
              </a:rPr>
              <a:t>törölt</a:t>
            </a:r>
            <a:r>
              <a:rPr lang="hu-HU" sz="1600" dirty="0">
                <a:latin typeface="F78"/>
                <a:ea typeface="Calibri" panose="020F0502020204030204" pitchFamily="34" charset="0"/>
                <a:cs typeface="F78"/>
              </a:rPr>
              <a:t> adat pozíciója</a:t>
            </a:r>
            <a:endParaRPr lang="hu-H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600" dirty="0">
                <a:latin typeface="F78"/>
                <a:ea typeface="Calibri" panose="020F0502020204030204" pitchFamily="34" charset="0"/>
                <a:cs typeface="F78"/>
              </a:rPr>
              <a:t>Sikertelen törlés:</a:t>
            </a:r>
            <a:r>
              <a:rPr lang="en-US" sz="1600" dirty="0">
                <a:latin typeface="CMSY10"/>
                <a:ea typeface="Calibri" panose="020F0502020204030204" pitchFamily="34" charset="0"/>
                <a:cs typeface="CMSY10"/>
              </a:rPr>
              <a:t>−</a:t>
            </a:r>
            <a:r>
              <a:rPr lang="hu-HU" sz="1600" dirty="0">
                <a:latin typeface="CMR12"/>
                <a:ea typeface="Calibri" panose="020F0502020204030204" pitchFamily="34" charset="0"/>
                <a:cs typeface="CMR12"/>
              </a:rPr>
              <a:t>1</a:t>
            </a:r>
            <a:r>
              <a:rPr lang="hu-HU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771369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352B39F-27FE-02A7-104A-5533C3405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817879"/>
          </a:xfrm>
        </p:spPr>
        <p:txBody>
          <a:bodyPr/>
          <a:lstStyle/>
          <a:p>
            <a:r>
              <a:rPr lang="hu-HU"/>
              <a:t>A</a:t>
            </a:r>
            <a:r>
              <a:rPr lang="pt-BR"/>
              <a:t> kett</a:t>
            </a:r>
            <a:r>
              <a:rPr lang="hu-HU"/>
              <a:t>ő</a:t>
            </a:r>
            <a:r>
              <a:rPr lang="pt-BR"/>
              <a:t>s hasítás programozása</a:t>
            </a:r>
            <a:r>
              <a:rPr lang="hu-HU"/>
              <a:t> - megoldás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BE5178CD-020C-433F-6EF3-8AC001ADE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968571">
            <a:off x="8721099" y="3258301"/>
            <a:ext cx="3010874" cy="1811323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7A1DAE7F-9528-C0DD-4CDB-8602AA656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31590">
            <a:off x="1278521" y="2610317"/>
            <a:ext cx="3137970" cy="284213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02790CC7-31AE-921E-3702-DC7AAD0E63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969" y="1616087"/>
            <a:ext cx="3469152" cy="4830593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9585548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267CBF3D-3054-CBD6-6FDE-1B29B76B2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39298">
            <a:off x="1600182" y="337942"/>
            <a:ext cx="3705742" cy="5677692"/>
          </a:xfrm>
          <a:custGeom>
            <a:avLst/>
            <a:gdLst>
              <a:gd name="csX0" fmla="*/ 0 w 3705742"/>
              <a:gd name="csY0" fmla="*/ 0 h 5677692"/>
              <a:gd name="csX1" fmla="*/ 418219 w 3705742"/>
              <a:gd name="csY1" fmla="*/ 0 h 5677692"/>
              <a:gd name="csX2" fmla="*/ 984669 w 3705742"/>
              <a:gd name="csY2" fmla="*/ 0 h 5677692"/>
              <a:gd name="csX3" fmla="*/ 1551118 w 3705742"/>
              <a:gd name="csY3" fmla="*/ 0 h 5677692"/>
              <a:gd name="csX4" fmla="*/ 2006395 w 3705742"/>
              <a:gd name="csY4" fmla="*/ 0 h 5677692"/>
              <a:gd name="csX5" fmla="*/ 2424614 w 3705742"/>
              <a:gd name="csY5" fmla="*/ 0 h 5677692"/>
              <a:gd name="csX6" fmla="*/ 2879891 w 3705742"/>
              <a:gd name="csY6" fmla="*/ 0 h 5677692"/>
              <a:gd name="csX7" fmla="*/ 3705742 w 3705742"/>
              <a:gd name="csY7" fmla="*/ 0 h 5677692"/>
              <a:gd name="csX8" fmla="*/ 3705742 w 3705742"/>
              <a:gd name="csY8" fmla="*/ 397438 h 5677692"/>
              <a:gd name="csX9" fmla="*/ 3705742 w 3705742"/>
              <a:gd name="csY9" fmla="*/ 908431 h 5677692"/>
              <a:gd name="csX10" fmla="*/ 3705742 w 3705742"/>
              <a:gd name="csY10" fmla="*/ 1589754 h 5677692"/>
              <a:gd name="csX11" fmla="*/ 3705742 w 3705742"/>
              <a:gd name="csY11" fmla="*/ 2157523 h 5677692"/>
              <a:gd name="csX12" fmla="*/ 3705742 w 3705742"/>
              <a:gd name="csY12" fmla="*/ 2782069 h 5677692"/>
              <a:gd name="csX13" fmla="*/ 3705742 w 3705742"/>
              <a:gd name="csY13" fmla="*/ 3406615 h 5677692"/>
              <a:gd name="csX14" fmla="*/ 3705742 w 3705742"/>
              <a:gd name="csY14" fmla="*/ 3917607 h 5677692"/>
              <a:gd name="csX15" fmla="*/ 3705742 w 3705742"/>
              <a:gd name="csY15" fmla="*/ 4315046 h 5677692"/>
              <a:gd name="csX16" fmla="*/ 3705742 w 3705742"/>
              <a:gd name="csY16" fmla="*/ 4882815 h 5677692"/>
              <a:gd name="csX17" fmla="*/ 3705742 w 3705742"/>
              <a:gd name="csY17" fmla="*/ 5677692 h 5677692"/>
              <a:gd name="csX18" fmla="*/ 3287523 w 3705742"/>
              <a:gd name="csY18" fmla="*/ 5677692 h 5677692"/>
              <a:gd name="csX19" fmla="*/ 2869303 w 3705742"/>
              <a:gd name="csY19" fmla="*/ 5677692 h 5677692"/>
              <a:gd name="csX20" fmla="*/ 2302854 w 3705742"/>
              <a:gd name="csY20" fmla="*/ 5677692 h 5677692"/>
              <a:gd name="csX21" fmla="*/ 1810520 w 3705742"/>
              <a:gd name="csY21" fmla="*/ 5677692 h 5677692"/>
              <a:gd name="csX22" fmla="*/ 1207013 w 3705742"/>
              <a:gd name="csY22" fmla="*/ 5677692 h 5677692"/>
              <a:gd name="csX23" fmla="*/ 677621 w 3705742"/>
              <a:gd name="csY23" fmla="*/ 5677692 h 5677692"/>
              <a:gd name="csX24" fmla="*/ 0 w 3705742"/>
              <a:gd name="csY24" fmla="*/ 5677692 h 5677692"/>
              <a:gd name="csX25" fmla="*/ 0 w 3705742"/>
              <a:gd name="csY25" fmla="*/ 5053146 h 5677692"/>
              <a:gd name="csX26" fmla="*/ 0 w 3705742"/>
              <a:gd name="csY26" fmla="*/ 4542154 h 5677692"/>
              <a:gd name="csX27" fmla="*/ 0 w 3705742"/>
              <a:gd name="csY27" fmla="*/ 3917607 h 5677692"/>
              <a:gd name="csX28" fmla="*/ 0 w 3705742"/>
              <a:gd name="csY28" fmla="*/ 3293061 h 5677692"/>
              <a:gd name="csX29" fmla="*/ 0 w 3705742"/>
              <a:gd name="csY29" fmla="*/ 2895623 h 5677692"/>
              <a:gd name="csX30" fmla="*/ 0 w 3705742"/>
              <a:gd name="csY30" fmla="*/ 2498184 h 5677692"/>
              <a:gd name="csX31" fmla="*/ 0 w 3705742"/>
              <a:gd name="csY31" fmla="*/ 2043969 h 5677692"/>
              <a:gd name="csX32" fmla="*/ 0 w 3705742"/>
              <a:gd name="csY32" fmla="*/ 1362646 h 5677692"/>
              <a:gd name="csX33" fmla="*/ 0 w 3705742"/>
              <a:gd name="csY33" fmla="*/ 681323 h 5677692"/>
              <a:gd name="csX34" fmla="*/ 0 w 3705742"/>
              <a:gd name="csY34" fmla="*/ 0 h 5677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3705742" h="5677692" fill="none" extrusionOk="0">
                <a:moveTo>
                  <a:pt x="0" y="0"/>
                </a:moveTo>
                <a:cubicBezTo>
                  <a:pt x="136203" y="-8718"/>
                  <a:pt x="276166" y="37502"/>
                  <a:pt x="418219" y="0"/>
                </a:cubicBezTo>
                <a:cubicBezTo>
                  <a:pt x="560272" y="-37502"/>
                  <a:pt x="753235" y="34731"/>
                  <a:pt x="984669" y="0"/>
                </a:cubicBezTo>
                <a:cubicBezTo>
                  <a:pt x="1216103" y="-34731"/>
                  <a:pt x="1399740" y="60091"/>
                  <a:pt x="1551118" y="0"/>
                </a:cubicBezTo>
                <a:cubicBezTo>
                  <a:pt x="1702496" y="-60091"/>
                  <a:pt x="1899618" y="49814"/>
                  <a:pt x="2006395" y="0"/>
                </a:cubicBezTo>
                <a:cubicBezTo>
                  <a:pt x="2113172" y="-49814"/>
                  <a:pt x="2254326" y="9203"/>
                  <a:pt x="2424614" y="0"/>
                </a:cubicBezTo>
                <a:cubicBezTo>
                  <a:pt x="2594902" y="-9203"/>
                  <a:pt x="2768426" y="47050"/>
                  <a:pt x="2879891" y="0"/>
                </a:cubicBezTo>
                <a:cubicBezTo>
                  <a:pt x="2991356" y="-47050"/>
                  <a:pt x="3403978" y="18963"/>
                  <a:pt x="3705742" y="0"/>
                </a:cubicBezTo>
                <a:cubicBezTo>
                  <a:pt x="3750361" y="96592"/>
                  <a:pt x="3686506" y="273033"/>
                  <a:pt x="3705742" y="397438"/>
                </a:cubicBezTo>
                <a:cubicBezTo>
                  <a:pt x="3724978" y="521843"/>
                  <a:pt x="3686927" y="657654"/>
                  <a:pt x="3705742" y="908431"/>
                </a:cubicBezTo>
                <a:cubicBezTo>
                  <a:pt x="3724557" y="1159208"/>
                  <a:pt x="3658391" y="1402615"/>
                  <a:pt x="3705742" y="1589754"/>
                </a:cubicBezTo>
                <a:cubicBezTo>
                  <a:pt x="3753093" y="1776893"/>
                  <a:pt x="3691794" y="1919374"/>
                  <a:pt x="3705742" y="2157523"/>
                </a:cubicBezTo>
                <a:cubicBezTo>
                  <a:pt x="3719690" y="2395672"/>
                  <a:pt x="3633177" y="2584654"/>
                  <a:pt x="3705742" y="2782069"/>
                </a:cubicBezTo>
                <a:cubicBezTo>
                  <a:pt x="3778307" y="2979484"/>
                  <a:pt x="3688717" y="3199944"/>
                  <a:pt x="3705742" y="3406615"/>
                </a:cubicBezTo>
                <a:cubicBezTo>
                  <a:pt x="3722767" y="3613286"/>
                  <a:pt x="3663980" y="3748891"/>
                  <a:pt x="3705742" y="3917607"/>
                </a:cubicBezTo>
                <a:cubicBezTo>
                  <a:pt x="3747504" y="4086323"/>
                  <a:pt x="3696706" y="4182316"/>
                  <a:pt x="3705742" y="4315046"/>
                </a:cubicBezTo>
                <a:cubicBezTo>
                  <a:pt x="3714778" y="4447776"/>
                  <a:pt x="3690959" y="4731337"/>
                  <a:pt x="3705742" y="4882815"/>
                </a:cubicBezTo>
                <a:cubicBezTo>
                  <a:pt x="3720525" y="5034293"/>
                  <a:pt x="3674635" y="5494712"/>
                  <a:pt x="3705742" y="5677692"/>
                </a:cubicBezTo>
                <a:cubicBezTo>
                  <a:pt x="3590565" y="5723188"/>
                  <a:pt x="3495682" y="5653131"/>
                  <a:pt x="3287523" y="5677692"/>
                </a:cubicBezTo>
                <a:cubicBezTo>
                  <a:pt x="3079364" y="5702253"/>
                  <a:pt x="3041412" y="5657611"/>
                  <a:pt x="2869303" y="5677692"/>
                </a:cubicBezTo>
                <a:cubicBezTo>
                  <a:pt x="2697194" y="5697773"/>
                  <a:pt x="2574227" y="5663296"/>
                  <a:pt x="2302854" y="5677692"/>
                </a:cubicBezTo>
                <a:cubicBezTo>
                  <a:pt x="2031481" y="5692088"/>
                  <a:pt x="1910699" y="5675552"/>
                  <a:pt x="1810520" y="5677692"/>
                </a:cubicBezTo>
                <a:cubicBezTo>
                  <a:pt x="1710341" y="5679832"/>
                  <a:pt x="1381453" y="5672541"/>
                  <a:pt x="1207013" y="5677692"/>
                </a:cubicBezTo>
                <a:cubicBezTo>
                  <a:pt x="1032573" y="5682843"/>
                  <a:pt x="790054" y="5626221"/>
                  <a:pt x="677621" y="5677692"/>
                </a:cubicBezTo>
                <a:cubicBezTo>
                  <a:pt x="565188" y="5729163"/>
                  <a:pt x="164071" y="5677265"/>
                  <a:pt x="0" y="5677692"/>
                </a:cubicBezTo>
                <a:cubicBezTo>
                  <a:pt x="-7120" y="5454493"/>
                  <a:pt x="46563" y="5243025"/>
                  <a:pt x="0" y="5053146"/>
                </a:cubicBezTo>
                <a:cubicBezTo>
                  <a:pt x="-46563" y="4863267"/>
                  <a:pt x="38068" y="4730716"/>
                  <a:pt x="0" y="4542154"/>
                </a:cubicBezTo>
                <a:cubicBezTo>
                  <a:pt x="-38068" y="4353592"/>
                  <a:pt x="74605" y="4148758"/>
                  <a:pt x="0" y="3917607"/>
                </a:cubicBezTo>
                <a:cubicBezTo>
                  <a:pt x="-74605" y="3686456"/>
                  <a:pt x="60181" y="3563957"/>
                  <a:pt x="0" y="3293061"/>
                </a:cubicBezTo>
                <a:cubicBezTo>
                  <a:pt x="-60181" y="3022165"/>
                  <a:pt x="45698" y="3029931"/>
                  <a:pt x="0" y="2895623"/>
                </a:cubicBezTo>
                <a:cubicBezTo>
                  <a:pt x="-45698" y="2761315"/>
                  <a:pt x="8025" y="2614362"/>
                  <a:pt x="0" y="2498184"/>
                </a:cubicBezTo>
                <a:cubicBezTo>
                  <a:pt x="-8025" y="2382006"/>
                  <a:pt x="26651" y="2239715"/>
                  <a:pt x="0" y="2043969"/>
                </a:cubicBezTo>
                <a:cubicBezTo>
                  <a:pt x="-26651" y="1848223"/>
                  <a:pt x="21397" y="1658774"/>
                  <a:pt x="0" y="1362646"/>
                </a:cubicBezTo>
                <a:cubicBezTo>
                  <a:pt x="-21397" y="1066518"/>
                  <a:pt x="26105" y="956802"/>
                  <a:pt x="0" y="681323"/>
                </a:cubicBezTo>
                <a:cubicBezTo>
                  <a:pt x="-26105" y="405844"/>
                  <a:pt x="51811" y="159423"/>
                  <a:pt x="0" y="0"/>
                </a:cubicBezTo>
                <a:close/>
              </a:path>
              <a:path w="3705742" h="5677692" stroke="0" extrusionOk="0">
                <a:moveTo>
                  <a:pt x="0" y="0"/>
                </a:moveTo>
                <a:cubicBezTo>
                  <a:pt x="268401" y="-34512"/>
                  <a:pt x="449718" y="1344"/>
                  <a:pt x="603507" y="0"/>
                </a:cubicBezTo>
                <a:cubicBezTo>
                  <a:pt x="757296" y="-1344"/>
                  <a:pt x="954563" y="31480"/>
                  <a:pt x="1095841" y="0"/>
                </a:cubicBezTo>
                <a:cubicBezTo>
                  <a:pt x="1237119" y="-31480"/>
                  <a:pt x="1462291" y="62875"/>
                  <a:pt x="1625233" y="0"/>
                </a:cubicBezTo>
                <a:cubicBezTo>
                  <a:pt x="1788175" y="-62875"/>
                  <a:pt x="1998090" y="1220"/>
                  <a:pt x="2154624" y="0"/>
                </a:cubicBezTo>
                <a:cubicBezTo>
                  <a:pt x="2311158" y="-1220"/>
                  <a:pt x="2512812" y="34503"/>
                  <a:pt x="2758131" y="0"/>
                </a:cubicBezTo>
                <a:cubicBezTo>
                  <a:pt x="3003450" y="-34503"/>
                  <a:pt x="3346096" y="15392"/>
                  <a:pt x="3705742" y="0"/>
                </a:cubicBezTo>
                <a:cubicBezTo>
                  <a:pt x="3769418" y="248247"/>
                  <a:pt x="3634282" y="542052"/>
                  <a:pt x="3705742" y="681323"/>
                </a:cubicBezTo>
                <a:cubicBezTo>
                  <a:pt x="3777202" y="820594"/>
                  <a:pt x="3637612" y="1001810"/>
                  <a:pt x="3705742" y="1249092"/>
                </a:cubicBezTo>
                <a:cubicBezTo>
                  <a:pt x="3773872" y="1496374"/>
                  <a:pt x="3651958" y="1573781"/>
                  <a:pt x="3705742" y="1703308"/>
                </a:cubicBezTo>
                <a:cubicBezTo>
                  <a:pt x="3759526" y="1832835"/>
                  <a:pt x="3701865" y="1966408"/>
                  <a:pt x="3705742" y="2157523"/>
                </a:cubicBezTo>
                <a:cubicBezTo>
                  <a:pt x="3709619" y="2348639"/>
                  <a:pt x="3702860" y="2526980"/>
                  <a:pt x="3705742" y="2838846"/>
                </a:cubicBezTo>
                <a:cubicBezTo>
                  <a:pt x="3708624" y="3150712"/>
                  <a:pt x="3694629" y="3143893"/>
                  <a:pt x="3705742" y="3293061"/>
                </a:cubicBezTo>
                <a:cubicBezTo>
                  <a:pt x="3716855" y="3442230"/>
                  <a:pt x="3675967" y="3746572"/>
                  <a:pt x="3705742" y="3860831"/>
                </a:cubicBezTo>
                <a:cubicBezTo>
                  <a:pt x="3735517" y="3975090"/>
                  <a:pt x="3640192" y="4291551"/>
                  <a:pt x="3705742" y="4428600"/>
                </a:cubicBezTo>
                <a:cubicBezTo>
                  <a:pt x="3771292" y="4565649"/>
                  <a:pt x="3676001" y="4946597"/>
                  <a:pt x="3705742" y="5109923"/>
                </a:cubicBezTo>
                <a:cubicBezTo>
                  <a:pt x="3735483" y="5273249"/>
                  <a:pt x="3702180" y="5500918"/>
                  <a:pt x="3705742" y="5677692"/>
                </a:cubicBezTo>
                <a:cubicBezTo>
                  <a:pt x="3576951" y="5681983"/>
                  <a:pt x="3343385" y="5630194"/>
                  <a:pt x="3250465" y="5677692"/>
                </a:cubicBezTo>
                <a:cubicBezTo>
                  <a:pt x="3157545" y="5725190"/>
                  <a:pt x="2967557" y="5674559"/>
                  <a:pt x="2832246" y="5677692"/>
                </a:cubicBezTo>
                <a:cubicBezTo>
                  <a:pt x="2696935" y="5680825"/>
                  <a:pt x="2532925" y="5645291"/>
                  <a:pt x="2414026" y="5677692"/>
                </a:cubicBezTo>
                <a:cubicBezTo>
                  <a:pt x="2295127" y="5710093"/>
                  <a:pt x="2168574" y="5648646"/>
                  <a:pt x="1995807" y="5677692"/>
                </a:cubicBezTo>
                <a:cubicBezTo>
                  <a:pt x="1823040" y="5706738"/>
                  <a:pt x="1748066" y="5643861"/>
                  <a:pt x="1577587" y="5677692"/>
                </a:cubicBezTo>
                <a:cubicBezTo>
                  <a:pt x="1407108" y="5711523"/>
                  <a:pt x="1190991" y="5659804"/>
                  <a:pt x="1048196" y="5677692"/>
                </a:cubicBezTo>
                <a:cubicBezTo>
                  <a:pt x="905401" y="5695580"/>
                  <a:pt x="772685" y="5672696"/>
                  <a:pt x="518804" y="5677692"/>
                </a:cubicBezTo>
                <a:cubicBezTo>
                  <a:pt x="264923" y="5682688"/>
                  <a:pt x="172856" y="5660965"/>
                  <a:pt x="0" y="5677692"/>
                </a:cubicBezTo>
                <a:cubicBezTo>
                  <a:pt x="-37895" y="5572928"/>
                  <a:pt x="32276" y="5440140"/>
                  <a:pt x="0" y="5223477"/>
                </a:cubicBezTo>
                <a:cubicBezTo>
                  <a:pt x="-32276" y="5006815"/>
                  <a:pt x="46486" y="4751698"/>
                  <a:pt x="0" y="4598931"/>
                </a:cubicBezTo>
                <a:cubicBezTo>
                  <a:pt x="-46486" y="4446164"/>
                  <a:pt x="18262" y="4305927"/>
                  <a:pt x="0" y="4201492"/>
                </a:cubicBezTo>
                <a:cubicBezTo>
                  <a:pt x="-18262" y="4097057"/>
                  <a:pt x="21741" y="3778558"/>
                  <a:pt x="0" y="3633723"/>
                </a:cubicBezTo>
                <a:cubicBezTo>
                  <a:pt x="-21741" y="3488888"/>
                  <a:pt x="37909" y="3320149"/>
                  <a:pt x="0" y="3179508"/>
                </a:cubicBezTo>
                <a:cubicBezTo>
                  <a:pt x="-37909" y="3038867"/>
                  <a:pt x="70266" y="2828726"/>
                  <a:pt x="0" y="2554961"/>
                </a:cubicBezTo>
                <a:cubicBezTo>
                  <a:pt x="-70266" y="2281196"/>
                  <a:pt x="54881" y="2177204"/>
                  <a:pt x="0" y="1930415"/>
                </a:cubicBezTo>
                <a:cubicBezTo>
                  <a:pt x="-54881" y="1683626"/>
                  <a:pt x="54218" y="1571548"/>
                  <a:pt x="0" y="1249092"/>
                </a:cubicBezTo>
                <a:cubicBezTo>
                  <a:pt x="-54218" y="926636"/>
                  <a:pt x="26248" y="873482"/>
                  <a:pt x="0" y="738100"/>
                </a:cubicBezTo>
                <a:cubicBezTo>
                  <a:pt x="-26248" y="602718"/>
                  <a:pt x="16045" y="190862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BC4748A8-CCAA-5D31-BDD4-892CEA588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315" y="2063948"/>
            <a:ext cx="3343742" cy="2419688"/>
          </a:xfrm>
          <a:custGeom>
            <a:avLst/>
            <a:gdLst>
              <a:gd name="csX0" fmla="*/ 0 w 3343742"/>
              <a:gd name="csY0" fmla="*/ 0 h 2419688"/>
              <a:gd name="csX1" fmla="*/ 490415 w 3343742"/>
              <a:gd name="csY1" fmla="*/ 0 h 2419688"/>
              <a:gd name="csX2" fmla="*/ 1047706 w 3343742"/>
              <a:gd name="csY2" fmla="*/ 0 h 2419688"/>
              <a:gd name="csX3" fmla="*/ 1571559 w 3343742"/>
              <a:gd name="csY3" fmla="*/ 0 h 2419688"/>
              <a:gd name="csX4" fmla="*/ 2195724 w 3343742"/>
              <a:gd name="csY4" fmla="*/ 0 h 2419688"/>
              <a:gd name="csX5" fmla="*/ 2652702 w 3343742"/>
              <a:gd name="csY5" fmla="*/ 0 h 2419688"/>
              <a:gd name="csX6" fmla="*/ 3343742 w 3343742"/>
              <a:gd name="csY6" fmla="*/ 0 h 2419688"/>
              <a:gd name="csX7" fmla="*/ 3343742 w 3343742"/>
              <a:gd name="csY7" fmla="*/ 508134 h 2419688"/>
              <a:gd name="csX8" fmla="*/ 3343742 w 3343742"/>
              <a:gd name="csY8" fmla="*/ 1016269 h 2419688"/>
              <a:gd name="csX9" fmla="*/ 3343742 w 3343742"/>
              <a:gd name="csY9" fmla="*/ 1476010 h 2419688"/>
              <a:gd name="csX10" fmla="*/ 3343742 w 3343742"/>
              <a:gd name="csY10" fmla="*/ 1887357 h 2419688"/>
              <a:gd name="csX11" fmla="*/ 3343742 w 3343742"/>
              <a:gd name="csY11" fmla="*/ 2419688 h 2419688"/>
              <a:gd name="csX12" fmla="*/ 2853327 w 3343742"/>
              <a:gd name="csY12" fmla="*/ 2419688 h 2419688"/>
              <a:gd name="csX13" fmla="*/ 2396348 w 3343742"/>
              <a:gd name="csY13" fmla="*/ 2419688 h 2419688"/>
              <a:gd name="csX14" fmla="*/ 1805621 w 3343742"/>
              <a:gd name="csY14" fmla="*/ 2419688 h 2419688"/>
              <a:gd name="csX15" fmla="*/ 1248330 w 3343742"/>
              <a:gd name="csY15" fmla="*/ 2419688 h 2419688"/>
              <a:gd name="csX16" fmla="*/ 624165 w 3343742"/>
              <a:gd name="csY16" fmla="*/ 2419688 h 2419688"/>
              <a:gd name="csX17" fmla="*/ 0 w 3343742"/>
              <a:gd name="csY17" fmla="*/ 2419688 h 2419688"/>
              <a:gd name="csX18" fmla="*/ 0 w 3343742"/>
              <a:gd name="csY18" fmla="*/ 2008341 h 2419688"/>
              <a:gd name="csX19" fmla="*/ 0 w 3343742"/>
              <a:gd name="csY19" fmla="*/ 1476010 h 2419688"/>
              <a:gd name="csX20" fmla="*/ 0 w 3343742"/>
              <a:gd name="csY20" fmla="*/ 1064663 h 2419688"/>
              <a:gd name="csX21" fmla="*/ 0 w 3343742"/>
              <a:gd name="csY21" fmla="*/ 629119 h 2419688"/>
              <a:gd name="csX22" fmla="*/ 0 w 3343742"/>
              <a:gd name="csY22" fmla="*/ 0 h 24196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3343742" h="2419688" fill="none" extrusionOk="0">
                <a:moveTo>
                  <a:pt x="0" y="0"/>
                </a:moveTo>
                <a:cubicBezTo>
                  <a:pt x="226195" y="-16494"/>
                  <a:pt x="276641" y="27204"/>
                  <a:pt x="490415" y="0"/>
                </a:cubicBezTo>
                <a:cubicBezTo>
                  <a:pt x="704189" y="-27204"/>
                  <a:pt x="906593" y="53829"/>
                  <a:pt x="1047706" y="0"/>
                </a:cubicBezTo>
                <a:cubicBezTo>
                  <a:pt x="1188819" y="-53829"/>
                  <a:pt x="1417889" y="8070"/>
                  <a:pt x="1571559" y="0"/>
                </a:cubicBezTo>
                <a:cubicBezTo>
                  <a:pt x="1725229" y="-8070"/>
                  <a:pt x="2053713" y="64701"/>
                  <a:pt x="2195724" y="0"/>
                </a:cubicBezTo>
                <a:cubicBezTo>
                  <a:pt x="2337736" y="-64701"/>
                  <a:pt x="2470934" y="30607"/>
                  <a:pt x="2652702" y="0"/>
                </a:cubicBezTo>
                <a:cubicBezTo>
                  <a:pt x="2834470" y="-30607"/>
                  <a:pt x="3181205" y="32626"/>
                  <a:pt x="3343742" y="0"/>
                </a:cubicBezTo>
                <a:cubicBezTo>
                  <a:pt x="3373897" y="201822"/>
                  <a:pt x="3305390" y="331489"/>
                  <a:pt x="3343742" y="508134"/>
                </a:cubicBezTo>
                <a:cubicBezTo>
                  <a:pt x="3382094" y="684779"/>
                  <a:pt x="3307605" y="793789"/>
                  <a:pt x="3343742" y="1016269"/>
                </a:cubicBezTo>
                <a:cubicBezTo>
                  <a:pt x="3379879" y="1238749"/>
                  <a:pt x="3331653" y="1264682"/>
                  <a:pt x="3343742" y="1476010"/>
                </a:cubicBezTo>
                <a:cubicBezTo>
                  <a:pt x="3355831" y="1687338"/>
                  <a:pt x="3336046" y="1712035"/>
                  <a:pt x="3343742" y="1887357"/>
                </a:cubicBezTo>
                <a:cubicBezTo>
                  <a:pt x="3351438" y="2062679"/>
                  <a:pt x="3328031" y="2210812"/>
                  <a:pt x="3343742" y="2419688"/>
                </a:cubicBezTo>
                <a:cubicBezTo>
                  <a:pt x="3212771" y="2470101"/>
                  <a:pt x="3020546" y="2411924"/>
                  <a:pt x="2853327" y="2419688"/>
                </a:cubicBezTo>
                <a:cubicBezTo>
                  <a:pt x="2686108" y="2427452"/>
                  <a:pt x="2616080" y="2393186"/>
                  <a:pt x="2396348" y="2419688"/>
                </a:cubicBezTo>
                <a:cubicBezTo>
                  <a:pt x="2176616" y="2446190"/>
                  <a:pt x="2022133" y="2358394"/>
                  <a:pt x="1805621" y="2419688"/>
                </a:cubicBezTo>
                <a:cubicBezTo>
                  <a:pt x="1589109" y="2480982"/>
                  <a:pt x="1497553" y="2381248"/>
                  <a:pt x="1248330" y="2419688"/>
                </a:cubicBezTo>
                <a:cubicBezTo>
                  <a:pt x="999107" y="2458128"/>
                  <a:pt x="798112" y="2375912"/>
                  <a:pt x="624165" y="2419688"/>
                </a:cubicBezTo>
                <a:cubicBezTo>
                  <a:pt x="450219" y="2463464"/>
                  <a:pt x="181502" y="2363333"/>
                  <a:pt x="0" y="2419688"/>
                </a:cubicBezTo>
                <a:cubicBezTo>
                  <a:pt x="-25839" y="2217235"/>
                  <a:pt x="22079" y="2190781"/>
                  <a:pt x="0" y="2008341"/>
                </a:cubicBezTo>
                <a:cubicBezTo>
                  <a:pt x="-22079" y="1825901"/>
                  <a:pt x="35930" y="1692960"/>
                  <a:pt x="0" y="1476010"/>
                </a:cubicBezTo>
                <a:cubicBezTo>
                  <a:pt x="-35930" y="1259060"/>
                  <a:pt x="24466" y="1237823"/>
                  <a:pt x="0" y="1064663"/>
                </a:cubicBezTo>
                <a:cubicBezTo>
                  <a:pt x="-24466" y="891503"/>
                  <a:pt x="32255" y="790837"/>
                  <a:pt x="0" y="629119"/>
                </a:cubicBezTo>
                <a:cubicBezTo>
                  <a:pt x="-32255" y="467401"/>
                  <a:pt x="1844" y="301508"/>
                  <a:pt x="0" y="0"/>
                </a:cubicBezTo>
                <a:close/>
              </a:path>
              <a:path w="3343742" h="2419688" stroke="0" extrusionOk="0">
                <a:moveTo>
                  <a:pt x="0" y="0"/>
                </a:moveTo>
                <a:cubicBezTo>
                  <a:pt x="153692" y="-18830"/>
                  <a:pt x="437983" y="34255"/>
                  <a:pt x="624165" y="0"/>
                </a:cubicBezTo>
                <a:cubicBezTo>
                  <a:pt x="810348" y="-34255"/>
                  <a:pt x="982256" y="20661"/>
                  <a:pt x="1148018" y="0"/>
                </a:cubicBezTo>
                <a:cubicBezTo>
                  <a:pt x="1313780" y="-20661"/>
                  <a:pt x="1447125" y="5047"/>
                  <a:pt x="1705308" y="0"/>
                </a:cubicBezTo>
                <a:cubicBezTo>
                  <a:pt x="1963491" y="-5047"/>
                  <a:pt x="2126289" y="9012"/>
                  <a:pt x="2262599" y="0"/>
                </a:cubicBezTo>
                <a:cubicBezTo>
                  <a:pt x="2398909" y="-9012"/>
                  <a:pt x="2985933" y="13207"/>
                  <a:pt x="3343742" y="0"/>
                </a:cubicBezTo>
                <a:cubicBezTo>
                  <a:pt x="3368865" y="256630"/>
                  <a:pt x="3340069" y="266689"/>
                  <a:pt x="3343742" y="532331"/>
                </a:cubicBezTo>
                <a:cubicBezTo>
                  <a:pt x="3347415" y="797973"/>
                  <a:pt x="3334827" y="800050"/>
                  <a:pt x="3343742" y="967875"/>
                </a:cubicBezTo>
                <a:cubicBezTo>
                  <a:pt x="3352657" y="1135700"/>
                  <a:pt x="3289185" y="1213738"/>
                  <a:pt x="3343742" y="1451813"/>
                </a:cubicBezTo>
                <a:cubicBezTo>
                  <a:pt x="3398299" y="1689888"/>
                  <a:pt x="3329326" y="1760713"/>
                  <a:pt x="3343742" y="1887357"/>
                </a:cubicBezTo>
                <a:cubicBezTo>
                  <a:pt x="3358158" y="2014001"/>
                  <a:pt x="3292606" y="2298928"/>
                  <a:pt x="3343742" y="2419688"/>
                </a:cubicBezTo>
                <a:cubicBezTo>
                  <a:pt x="3202563" y="2421118"/>
                  <a:pt x="2940963" y="2390129"/>
                  <a:pt x="2719577" y="2419688"/>
                </a:cubicBezTo>
                <a:cubicBezTo>
                  <a:pt x="2498191" y="2449247"/>
                  <a:pt x="2384903" y="2403694"/>
                  <a:pt x="2229161" y="2419688"/>
                </a:cubicBezTo>
                <a:cubicBezTo>
                  <a:pt x="2073419" y="2435682"/>
                  <a:pt x="1959415" y="2383589"/>
                  <a:pt x="1705308" y="2419688"/>
                </a:cubicBezTo>
                <a:cubicBezTo>
                  <a:pt x="1451201" y="2455787"/>
                  <a:pt x="1457445" y="2377642"/>
                  <a:pt x="1248330" y="2419688"/>
                </a:cubicBezTo>
                <a:cubicBezTo>
                  <a:pt x="1039215" y="2461734"/>
                  <a:pt x="929862" y="2359957"/>
                  <a:pt x="657603" y="2419688"/>
                </a:cubicBezTo>
                <a:cubicBezTo>
                  <a:pt x="385344" y="2479419"/>
                  <a:pt x="325382" y="2368709"/>
                  <a:pt x="0" y="2419688"/>
                </a:cubicBezTo>
                <a:cubicBezTo>
                  <a:pt x="-17258" y="2264497"/>
                  <a:pt x="453" y="2139434"/>
                  <a:pt x="0" y="1911554"/>
                </a:cubicBezTo>
                <a:cubicBezTo>
                  <a:pt x="-453" y="1683674"/>
                  <a:pt x="26861" y="1614368"/>
                  <a:pt x="0" y="1427616"/>
                </a:cubicBezTo>
                <a:cubicBezTo>
                  <a:pt x="-26861" y="1240864"/>
                  <a:pt x="56573" y="1019373"/>
                  <a:pt x="0" y="895285"/>
                </a:cubicBezTo>
                <a:cubicBezTo>
                  <a:pt x="-56573" y="771197"/>
                  <a:pt x="74241" y="274250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CEC4BB8F-14DA-4DD8-4102-4A88785B9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6352" y="418456"/>
            <a:ext cx="4957411" cy="1752599"/>
          </a:xfrm>
        </p:spPr>
        <p:txBody>
          <a:bodyPr/>
          <a:lstStyle/>
          <a:p>
            <a:r>
              <a:rPr lang="hu-HU"/>
              <a:t>K</a:t>
            </a:r>
            <a:r>
              <a:rPr lang="pt-BR"/>
              <a:t>ett</a:t>
            </a:r>
            <a:r>
              <a:rPr lang="hu-HU"/>
              <a:t>ő</a:t>
            </a:r>
            <a:r>
              <a:rPr lang="pt-BR"/>
              <a:t>s hasítás </a:t>
            </a:r>
            <a:br>
              <a:rPr lang="hu-HU"/>
            </a:br>
            <a:r>
              <a:rPr lang="hu-HU"/>
              <a:t>C# kód*</a:t>
            </a:r>
          </a:p>
        </p:txBody>
      </p:sp>
      <p:pic>
        <p:nvPicPr>
          <p:cNvPr id="15" name="Kép 14">
            <a:extLst>
              <a:ext uri="{FF2B5EF4-FFF2-40B4-BE49-F238E27FC236}">
                <a16:creationId xmlns:a16="http://schemas.microsoft.com/office/drawing/2014/main" id="{6B17211C-C3D3-5C30-FEBA-BF0AF7A090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790155">
            <a:off x="8389107" y="4103029"/>
            <a:ext cx="3524742" cy="2181529"/>
          </a:xfrm>
          <a:custGeom>
            <a:avLst/>
            <a:gdLst>
              <a:gd name="csX0" fmla="*/ 0 w 3524742"/>
              <a:gd name="csY0" fmla="*/ 0 h 2181529"/>
              <a:gd name="csX1" fmla="*/ 622704 w 3524742"/>
              <a:gd name="csY1" fmla="*/ 0 h 2181529"/>
              <a:gd name="csX2" fmla="*/ 1245409 w 3524742"/>
              <a:gd name="csY2" fmla="*/ 0 h 2181529"/>
              <a:gd name="csX3" fmla="*/ 1832866 w 3524742"/>
              <a:gd name="csY3" fmla="*/ 0 h 2181529"/>
              <a:gd name="csX4" fmla="*/ 2385075 w 3524742"/>
              <a:gd name="csY4" fmla="*/ 0 h 2181529"/>
              <a:gd name="csX5" fmla="*/ 3524742 w 3524742"/>
              <a:gd name="csY5" fmla="*/ 0 h 2181529"/>
              <a:gd name="csX6" fmla="*/ 3524742 w 3524742"/>
              <a:gd name="csY6" fmla="*/ 479936 h 2181529"/>
              <a:gd name="csX7" fmla="*/ 3524742 w 3524742"/>
              <a:gd name="csY7" fmla="*/ 1047134 h 2181529"/>
              <a:gd name="csX8" fmla="*/ 3524742 w 3524742"/>
              <a:gd name="csY8" fmla="*/ 1527070 h 2181529"/>
              <a:gd name="csX9" fmla="*/ 3524742 w 3524742"/>
              <a:gd name="csY9" fmla="*/ 2181529 h 2181529"/>
              <a:gd name="csX10" fmla="*/ 2972532 w 3524742"/>
              <a:gd name="csY10" fmla="*/ 2181529 h 2181529"/>
              <a:gd name="csX11" fmla="*/ 2314581 w 3524742"/>
              <a:gd name="csY11" fmla="*/ 2181529 h 2181529"/>
              <a:gd name="csX12" fmla="*/ 1762371 w 3524742"/>
              <a:gd name="csY12" fmla="*/ 2181529 h 2181529"/>
              <a:gd name="csX13" fmla="*/ 1280656 w 3524742"/>
              <a:gd name="csY13" fmla="*/ 2181529 h 2181529"/>
              <a:gd name="csX14" fmla="*/ 798942 w 3524742"/>
              <a:gd name="csY14" fmla="*/ 2181529 h 2181529"/>
              <a:gd name="csX15" fmla="*/ 0 w 3524742"/>
              <a:gd name="csY15" fmla="*/ 2181529 h 2181529"/>
              <a:gd name="csX16" fmla="*/ 0 w 3524742"/>
              <a:gd name="csY16" fmla="*/ 1636147 h 2181529"/>
              <a:gd name="csX17" fmla="*/ 0 w 3524742"/>
              <a:gd name="csY17" fmla="*/ 1134395 h 2181529"/>
              <a:gd name="csX18" fmla="*/ 0 w 3524742"/>
              <a:gd name="csY18" fmla="*/ 654459 h 2181529"/>
              <a:gd name="csX19" fmla="*/ 0 w 3524742"/>
              <a:gd name="csY19" fmla="*/ 0 h 21815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3524742" h="2181529" fill="none" extrusionOk="0">
                <a:moveTo>
                  <a:pt x="0" y="0"/>
                </a:moveTo>
                <a:cubicBezTo>
                  <a:pt x="142389" y="-34402"/>
                  <a:pt x="488527" y="27915"/>
                  <a:pt x="622704" y="0"/>
                </a:cubicBezTo>
                <a:cubicBezTo>
                  <a:pt x="756881" y="-27915"/>
                  <a:pt x="1043869" y="10127"/>
                  <a:pt x="1245409" y="0"/>
                </a:cubicBezTo>
                <a:cubicBezTo>
                  <a:pt x="1446949" y="-10127"/>
                  <a:pt x="1562797" y="11803"/>
                  <a:pt x="1832866" y="0"/>
                </a:cubicBezTo>
                <a:cubicBezTo>
                  <a:pt x="2102935" y="-11803"/>
                  <a:pt x="2248735" y="51205"/>
                  <a:pt x="2385075" y="0"/>
                </a:cubicBezTo>
                <a:cubicBezTo>
                  <a:pt x="2521415" y="-51205"/>
                  <a:pt x="3155299" y="52399"/>
                  <a:pt x="3524742" y="0"/>
                </a:cubicBezTo>
                <a:cubicBezTo>
                  <a:pt x="3572057" y="131091"/>
                  <a:pt x="3482979" y="265902"/>
                  <a:pt x="3524742" y="479936"/>
                </a:cubicBezTo>
                <a:cubicBezTo>
                  <a:pt x="3566505" y="693970"/>
                  <a:pt x="3466292" y="878105"/>
                  <a:pt x="3524742" y="1047134"/>
                </a:cubicBezTo>
                <a:cubicBezTo>
                  <a:pt x="3583192" y="1216163"/>
                  <a:pt x="3514551" y="1352738"/>
                  <a:pt x="3524742" y="1527070"/>
                </a:cubicBezTo>
                <a:cubicBezTo>
                  <a:pt x="3534933" y="1701402"/>
                  <a:pt x="3449932" y="1875966"/>
                  <a:pt x="3524742" y="2181529"/>
                </a:cubicBezTo>
                <a:cubicBezTo>
                  <a:pt x="3315046" y="2230013"/>
                  <a:pt x="3151751" y="2181499"/>
                  <a:pt x="2972532" y="2181529"/>
                </a:cubicBezTo>
                <a:cubicBezTo>
                  <a:pt x="2793313" y="2181559"/>
                  <a:pt x="2643311" y="2138064"/>
                  <a:pt x="2314581" y="2181529"/>
                </a:cubicBezTo>
                <a:cubicBezTo>
                  <a:pt x="1985851" y="2224994"/>
                  <a:pt x="1946491" y="2151728"/>
                  <a:pt x="1762371" y="2181529"/>
                </a:cubicBezTo>
                <a:cubicBezTo>
                  <a:pt x="1578251" y="2211330"/>
                  <a:pt x="1505423" y="2124392"/>
                  <a:pt x="1280656" y="2181529"/>
                </a:cubicBezTo>
                <a:cubicBezTo>
                  <a:pt x="1055889" y="2238666"/>
                  <a:pt x="1036354" y="2179082"/>
                  <a:pt x="798942" y="2181529"/>
                </a:cubicBezTo>
                <a:cubicBezTo>
                  <a:pt x="561530" y="2183976"/>
                  <a:pt x="241949" y="2134521"/>
                  <a:pt x="0" y="2181529"/>
                </a:cubicBezTo>
                <a:cubicBezTo>
                  <a:pt x="-8172" y="1951687"/>
                  <a:pt x="15638" y="1832347"/>
                  <a:pt x="0" y="1636147"/>
                </a:cubicBezTo>
                <a:cubicBezTo>
                  <a:pt x="-15638" y="1439947"/>
                  <a:pt x="38512" y="1310974"/>
                  <a:pt x="0" y="1134395"/>
                </a:cubicBezTo>
                <a:cubicBezTo>
                  <a:pt x="-38512" y="957816"/>
                  <a:pt x="9291" y="810763"/>
                  <a:pt x="0" y="654459"/>
                </a:cubicBezTo>
                <a:cubicBezTo>
                  <a:pt x="-9291" y="498155"/>
                  <a:pt x="77616" y="161702"/>
                  <a:pt x="0" y="0"/>
                </a:cubicBezTo>
                <a:close/>
              </a:path>
              <a:path w="3524742" h="2181529" stroke="0" extrusionOk="0">
                <a:moveTo>
                  <a:pt x="0" y="0"/>
                </a:moveTo>
                <a:cubicBezTo>
                  <a:pt x="242689" y="-38611"/>
                  <a:pt x="413135" y="58941"/>
                  <a:pt x="657952" y="0"/>
                </a:cubicBezTo>
                <a:cubicBezTo>
                  <a:pt x="902769" y="-58941"/>
                  <a:pt x="957432" y="50803"/>
                  <a:pt x="1210161" y="0"/>
                </a:cubicBezTo>
                <a:cubicBezTo>
                  <a:pt x="1462890" y="-50803"/>
                  <a:pt x="1540665" y="9471"/>
                  <a:pt x="1797618" y="0"/>
                </a:cubicBezTo>
                <a:cubicBezTo>
                  <a:pt x="2054571" y="-9471"/>
                  <a:pt x="2132090" y="14776"/>
                  <a:pt x="2385075" y="0"/>
                </a:cubicBezTo>
                <a:cubicBezTo>
                  <a:pt x="2638060" y="-14776"/>
                  <a:pt x="3031207" y="19980"/>
                  <a:pt x="3524742" y="0"/>
                </a:cubicBezTo>
                <a:cubicBezTo>
                  <a:pt x="3582256" y="202206"/>
                  <a:pt x="3496858" y="300948"/>
                  <a:pt x="3524742" y="589013"/>
                </a:cubicBezTo>
                <a:cubicBezTo>
                  <a:pt x="3552626" y="877078"/>
                  <a:pt x="3499530" y="896554"/>
                  <a:pt x="3524742" y="1090765"/>
                </a:cubicBezTo>
                <a:cubicBezTo>
                  <a:pt x="3549954" y="1284976"/>
                  <a:pt x="3473164" y="1491943"/>
                  <a:pt x="3524742" y="1636147"/>
                </a:cubicBezTo>
                <a:cubicBezTo>
                  <a:pt x="3576320" y="1780351"/>
                  <a:pt x="3486588" y="2029724"/>
                  <a:pt x="3524742" y="2181529"/>
                </a:cubicBezTo>
                <a:cubicBezTo>
                  <a:pt x="3285777" y="2201504"/>
                  <a:pt x="3164376" y="2134812"/>
                  <a:pt x="3007780" y="2181529"/>
                </a:cubicBezTo>
                <a:cubicBezTo>
                  <a:pt x="2851184" y="2228246"/>
                  <a:pt x="2686105" y="2109090"/>
                  <a:pt x="2385075" y="2181529"/>
                </a:cubicBezTo>
                <a:cubicBezTo>
                  <a:pt x="2084045" y="2253968"/>
                  <a:pt x="1990640" y="2168594"/>
                  <a:pt x="1868113" y="2181529"/>
                </a:cubicBezTo>
                <a:cubicBezTo>
                  <a:pt x="1745586" y="2194464"/>
                  <a:pt x="1523389" y="2172882"/>
                  <a:pt x="1315904" y="2181529"/>
                </a:cubicBezTo>
                <a:cubicBezTo>
                  <a:pt x="1108419" y="2190176"/>
                  <a:pt x="1021311" y="2170081"/>
                  <a:pt x="834189" y="2181529"/>
                </a:cubicBezTo>
                <a:cubicBezTo>
                  <a:pt x="647068" y="2192977"/>
                  <a:pt x="336618" y="2099177"/>
                  <a:pt x="0" y="2181529"/>
                </a:cubicBezTo>
                <a:cubicBezTo>
                  <a:pt x="-44337" y="1987161"/>
                  <a:pt x="25039" y="1743452"/>
                  <a:pt x="0" y="1614331"/>
                </a:cubicBezTo>
                <a:cubicBezTo>
                  <a:pt x="-25039" y="1485210"/>
                  <a:pt x="61255" y="1224061"/>
                  <a:pt x="0" y="1047134"/>
                </a:cubicBezTo>
                <a:cubicBezTo>
                  <a:pt x="-61255" y="870207"/>
                  <a:pt x="62593" y="721885"/>
                  <a:pt x="0" y="501752"/>
                </a:cubicBezTo>
                <a:cubicBezTo>
                  <a:pt x="-62593" y="281619"/>
                  <a:pt x="17071" y="119739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13387395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0D99C-DAFB-0425-B8FF-FC4E6433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Kép 10">
            <a:extLst>
              <a:ext uri="{FF2B5EF4-FFF2-40B4-BE49-F238E27FC236}">
                <a16:creationId xmlns:a16="http://schemas.microsoft.com/office/drawing/2014/main" id="{40B2ED03-DE51-6EC4-0833-6AAFA2755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86947">
            <a:off x="978749" y="2535607"/>
            <a:ext cx="5372850" cy="3715268"/>
          </a:xfrm>
          <a:custGeom>
            <a:avLst/>
            <a:gdLst>
              <a:gd name="csX0" fmla="*/ 0 w 5372850"/>
              <a:gd name="csY0" fmla="*/ 0 h 3715268"/>
              <a:gd name="csX1" fmla="*/ 543255 w 5372850"/>
              <a:gd name="csY1" fmla="*/ 0 h 3715268"/>
              <a:gd name="csX2" fmla="*/ 1032781 w 5372850"/>
              <a:gd name="csY2" fmla="*/ 0 h 3715268"/>
              <a:gd name="csX3" fmla="*/ 1468579 w 5372850"/>
              <a:gd name="csY3" fmla="*/ 0 h 3715268"/>
              <a:gd name="csX4" fmla="*/ 2119291 w 5372850"/>
              <a:gd name="csY4" fmla="*/ 0 h 3715268"/>
              <a:gd name="csX5" fmla="*/ 2770003 w 5372850"/>
              <a:gd name="csY5" fmla="*/ 0 h 3715268"/>
              <a:gd name="csX6" fmla="*/ 3259529 w 5372850"/>
              <a:gd name="csY6" fmla="*/ 0 h 3715268"/>
              <a:gd name="csX7" fmla="*/ 3695327 w 5372850"/>
              <a:gd name="csY7" fmla="*/ 0 h 3715268"/>
              <a:gd name="csX8" fmla="*/ 4184853 w 5372850"/>
              <a:gd name="csY8" fmla="*/ 0 h 3715268"/>
              <a:gd name="csX9" fmla="*/ 5372850 w 5372850"/>
              <a:gd name="csY9" fmla="*/ 0 h 3715268"/>
              <a:gd name="csX10" fmla="*/ 5372850 w 5372850"/>
              <a:gd name="csY10" fmla="*/ 419295 h 3715268"/>
              <a:gd name="csX11" fmla="*/ 5372850 w 5372850"/>
              <a:gd name="csY11" fmla="*/ 912894 h 3715268"/>
              <a:gd name="csX12" fmla="*/ 5372850 w 5372850"/>
              <a:gd name="csY12" fmla="*/ 1517952 h 3715268"/>
              <a:gd name="csX13" fmla="*/ 5372850 w 5372850"/>
              <a:gd name="csY13" fmla="*/ 2048705 h 3715268"/>
              <a:gd name="csX14" fmla="*/ 5372850 w 5372850"/>
              <a:gd name="csY14" fmla="*/ 2616610 h 3715268"/>
              <a:gd name="csX15" fmla="*/ 5372850 w 5372850"/>
              <a:gd name="csY15" fmla="*/ 3184515 h 3715268"/>
              <a:gd name="csX16" fmla="*/ 5372850 w 5372850"/>
              <a:gd name="csY16" fmla="*/ 3715268 h 3715268"/>
              <a:gd name="csX17" fmla="*/ 4937052 w 5372850"/>
              <a:gd name="csY17" fmla="*/ 3715268 h 3715268"/>
              <a:gd name="csX18" fmla="*/ 4393797 w 5372850"/>
              <a:gd name="csY18" fmla="*/ 3715268 h 3715268"/>
              <a:gd name="csX19" fmla="*/ 3743086 w 5372850"/>
              <a:gd name="csY19" fmla="*/ 3715268 h 3715268"/>
              <a:gd name="csX20" fmla="*/ 3146102 w 5372850"/>
              <a:gd name="csY20" fmla="*/ 3715268 h 3715268"/>
              <a:gd name="csX21" fmla="*/ 2710304 w 5372850"/>
              <a:gd name="csY21" fmla="*/ 3715268 h 3715268"/>
              <a:gd name="csX22" fmla="*/ 2059593 w 5372850"/>
              <a:gd name="csY22" fmla="*/ 3715268 h 3715268"/>
              <a:gd name="csX23" fmla="*/ 1516338 w 5372850"/>
              <a:gd name="csY23" fmla="*/ 3715268 h 3715268"/>
              <a:gd name="csX24" fmla="*/ 811897 w 5372850"/>
              <a:gd name="csY24" fmla="*/ 3715268 h 3715268"/>
              <a:gd name="csX25" fmla="*/ 0 w 5372850"/>
              <a:gd name="csY25" fmla="*/ 3715268 h 3715268"/>
              <a:gd name="csX26" fmla="*/ 0 w 5372850"/>
              <a:gd name="csY26" fmla="*/ 3258821 h 3715268"/>
              <a:gd name="csX27" fmla="*/ 0 w 5372850"/>
              <a:gd name="csY27" fmla="*/ 2802374 h 3715268"/>
              <a:gd name="csX28" fmla="*/ 0 w 5372850"/>
              <a:gd name="csY28" fmla="*/ 2308774 h 3715268"/>
              <a:gd name="csX29" fmla="*/ 0 w 5372850"/>
              <a:gd name="csY29" fmla="*/ 1740868 h 3715268"/>
              <a:gd name="csX30" fmla="*/ 0 w 5372850"/>
              <a:gd name="csY30" fmla="*/ 1172963 h 3715268"/>
              <a:gd name="csX31" fmla="*/ 0 w 5372850"/>
              <a:gd name="csY31" fmla="*/ 753669 h 3715268"/>
              <a:gd name="csX32" fmla="*/ 0 w 5372850"/>
              <a:gd name="csY32" fmla="*/ 0 h 37152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5372850" h="3715268" fill="none" extrusionOk="0">
                <a:moveTo>
                  <a:pt x="0" y="0"/>
                </a:moveTo>
                <a:cubicBezTo>
                  <a:pt x="118327" y="-11690"/>
                  <a:pt x="332399" y="34435"/>
                  <a:pt x="543255" y="0"/>
                </a:cubicBezTo>
                <a:cubicBezTo>
                  <a:pt x="754111" y="-34435"/>
                  <a:pt x="816956" y="12672"/>
                  <a:pt x="1032781" y="0"/>
                </a:cubicBezTo>
                <a:cubicBezTo>
                  <a:pt x="1248606" y="-12672"/>
                  <a:pt x="1326628" y="37229"/>
                  <a:pt x="1468579" y="0"/>
                </a:cubicBezTo>
                <a:cubicBezTo>
                  <a:pt x="1610530" y="-37229"/>
                  <a:pt x="1804160" y="17862"/>
                  <a:pt x="2119291" y="0"/>
                </a:cubicBezTo>
                <a:cubicBezTo>
                  <a:pt x="2434422" y="-17862"/>
                  <a:pt x="2510017" y="28877"/>
                  <a:pt x="2770003" y="0"/>
                </a:cubicBezTo>
                <a:cubicBezTo>
                  <a:pt x="3029989" y="-28877"/>
                  <a:pt x="3047072" y="43645"/>
                  <a:pt x="3259529" y="0"/>
                </a:cubicBezTo>
                <a:cubicBezTo>
                  <a:pt x="3471986" y="-43645"/>
                  <a:pt x="3542685" y="27233"/>
                  <a:pt x="3695327" y="0"/>
                </a:cubicBezTo>
                <a:cubicBezTo>
                  <a:pt x="3847969" y="-27233"/>
                  <a:pt x="4061369" y="48354"/>
                  <a:pt x="4184853" y="0"/>
                </a:cubicBezTo>
                <a:cubicBezTo>
                  <a:pt x="4308337" y="-48354"/>
                  <a:pt x="5115277" y="86434"/>
                  <a:pt x="5372850" y="0"/>
                </a:cubicBezTo>
                <a:cubicBezTo>
                  <a:pt x="5385889" y="99408"/>
                  <a:pt x="5342595" y="259737"/>
                  <a:pt x="5372850" y="419295"/>
                </a:cubicBezTo>
                <a:cubicBezTo>
                  <a:pt x="5403105" y="578854"/>
                  <a:pt x="5358629" y="801541"/>
                  <a:pt x="5372850" y="912894"/>
                </a:cubicBezTo>
                <a:cubicBezTo>
                  <a:pt x="5387071" y="1024247"/>
                  <a:pt x="5310604" y="1366504"/>
                  <a:pt x="5372850" y="1517952"/>
                </a:cubicBezTo>
                <a:cubicBezTo>
                  <a:pt x="5435096" y="1669400"/>
                  <a:pt x="5358134" y="1840264"/>
                  <a:pt x="5372850" y="2048705"/>
                </a:cubicBezTo>
                <a:cubicBezTo>
                  <a:pt x="5387566" y="2257146"/>
                  <a:pt x="5335416" y="2376702"/>
                  <a:pt x="5372850" y="2616610"/>
                </a:cubicBezTo>
                <a:cubicBezTo>
                  <a:pt x="5410284" y="2856519"/>
                  <a:pt x="5323725" y="2960021"/>
                  <a:pt x="5372850" y="3184515"/>
                </a:cubicBezTo>
                <a:cubicBezTo>
                  <a:pt x="5421975" y="3409010"/>
                  <a:pt x="5365800" y="3551245"/>
                  <a:pt x="5372850" y="3715268"/>
                </a:cubicBezTo>
                <a:cubicBezTo>
                  <a:pt x="5231794" y="3738099"/>
                  <a:pt x="5107156" y="3680390"/>
                  <a:pt x="4937052" y="3715268"/>
                </a:cubicBezTo>
                <a:cubicBezTo>
                  <a:pt x="4766948" y="3750146"/>
                  <a:pt x="4538424" y="3679463"/>
                  <a:pt x="4393797" y="3715268"/>
                </a:cubicBezTo>
                <a:cubicBezTo>
                  <a:pt x="4249170" y="3751073"/>
                  <a:pt x="4006567" y="3711424"/>
                  <a:pt x="3743086" y="3715268"/>
                </a:cubicBezTo>
                <a:cubicBezTo>
                  <a:pt x="3479605" y="3719112"/>
                  <a:pt x="3376674" y="3684094"/>
                  <a:pt x="3146102" y="3715268"/>
                </a:cubicBezTo>
                <a:cubicBezTo>
                  <a:pt x="2915530" y="3746442"/>
                  <a:pt x="2894093" y="3705760"/>
                  <a:pt x="2710304" y="3715268"/>
                </a:cubicBezTo>
                <a:cubicBezTo>
                  <a:pt x="2526515" y="3724776"/>
                  <a:pt x="2344435" y="3679792"/>
                  <a:pt x="2059593" y="3715268"/>
                </a:cubicBezTo>
                <a:cubicBezTo>
                  <a:pt x="1774751" y="3750744"/>
                  <a:pt x="1657672" y="3650334"/>
                  <a:pt x="1516338" y="3715268"/>
                </a:cubicBezTo>
                <a:cubicBezTo>
                  <a:pt x="1375005" y="3780202"/>
                  <a:pt x="1023616" y="3660101"/>
                  <a:pt x="811897" y="3715268"/>
                </a:cubicBezTo>
                <a:cubicBezTo>
                  <a:pt x="600178" y="3770435"/>
                  <a:pt x="166291" y="3632556"/>
                  <a:pt x="0" y="3715268"/>
                </a:cubicBezTo>
                <a:cubicBezTo>
                  <a:pt x="-967" y="3520333"/>
                  <a:pt x="509" y="3367371"/>
                  <a:pt x="0" y="3258821"/>
                </a:cubicBezTo>
                <a:cubicBezTo>
                  <a:pt x="-509" y="3150271"/>
                  <a:pt x="1128" y="2908712"/>
                  <a:pt x="0" y="2802374"/>
                </a:cubicBezTo>
                <a:cubicBezTo>
                  <a:pt x="-1128" y="2696036"/>
                  <a:pt x="35484" y="2414558"/>
                  <a:pt x="0" y="2308774"/>
                </a:cubicBezTo>
                <a:cubicBezTo>
                  <a:pt x="-35484" y="2202990"/>
                  <a:pt x="42611" y="1957695"/>
                  <a:pt x="0" y="1740868"/>
                </a:cubicBezTo>
                <a:cubicBezTo>
                  <a:pt x="-42611" y="1524041"/>
                  <a:pt x="35253" y="1391248"/>
                  <a:pt x="0" y="1172963"/>
                </a:cubicBezTo>
                <a:cubicBezTo>
                  <a:pt x="-35253" y="954679"/>
                  <a:pt x="3732" y="890192"/>
                  <a:pt x="0" y="753669"/>
                </a:cubicBezTo>
                <a:cubicBezTo>
                  <a:pt x="-3732" y="617146"/>
                  <a:pt x="2115" y="179031"/>
                  <a:pt x="0" y="0"/>
                </a:cubicBezTo>
                <a:close/>
              </a:path>
              <a:path w="5372850" h="3715268" stroke="0" extrusionOk="0">
                <a:moveTo>
                  <a:pt x="0" y="0"/>
                </a:moveTo>
                <a:cubicBezTo>
                  <a:pt x="142374" y="-78146"/>
                  <a:pt x="448089" y="54204"/>
                  <a:pt x="704440" y="0"/>
                </a:cubicBezTo>
                <a:cubicBezTo>
                  <a:pt x="960791" y="-54204"/>
                  <a:pt x="1090065" y="62359"/>
                  <a:pt x="1247695" y="0"/>
                </a:cubicBezTo>
                <a:cubicBezTo>
                  <a:pt x="1405326" y="-62359"/>
                  <a:pt x="1586934" y="42205"/>
                  <a:pt x="1844679" y="0"/>
                </a:cubicBezTo>
                <a:cubicBezTo>
                  <a:pt x="2102424" y="-42205"/>
                  <a:pt x="2276101" y="40009"/>
                  <a:pt x="2441662" y="0"/>
                </a:cubicBezTo>
                <a:cubicBezTo>
                  <a:pt x="2607223" y="-40009"/>
                  <a:pt x="2877284" y="27455"/>
                  <a:pt x="3146102" y="0"/>
                </a:cubicBezTo>
                <a:cubicBezTo>
                  <a:pt x="3414920" y="-27455"/>
                  <a:pt x="3594434" y="33081"/>
                  <a:pt x="3850542" y="0"/>
                </a:cubicBezTo>
                <a:cubicBezTo>
                  <a:pt x="4106650" y="-33081"/>
                  <a:pt x="4303434" y="39616"/>
                  <a:pt x="4554983" y="0"/>
                </a:cubicBezTo>
                <a:cubicBezTo>
                  <a:pt x="4806532" y="-39616"/>
                  <a:pt x="4977737" y="5087"/>
                  <a:pt x="5372850" y="0"/>
                </a:cubicBezTo>
                <a:cubicBezTo>
                  <a:pt x="5406259" y="139069"/>
                  <a:pt x="5311315" y="283642"/>
                  <a:pt x="5372850" y="530753"/>
                </a:cubicBezTo>
                <a:cubicBezTo>
                  <a:pt x="5434385" y="777864"/>
                  <a:pt x="5329938" y="827537"/>
                  <a:pt x="5372850" y="987200"/>
                </a:cubicBezTo>
                <a:cubicBezTo>
                  <a:pt x="5415762" y="1146863"/>
                  <a:pt x="5336309" y="1422546"/>
                  <a:pt x="5372850" y="1592258"/>
                </a:cubicBezTo>
                <a:cubicBezTo>
                  <a:pt x="5409391" y="1761970"/>
                  <a:pt x="5335841" y="1851708"/>
                  <a:pt x="5372850" y="2048705"/>
                </a:cubicBezTo>
                <a:cubicBezTo>
                  <a:pt x="5409859" y="2245702"/>
                  <a:pt x="5353667" y="2391065"/>
                  <a:pt x="5372850" y="2579457"/>
                </a:cubicBezTo>
                <a:cubicBezTo>
                  <a:pt x="5392033" y="2767849"/>
                  <a:pt x="5338164" y="2900860"/>
                  <a:pt x="5372850" y="3110210"/>
                </a:cubicBezTo>
                <a:cubicBezTo>
                  <a:pt x="5407536" y="3319560"/>
                  <a:pt x="5303371" y="3584482"/>
                  <a:pt x="5372850" y="3715268"/>
                </a:cubicBezTo>
                <a:cubicBezTo>
                  <a:pt x="5169909" y="3738909"/>
                  <a:pt x="4968631" y="3690625"/>
                  <a:pt x="4668410" y="3715268"/>
                </a:cubicBezTo>
                <a:cubicBezTo>
                  <a:pt x="4368189" y="3739911"/>
                  <a:pt x="4241544" y="3694604"/>
                  <a:pt x="4017698" y="3715268"/>
                </a:cubicBezTo>
                <a:cubicBezTo>
                  <a:pt x="3793852" y="3735932"/>
                  <a:pt x="3677095" y="3706029"/>
                  <a:pt x="3581900" y="3715268"/>
                </a:cubicBezTo>
                <a:cubicBezTo>
                  <a:pt x="3486705" y="3724507"/>
                  <a:pt x="3331764" y="3670007"/>
                  <a:pt x="3146102" y="3715268"/>
                </a:cubicBezTo>
                <a:cubicBezTo>
                  <a:pt x="2960440" y="3760529"/>
                  <a:pt x="2847137" y="3701727"/>
                  <a:pt x="2710304" y="3715268"/>
                </a:cubicBezTo>
                <a:cubicBezTo>
                  <a:pt x="2573471" y="3728809"/>
                  <a:pt x="2468188" y="3692969"/>
                  <a:pt x="2274507" y="3715268"/>
                </a:cubicBezTo>
                <a:cubicBezTo>
                  <a:pt x="2080826" y="3737567"/>
                  <a:pt x="1840651" y="3666242"/>
                  <a:pt x="1677523" y="3715268"/>
                </a:cubicBezTo>
                <a:cubicBezTo>
                  <a:pt x="1514395" y="3764294"/>
                  <a:pt x="1218773" y="3701513"/>
                  <a:pt x="1080540" y="3715268"/>
                </a:cubicBezTo>
                <a:cubicBezTo>
                  <a:pt x="942307" y="3729023"/>
                  <a:pt x="744704" y="3693968"/>
                  <a:pt x="591013" y="3715268"/>
                </a:cubicBezTo>
                <a:cubicBezTo>
                  <a:pt x="437322" y="3736568"/>
                  <a:pt x="142313" y="3677961"/>
                  <a:pt x="0" y="3715268"/>
                </a:cubicBezTo>
                <a:cubicBezTo>
                  <a:pt x="-67818" y="3516405"/>
                  <a:pt x="67381" y="3289689"/>
                  <a:pt x="0" y="3110210"/>
                </a:cubicBezTo>
                <a:cubicBezTo>
                  <a:pt x="-67381" y="2930731"/>
                  <a:pt x="40088" y="2887998"/>
                  <a:pt x="0" y="2690916"/>
                </a:cubicBezTo>
                <a:cubicBezTo>
                  <a:pt x="-40088" y="2493834"/>
                  <a:pt x="58393" y="2383398"/>
                  <a:pt x="0" y="2160163"/>
                </a:cubicBezTo>
                <a:cubicBezTo>
                  <a:pt x="-58393" y="1936928"/>
                  <a:pt x="14356" y="1862198"/>
                  <a:pt x="0" y="1703716"/>
                </a:cubicBezTo>
                <a:cubicBezTo>
                  <a:pt x="-14356" y="1545234"/>
                  <a:pt x="40405" y="1327126"/>
                  <a:pt x="0" y="1135811"/>
                </a:cubicBezTo>
                <a:cubicBezTo>
                  <a:pt x="-40405" y="944496"/>
                  <a:pt x="20025" y="831177"/>
                  <a:pt x="0" y="567905"/>
                </a:cubicBezTo>
                <a:cubicBezTo>
                  <a:pt x="-20025" y="304633"/>
                  <a:pt x="56433" y="153365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sp>
        <p:nvSpPr>
          <p:cNvPr id="3" name="Cím 1">
            <a:extLst>
              <a:ext uri="{FF2B5EF4-FFF2-40B4-BE49-F238E27FC236}">
                <a16:creationId xmlns:a16="http://schemas.microsoft.com/office/drawing/2014/main" id="{4D9FC4FE-560F-961A-6906-E9414712580A}"/>
              </a:ext>
            </a:extLst>
          </p:cNvPr>
          <p:cNvSpPr txBox="1">
            <a:spLocks/>
          </p:cNvSpPr>
          <p:nvPr/>
        </p:nvSpPr>
        <p:spPr>
          <a:xfrm>
            <a:off x="2074532" y="98339"/>
            <a:ext cx="4957411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/>
              <a:t>K</a:t>
            </a:r>
            <a:r>
              <a:rPr lang="pt-BR"/>
              <a:t>ett</a:t>
            </a:r>
            <a:r>
              <a:rPr lang="hu-HU"/>
              <a:t>ő</a:t>
            </a:r>
            <a:r>
              <a:rPr lang="pt-BR"/>
              <a:t>s hasítás </a:t>
            </a:r>
            <a:br>
              <a:rPr lang="hu-HU"/>
            </a:br>
            <a:r>
              <a:rPr lang="hu-HU"/>
              <a:t>C# kód*</a:t>
            </a:r>
          </a:p>
        </p:txBody>
      </p:sp>
      <p:pic>
        <p:nvPicPr>
          <p:cNvPr id="14" name="Kép 13">
            <a:extLst>
              <a:ext uri="{FF2B5EF4-FFF2-40B4-BE49-F238E27FC236}">
                <a16:creationId xmlns:a16="http://schemas.microsoft.com/office/drawing/2014/main" id="{C97BB430-3372-2FF9-103C-3B9789CF7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978006">
            <a:off x="6882917" y="514603"/>
            <a:ext cx="5174854" cy="5819562"/>
          </a:xfrm>
          <a:custGeom>
            <a:avLst/>
            <a:gdLst>
              <a:gd name="csX0" fmla="*/ 0 w 5174854"/>
              <a:gd name="csY0" fmla="*/ 0 h 5819562"/>
              <a:gd name="csX1" fmla="*/ 678481 w 5174854"/>
              <a:gd name="csY1" fmla="*/ 0 h 5819562"/>
              <a:gd name="csX2" fmla="*/ 1098219 w 5174854"/>
              <a:gd name="csY2" fmla="*/ 0 h 5819562"/>
              <a:gd name="csX3" fmla="*/ 1569706 w 5174854"/>
              <a:gd name="csY3" fmla="*/ 0 h 5819562"/>
              <a:gd name="csX4" fmla="*/ 2248187 w 5174854"/>
              <a:gd name="csY4" fmla="*/ 0 h 5819562"/>
              <a:gd name="csX5" fmla="*/ 2667925 w 5174854"/>
              <a:gd name="csY5" fmla="*/ 0 h 5819562"/>
              <a:gd name="csX6" fmla="*/ 3139411 w 5174854"/>
              <a:gd name="csY6" fmla="*/ 0 h 5819562"/>
              <a:gd name="csX7" fmla="*/ 3766144 w 5174854"/>
              <a:gd name="csY7" fmla="*/ 0 h 5819562"/>
              <a:gd name="csX8" fmla="*/ 4185882 w 5174854"/>
              <a:gd name="csY8" fmla="*/ 0 h 5819562"/>
              <a:gd name="csX9" fmla="*/ 4657369 w 5174854"/>
              <a:gd name="csY9" fmla="*/ 0 h 5819562"/>
              <a:gd name="csX10" fmla="*/ 5174854 w 5174854"/>
              <a:gd name="csY10" fmla="*/ 0 h 5819562"/>
              <a:gd name="csX11" fmla="*/ 5174854 w 5174854"/>
              <a:gd name="csY11" fmla="*/ 698347 h 5819562"/>
              <a:gd name="csX12" fmla="*/ 5174854 w 5174854"/>
              <a:gd name="csY12" fmla="*/ 1105717 h 5819562"/>
              <a:gd name="csX13" fmla="*/ 5174854 w 5174854"/>
              <a:gd name="csY13" fmla="*/ 1687673 h 5819562"/>
              <a:gd name="csX14" fmla="*/ 5174854 w 5174854"/>
              <a:gd name="csY14" fmla="*/ 2211434 h 5819562"/>
              <a:gd name="csX15" fmla="*/ 5174854 w 5174854"/>
              <a:gd name="csY15" fmla="*/ 2618803 h 5819562"/>
              <a:gd name="csX16" fmla="*/ 5174854 w 5174854"/>
              <a:gd name="csY16" fmla="*/ 3200759 h 5819562"/>
              <a:gd name="csX17" fmla="*/ 5174854 w 5174854"/>
              <a:gd name="csY17" fmla="*/ 3608128 h 5819562"/>
              <a:gd name="csX18" fmla="*/ 5174854 w 5174854"/>
              <a:gd name="csY18" fmla="*/ 4306476 h 5819562"/>
              <a:gd name="csX19" fmla="*/ 5174854 w 5174854"/>
              <a:gd name="csY19" fmla="*/ 4713845 h 5819562"/>
              <a:gd name="csX20" fmla="*/ 5174854 w 5174854"/>
              <a:gd name="csY20" fmla="*/ 5179410 h 5819562"/>
              <a:gd name="csX21" fmla="*/ 5174854 w 5174854"/>
              <a:gd name="csY21" fmla="*/ 5819562 h 5819562"/>
              <a:gd name="csX22" fmla="*/ 4548122 w 5174854"/>
              <a:gd name="csY22" fmla="*/ 5819562 h 5819562"/>
              <a:gd name="csX23" fmla="*/ 4024886 w 5174854"/>
              <a:gd name="csY23" fmla="*/ 5819562 h 5819562"/>
              <a:gd name="csX24" fmla="*/ 3346406 w 5174854"/>
              <a:gd name="csY24" fmla="*/ 5819562 h 5819562"/>
              <a:gd name="csX25" fmla="*/ 2823170 w 5174854"/>
              <a:gd name="csY25" fmla="*/ 5819562 h 5819562"/>
              <a:gd name="csX26" fmla="*/ 2351684 w 5174854"/>
              <a:gd name="csY26" fmla="*/ 5819562 h 5819562"/>
              <a:gd name="csX27" fmla="*/ 1776700 w 5174854"/>
              <a:gd name="csY27" fmla="*/ 5819562 h 5819562"/>
              <a:gd name="csX28" fmla="*/ 1253465 w 5174854"/>
              <a:gd name="csY28" fmla="*/ 5819562 h 5819562"/>
              <a:gd name="csX29" fmla="*/ 678481 w 5174854"/>
              <a:gd name="csY29" fmla="*/ 5819562 h 5819562"/>
              <a:gd name="csX30" fmla="*/ 0 w 5174854"/>
              <a:gd name="csY30" fmla="*/ 5819562 h 5819562"/>
              <a:gd name="csX31" fmla="*/ 0 w 5174854"/>
              <a:gd name="csY31" fmla="*/ 5237606 h 5819562"/>
              <a:gd name="csX32" fmla="*/ 0 w 5174854"/>
              <a:gd name="csY32" fmla="*/ 4713845 h 5819562"/>
              <a:gd name="csX33" fmla="*/ 0 w 5174854"/>
              <a:gd name="csY33" fmla="*/ 4131889 h 5819562"/>
              <a:gd name="csX34" fmla="*/ 0 w 5174854"/>
              <a:gd name="csY34" fmla="*/ 3724520 h 5819562"/>
              <a:gd name="csX35" fmla="*/ 0 w 5174854"/>
              <a:gd name="csY35" fmla="*/ 3142563 h 5819562"/>
              <a:gd name="csX36" fmla="*/ 0 w 5174854"/>
              <a:gd name="csY36" fmla="*/ 2444216 h 5819562"/>
              <a:gd name="csX37" fmla="*/ 0 w 5174854"/>
              <a:gd name="csY37" fmla="*/ 2036847 h 5819562"/>
              <a:gd name="csX38" fmla="*/ 0 w 5174854"/>
              <a:gd name="csY38" fmla="*/ 1571282 h 5819562"/>
              <a:gd name="csX39" fmla="*/ 0 w 5174854"/>
              <a:gd name="csY39" fmla="*/ 1047521 h 5819562"/>
              <a:gd name="csX40" fmla="*/ 0 w 5174854"/>
              <a:gd name="csY40" fmla="*/ 640152 h 5819562"/>
              <a:gd name="csX41" fmla="*/ 0 w 5174854"/>
              <a:gd name="csY41" fmla="*/ 0 h 58195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5174854" h="5819562" fill="none" extrusionOk="0">
                <a:moveTo>
                  <a:pt x="0" y="0"/>
                </a:moveTo>
                <a:cubicBezTo>
                  <a:pt x="328389" y="-78061"/>
                  <a:pt x="401872" y="76156"/>
                  <a:pt x="678481" y="0"/>
                </a:cubicBezTo>
                <a:cubicBezTo>
                  <a:pt x="955090" y="-76156"/>
                  <a:pt x="959674" y="40206"/>
                  <a:pt x="1098219" y="0"/>
                </a:cubicBezTo>
                <a:cubicBezTo>
                  <a:pt x="1236764" y="-40206"/>
                  <a:pt x="1397368" y="16181"/>
                  <a:pt x="1569706" y="0"/>
                </a:cubicBezTo>
                <a:cubicBezTo>
                  <a:pt x="1742044" y="-16181"/>
                  <a:pt x="2058840" y="43700"/>
                  <a:pt x="2248187" y="0"/>
                </a:cubicBezTo>
                <a:cubicBezTo>
                  <a:pt x="2437534" y="-43700"/>
                  <a:pt x="2467357" y="13214"/>
                  <a:pt x="2667925" y="0"/>
                </a:cubicBezTo>
                <a:cubicBezTo>
                  <a:pt x="2868493" y="-13214"/>
                  <a:pt x="2923806" y="24140"/>
                  <a:pt x="3139411" y="0"/>
                </a:cubicBezTo>
                <a:cubicBezTo>
                  <a:pt x="3355016" y="-24140"/>
                  <a:pt x="3575076" y="52778"/>
                  <a:pt x="3766144" y="0"/>
                </a:cubicBezTo>
                <a:cubicBezTo>
                  <a:pt x="3957212" y="-52778"/>
                  <a:pt x="4032059" y="36882"/>
                  <a:pt x="4185882" y="0"/>
                </a:cubicBezTo>
                <a:cubicBezTo>
                  <a:pt x="4339705" y="-36882"/>
                  <a:pt x="4498889" y="790"/>
                  <a:pt x="4657369" y="0"/>
                </a:cubicBezTo>
                <a:cubicBezTo>
                  <a:pt x="4815849" y="-790"/>
                  <a:pt x="4976464" y="52322"/>
                  <a:pt x="5174854" y="0"/>
                </a:cubicBezTo>
                <a:cubicBezTo>
                  <a:pt x="5257537" y="202303"/>
                  <a:pt x="5107600" y="467761"/>
                  <a:pt x="5174854" y="698347"/>
                </a:cubicBezTo>
                <a:cubicBezTo>
                  <a:pt x="5242108" y="928933"/>
                  <a:pt x="5143795" y="989352"/>
                  <a:pt x="5174854" y="1105717"/>
                </a:cubicBezTo>
                <a:cubicBezTo>
                  <a:pt x="5205913" y="1222082"/>
                  <a:pt x="5106355" y="1544474"/>
                  <a:pt x="5174854" y="1687673"/>
                </a:cubicBezTo>
                <a:cubicBezTo>
                  <a:pt x="5243353" y="1830872"/>
                  <a:pt x="5169276" y="2033499"/>
                  <a:pt x="5174854" y="2211434"/>
                </a:cubicBezTo>
                <a:cubicBezTo>
                  <a:pt x="5180432" y="2389369"/>
                  <a:pt x="5158784" y="2466053"/>
                  <a:pt x="5174854" y="2618803"/>
                </a:cubicBezTo>
                <a:cubicBezTo>
                  <a:pt x="5190924" y="2771553"/>
                  <a:pt x="5106581" y="2968716"/>
                  <a:pt x="5174854" y="3200759"/>
                </a:cubicBezTo>
                <a:cubicBezTo>
                  <a:pt x="5243127" y="3432802"/>
                  <a:pt x="5132066" y="3421928"/>
                  <a:pt x="5174854" y="3608128"/>
                </a:cubicBezTo>
                <a:cubicBezTo>
                  <a:pt x="5217642" y="3794328"/>
                  <a:pt x="5159910" y="4118968"/>
                  <a:pt x="5174854" y="4306476"/>
                </a:cubicBezTo>
                <a:cubicBezTo>
                  <a:pt x="5189798" y="4493984"/>
                  <a:pt x="5161788" y="4534226"/>
                  <a:pt x="5174854" y="4713845"/>
                </a:cubicBezTo>
                <a:cubicBezTo>
                  <a:pt x="5187920" y="4893464"/>
                  <a:pt x="5159691" y="5077270"/>
                  <a:pt x="5174854" y="5179410"/>
                </a:cubicBezTo>
                <a:cubicBezTo>
                  <a:pt x="5190017" y="5281550"/>
                  <a:pt x="5167243" y="5506066"/>
                  <a:pt x="5174854" y="5819562"/>
                </a:cubicBezTo>
                <a:cubicBezTo>
                  <a:pt x="4949720" y="5838334"/>
                  <a:pt x="4803324" y="5796297"/>
                  <a:pt x="4548122" y="5819562"/>
                </a:cubicBezTo>
                <a:cubicBezTo>
                  <a:pt x="4292920" y="5842827"/>
                  <a:pt x="4165369" y="5798233"/>
                  <a:pt x="4024886" y="5819562"/>
                </a:cubicBezTo>
                <a:cubicBezTo>
                  <a:pt x="3884403" y="5840891"/>
                  <a:pt x="3595118" y="5753275"/>
                  <a:pt x="3346406" y="5819562"/>
                </a:cubicBezTo>
                <a:cubicBezTo>
                  <a:pt x="3097694" y="5885849"/>
                  <a:pt x="3006795" y="5802912"/>
                  <a:pt x="2823170" y="5819562"/>
                </a:cubicBezTo>
                <a:cubicBezTo>
                  <a:pt x="2639545" y="5836212"/>
                  <a:pt x="2484697" y="5772625"/>
                  <a:pt x="2351684" y="5819562"/>
                </a:cubicBezTo>
                <a:cubicBezTo>
                  <a:pt x="2218671" y="5866499"/>
                  <a:pt x="2009399" y="5761265"/>
                  <a:pt x="1776700" y="5819562"/>
                </a:cubicBezTo>
                <a:cubicBezTo>
                  <a:pt x="1544001" y="5877859"/>
                  <a:pt x="1489505" y="5759574"/>
                  <a:pt x="1253465" y="5819562"/>
                </a:cubicBezTo>
                <a:cubicBezTo>
                  <a:pt x="1017425" y="5879550"/>
                  <a:pt x="804278" y="5777006"/>
                  <a:pt x="678481" y="5819562"/>
                </a:cubicBezTo>
                <a:cubicBezTo>
                  <a:pt x="552684" y="5862118"/>
                  <a:pt x="150225" y="5819278"/>
                  <a:pt x="0" y="5819562"/>
                </a:cubicBezTo>
                <a:cubicBezTo>
                  <a:pt x="-58516" y="5688805"/>
                  <a:pt x="12967" y="5508578"/>
                  <a:pt x="0" y="5237606"/>
                </a:cubicBezTo>
                <a:cubicBezTo>
                  <a:pt x="-12967" y="4966634"/>
                  <a:pt x="17413" y="4854319"/>
                  <a:pt x="0" y="4713845"/>
                </a:cubicBezTo>
                <a:cubicBezTo>
                  <a:pt x="-17413" y="4573371"/>
                  <a:pt x="61750" y="4250787"/>
                  <a:pt x="0" y="4131889"/>
                </a:cubicBezTo>
                <a:cubicBezTo>
                  <a:pt x="-61750" y="4012991"/>
                  <a:pt x="44700" y="3867918"/>
                  <a:pt x="0" y="3724520"/>
                </a:cubicBezTo>
                <a:cubicBezTo>
                  <a:pt x="-44700" y="3581122"/>
                  <a:pt x="14128" y="3414391"/>
                  <a:pt x="0" y="3142563"/>
                </a:cubicBezTo>
                <a:cubicBezTo>
                  <a:pt x="-14128" y="2870735"/>
                  <a:pt x="64397" y="2709860"/>
                  <a:pt x="0" y="2444216"/>
                </a:cubicBezTo>
                <a:cubicBezTo>
                  <a:pt x="-64397" y="2178572"/>
                  <a:pt x="33413" y="2202382"/>
                  <a:pt x="0" y="2036847"/>
                </a:cubicBezTo>
                <a:cubicBezTo>
                  <a:pt x="-33413" y="1871312"/>
                  <a:pt x="21819" y="1762848"/>
                  <a:pt x="0" y="1571282"/>
                </a:cubicBezTo>
                <a:cubicBezTo>
                  <a:pt x="-21819" y="1379717"/>
                  <a:pt x="41295" y="1293188"/>
                  <a:pt x="0" y="1047521"/>
                </a:cubicBezTo>
                <a:cubicBezTo>
                  <a:pt x="-41295" y="801854"/>
                  <a:pt x="33497" y="783782"/>
                  <a:pt x="0" y="640152"/>
                </a:cubicBezTo>
                <a:cubicBezTo>
                  <a:pt x="-33497" y="496522"/>
                  <a:pt x="39005" y="163987"/>
                  <a:pt x="0" y="0"/>
                </a:cubicBezTo>
                <a:close/>
              </a:path>
              <a:path w="5174854" h="5819562" stroke="0" extrusionOk="0">
                <a:moveTo>
                  <a:pt x="0" y="0"/>
                </a:moveTo>
                <a:cubicBezTo>
                  <a:pt x="330355" y="-61614"/>
                  <a:pt x="386171" y="43585"/>
                  <a:pt x="678481" y="0"/>
                </a:cubicBezTo>
                <a:cubicBezTo>
                  <a:pt x="970791" y="-43585"/>
                  <a:pt x="956365" y="17680"/>
                  <a:pt x="1201716" y="0"/>
                </a:cubicBezTo>
                <a:cubicBezTo>
                  <a:pt x="1447067" y="-17680"/>
                  <a:pt x="1516627" y="48430"/>
                  <a:pt x="1776700" y="0"/>
                </a:cubicBezTo>
                <a:cubicBezTo>
                  <a:pt x="2036773" y="-48430"/>
                  <a:pt x="2079361" y="32294"/>
                  <a:pt x="2351684" y="0"/>
                </a:cubicBezTo>
                <a:cubicBezTo>
                  <a:pt x="2624007" y="-32294"/>
                  <a:pt x="2826712" y="29553"/>
                  <a:pt x="3030165" y="0"/>
                </a:cubicBezTo>
                <a:cubicBezTo>
                  <a:pt x="3233618" y="-29553"/>
                  <a:pt x="3572435" y="67085"/>
                  <a:pt x="3708645" y="0"/>
                </a:cubicBezTo>
                <a:cubicBezTo>
                  <a:pt x="3844855" y="-67085"/>
                  <a:pt x="4098457" y="73699"/>
                  <a:pt x="4387126" y="0"/>
                </a:cubicBezTo>
                <a:cubicBezTo>
                  <a:pt x="4675795" y="-73699"/>
                  <a:pt x="4783894" y="68182"/>
                  <a:pt x="5174854" y="0"/>
                </a:cubicBezTo>
                <a:cubicBezTo>
                  <a:pt x="5220542" y="118892"/>
                  <a:pt x="5127744" y="455061"/>
                  <a:pt x="5174854" y="581956"/>
                </a:cubicBezTo>
                <a:cubicBezTo>
                  <a:pt x="5221964" y="708851"/>
                  <a:pt x="5163023" y="836002"/>
                  <a:pt x="5174854" y="1047521"/>
                </a:cubicBezTo>
                <a:cubicBezTo>
                  <a:pt x="5186685" y="1259040"/>
                  <a:pt x="5092154" y="1454063"/>
                  <a:pt x="5174854" y="1745869"/>
                </a:cubicBezTo>
                <a:cubicBezTo>
                  <a:pt x="5257554" y="2037675"/>
                  <a:pt x="5144809" y="1988761"/>
                  <a:pt x="5174854" y="2211434"/>
                </a:cubicBezTo>
                <a:cubicBezTo>
                  <a:pt x="5204899" y="2434108"/>
                  <a:pt x="5120016" y="2548494"/>
                  <a:pt x="5174854" y="2793390"/>
                </a:cubicBezTo>
                <a:cubicBezTo>
                  <a:pt x="5229692" y="3038286"/>
                  <a:pt x="5170613" y="3188797"/>
                  <a:pt x="5174854" y="3375346"/>
                </a:cubicBezTo>
                <a:cubicBezTo>
                  <a:pt x="5179095" y="3561895"/>
                  <a:pt x="5118246" y="3792244"/>
                  <a:pt x="5174854" y="4073693"/>
                </a:cubicBezTo>
                <a:cubicBezTo>
                  <a:pt x="5231462" y="4355142"/>
                  <a:pt x="5094315" y="4597115"/>
                  <a:pt x="5174854" y="4772041"/>
                </a:cubicBezTo>
                <a:cubicBezTo>
                  <a:pt x="5255393" y="4946967"/>
                  <a:pt x="5122601" y="5127779"/>
                  <a:pt x="5174854" y="5237606"/>
                </a:cubicBezTo>
                <a:cubicBezTo>
                  <a:pt x="5227107" y="5347434"/>
                  <a:pt x="5119524" y="5585909"/>
                  <a:pt x="5174854" y="5819562"/>
                </a:cubicBezTo>
                <a:cubicBezTo>
                  <a:pt x="5044660" y="5868943"/>
                  <a:pt x="4698533" y="5763679"/>
                  <a:pt x="4548122" y="5819562"/>
                </a:cubicBezTo>
                <a:cubicBezTo>
                  <a:pt x="4397711" y="5875445"/>
                  <a:pt x="4317368" y="5815678"/>
                  <a:pt x="4128384" y="5819562"/>
                </a:cubicBezTo>
                <a:cubicBezTo>
                  <a:pt x="3939400" y="5823446"/>
                  <a:pt x="3793225" y="5809964"/>
                  <a:pt x="3708645" y="5819562"/>
                </a:cubicBezTo>
                <a:cubicBezTo>
                  <a:pt x="3624065" y="5829160"/>
                  <a:pt x="3288624" y="5770147"/>
                  <a:pt x="3133662" y="5819562"/>
                </a:cubicBezTo>
                <a:cubicBezTo>
                  <a:pt x="2978700" y="5868977"/>
                  <a:pt x="2710191" y="5756746"/>
                  <a:pt x="2558678" y="5819562"/>
                </a:cubicBezTo>
                <a:cubicBezTo>
                  <a:pt x="2407165" y="5882378"/>
                  <a:pt x="2222755" y="5803559"/>
                  <a:pt x="2087191" y="5819562"/>
                </a:cubicBezTo>
                <a:cubicBezTo>
                  <a:pt x="1951627" y="5835565"/>
                  <a:pt x="1736014" y="5778999"/>
                  <a:pt x="1615704" y="5819562"/>
                </a:cubicBezTo>
                <a:cubicBezTo>
                  <a:pt x="1495394" y="5860125"/>
                  <a:pt x="1086486" y="5773638"/>
                  <a:pt x="937224" y="5819562"/>
                </a:cubicBezTo>
                <a:cubicBezTo>
                  <a:pt x="787962" y="5865486"/>
                  <a:pt x="425121" y="5810874"/>
                  <a:pt x="0" y="5819562"/>
                </a:cubicBezTo>
                <a:cubicBezTo>
                  <a:pt x="-6417" y="5689454"/>
                  <a:pt x="9696" y="5384119"/>
                  <a:pt x="0" y="5179410"/>
                </a:cubicBezTo>
                <a:cubicBezTo>
                  <a:pt x="-9696" y="4974701"/>
                  <a:pt x="11181" y="4929046"/>
                  <a:pt x="0" y="4713845"/>
                </a:cubicBezTo>
                <a:cubicBezTo>
                  <a:pt x="-11181" y="4498644"/>
                  <a:pt x="64610" y="4288879"/>
                  <a:pt x="0" y="4073693"/>
                </a:cubicBezTo>
                <a:cubicBezTo>
                  <a:pt x="-64610" y="3858507"/>
                  <a:pt x="2070" y="3585315"/>
                  <a:pt x="0" y="3433542"/>
                </a:cubicBezTo>
                <a:cubicBezTo>
                  <a:pt x="-2070" y="3281769"/>
                  <a:pt x="5223" y="2971503"/>
                  <a:pt x="0" y="2735194"/>
                </a:cubicBezTo>
                <a:cubicBezTo>
                  <a:pt x="-5223" y="2498885"/>
                  <a:pt x="39512" y="2407848"/>
                  <a:pt x="0" y="2211434"/>
                </a:cubicBezTo>
                <a:cubicBezTo>
                  <a:pt x="-39512" y="2015020"/>
                  <a:pt x="18186" y="1897845"/>
                  <a:pt x="0" y="1804064"/>
                </a:cubicBezTo>
                <a:cubicBezTo>
                  <a:pt x="-18186" y="1710283"/>
                  <a:pt x="5200" y="1540856"/>
                  <a:pt x="0" y="1396695"/>
                </a:cubicBezTo>
                <a:cubicBezTo>
                  <a:pt x="-5200" y="1252534"/>
                  <a:pt x="14765" y="932769"/>
                  <a:pt x="0" y="756543"/>
                </a:cubicBezTo>
                <a:cubicBezTo>
                  <a:pt x="-14765" y="580317"/>
                  <a:pt x="7129" y="183672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41858777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3600B63-72C6-B08B-504C-6C1987933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580696"/>
            <a:ext cx="10018713" cy="880241"/>
          </a:xfrm>
        </p:spPr>
        <p:txBody>
          <a:bodyPr/>
          <a:lstStyle/>
          <a:p>
            <a:r>
              <a:rPr lang="hu-HU"/>
              <a:t>Ellenőrző kérdések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98C73F1-6107-E572-8A88-36C189280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692165"/>
            <a:ext cx="10018713" cy="4803228"/>
          </a:xfrm>
        </p:spPr>
        <p:txBody>
          <a:bodyPr>
            <a:normAutofit lnSpcReduction="10000"/>
          </a:bodyPr>
          <a:lstStyle/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hu-HU" sz="20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 </a:t>
            </a:r>
            <a:r>
              <a:rPr lang="hu-HU" sz="20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hu-HU" sz="20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[0..</a:t>
            </a:r>
            <a:r>
              <a:rPr lang="hu-HU" sz="20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hu-HU" sz="20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-1] hasító tábla rései (</a:t>
            </a:r>
            <a:r>
              <a:rPr lang="hu-HU" sz="2000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slot-jai</a:t>
            </a:r>
            <a:r>
              <a:rPr lang="hu-HU" sz="20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 egyirányú, nemciklikus, fejelem nélküli, rendezetlen láncolt listák </a:t>
            </a:r>
            <a:r>
              <a:rPr lang="hu-HU" sz="2000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pointerei</a:t>
            </a:r>
            <a:r>
              <a:rPr lang="hu-HU" sz="20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Adott a </a:t>
            </a:r>
            <a:r>
              <a:rPr lang="hu-HU" sz="20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</a:t>
            </a:r>
            <a:r>
              <a:rPr lang="hu-HU" sz="20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lang="hu-HU" sz="2000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mod</a:t>
            </a:r>
            <a:r>
              <a:rPr lang="hu-HU" sz="20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hu-HU" sz="20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hu-HU" sz="20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hasító függvény. A kulcsütközéseket láncolással oldjuk fel. Feltehető, hogy mindegyik kulcs csak egyszer szerepel </a:t>
            </a:r>
            <a:r>
              <a:rPr lang="hu-HU" sz="20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hu-HU" sz="20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-ben.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Írjuk meg az </a:t>
            </a:r>
            <a:r>
              <a:rPr lang="hu-HU" sz="1800" i="1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ins</a:t>
            </a:r>
            <a:r>
              <a:rPr lang="hu-HU" sz="18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(T[],</a:t>
            </a:r>
            <a:r>
              <a:rPr lang="hu-HU" sz="1800" i="1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M,k,a</a:t>
            </a:r>
            <a:r>
              <a:rPr lang="hu-HU" sz="18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hu-HU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: 0..2 értékű függvényt, ami beszúrja a </a:t>
            </a:r>
            <a:r>
              <a:rPr lang="hu-HU" sz="18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hu-HU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[0..</a:t>
            </a:r>
            <a:r>
              <a:rPr lang="hu-HU" sz="18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hu-HU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-1] hasító táblába a (</a:t>
            </a:r>
            <a:r>
              <a:rPr lang="hu-HU" sz="1800" i="1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</a:t>
            </a:r>
            <a:r>
              <a:rPr lang="hu-HU" sz="1800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  <a:r>
              <a:rPr lang="hu-HU" sz="1800" i="1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</a:t>
            </a:r>
            <a:r>
              <a:rPr lang="hu-HU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 kulcs-adat párt! Akkor és csak akkor ad vissza 0 értéket, ha sikeres volt a beszúrás. Ilyenkor az új listaelemet a megfelelő lista elejére szúrjuk be! Ha a táblában már volt k kulcsú elem, a beszúrás meghiúsul, és 2 hibakódot adjunk vissza. Különben, ha nem tudjuk már a szükséges listaelemet allokálni, 1 hibakódot adjunk vissza!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Írjuk meg a </a:t>
            </a:r>
            <a:r>
              <a:rPr lang="hu-HU" sz="1800" i="1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search</a:t>
            </a:r>
            <a:r>
              <a:rPr lang="hu-HU" sz="18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(T[],</a:t>
            </a:r>
            <a:r>
              <a:rPr lang="hu-HU" sz="1800" i="1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M,k</a:t>
            </a:r>
            <a:r>
              <a:rPr lang="hu-HU" sz="18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hu-HU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függvényt, ami visszaadja a </a:t>
            </a:r>
            <a:r>
              <a:rPr lang="hu-HU" sz="18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hu-HU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</a:t>
            </a:r>
            <a:r>
              <a:rPr lang="hu-HU" sz="1800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beli</a:t>
            </a:r>
            <a:r>
              <a:rPr lang="hu-HU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hu-HU" sz="18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</a:t>
            </a:r>
            <a:r>
              <a:rPr lang="hu-HU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kulcsú elem címét, vagy a _ pointert, ha ilyen nincs!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Írjuk meg a</a:t>
            </a:r>
            <a:r>
              <a:rPr lang="hu-HU" sz="18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hu-HU" sz="1800" i="1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del</a:t>
            </a:r>
            <a:r>
              <a:rPr lang="hu-HU" sz="18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(T[],</a:t>
            </a:r>
            <a:r>
              <a:rPr lang="hu-HU" sz="1800" i="1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M,k</a:t>
            </a:r>
            <a:r>
              <a:rPr lang="hu-HU" sz="18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hu-HU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logikai függvényt, ami törli a </a:t>
            </a:r>
            <a:r>
              <a:rPr lang="hu-HU" sz="18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hu-HU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[0..</a:t>
            </a:r>
            <a:r>
              <a:rPr lang="hu-HU" sz="18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hu-HU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-1] hasító táblából a k kulcsú adatot! Akkor és csak akkor ad vissza </a:t>
            </a:r>
            <a:r>
              <a:rPr lang="hu-HU" sz="1800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r>
              <a:rPr lang="hu-HU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értéket, ha sikeres volt a törlés, azaz a táblában volt </a:t>
            </a:r>
            <a:r>
              <a:rPr lang="hu-HU" sz="18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</a:t>
            </a:r>
            <a:r>
              <a:rPr lang="hu-HU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kulcsú elem. Ilyenkor a feleslegessé váló listaelemet </a:t>
            </a:r>
            <a:r>
              <a:rPr lang="hu-HU" sz="1800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deallokáljuk</a:t>
            </a:r>
            <a:r>
              <a:rPr lang="hu-HU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!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Legyen </a:t>
            </a:r>
            <a:r>
              <a:rPr lang="hu-HU" sz="18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hu-HU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= 9 Mutassuk be, mi történik, ha sorban beszúrjuk a hasító táblába a következő kulcsokat: 5; 28; 19; 15; 20; 33; 12; 17; 10.</a:t>
            </a:r>
          </a:p>
        </p:txBody>
      </p:sp>
    </p:spTree>
    <p:extLst>
      <p:ext uri="{BB962C8B-B14F-4D97-AF65-F5344CB8AC3E}">
        <p14:creationId xmlns:p14="http://schemas.microsoft.com/office/powerpoint/2010/main" val="35266969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FA28F-AAC0-932D-FEAC-295566A79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A7CD13C-1DCC-56DB-881E-A60644992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93016"/>
            <a:ext cx="10018713" cy="880241"/>
          </a:xfrm>
        </p:spPr>
        <p:txBody>
          <a:bodyPr/>
          <a:lstStyle/>
          <a:p>
            <a:r>
              <a:rPr lang="hu-HU"/>
              <a:t>Ellenőrző kérdések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20C4636-5446-90DA-0102-345D48B4D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973258"/>
            <a:ext cx="10018713" cy="5522136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hu-HU" sz="20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 </a:t>
            </a:r>
            <a:r>
              <a:rPr lang="hu-HU" sz="20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hu-HU" sz="20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[0..</a:t>
            </a:r>
            <a:r>
              <a:rPr lang="hu-HU" sz="20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hu-HU" sz="20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-1] hasító táblát nyílt címzéssel ábrázoltuk. Adott a </a:t>
            </a:r>
            <a:r>
              <a:rPr lang="hu-HU" sz="20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</a:t>
            </a:r>
            <a:r>
              <a:rPr lang="hu-HU" sz="20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lang="hu-HU" sz="2000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mod</a:t>
            </a:r>
            <a:r>
              <a:rPr lang="hu-HU" sz="20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hu-HU" sz="20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hu-HU" sz="20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hasító függvény. Mindegyik kulcs csak egyszer szerepel </a:t>
            </a:r>
            <a:r>
              <a:rPr lang="hu-HU" sz="20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hu-HU" sz="20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-ben.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6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 kulcsütközések feloldására használjuk a következő módszereket: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14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Lineáris próba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14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Négyzetes próba (</a:t>
            </a:r>
            <a:r>
              <a:rPr lang="hu-HU" sz="1400" i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</a:t>
            </a:r>
            <a:r>
              <a:rPr lang="hu-HU" sz="1400" baseline="-250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1</a:t>
            </a:r>
            <a:r>
              <a:rPr lang="hu-HU" sz="14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= </a:t>
            </a:r>
            <a:r>
              <a:rPr lang="hu-HU" sz="1400" i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</a:t>
            </a:r>
            <a:r>
              <a:rPr lang="hu-HU" sz="1400" baseline="-250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hu-HU" sz="14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= ½)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14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Kettős </a:t>
            </a:r>
            <a:r>
              <a:rPr lang="hu-HU" sz="14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hash-elés</a:t>
            </a:r>
            <a:r>
              <a:rPr lang="hu-HU" sz="14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esetére! A másodlagos </a:t>
            </a:r>
            <a:r>
              <a:rPr lang="hu-HU" sz="14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hash</a:t>
            </a:r>
            <a:r>
              <a:rPr lang="hu-HU" sz="14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függvény: </a:t>
            </a:r>
            <a:r>
              <a:rPr lang="hu-HU" sz="1400" i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</a:t>
            </a:r>
            <a:r>
              <a:rPr lang="hu-HU" sz="1400" baseline="-250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hu-HU" sz="14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hu-HU" sz="1400" i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</a:t>
            </a:r>
            <a:r>
              <a:rPr lang="hu-HU" sz="14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 = 1+(</a:t>
            </a:r>
            <a:r>
              <a:rPr lang="hu-HU" sz="1400" i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</a:t>
            </a:r>
            <a:r>
              <a:rPr lang="hu-HU" sz="14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hu-HU" sz="14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mod</a:t>
            </a:r>
            <a:r>
              <a:rPr lang="hu-HU" sz="14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hu-HU" sz="1400" i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hu-HU" sz="14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− </a:t>
            </a:r>
            <a:r>
              <a:rPr lang="hu-HU" sz="14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1))</a:t>
            </a:r>
            <a:endParaRPr lang="hu-HU" sz="14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7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Írjuk meg az </a:t>
            </a:r>
            <a:r>
              <a:rPr lang="hu-HU" sz="1700" i="1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ins</a:t>
            </a:r>
            <a:r>
              <a:rPr lang="hu-HU" sz="17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(T[],</a:t>
            </a:r>
            <a:r>
              <a:rPr lang="hu-HU" sz="1700" i="1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M,k,a</a:t>
            </a:r>
            <a:r>
              <a:rPr lang="hu-HU" sz="17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hu-HU" sz="17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: 0..2 értékű függvényt, ami beszúrja a </a:t>
            </a:r>
            <a:r>
              <a:rPr lang="hu-HU" sz="17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hu-HU" sz="17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[0..</a:t>
            </a:r>
            <a:r>
              <a:rPr lang="hu-HU" sz="17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hu-HU" sz="17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-1] hasító táblába a (</a:t>
            </a:r>
            <a:r>
              <a:rPr lang="hu-HU" sz="1700" i="1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</a:t>
            </a:r>
            <a:r>
              <a:rPr lang="hu-HU" sz="1700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  <a:r>
              <a:rPr lang="hu-HU" sz="1700" i="1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</a:t>
            </a:r>
            <a:r>
              <a:rPr lang="hu-HU" sz="17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 kulcs-adat párt! Akkor és csak akkor ad vissza 0 értéket, ha sikeres volt a beszúrás. Ilyenkor az új listaelemet a megfelelő lista elejére szúrjuk be! Ha a táblában már volt k kulcsú elem, a beszúrás meghiúsul, és 2 hibakódot adjunk vissza. Különben, ha nem tudjuk már a szükséges listaelemet allokálni, 1 hibakódot adjunk vissza!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7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Írjuk meg a </a:t>
            </a:r>
            <a:r>
              <a:rPr lang="hu-HU" sz="1700" i="1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search</a:t>
            </a:r>
            <a:r>
              <a:rPr lang="hu-HU" sz="17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(T[],</a:t>
            </a:r>
            <a:r>
              <a:rPr lang="hu-HU" sz="1700" i="1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M,k</a:t>
            </a:r>
            <a:r>
              <a:rPr lang="hu-HU" sz="17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hu-HU" sz="17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függvényt, ami visszaadja a </a:t>
            </a:r>
            <a:r>
              <a:rPr lang="hu-HU" sz="17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hu-HU" sz="17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</a:t>
            </a:r>
            <a:r>
              <a:rPr lang="hu-HU" sz="1700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beli</a:t>
            </a:r>
            <a:r>
              <a:rPr lang="hu-HU" sz="17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hu-HU" sz="17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</a:t>
            </a:r>
            <a:r>
              <a:rPr lang="hu-HU" sz="17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kulcsú elem címét, vagy a _ pointert, ha ilyen nincs!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7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Írjuk meg a</a:t>
            </a:r>
            <a:r>
              <a:rPr lang="hu-HU" sz="17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hu-HU" sz="1700" i="1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del</a:t>
            </a:r>
            <a:r>
              <a:rPr lang="hu-HU" sz="17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(T[],</a:t>
            </a:r>
            <a:r>
              <a:rPr lang="hu-HU" sz="1700" i="1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M,k</a:t>
            </a:r>
            <a:r>
              <a:rPr lang="hu-HU" sz="17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hu-HU" sz="17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logikai függvényt, ami törli a </a:t>
            </a:r>
            <a:r>
              <a:rPr lang="hu-HU" sz="17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hu-HU" sz="17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[0..</a:t>
            </a:r>
            <a:r>
              <a:rPr lang="hu-HU" sz="17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hu-HU" sz="17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-1] hasító táblából a k kulcsú adatot! Akkor és csak akkor ad vissza </a:t>
            </a:r>
            <a:r>
              <a:rPr lang="hu-HU" sz="1700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r>
              <a:rPr lang="hu-HU" sz="17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értéket, ha sikeres volt a törlés, azaz a táblában volt </a:t>
            </a:r>
            <a:r>
              <a:rPr lang="hu-HU" sz="17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</a:t>
            </a:r>
            <a:r>
              <a:rPr lang="hu-HU" sz="17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kulcsú elem. Ilyenkor a feleslegessé váló listaelemet </a:t>
            </a:r>
            <a:r>
              <a:rPr lang="hu-HU" sz="1700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deallokáljuk</a:t>
            </a:r>
            <a:r>
              <a:rPr lang="hu-HU" sz="17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!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7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Legyen </a:t>
            </a:r>
            <a:r>
              <a:rPr lang="hu-HU" sz="17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hu-HU" sz="17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= 9 Mutassuk be, mi történik, ha sorban beszúrjuk a hasító táblába a következő kulcsokat</a:t>
            </a:r>
            <a:r>
              <a:rPr lang="hu-HU" sz="17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10; 22; 31; 4; 15; 28; 17; 88; 59. Ezután töröljük a 17-et, majd próbáljuk megkeresni a 18-at és az 59-et, végül pedig szúrjuk be a 18-at! </a:t>
            </a:r>
            <a:endParaRPr lang="hu-HU" sz="17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1891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30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32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0" name="Group 34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51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2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39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4" name="Cím 3">
            <a:extLst>
              <a:ext uri="{FF2B5EF4-FFF2-40B4-BE49-F238E27FC236}">
                <a16:creationId xmlns:a16="http://schemas.microsoft.com/office/drawing/2014/main" id="{8F251FD5-D2E8-68E0-BD0A-F68C306E9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8790" y="943536"/>
            <a:ext cx="6698127" cy="3842570"/>
          </a:xfrm>
        </p:spPr>
        <p:txBody>
          <a:bodyPr anchor="ctr">
            <a:normAutofit/>
          </a:bodyPr>
          <a:lstStyle/>
          <a:p>
            <a:r>
              <a:rPr lang="hu-HU" b="1"/>
              <a:t>Köszönöm a figyelmet!</a:t>
            </a:r>
          </a:p>
        </p:txBody>
      </p:sp>
      <p:sp>
        <p:nvSpPr>
          <p:cNvPr id="5" name="Alcím 4">
            <a:extLst>
              <a:ext uri="{FF2B5EF4-FFF2-40B4-BE49-F238E27FC236}">
                <a16:creationId xmlns:a16="http://schemas.microsoft.com/office/drawing/2014/main" id="{745FFA0C-393D-A955-DE5F-405BE088C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0990" y="4019759"/>
            <a:ext cx="2531516" cy="905288"/>
          </a:xfrm>
        </p:spPr>
        <p:txBody>
          <a:bodyPr anchor="ctr">
            <a:normAutofit fontScale="92500"/>
          </a:bodyPr>
          <a:lstStyle/>
          <a:p>
            <a:r>
              <a:rPr lang="hu-HU" sz="3200" b="1">
                <a:solidFill>
                  <a:srgbClr val="C00000"/>
                </a:solidFill>
              </a:rPr>
              <a:t>Pusztai Kinga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ABF61895-45AB-51B6-C9CB-6F5A07F2E42D}"/>
              </a:ext>
            </a:extLst>
          </p:cNvPr>
          <p:cNvSpPr txBox="1"/>
          <p:nvPr/>
        </p:nvSpPr>
        <p:spPr>
          <a:xfrm>
            <a:off x="5117105" y="5329238"/>
            <a:ext cx="66981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u-HU" sz="2000"/>
              <a:t>A bemutató Ásványi Tibor: </a:t>
            </a:r>
            <a:r>
              <a:rPr lang="hu-HU" sz="2000" b="0" i="0" u="none" strike="noStrike" baseline="0">
                <a:latin typeface="F30"/>
              </a:rPr>
              <a:t>Algoritmusok és adatszerkezetek I. előadásjegyzete és az </a:t>
            </a:r>
            <a:r>
              <a:rPr lang="hu-HU" sz="1800" b="0" i="0" u="none" strike="noStrike" baseline="0">
                <a:latin typeface="F31"/>
              </a:rPr>
              <a:t>Algoritmusok I. gyakorló feladatok (2024)</a:t>
            </a:r>
            <a:r>
              <a:rPr lang="hu-HU" sz="2000" b="0" i="0" u="none" strike="noStrike" baseline="0">
                <a:latin typeface="F30"/>
              </a:rPr>
              <a:t> alapján készült.</a:t>
            </a:r>
            <a:endParaRPr lang="hu-HU" sz="2000"/>
          </a:p>
        </p:txBody>
      </p:sp>
      <p:grpSp>
        <p:nvGrpSpPr>
          <p:cNvPr id="7" name="Csoportba foglalás 6">
            <a:extLst>
              <a:ext uri="{FF2B5EF4-FFF2-40B4-BE49-F238E27FC236}">
                <a16:creationId xmlns:a16="http://schemas.microsoft.com/office/drawing/2014/main" id="{933BBAA7-019C-5652-0486-6167332F7DD8}"/>
              </a:ext>
            </a:extLst>
          </p:cNvPr>
          <p:cNvGrpSpPr/>
          <p:nvPr/>
        </p:nvGrpSpPr>
        <p:grpSpPr>
          <a:xfrm>
            <a:off x="7545945" y="2063388"/>
            <a:ext cx="95760" cy="19800"/>
            <a:chOff x="7545945" y="2063388"/>
            <a:chExt cx="95760" cy="1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Szabadkéz 2">
                  <a:extLst>
                    <a:ext uri="{FF2B5EF4-FFF2-40B4-BE49-F238E27FC236}">
                      <a16:creationId xmlns:a16="http://schemas.microsoft.com/office/drawing/2014/main" id="{7E636972-0F6D-59E4-F7C0-E784636562AF}"/>
                    </a:ext>
                  </a:extLst>
                </p14:cNvPr>
                <p14:cNvContentPartPr/>
                <p14:nvPr/>
              </p14:nvContentPartPr>
              <p14:xfrm>
                <a:off x="7547745" y="2063388"/>
                <a:ext cx="93960" cy="19800"/>
              </p14:xfrm>
            </p:contentPart>
          </mc:Choice>
          <mc:Fallback xmlns="">
            <p:pic>
              <p:nvPicPr>
                <p:cNvPr id="3" name="Szabadkéz 2">
                  <a:extLst>
                    <a:ext uri="{FF2B5EF4-FFF2-40B4-BE49-F238E27FC236}">
                      <a16:creationId xmlns:a16="http://schemas.microsoft.com/office/drawing/2014/main" id="{7E636972-0F6D-59E4-F7C0-E784636562A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541625" y="2057268"/>
                  <a:ext cx="1062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Szabadkéz 5">
                  <a:extLst>
                    <a:ext uri="{FF2B5EF4-FFF2-40B4-BE49-F238E27FC236}">
                      <a16:creationId xmlns:a16="http://schemas.microsoft.com/office/drawing/2014/main" id="{9283D6D4-BC5A-79BB-2851-272AEBA9F821}"/>
                    </a:ext>
                  </a:extLst>
                </p14:cNvPr>
                <p14:cNvContentPartPr/>
                <p14:nvPr/>
              </p14:nvContentPartPr>
              <p14:xfrm>
                <a:off x="7545945" y="2063388"/>
                <a:ext cx="95760" cy="19800"/>
              </p14:xfrm>
            </p:contentPart>
          </mc:Choice>
          <mc:Fallback xmlns="">
            <p:pic>
              <p:nvPicPr>
                <p:cNvPr id="6" name="Szabadkéz 5">
                  <a:extLst>
                    <a:ext uri="{FF2B5EF4-FFF2-40B4-BE49-F238E27FC236}">
                      <a16:creationId xmlns:a16="http://schemas.microsoft.com/office/drawing/2014/main" id="{9283D6D4-BC5A-79BB-2851-272AEBA9F82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539825" y="2057268"/>
                  <a:ext cx="108000" cy="32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660159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arallax">
    <a:dk1>
      <a:sysClr val="windowText" lastClr="000000"/>
    </a:dk1>
    <a:lt1>
      <a:sysClr val="window" lastClr="FFFFFF"/>
    </a:lt1>
    <a:dk2>
      <a:srgbClr val="212121"/>
    </a:dk2>
    <a:lt2>
      <a:srgbClr val="CDD0D1"/>
    </a:lt2>
    <a:accent1>
      <a:srgbClr val="BC1C1C"/>
    </a:accent1>
    <a:accent2>
      <a:srgbClr val="F67534"/>
    </a:accent2>
    <a:accent3>
      <a:srgbClr val="EAAC35"/>
    </a:accent3>
    <a:accent4>
      <a:srgbClr val="9BAF68"/>
    </a:accent4>
    <a:accent5>
      <a:srgbClr val="68B9A6"/>
    </a:accent5>
    <a:accent6>
      <a:srgbClr val="50B1D4"/>
    </a:accent6>
    <a:hlink>
      <a:srgbClr val="E46416"/>
    </a:hlink>
    <a:folHlink>
      <a:srgbClr val="EE9340"/>
    </a:folHlink>
  </a:clrScheme>
</a:themeOverride>
</file>

<file path=ppt/theme/themeOverride2.xml><?xml version="1.0" encoding="utf-8"?>
<a:themeOverride xmlns:a="http://schemas.openxmlformats.org/drawingml/2006/main">
  <a:clrScheme name="Parallax">
    <a:dk1>
      <a:sysClr val="windowText" lastClr="000000"/>
    </a:dk1>
    <a:lt1>
      <a:sysClr val="window" lastClr="FFFFFF"/>
    </a:lt1>
    <a:dk2>
      <a:srgbClr val="212121"/>
    </a:dk2>
    <a:lt2>
      <a:srgbClr val="CDD0D1"/>
    </a:lt2>
    <a:accent1>
      <a:srgbClr val="BC1C1C"/>
    </a:accent1>
    <a:accent2>
      <a:srgbClr val="F67534"/>
    </a:accent2>
    <a:accent3>
      <a:srgbClr val="EAAC35"/>
    </a:accent3>
    <a:accent4>
      <a:srgbClr val="9BAF68"/>
    </a:accent4>
    <a:accent5>
      <a:srgbClr val="68B9A6"/>
    </a:accent5>
    <a:accent6>
      <a:srgbClr val="50B1D4"/>
    </a:accent6>
    <a:hlink>
      <a:srgbClr val="E46416"/>
    </a:hlink>
    <a:folHlink>
      <a:srgbClr val="EE934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5028</Words>
  <Application>Microsoft Office PowerPoint</Application>
  <PresentationFormat>Szélesvásznú</PresentationFormat>
  <Paragraphs>937</Paragraphs>
  <Slides>53</Slides>
  <Notes>1</Notes>
  <HiddenSlides>7</HiddenSlides>
  <MMClips>0</MMClips>
  <ScaleCrop>false</ScaleCrop>
  <HeadingPairs>
    <vt:vector size="6" baseType="variant">
      <vt:variant>
        <vt:lpstr>Használt betűtípusok</vt:lpstr>
      </vt:variant>
      <vt:variant>
        <vt:i4>16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53</vt:i4>
      </vt:variant>
    </vt:vector>
  </HeadingPairs>
  <TitlesOfParts>
    <vt:vector size="70" baseType="lpstr">
      <vt:lpstr>Aptos</vt:lpstr>
      <vt:lpstr>Arial</vt:lpstr>
      <vt:lpstr>Calibri</vt:lpstr>
      <vt:lpstr>Cambria Math</vt:lpstr>
      <vt:lpstr>CMMI12</vt:lpstr>
      <vt:lpstr>CMMI8</vt:lpstr>
      <vt:lpstr>CMR12</vt:lpstr>
      <vt:lpstr>CMR8</vt:lpstr>
      <vt:lpstr>CMSY10</vt:lpstr>
      <vt:lpstr>Corbel</vt:lpstr>
      <vt:lpstr>F29</vt:lpstr>
      <vt:lpstr>F30</vt:lpstr>
      <vt:lpstr>F31</vt:lpstr>
      <vt:lpstr>F78</vt:lpstr>
      <vt:lpstr>Times New Roman</vt:lpstr>
      <vt:lpstr>Wingdings</vt:lpstr>
      <vt:lpstr>Parallax</vt:lpstr>
      <vt:lpstr>Algoritmusok és adatszerkezetek I. 10. Előadás</vt:lpstr>
      <vt:lpstr>Tartalom</vt:lpstr>
      <vt:lpstr>Szótárak (dictionaries)</vt:lpstr>
      <vt:lpstr>Jelölések:</vt:lpstr>
      <vt:lpstr>Jelölések:</vt:lpstr>
      <vt:lpstr>Hashelés szemléletesen</vt:lpstr>
      <vt:lpstr>Direkt címzés (direct-address tables)</vt:lpstr>
      <vt:lpstr>Direkt címzés műveletek</vt:lpstr>
      <vt:lpstr>Hasító táblák (hash tables) </vt:lpstr>
      <vt:lpstr>Hasító táblák (hash tables) </vt:lpstr>
      <vt:lpstr>Kulcsütközés feloldása láncolással (collision resolution by chaining)    Láncolt/vödrös hashelés</vt:lpstr>
      <vt:lpstr>Kulcsütközés feloldása láncolással (collision resolution by chaining)    Láncolt/vödrös hashelés nem animált változata</vt:lpstr>
      <vt:lpstr>Kulcsütközés feloldása láncolással: műveletek (search and update operations)</vt:lpstr>
      <vt:lpstr>Kulcsütközés feloldása láncolással: műveletek</vt:lpstr>
      <vt:lpstr>Láncolt hashelés műveletek C# kódja *</vt:lpstr>
      <vt:lpstr>A hasítófüggvény megválasztása  ( good hash functions)</vt:lpstr>
      <vt:lpstr>A hasítófüggvény megválasztása </vt:lpstr>
      <vt:lpstr>A hasítófüggvény megválasztása </vt:lpstr>
      <vt:lpstr>A hasítófüggvény megválasztása</vt:lpstr>
      <vt:lpstr>Nyílt címzéses (open addressing) hashelés</vt:lpstr>
      <vt:lpstr>Nyílt címzés: beszúrás és keresés,  ha nincs törlés</vt:lpstr>
      <vt:lpstr>Nyílt címzés: beszúrás és keresés,  ha nincs törlés</vt:lpstr>
      <vt:lpstr>Próbasorozatok (probe sequence)</vt:lpstr>
      <vt:lpstr>Egyenletes hasítás, várható lépésszám</vt:lpstr>
      <vt:lpstr>Nyílt címzésű hasítótábla műveletei,  ha van törlés is</vt:lpstr>
      <vt:lpstr>Nyílt címzésű hasítótábla műveletei,  ha van törlés is</vt:lpstr>
      <vt:lpstr>Nyílt címzésű hasítótábla műveletei,  ha van törlés is</vt:lpstr>
      <vt:lpstr>Nyílt címzésű hasítótábla műveletei,  ha van törlés is</vt:lpstr>
      <vt:lpstr>Nyílt címzésű hasítótábla műveletei,  ha van törlés is</vt:lpstr>
      <vt:lpstr>Próbasorozat előállítása: </vt:lpstr>
      <vt:lpstr>Lineáris próba (linear probing)</vt:lpstr>
      <vt:lpstr>Lineáris próba (linear probing)</vt:lpstr>
      <vt:lpstr>Lineáris próba</vt:lpstr>
      <vt:lpstr>Lineáris próba nem animált változata</vt:lpstr>
      <vt:lpstr>Lineáris próba nem animált változata</vt:lpstr>
      <vt:lpstr>Négyzetes próba (quadratic probing)</vt:lpstr>
      <vt:lpstr>Négyzetes próba (quadratic probing)</vt:lpstr>
      <vt:lpstr>Négyzetes próba</vt:lpstr>
      <vt:lpstr>Négyzetes próba nem animált változata</vt:lpstr>
      <vt:lpstr>Négyzetes próba nem animált változata</vt:lpstr>
      <vt:lpstr>Négyzetes próba</vt:lpstr>
      <vt:lpstr>Kettős hasítás (double hashing)</vt:lpstr>
      <vt:lpstr>Kettős hasítás (double hashing)</vt:lpstr>
      <vt:lpstr>Kettős hasítás</vt:lpstr>
      <vt:lpstr>Kettős hasítás nem animált változata</vt:lpstr>
      <vt:lpstr>Kettős hasítás nem animált változata</vt:lpstr>
      <vt:lpstr>A kettős hasítás programozása - feladat</vt:lpstr>
      <vt:lpstr>A kettős hasítás programozása - megoldás</vt:lpstr>
      <vt:lpstr>Kettős hasítás  C# kód*</vt:lpstr>
      <vt:lpstr>PowerPoint-bemutató</vt:lpstr>
      <vt:lpstr>Ellenőrző kérdések</vt:lpstr>
      <vt:lpstr>Ellenőrző kérdések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Kinga</dc:creator>
  <cp:lastModifiedBy>Kovácsné Pusztai Kinga</cp:lastModifiedBy>
  <cp:revision>1</cp:revision>
  <dcterms:created xsi:type="dcterms:W3CDTF">2022-02-02T14:32:23Z</dcterms:created>
  <dcterms:modified xsi:type="dcterms:W3CDTF">2026-06-01T08:02:48Z</dcterms:modified>
</cp:coreProperties>
</file>