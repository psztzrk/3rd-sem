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notesMasterIdLst>
    <p:notesMasterId r:id="rId42"/>
  </p:notesMasterIdLst>
  <p:sldIdLst>
    <p:sldId id="259" r:id="rId2"/>
    <p:sldId id="274" r:id="rId3"/>
    <p:sldId id="273" r:id="rId4"/>
    <p:sldId id="312" r:id="rId5"/>
    <p:sldId id="313" r:id="rId6"/>
    <p:sldId id="314" r:id="rId7"/>
    <p:sldId id="315" r:id="rId8"/>
    <p:sldId id="317" r:id="rId9"/>
    <p:sldId id="279" r:id="rId10"/>
    <p:sldId id="302" r:id="rId11"/>
    <p:sldId id="318" r:id="rId12"/>
    <p:sldId id="303" r:id="rId13"/>
    <p:sldId id="326" r:id="rId14"/>
    <p:sldId id="319" r:id="rId15"/>
    <p:sldId id="304" r:id="rId16"/>
    <p:sldId id="283" r:id="rId17"/>
    <p:sldId id="320" r:id="rId18"/>
    <p:sldId id="321" r:id="rId19"/>
    <p:sldId id="324" r:id="rId20"/>
    <p:sldId id="284" r:id="rId21"/>
    <p:sldId id="292" r:id="rId22"/>
    <p:sldId id="310" r:id="rId23"/>
    <p:sldId id="297" r:id="rId24"/>
    <p:sldId id="266" r:id="rId25"/>
    <p:sldId id="280" r:id="rId26"/>
    <p:sldId id="291" r:id="rId27"/>
    <p:sldId id="309" r:id="rId28"/>
    <p:sldId id="293" r:id="rId29"/>
    <p:sldId id="322" r:id="rId30"/>
    <p:sldId id="323" r:id="rId31"/>
    <p:sldId id="286" r:id="rId32"/>
    <p:sldId id="287" r:id="rId33"/>
    <p:sldId id="316" r:id="rId34"/>
    <p:sldId id="285" r:id="rId35"/>
    <p:sldId id="298" r:id="rId36"/>
    <p:sldId id="289" r:id="rId37"/>
    <p:sldId id="299" r:id="rId38"/>
    <p:sldId id="267" r:id="rId39"/>
    <p:sldId id="305" r:id="rId40"/>
    <p:sldId id="272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C66FD244-E945-4EA4-88AC-3C40BBCC89B1}">
          <p14:sldIdLst>
            <p14:sldId id="259"/>
            <p14:sldId id="274"/>
            <p14:sldId id="273"/>
            <p14:sldId id="312"/>
            <p14:sldId id="313"/>
            <p14:sldId id="314"/>
            <p14:sldId id="315"/>
            <p14:sldId id="317"/>
            <p14:sldId id="279"/>
            <p14:sldId id="302"/>
            <p14:sldId id="318"/>
            <p14:sldId id="303"/>
            <p14:sldId id="326"/>
            <p14:sldId id="319"/>
            <p14:sldId id="304"/>
            <p14:sldId id="283"/>
            <p14:sldId id="320"/>
            <p14:sldId id="321"/>
            <p14:sldId id="324"/>
            <p14:sldId id="284"/>
            <p14:sldId id="292"/>
            <p14:sldId id="310"/>
            <p14:sldId id="297"/>
            <p14:sldId id="266"/>
            <p14:sldId id="280"/>
            <p14:sldId id="291"/>
            <p14:sldId id="309"/>
            <p14:sldId id="293"/>
            <p14:sldId id="322"/>
            <p14:sldId id="323"/>
            <p14:sldId id="286"/>
            <p14:sldId id="287"/>
            <p14:sldId id="316"/>
            <p14:sldId id="285"/>
            <p14:sldId id="298"/>
            <p14:sldId id="289"/>
            <p14:sldId id="299"/>
            <p14:sldId id="267"/>
          </p14:sldIdLst>
        </p14:section>
        <p14:section name="Összefésülő rendezés (Merge Sort)" id="{36553EFC-5CCA-4140-818D-DD6EAC746EE2}">
          <p14:sldIdLst>
            <p14:sldId id="305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né Pusztai Kinga" userId="1282fdc4-838f-4805-a47a-02b770215156" providerId="ADAL" clId="{5C5F7C30-6626-4CCB-81FA-ED1C19E6AEFD}"/>
    <pc:docChg chg="undo custSel addSld delSld modSld sldOrd modSection">
      <pc:chgData name="Kovácsné Pusztai Kinga" userId="1282fdc4-838f-4805-a47a-02b770215156" providerId="ADAL" clId="{5C5F7C30-6626-4CCB-81FA-ED1C19E6AEFD}" dt="2026-08-03T13:58:49.798" v="117"/>
      <pc:docMkLst>
        <pc:docMk/>
      </pc:docMkLst>
      <pc:sldChg chg="modSp">
        <pc:chgData name="Kovácsné Pusztai Kinga" userId="1282fdc4-838f-4805-a47a-02b770215156" providerId="ADAL" clId="{5C5F7C30-6626-4CCB-81FA-ED1C19E6AEFD}" dt="2026-07-28T19:11:26.540" v="99"/>
        <pc:sldMkLst>
          <pc:docMk/>
          <pc:sldMk cId="1781109145" sldId="283"/>
        </pc:sldMkLst>
        <pc:spChg chg="mod">
          <ac:chgData name="Kovácsné Pusztai Kinga" userId="1282fdc4-838f-4805-a47a-02b770215156" providerId="ADAL" clId="{5C5F7C30-6626-4CCB-81FA-ED1C19E6AEFD}" dt="2026-07-28T19:11:26.540" v="99"/>
          <ac:spMkLst>
            <pc:docMk/>
            <pc:sldMk cId="1781109145" sldId="283"/>
            <ac:spMk id="3" creationId="{98A1128F-3999-A303-F740-BC6A97513A20}"/>
          </ac:spMkLst>
        </pc:spChg>
      </pc:sldChg>
      <pc:sldChg chg="ord">
        <pc:chgData name="Kovácsné Pusztai Kinga" userId="1282fdc4-838f-4805-a47a-02b770215156" providerId="ADAL" clId="{5C5F7C30-6626-4CCB-81FA-ED1C19E6AEFD}" dt="2026-08-03T13:58:49.798" v="117"/>
        <pc:sldMkLst>
          <pc:docMk/>
          <pc:sldMk cId="2895976502" sldId="285"/>
        </pc:sldMkLst>
      </pc:sldChg>
      <pc:sldChg chg="modSp mod">
        <pc:chgData name="Kovácsné Pusztai Kinga" userId="1282fdc4-838f-4805-a47a-02b770215156" providerId="ADAL" clId="{5C5F7C30-6626-4CCB-81FA-ED1C19E6AEFD}" dt="2026-07-28T19:11:14.165" v="98" actId="114"/>
        <pc:sldMkLst>
          <pc:docMk/>
          <pc:sldMk cId="4029678525" sldId="304"/>
        </pc:sldMkLst>
        <pc:spChg chg="mod">
          <ac:chgData name="Kovácsné Pusztai Kinga" userId="1282fdc4-838f-4805-a47a-02b770215156" providerId="ADAL" clId="{5C5F7C30-6626-4CCB-81FA-ED1C19E6AEFD}" dt="2026-07-28T19:11:14.165" v="98" actId="114"/>
          <ac:spMkLst>
            <pc:docMk/>
            <pc:sldMk cId="4029678525" sldId="304"/>
            <ac:spMk id="3" creationId="{B47CCACA-7DC7-9040-0205-9A4F2B0471FF}"/>
          </ac:spMkLst>
        </pc:spChg>
      </pc:sldChg>
      <pc:sldChg chg="addSp modSp mod">
        <pc:chgData name="Kovácsné Pusztai Kinga" userId="1282fdc4-838f-4805-a47a-02b770215156" providerId="ADAL" clId="{5C5F7C30-6626-4CCB-81FA-ED1C19E6AEFD}" dt="2026-08-03T11:19:27.165" v="115" actId="1076"/>
        <pc:sldMkLst>
          <pc:docMk/>
          <pc:sldMk cId="3133455291" sldId="322"/>
        </pc:sldMkLst>
        <pc:spChg chg="mod">
          <ac:chgData name="Kovácsné Pusztai Kinga" userId="1282fdc4-838f-4805-a47a-02b770215156" providerId="ADAL" clId="{5C5F7C30-6626-4CCB-81FA-ED1C19E6AEFD}" dt="2026-08-03T11:18:04.321" v="108" actId="113"/>
          <ac:spMkLst>
            <pc:docMk/>
            <pc:sldMk cId="3133455291" sldId="322"/>
            <ac:spMk id="2" creationId="{4CB9A495-DD60-BF4C-E242-48AFEF34CCB9}"/>
          </ac:spMkLst>
        </pc:spChg>
        <pc:spChg chg="mod">
          <ac:chgData name="Kovácsné Pusztai Kinga" userId="1282fdc4-838f-4805-a47a-02b770215156" providerId="ADAL" clId="{5C5F7C30-6626-4CCB-81FA-ED1C19E6AEFD}" dt="2026-08-03T11:18:32.558" v="114" actId="1076"/>
          <ac:spMkLst>
            <pc:docMk/>
            <pc:sldMk cId="3133455291" sldId="322"/>
            <ac:spMk id="6" creationId="{1C4FC2E7-51C4-2BAB-8C3F-6D24070FF837}"/>
          </ac:spMkLst>
        </pc:spChg>
        <pc:spChg chg="mod">
          <ac:chgData name="Kovácsné Pusztai Kinga" userId="1282fdc4-838f-4805-a47a-02b770215156" providerId="ADAL" clId="{5C5F7C30-6626-4CCB-81FA-ED1C19E6AEFD}" dt="2026-08-03T11:18:09.676" v="109" actId="1076"/>
          <ac:spMkLst>
            <pc:docMk/>
            <pc:sldMk cId="3133455291" sldId="322"/>
            <ac:spMk id="7" creationId="{75F3CB25-D0E8-2B57-9ABE-43498DAD8CEF}"/>
          </ac:spMkLst>
        </pc:spChg>
        <pc:spChg chg="mod">
          <ac:chgData name="Kovácsné Pusztai Kinga" userId="1282fdc4-838f-4805-a47a-02b770215156" providerId="ADAL" clId="{5C5F7C30-6626-4CCB-81FA-ED1C19E6AEFD}" dt="2026-08-03T11:18:17.670" v="111" actId="688"/>
          <ac:spMkLst>
            <pc:docMk/>
            <pc:sldMk cId="3133455291" sldId="322"/>
            <ac:spMk id="8" creationId="{2B1A48A2-32CB-547E-7E6E-B53AEDC0CBC2}"/>
          </ac:spMkLst>
        </pc:spChg>
        <pc:picChg chg="add mod">
          <ac:chgData name="Kovácsné Pusztai Kinga" userId="1282fdc4-838f-4805-a47a-02b770215156" providerId="ADAL" clId="{5C5F7C30-6626-4CCB-81FA-ED1C19E6AEFD}" dt="2026-08-03T11:19:27.165" v="115" actId="1076"/>
          <ac:picMkLst>
            <pc:docMk/>
            <pc:sldMk cId="3133455291" sldId="322"/>
            <ac:picMk id="4" creationId="{7BD7E10F-EB4A-0FD8-56EA-777ABEE8FFF7}"/>
          </ac:picMkLst>
        </pc:picChg>
      </pc:sldChg>
      <pc:sldChg chg="add">
        <pc:chgData name="Kovácsné Pusztai Kinga" userId="1282fdc4-838f-4805-a47a-02b770215156" providerId="ADAL" clId="{5C5F7C30-6626-4CCB-81FA-ED1C19E6AEFD}" dt="2026-07-28T19:10:05.422" v="93"/>
        <pc:sldMkLst>
          <pc:docMk/>
          <pc:sldMk cId="2586106523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144AD-2EA0-4741-955A-9DD98642B899}" type="datetimeFigureOut">
              <a:rPr lang="hu-HU" smtClean="0"/>
              <a:t>2026. 07. 27.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C1D8E-BE55-4D42-A9B7-00C5B8ADBA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43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C1D8E-BE55-4D42-A9B7-00C5B8ADBA63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1844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3.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319520" y="4301411"/>
            <a:ext cx="5183502" cy="1388189"/>
          </a:xfrm>
        </p:spPr>
        <p:txBody>
          <a:bodyPr>
            <a:normAutofit fontScale="92500"/>
          </a:bodyPr>
          <a:lstStyle/>
          <a:p>
            <a:r>
              <a:rPr lang="hu-HU" sz="4400" b="1" dirty="0">
                <a:solidFill>
                  <a:srgbClr val="C00000"/>
                </a:solidFill>
              </a:rPr>
              <a:t>Beszúró rendezés és </a:t>
            </a:r>
            <a:br>
              <a:rPr lang="hu-HU" sz="4400" b="1" dirty="0">
                <a:solidFill>
                  <a:srgbClr val="C00000"/>
                </a:solidFill>
              </a:rPr>
            </a:br>
            <a:r>
              <a:rPr lang="hu-HU" sz="4400" b="1" dirty="0">
                <a:solidFill>
                  <a:srgbClr val="C00000"/>
                </a:solidFill>
              </a:rPr>
              <a:t>összefésülő rendezés </a:t>
            </a:r>
            <a:endParaRPr lang="hu-HU" sz="13600" dirty="0"/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0193DF-BF5C-7710-1F59-341E099D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617" y="942486"/>
            <a:ext cx="10255406" cy="916856"/>
          </a:xfrm>
        </p:spPr>
        <p:txBody>
          <a:bodyPr>
            <a:normAutofit/>
          </a:bodyPr>
          <a:lstStyle/>
          <a:p>
            <a:r>
              <a:rPr lang="hu-HU" dirty="0"/>
              <a:t>Rendezési feladat sorozatra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A2DC557-2E86-449F-F1F7-B26BC04A2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2120630"/>
                <a:ext cx="10018713" cy="4290002"/>
              </a:xfrm>
            </p:spPr>
            <p:txBody>
              <a:bodyPr>
                <a:normAutofit/>
              </a:bodyPr>
              <a:lstStyle/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Egy sorozatot legegyszerűbben egy tömbben tárolhatunk</a:t>
                </a:r>
                <a:r>
                  <a:rPr lang="hu-HU" sz="24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 tömb rendezéseknél feltesszük: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a tömb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𝒯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EUSM10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elemtípusára teljes rendezés definiált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az értékadó utasítás is értelmezve van </a:t>
                </a:r>
                <a:endParaRPr lang="hu-HU" sz="20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14:m>
                  <m:oMath xmlns:m="http://schemas.openxmlformats.org/officeDocument/2006/math"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𝒯</m:t>
                    </m:r>
                  </m:oMath>
                </a14:m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 [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]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 vagy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B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/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1 : </a:t>
                </a:r>
                <a14:m>
                  <m:oMath xmlns:m="http://schemas.openxmlformats.org/officeDocument/2006/math"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𝒯</m:t>
                    </m:r>
                  </m:oMath>
                </a14:m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 [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]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és a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B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fizikailag tömbhivatkozások </a:t>
                </a:r>
              </a:p>
              <a:p>
                <a:pPr lvl="3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1800" i="1" dirty="0" err="1">
                    <a:effectLst/>
                    <a:ea typeface="Calibri" panose="020F0502020204030204" pitchFamily="34" charset="0"/>
                    <a:cs typeface="F29"/>
                  </a:rPr>
                  <a:t>length</a:t>
                </a: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: tömb hossza, </a:t>
                </a:r>
                <a:r>
                  <a:rPr lang="hu-HU" sz="1800" i="1" dirty="0">
                    <a:ea typeface="Calibri" panose="020F0502020204030204" pitchFamily="34" charset="0"/>
                    <a:cs typeface="F29"/>
                  </a:rPr>
                  <a:t>pointer</a:t>
                </a: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: tömbtároló)</a:t>
                </a:r>
                <a:endParaRPr lang="hu-HU" sz="1800" dirty="0">
                  <a:effectLst/>
                  <a:ea typeface="Calibri" panose="020F0502020204030204" pitchFamily="34" charset="0"/>
                  <a:cs typeface="F29"/>
                </a:endParaRPr>
              </a:p>
              <a:p>
                <a:pPr lvl="3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alkalmasak a tömbök azonosítására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A2DC557-2E86-449F-F1F7-B26BC04A2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2120630"/>
                <a:ext cx="10018713" cy="429000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659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0193DF-BF5C-7710-1F59-341E099D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963" y="125363"/>
            <a:ext cx="10255406" cy="916856"/>
          </a:xfrm>
        </p:spPr>
        <p:txBody>
          <a:bodyPr>
            <a:normAutofit/>
          </a:bodyPr>
          <a:lstStyle/>
          <a:p>
            <a:r>
              <a:rPr lang="hu-HU" dirty="0"/>
              <a:t>Rendezési feladat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A2DC557-2E86-449F-F1F7-B26BC04A2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914401"/>
                <a:ext cx="10018713" cy="5496232"/>
              </a:xfrm>
            </p:spPr>
            <p:txBody>
              <a:bodyPr>
                <a:normAutofit/>
              </a:bodyPr>
              <a:lstStyle/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Szinte minden komolyabb számítógépes alkalmazásban szükséges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 tárolt adatok hatékony visszakeresése miatt 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i="1" dirty="0">
                    <a:effectLst/>
                    <a:ea typeface="Calibri" panose="020F0502020204030204" pitchFamily="34" charset="0"/>
                    <a:cs typeface="F78"/>
                  </a:rPr>
                  <a:t>kulcs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78"/>
                  </a:rPr>
                  <a:t>: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 olyan adat, aminek típusán teljes rendezés definiált 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pl. egy szám vagy egy </a:t>
                </a:r>
                <a:r>
                  <a:rPr lang="hu-HU" sz="1600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sztring</a:t>
                </a:r>
                <a:r>
                  <a:rPr lang="hu-HU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endParaRPr lang="hu-HU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b="1" dirty="0">
                    <a:effectLst/>
                    <a:ea typeface="Calibri" panose="020F0502020204030204" pitchFamily="34" charset="0"/>
                    <a:cs typeface="F48"/>
                  </a:rPr>
                  <a:t>Bemenet: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darab kulcs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⟨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400" baseline="-25000" dirty="0">
                    <a:effectLst/>
                    <a:ea typeface="Calibri" panose="020F0502020204030204" pitchFamily="34" charset="0"/>
                    <a:cs typeface="CMR8"/>
                  </a:rPr>
                  <a:t>1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400" baseline="-25000" dirty="0">
                    <a:effectLst/>
                    <a:ea typeface="Calibri" panose="020F0502020204030204" pitchFamily="34" charset="0"/>
                    <a:cs typeface="CMR8"/>
                  </a:rPr>
                  <a:t>2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, . . . ,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400" i="1" baseline="-25000" dirty="0">
                    <a:effectLst/>
                    <a:ea typeface="Calibri" panose="020F0502020204030204" pitchFamily="34" charset="0"/>
                    <a:cs typeface="CMMI8"/>
                  </a:rPr>
                  <a:t>n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⟩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sorozata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b="1" dirty="0">
                    <a:effectLst/>
                    <a:ea typeface="Calibri" panose="020F0502020204030204" pitchFamily="34" charset="0"/>
                    <a:cs typeface="F48"/>
                  </a:rPr>
                  <a:t>Kimenet: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A bemenet egy olyan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𝑝</m:t>
                            </m:r>
                          </m:e>
                          <m:sub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hu-HU" sz="2400" i="1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𝑝</m:t>
                            </m:r>
                          </m:e>
                          <m:sub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𝑝</m:t>
                            </m:r>
                          </m:e>
                          <m:sub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⟩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permutációja, </a:t>
                </a:r>
                <a:b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			amelyre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𝑝</m:t>
                            </m:r>
                          </m:e>
                          <m:sub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MSY10"/>
                      </a:rPr>
                      <m:t>≤</m:t>
                    </m:r>
                    <m:sSub>
                      <m:sSub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𝑝</m:t>
                            </m:r>
                          </m:e>
                          <m:sub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MSY10"/>
                      </a:rPr>
                      <m:t>≤</m:t>
                    </m:r>
                  </m:oMath>
                </a14:m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. </a:t>
                </a:r>
                <a:r>
                  <a:rPr lang="hu-HU" sz="2400" dirty="0">
                    <a:ea typeface="Calibri" panose="020F0502020204030204" pitchFamily="34" charset="0"/>
                    <a:cs typeface="CMMI12"/>
                  </a:rPr>
                  <a:t>.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.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𝑝</m:t>
                            </m:r>
                          </m:e>
                          <m:sub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Rendezés: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alapértelmezésben mindig monoton növekvő (nem-csökkenő) rendezést fogunk érteni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 rendezés megfeleljen a fenti specifikációnak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A2DC557-2E86-449F-F1F7-B26BC04A2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914401"/>
                <a:ext cx="10018713" cy="549623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55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C89B2-DC1C-190E-DDEC-9F5BCAA9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A5C1B0-57D9-8705-4C8F-F4B6030D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963" y="125363"/>
            <a:ext cx="10255406" cy="916856"/>
          </a:xfrm>
        </p:spPr>
        <p:txBody>
          <a:bodyPr>
            <a:normAutofit/>
          </a:bodyPr>
          <a:lstStyle/>
          <a:p>
            <a:r>
              <a:rPr lang="hu-HU" dirty="0"/>
              <a:t>Rendezési feladat sorozatra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549617-53D5-FA6A-1F32-55BD5CA2D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42219"/>
            <a:ext cx="10018713" cy="5368413"/>
          </a:xfrm>
        </p:spPr>
        <p:txBody>
          <a:bodyPr>
            <a:normAutofit/>
          </a:bodyPr>
          <a:lstStyle/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a tömb elemei: 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[0]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, . . . ,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1] / 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B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[1]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, . . . ,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B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]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= 0 -&gt;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 a tömbnek nincs eleme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B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2000" i="1" dirty="0" err="1">
                <a:ea typeface="Calibri" panose="020F0502020204030204" pitchFamily="34" charset="0"/>
                <a:cs typeface="CMR12"/>
              </a:rPr>
              <a:t>k</a:t>
            </a:r>
            <a:r>
              <a:rPr lang="hu-HU" sz="2000" dirty="0" err="1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sz="2000" i="1" dirty="0" err="1">
                <a:ea typeface="Calibri" panose="020F0502020204030204" pitchFamily="34" charset="0"/>
                <a:cs typeface="CMMI12"/>
              </a:rPr>
              <a:t>u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] 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i="1" dirty="0">
                <a:ea typeface="Calibri" panose="020F0502020204030204" pitchFamily="34" charset="0"/>
                <a:cs typeface="CMR12"/>
              </a:rPr>
              <a:t>k</a:t>
            </a:r>
            <a:r>
              <a:rPr lang="hu-HU" sz="1800" dirty="0">
                <a:ea typeface="Calibri" panose="020F0502020204030204" pitchFamily="34" charset="0"/>
                <a:cs typeface="CMR12"/>
              </a:rPr>
              <a:t>/</a:t>
            </a:r>
            <a:r>
              <a:rPr lang="hu-HU" sz="1800" i="1" dirty="0">
                <a:ea typeface="Calibri" panose="020F0502020204030204" pitchFamily="34" charset="0"/>
                <a:cs typeface="CMR12"/>
              </a:rPr>
              <a:t>u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:  első/utolsó elem indexe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i="1" dirty="0">
                <a:ea typeface="Calibri" panose="020F0502020204030204" pitchFamily="34" charset="0"/>
                <a:cs typeface="CMR12"/>
              </a:rPr>
              <a:t>k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&gt;</a:t>
            </a:r>
            <a:r>
              <a:rPr lang="hu-HU" sz="1800" i="1" dirty="0">
                <a:effectLst/>
                <a:ea typeface="Calibri" panose="020F0502020204030204" pitchFamily="34" charset="0"/>
                <a:cs typeface="CMR12"/>
              </a:rPr>
              <a:t>u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 =&gt;</a:t>
            </a:r>
            <a:r>
              <a:rPr lang="hu-HU" sz="1800" i="1" dirty="0">
                <a:effectLst/>
                <a:ea typeface="Calibri" panose="020F0502020204030204" pitchFamily="34" charset="0"/>
                <a:cs typeface="CMR12"/>
              </a:rPr>
              <a:t>B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1800" i="1" dirty="0" err="1">
                <a:effectLst/>
                <a:ea typeface="Calibri" panose="020F0502020204030204" pitchFamily="34" charset="0"/>
                <a:cs typeface="CMR12"/>
              </a:rPr>
              <a:t>k</a:t>
            </a:r>
            <a:r>
              <a:rPr lang="hu-HU" sz="1800" dirty="0" err="1">
                <a:effectLst/>
                <a:ea typeface="Calibri" panose="020F0502020204030204" pitchFamily="34" charset="0"/>
                <a:cs typeface="CMR12"/>
              </a:rPr>
              <a:t>..</a:t>
            </a:r>
            <a:r>
              <a:rPr lang="hu-HU" sz="1800" i="1" dirty="0" err="1">
                <a:effectLst/>
                <a:ea typeface="Calibri" panose="020F0502020204030204" pitchFamily="34" charset="0"/>
                <a:cs typeface="CMR12"/>
              </a:rPr>
              <a:t>u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] résztömb üres</a:t>
            </a:r>
            <a:endParaRPr lang="hu-HU" sz="1800" i="1" dirty="0">
              <a:effectLst/>
              <a:ea typeface="Calibri" panose="020F0502020204030204" pitchFamily="34" charset="0"/>
              <a:cs typeface="CMMI12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 dirty="0">
                <a:ea typeface="Calibri" panose="020F0502020204030204" pitchFamily="34" charset="0"/>
                <a:cs typeface="CMR12"/>
              </a:rPr>
              <a:t>A</a:t>
            </a:r>
            <a:r>
              <a:rPr lang="hu-HU" sz="2000" dirty="0">
                <a:ea typeface="Calibri" panose="020F0502020204030204" pitchFamily="34" charset="0"/>
                <a:cs typeface="CMR12"/>
              </a:rPr>
              <a:t>[</a:t>
            </a:r>
            <a:r>
              <a:rPr lang="hu-HU" sz="2000" i="1" dirty="0" err="1">
                <a:ea typeface="Calibri" panose="020F0502020204030204" pitchFamily="34" charset="0"/>
                <a:cs typeface="CMR12"/>
              </a:rPr>
              <a:t>k</a:t>
            </a:r>
            <a:r>
              <a:rPr lang="hu-HU" sz="2000" dirty="0" err="1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sz="2000" i="1" dirty="0" err="1">
                <a:ea typeface="Calibri" panose="020F0502020204030204" pitchFamily="34" charset="0"/>
                <a:cs typeface="CMMI12"/>
              </a:rPr>
              <a:t>u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)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i="1" dirty="0">
                <a:ea typeface="Calibri" panose="020F0502020204030204" pitchFamily="34" charset="0"/>
                <a:cs typeface="CMR12"/>
              </a:rPr>
              <a:t>k</a:t>
            </a:r>
            <a:r>
              <a:rPr lang="hu-HU" sz="1800" dirty="0">
                <a:ea typeface="Calibri" panose="020F0502020204030204" pitchFamily="34" charset="0"/>
                <a:cs typeface="CMR12"/>
              </a:rPr>
              <a:t>/</a:t>
            </a:r>
            <a:r>
              <a:rPr lang="hu-HU" sz="1800" i="1" dirty="0">
                <a:ea typeface="Calibri" panose="020F0502020204030204" pitchFamily="34" charset="0"/>
                <a:cs typeface="CMR12"/>
              </a:rPr>
              <a:t>u</a:t>
            </a:r>
            <a:r>
              <a:rPr lang="hu-HU" sz="1800" dirty="0">
                <a:ea typeface="Calibri" panose="020F0502020204030204" pitchFamily="34" charset="0"/>
                <a:cs typeface="CMR12"/>
              </a:rPr>
              <a:t>-1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:  első/utolsó elem indexe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hu-HU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hu-HU" sz="1800" i="1" dirty="0" err="1">
                <a:effectLst/>
                <a:ea typeface="Calibri" panose="020F0502020204030204" pitchFamily="34" charset="0"/>
                <a:cs typeface="CMR12"/>
              </a:rPr>
              <a:t>u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 =&gt;</a:t>
            </a:r>
            <a:r>
              <a:rPr lang="hu-HU" sz="1800" i="1" dirty="0">
                <a:effectLst/>
                <a:ea typeface="Calibri" panose="020F0502020204030204" pitchFamily="34" charset="0"/>
                <a:cs typeface="CMR12"/>
              </a:rPr>
              <a:t>A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1800" i="1" dirty="0" err="1">
                <a:effectLst/>
                <a:ea typeface="Calibri" panose="020F0502020204030204" pitchFamily="34" charset="0"/>
                <a:cs typeface="CMR12"/>
              </a:rPr>
              <a:t>k</a:t>
            </a:r>
            <a:r>
              <a:rPr lang="hu-HU" sz="1800" dirty="0" err="1">
                <a:effectLst/>
                <a:ea typeface="Calibri" panose="020F0502020204030204" pitchFamily="34" charset="0"/>
                <a:cs typeface="CMR12"/>
              </a:rPr>
              <a:t>..</a:t>
            </a:r>
            <a:r>
              <a:rPr lang="hu-HU" sz="1800" i="1" dirty="0" err="1">
                <a:effectLst/>
                <a:ea typeface="Calibri" panose="020F0502020204030204" pitchFamily="34" charset="0"/>
                <a:cs typeface="CMR12"/>
              </a:rPr>
              <a:t>u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) résztömb üres</a:t>
            </a:r>
            <a:endParaRPr lang="hu-HU" sz="1800" i="1" dirty="0">
              <a:effectLst/>
              <a:ea typeface="Calibri" panose="020F0502020204030204" pitchFamily="34" charset="0"/>
              <a:cs typeface="CMMI12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B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2000" i="1" dirty="0">
                <a:effectLst/>
                <a:ea typeface="Calibri" panose="020F0502020204030204" pitchFamily="34" charset="0"/>
                <a:cs typeface="CMR12"/>
              </a:rPr>
              <a:t>1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] / 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2000" i="1" dirty="0">
                <a:effectLst/>
                <a:ea typeface="Calibri" panose="020F0502020204030204" pitchFamily="34" charset="0"/>
                <a:cs typeface="CMR12"/>
              </a:rPr>
              <a:t>0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résztömb a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B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/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 tömb minden elemét tartalmazza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D9F776-3308-0FEC-3D53-672DD65D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410" y="596083"/>
            <a:ext cx="7111773" cy="1025013"/>
          </a:xfrm>
        </p:spPr>
        <p:txBody>
          <a:bodyPr>
            <a:normAutofit fontScale="90000"/>
          </a:bodyPr>
          <a:lstStyle/>
          <a:p>
            <a:pPr algn="l"/>
            <a:r>
              <a:rPr lang="hu-HU" dirty="0"/>
              <a:t>Beszúró rendezés</a:t>
            </a:r>
            <a:br>
              <a:rPr lang="hu-HU" dirty="0"/>
            </a:br>
            <a:r>
              <a:rPr lang="hu-HU" dirty="0"/>
              <a:t> (</a:t>
            </a:r>
            <a:r>
              <a:rPr lang="hu-HU" dirty="0" err="1"/>
              <a:t>Insertion</a:t>
            </a:r>
            <a:r>
              <a:rPr lang="hu-HU" dirty="0"/>
              <a:t> sort)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4E8D7F-AD0A-A91A-197B-645539B0F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790" y="2112625"/>
            <a:ext cx="10018713" cy="4739148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 rendezés lépései: (pl. az </a:t>
            </a:r>
            <a:r>
              <a:rPr lang="hu-HU" dirty="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5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4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8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3</a:t>
            </a:r>
            <a:r>
              <a:rPr lang="hu-HU" dirty="0">
                <a:effectLst/>
                <a:ea typeface="CMSY10"/>
                <a:cs typeface="Cambria Math" panose="02040503050406030204" pitchFamily="18" charset="0"/>
              </a:rPr>
              <a:t>⟩ )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Felosztjuk a sorozatot egy rendezett </a:t>
            </a:r>
            <a:br>
              <a:rPr lang="hu-HU" dirty="0">
                <a:effectLst/>
                <a:ea typeface="Calibri" panose="020F0502020204030204" pitchFamily="34" charset="0"/>
                <a:cs typeface="F29"/>
              </a:rPr>
            </a:b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és egy ezt követő rendezetlen szakaszra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5 </a:t>
            </a:r>
            <a:r>
              <a:rPr lang="hu-HU" sz="1600" dirty="0">
                <a:effectLst/>
                <a:ea typeface="Calibri" panose="020F0502020204030204" pitchFamily="34" charset="0"/>
                <a:cs typeface="F29"/>
              </a:rPr>
              <a:t>|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8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3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⟩</a:t>
            </a:r>
            <a:endParaRPr lang="hu-H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Beszúrjuk a rendezetlen szakasz első elemét a rendezett részbe a megfelelő helyre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CMSY10"/>
              </a:rPr>
              <a:t>→ 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5 </a:t>
            </a:r>
            <a:r>
              <a:rPr lang="hu-HU" sz="1600" dirty="0">
                <a:effectLst/>
                <a:ea typeface="Calibri" panose="020F0502020204030204" pitchFamily="34" charset="0"/>
                <a:cs typeface="F29"/>
              </a:rPr>
              <a:t>|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8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3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⟩</a:t>
            </a:r>
            <a:endParaRPr lang="hu-H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Ezt ismételgetjük, amíg a sorozat rendezetlen vége el nem fogy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CMSY10"/>
              </a:rPr>
              <a:t>→ 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5 </a:t>
            </a:r>
            <a:r>
              <a:rPr lang="hu-HU" sz="1600" dirty="0">
                <a:effectLst/>
                <a:ea typeface="Calibri" panose="020F0502020204030204" pitchFamily="34" charset="0"/>
                <a:cs typeface="F29"/>
              </a:rPr>
              <a:t>|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8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3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⟩</a:t>
            </a:r>
            <a:r>
              <a:rPr lang="hu-HU" sz="16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en-US" sz="1600" dirty="0">
                <a:effectLst/>
                <a:ea typeface="Calibri" panose="020F0502020204030204" pitchFamily="34" charset="0"/>
                <a:cs typeface="CMSY10"/>
              </a:rPr>
              <a:t>→ 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5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8 </a:t>
            </a:r>
            <a:r>
              <a:rPr lang="hu-HU" sz="1600" dirty="0">
                <a:effectLst/>
                <a:ea typeface="Calibri" panose="020F0502020204030204" pitchFamily="34" charset="0"/>
                <a:cs typeface="F29"/>
              </a:rPr>
              <a:t>|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3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⟩</a:t>
            </a:r>
            <a:r>
              <a:rPr lang="hu-HU" sz="16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en-US" sz="1600" dirty="0">
                <a:effectLst/>
                <a:ea typeface="Calibri" panose="020F0502020204030204" pitchFamily="34" charset="0"/>
                <a:cs typeface="CMSY10"/>
              </a:rPr>
              <a:t>→ 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3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5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8 </a:t>
            </a:r>
            <a:r>
              <a:rPr lang="hu-HU" sz="1600" dirty="0">
                <a:effectLst/>
                <a:ea typeface="Calibri" panose="020F0502020204030204" pitchFamily="34" charset="0"/>
                <a:cs typeface="F29"/>
              </a:rPr>
              <a:t>| 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⟩</a:t>
            </a:r>
            <a:r>
              <a:rPr lang="hu-HU" sz="16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3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5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ea typeface="Calibri" panose="020F0502020204030204" pitchFamily="34" charset="0"/>
                <a:cs typeface="CMR12"/>
              </a:rPr>
              <a:t>8</a:t>
            </a:r>
            <a:r>
              <a:rPr lang="hu-HU" sz="1600" dirty="0">
                <a:effectLst/>
                <a:ea typeface="CMSY10"/>
                <a:cs typeface="Cambria Math" panose="02040503050406030204" pitchFamily="18" charset="0"/>
              </a:rPr>
              <a:t>⟩</a:t>
            </a:r>
            <a:endParaRPr lang="hu-H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693" y="329646"/>
            <a:ext cx="4816289" cy="327020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876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8BCF98-EB17-C08C-7712-31C22966B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46" y="139378"/>
            <a:ext cx="10018713" cy="916858"/>
          </a:xfrm>
        </p:spPr>
        <p:txBody>
          <a:bodyPr/>
          <a:lstStyle/>
          <a:p>
            <a:r>
              <a:rPr lang="hu-HU" dirty="0"/>
              <a:t>Beszúró rendezés optimalizálása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209F0A-8249-68EF-BE38-3A877317D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685" y="1342417"/>
            <a:ext cx="9942446" cy="5079404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 rendezett beszúrás technikája: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 sorozat tárolásától függ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Naiv megoldás: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A beszúrandó elemet addig cserélgetjük a bal szomszédjával, amíg a helyére nem ér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Sok felesleges adatmozgatás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Hatékonyabb: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Ha a helyén van -&gt; nem mozdítjuk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Különben: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700" dirty="0">
                <a:effectLst/>
                <a:ea typeface="Calibri" panose="020F0502020204030204" pitchFamily="34" charset="0"/>
                <a:cs typeface="F29"/>
              </a:rPr>
              <a:t>Elején kivesszük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700" dirty="0">
                <a:effectLst/>
                <a:ea typeface="Calibri" panose="020F0502020204030204" pitchFamily="34" charset="0"/>
                <a:cs typeface="F29"/>
              </a:rPr>
              <a:t>Megkeressük a helyét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700" dirty="0">
                <a:effectLst/>
                <a:ea typeface="Calibri" panose="020F0502020204030204" pitchFamily="34" charset="0"/>
                <a:cs typeface="F29"/>
              </a:rPr>
              <a:t>Visszatesszük a tömbbe</a:t>
            </a:r>
            <a:endParaRPr lang="hu-HU" sz="17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926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8BCF98-EB17-C08C-7712-31C22966B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892" y="217199"/>
            <a:ext cx="11130116" cy="916858"/>
          </a:xfrm>
        </p:spPr>
        <p:txBody>
          <a:bodyPr/>
          <a:lstStyle/>
          <a:p>
            <a:r>
              <a:rPr lang="hu-HU" dirty="0"/>
              <a:t>Naiv beszúró rendezés optimalizálása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209F0A-8249-68EF-BE38-3A877317D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684" y="983226"/>
            <a:ext cx="10136339" cy="565757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200" dirty="0">
                <a:effectLst/>
                <a:ea typeface="Calibri" panose="020F0502020204030204" pitchFamily="34" charset="0"/>
                <a:cs typeface="F29"/>
              </a:rPr>
              <a:t>Beszúrás a beszúró rendezés alapváltozatában: </a:t>
            </a:r>
            <a:endParaRPr lang="hu-HU" sz="2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 rendezetlen szakasz első elemét (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x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) összehasonlítjuk</a:t>
            </a:r>
            <a:br>
              <a:rPr lang="hu-HU" sz="1800" dirty="0">
                <a:effectLst/>
                <a:ea typeface="Calibri" panose="020F0502020204030204" pitchFamily="34" charset="0"/>
                <a:cs typeface="F29"/>
              </a:rPr>
            </a:b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 rendezett szakasz utolsó elemével (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x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</a:t>
            </a:r>
            <a:endParaRPr lang="hu-HU" dirty="0">
              <a:effectLst/>
              <a:ea typeface="Calibri" panose="020F0502020204030204" pitchFamily="34" charset="0"/>
              <a:cs typeface="CMMI12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x 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 helyén van </a:t>
            </a:r>
          </a:p>
          <a:p>
            <a:pPr lvl="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 dirty="0"/>
              <a:t> a rendezett 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szakasz felső határát eggyel növeljük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&gt;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x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endParaRPr lang="hu-HU" dirty="0">
              <a:ea typeface="Calibri" panose="020F0502020204030204" pitchFamily="34" charset="0"/>
              <a:cs typeface="CMMI12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 i="1" dirty="0" err="1">
                <a:effectLst/>
                <a:ea typeface="Calibri" panose="020F0502020204030204" pitchFamily="34" charset="0"/>
                <a:cs typeface="CMMI12"/>
              </a:rPr>
              <a:t>x</a:t>
            </a:r>
            <a:r>
              <a:rPr lang="hu-HU" sz="1800" dirty="0" err="1">
                <a:effectLst/>
                <a:ea typeface="Calibri" panose="020F0502020204030204" pitchFamily="34" charset="0"/>
                <a:cs typeface="F29"/>
              </a:rPr>
              <a:t>-et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 elmentjük egy temporális változóba </a:t>
            </a:r>
            <a:r>
              <a:rPr lang="hu-HU" sz="1800" dirty="0"/>
              <a:t> </a:t>
            </a:r>
          </a:p>
          <a:p>
            <a:pPr lvl="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-t az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x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helyére csúsztatjuk -&gt;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régi helyén: „lyuk” 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mozgatás, amíg a lyuknak van bal szomszédja, és ez &gt;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x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az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x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-</a:t>
            </a:r>
            <a:r>
              <a:rPr lang="hu-HU" sz="1800" dirty="0" err="1">
                <a:effectLst/>
                <a:ea typeface="Calibri" panose="020F0502020204030204" pitchFamily="34" charset="0"/>
                <a:cs typeface="CMMI12"/>
              </a:rPr>
              <a:t>et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a </a:t>
            </a:r>
            <a:r>
              <a:rPr lang="hu-HU" sz="1800" dirty="0">
                <a:effectLst/>
                <a:ea typeface="CMMI12"/>
                <a:cs typeface="CMMI12"/>
              </a:rPr>
              <a:t>„</a:t>
            </a:r>
            <a:r>
              <a:rPr lang="hu-HU" sz="1800" dirty="0">
                <a:ea typeface="CMMI12"/>
                <a:cs typeface="CMMI12"/>
              </a:rPr>
              <a:t>l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yuk</a:t>
            </a:r>
            <a:r>
              <a:rPr lang="hu-HU" sz="1800" dirty="0">
                <a:effectLst/>
                <a:ea typeface="CMMI12"/>
                <a:cs typeface="CMMI12"/>
              </a:rPr>
              <a:t>”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-</a:t>
            </a:r>
            <a:r>
              <a:rPr lang="hu-HU" sz="1800" dirty="0" err="1">
                <a:effectLst/>
                <a:ea typeface="Calibri" panose="020F0502020204030204" pitchFamily="34" charset="0"/>
                <a:cs typeface="CMMI12"/>
              </a:rPr>
              <a:t>ba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tessz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ük</a:t>
            </a:r>
            <a:endParaRPr lang="hu-HU" sz="180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FDAF465-5DD4-5FCD-CC50-0CFB9287199D}"/>
              </a:ext>
            </a:extLst>
          </p:cNvPr>
          <p:cNvSpPr txBox="1"/>
          <p:nvPr/>
        </p:nvSpPr>
        <p:spPr>
          <a:xfrm>
            <a:off x="9037247" y="4650291"/>
            <a:ext cx="1728358" cy="2172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5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8|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3</a:t>
            </a: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⟩</a:t>
            </a:r>
            <a:r>
              <a:rPr lang="hu-HU" sz="1600" dirty="0">
                <a:effectLst/>
                <a:latin typeface="CMSY10"/>
                <a:ea typeface="Calibri" panose="020F0502020204030204" pitchFamily="34" charset="0"/>
                <a:cs typeface="CMSY10"/>
              </a:rPr>
              <a:t> </a:t>
            </a:r>
            <a:endParaRPr lang="hu-H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5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8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</a:t>
            </a:r>
            <a:r>
              <a:rPr lang="hu-HU" sz="1600" dirty="0">
                <a:effectLst/>
                <a:latin typeface="F29"/>
                <a:ea typeface="Calibri" panose="020F0502020204030204" pitchFamily="34" charset="0"/>
                <a:cs typeface="F29"/>
              </a:rPr>
              <a:t>_</a:t>
            </a: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⟩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x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= 3 </a:t>
            </a:r>
            <a:endParaRPr lang="hu-H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5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</a:t>
            </a:r>
            <a:r>
              <a:rPr lang="hu-HU" sz="1600" dirty="0">
                <a:effectLst/>
                <a:latin typeface="F29"/>
                <a:ea typeface="Calibri" panose="020F0502020204030204" pitchFamily="34" charset="0"/>
                <a:cs typeface="F29"/>
              </a:rPr>
              <a:t>_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8</a:t>
            </a: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⟩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x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= 3 </a:t>
            </a:r>
            <a:endParaRPr lang="hu-H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</a:t>
            </a:r>
            <a:r>
              <a:rPr lang="hu-HU" sz="1600" dirty="0">
                <a:effectLst/>
                <a:latin typeface="F29"/>
                <a:ea typeface="Calibri" panose="020F0502020204030204" pitchFamily="34" charset="0"/>
                <a:cs typeface="F29"/>
              </a:rPr>
              <a:t>_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5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8</a:t>
            </a: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⟩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x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= 3 </a:t>
            </a:r>
            <a:endParaRPr lang="hu-H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</a:t>
            </a:r>
            <a:r>
              <a:rPr lang="hu-HU" sz="1600" dirty="0">
                <a:effectLst/>
                <a:latin typeface="F29"/>
                <a:ea typeface="Calibri" panose="020F0502020204030204" pitchFamily="34" charset="0"/>
                <a:cs typeface="F29"/>
              </a:rPr>
              <a:t>_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5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8</a:t>
            </a: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⟩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x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= 3 </a:t>
            </a:r>
            <a:endParaRPr lang="hu-H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2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3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4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5</a:t>
            </a:r>
            <a:r>
              <a:rPr lang="hu-HU" sz="1600" dirty="0">
                <a:effectLst/>
                <a:latin typeface="CMMI12"/>
                <a:ea typeface="Calibri" panose="020F0502020204030204" pitchFamily="34" charset="0"/>
                <a:cs typeface="CMMI12"/>
              </a:rPr>
              <a:t>, </a:t>
            </a:r>
            <a:r>
              <a:rPr lang="hu-HU" sz="1600" dirty="0">
                <a:effectLst/>
                <a:latin typeface="CMR12"/>
                <a:ea typeface="Calibri" panose="020F0502020204030204" pitchFamily="34" charset="0"/>
                <a:cs typeface="CMR12"/>
              </a:rPr>
              <a:t>8</a:t>
            </a:r>
            <a:r>
              <a:rPr lang="hu-HU" sz="16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⟩</a:t>
            </a:r>
            <a:endParaRPr lang="hu-HU" sz="1600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643" y="1057597"/>
            <a:ext cx="3644358" cy="341043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66184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1DD57E-4B2F-9AA2-0897-F712B7A00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5851671" cy="1752599"/>
          </a:xfrm>
        </p:spPr>
        <p:txBody>
          <a:bodyPr/>
          <a:lstStyle/>
          <a:p>
            <a:r>
              <a:rPr lang="hu-HU" dirty="0"/>
              <a:t>Beszúró rendezés </a:t>
            </a:r>
            <a:br>
              <a:rPr lang="hu-HU" dirty="0"/>
            </a:br>
            <a:r>
              <a:rPr lang="hu-HU" dirty="0"/>
              <a:t>C# kódja*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3907955-3288-948F-2BFD-098B53952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057" y="685800"/>
            <a:ext cx="3637261" cy="5275034"/>
          </a:xfrm>
          <a:custGeom>
            <a:avLst/>
            <a:gdLst>
              <a:gd name="csX0" fmla="*/ 0 w 3637261"/>
              <a:gd name="csY0" fmla="*/ 0 h 5275034"/>
              <a:gd name="csX1" fmla="*/ 592354 w 3637261"/>
              <a:gd name="csY1" fmla="*/ 0 h 5275034"/>
              <a:gd name="csX2" fmla="*/ 1111963 w 3637261"/>
              <a:gd name="csY2" fmla="*/ 0 h 5275034"/>
              <a:gd name="csX3" fmla="*/ 1558826 w 3637261"/>
              <a:gd name="csY3" fmla="*/ 0 h 5275034"/>
              <a:gd name="csX4" fmla="*/ 1969317 w 3637261"/>
              <a:gd name="csY4" fmla="*/ 0 h 5275034"/>
              <a:gd name="csX5" fmla="*/ 2525298 w 3637261"/>
              <a:gd name="csY5" fmla="*/ 0 h 5275034"/>
              <a:gd name="csX6" fmla="*/ 3081280 w 3637261"/>
              <a:gd name="csY6" fmla="*/ 0 h 5275034"/>
              <a:gd name="csX7" fmla="*/ 3637261 w 3637261"/>
              <a:gd name="csY7" fmla="*/ 0 h 5275034"/>
              <a:gd name="csX8" fmla="*/ 3637261 w 3637261"/>
              <a:gd name="csY8" fmla="*/ 427864 h 5275034"/>
              <a:gd name="csX9" fmla="*/ 3637261 w 3637261"/>
              <a:gd name="csY9" fmla="*/ 855728 h 5275034"/>
              <a:gd name="csX10" fmla="*/ 3637261 w 3637261"/>
              <a:gd name="csY10" fmla="*/ 1389092 h 5275034"/>
              <a:gd name="csX11" fmla="*/ 3637261 w 3637261"/>
              <a:gd name="csY11" fmla="*/ 2027958 h 5275034"/>
              <a:gd name="csX12" fmla="*/ 3637261 w 3637261"/>
              <a:gd name="csY12" fmla="*/ 2561322 h 5275034"/>
              <a:gd name="csX13" fmla="*/ 3637261 w 3637261"/>
              <a:gd name="csY13" fmla="*/ 3252938 h 5275034"/>
              <a:gd name="csX14" fmla="*/ 3637261 w 3637261"/>
              <a:gd name="csY14" fmla="*/ 3839053 h 5275034"/>
              <a:gd name="csX15" fmla="*/ 3637261 w 3637261"/>
              <a:gd name="csY15" fmla="*/ 4477918 h 5275034"/>
              <a:gd name="csX16" fmla="*/ 3637261 w 3637261"/>
              <a:gd name="csY16" fmla="*/ 5275034 h 5275034"/>
              <a:gd name="csX17" fmla="*/ 3154025 w 3637261"/>
              <a:gd name="csY17" fmla="*/ 5275034 h 5275034"/>
              <a:gd name="csX18" fmla="*/ 2598044 w 3637261"/>
              <a:gd name="csY18" fmla="*/ 5275034 h 5275034"/>
              <a:gd name="csX19" fmla="*/ 2114807 w 3637261"/>
              <a:gd name="csY19" fmla="*/ 5275034 h 5275034"/>
              <a:gd name="csX20" fmla="*/ 1558826 w 3637261"/>
              <a:gd name="csY20" fmla="*/ 5275034 h 5275034"/>
              <a:gd name="csX21" fmla="*/ 1039217 w 3637261"/>
              <a:gd name="csY21" fmla="*/ 5275034 h 5275034"/>
              <a:gd name="csX22" fmla="*/ 628727 w 3637261"/>
              <a:gd name="csY22" fmla="*/ 5275034 h 5275034"/>
              <a:gd name="csX23" fmla="*/ 0 w 3637261"/>
              <a:gd name="csY23" fmla="*/ 5275034 h 5275034"/>
              <a:gd name="csX24" fmla="*/ 0 w 3637261"/>
              <a:gd name="csY24" fmla="*/ 4741669 h 5275034"/>
              <a:gd name="csX25" fmla="*/ 0 w 3637261"/>
              <a:gd name="csY25" fmla="*/ 4261055 h 5275034"/>
              <a:gd name="csX26" fmla="*/ 0 w 3637261"/>
              <a:gd name="csY26" fmla="*/ 3674940 h 5275034"/>
              <a:gd name="csX27" fmla="*/ 0 w 3637261"/>
              <a:gd name="csY27" fmla="*/ 3247076 h 5275034"/>
              <a:gd name="csX28" fmla="*/ 0 w 3637261"/>
              <a:gd name="csY28" fmla="*/ 2766462 h 5275034"/>
              <a:gd name="csX29" fmla="*/ 0 w 3637261"/>
              <a:gd name="csY29" fmla="*/ 2233098 h 5275034"/>
              <a:gd name="csX30" fmla="*/ 0 w 3637261"/>
              <a:gd name="csY30" fmla="*/ 1594232 h 5275034"/>
              <a:gd name="csX31" fmla="*/ 0 w 3637261"/>
              <a:gd name="csY31" fmla="*/ 955367 h 5275034"/>
              <a:gd name="csX32" fmla="*/ 0 w 3637261"/>
              <a:gd name="csY32" fmla="*/ 527503 h 5275034"/>
              <a:gd name="csX33" fmla="*/ 0 w 3637261"/>
              <a:gd name="csY33" fmla="*/ 0 h 5275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3637261" h="5275034" fill="none" extrusionOk="0">
                <a:moveTo>
                  <a:pt x="0" y="0"/>
                </a:moveTo>
                <a:cubicBezTo>
                  <a:pt x="151902" y="-23702"/>
                  <a:pt x="338534" y="27102"/>
                  <a:pt x="592354" y="0"/>
                </a:cubicBezTo>
                <a:cubicBezTo>
                  <a:pt x="846174" y="-27102"/>
                  <a:pt x="973789" y="37438"/>
                  <a:pt x="1111963" y="0"/>
                </a:cubicBezTo>
                <a:cubicBezTo>
                  <a:pt x="1250137" y="-37438"/>
                  <a:pt x="1371950" y="12839"/>
                  <a:pt x="1558826" y="0"/>
                </a:cubicBezTo>
                <a:cubicBezTo>
                  <a:pt x="1745702" y="-12839"/>
                  <a:pt x="1773613" y="15276"/>
                  <a:pt x="1969317" y="0"/>
                </a:cubicBezTo>
                <a:cubicBezTo>
                  <a:pt x="2165021" y="-15276"/>
                  <a:pt x="2349690" y="1533"/>
                  <a:pt x="2525298" y="0"/>
                </a:cubicBezTo>
                <a:cubicBezTo>
                  <a:pt x="2700906" y="-1533"/>
                  <a:pt x="2803664" y="23453"/>
                  <a:pt x="3081280" y="0"/>
                </a:cubicBezTo>
                <a:cubicBezTo>
                  <a:pt x="3358896" y="-23453"/>
                  <a:pt x="3479311" y="16779"/>
                  <a:pt x="3637261" y="0"/>
                </a:cubicBezTo>
                <a:cubicBezTo>
                  <a:pt x="3658538" y="189071"/>
                  <a:pt x="3629852" y="252814"/>
                  <a:pt x="3637261" y="427864"/>
                </a:cubicBezTo>
                <a:cubicBezTo>
                  <a:pt x="3644670" y="602914"/>
                  <a:pt x="3625608" y="742961"/>
                  <a:pt x="3637261" y="855728"/>
                </a:cubicBezTo>
                <a:cubicBezTo>
                  <a:pt x="3648914" y="968495"/>
                  <a:pt x="3619152" y="1179377"/>
                  <a:pt x="3637261" y="1389092"/>
                </a:cubicBezTo>
                <a:cubicBezTo>
                  <a:pt x="3655370" y="1598807"/>
                  <a:pt x="3613920" y="1861999"/>
                  <a:pt x="3637261" y="2027958"/>
                </a:cubicBezTo>
                <a:cubicBezTo>
                  <a:pt x="3660602" y="2193917"/>
                  <a:pt x="3605848" y="2378420"/>
                  <a:pt x="3637261" y="2561322"/>
                </a:cubicBezTo>
                <a:cubicBezTo>
                  <a:pt x="3668674" y="2744224"/>
                  <a:pt x="3584548" y="3050476"/>
                  <a:pt x="3637261" y="3252938"/>
                </a:cubicBezTo>
                <a:cubicBezTo>
                  <a:pt x="3689974" y="3455400"/>
                  <a:pt x="3612899" y="3703476"/>
                  <a:pt x="3637261" y="3839053"/>
                </a:cubicBezTo>
                <a:cubicBezTo>
                  <a:pt x="3661623" y="3974631"/>
                  <a:pt x="3621660" y="4331279"/>
                  <a:pt x="3637261" y="4477918"/>
                </a:cubicBezTo>
                <a:cubicBezTo>
                  <a:pt x="3652862" y="4624558"/>
                  <a:pt x="3594421" y="4915081"/>
                  <a:pt x="3637261" y="5275034"/>
                </a:cubicBezTo>
                <a:cubicBezTo>
                  <a:pt x="3453685" y="5318564"/>
                  <a:pt x="3280078" y="5223638"/>
                  <a:pt x="3154025" y="5275034"/>
                </a:cubicBezTo>
                <a:cubicBezTo>
                  <a:pt x="3027972" y="5326430"/>
                  <a:pt x="2807685" y="5216229"/>
                  <a:pt x="2598044" y="5275034"/>
                </a:cubicBezTo>
                <a:cubicBezTo>
                  <a:pt x="2388403" y="5333839"/>
                  <a:pt x="2280755" y="5263960"/>
                  <a:pt x="2114807" y="5275034"/>
                </a:cubicBezTo>
                <a:cubicBezTo>
                  <a:pt x="1948859" y="5286108"/>
                  <a:pt x="1695583" y="5257833"/>
                  <a:pt x="1558826" y="5275034"/>
                </a:cubicBezTo>
                <a:cubicBezTo>
                  <a:pt x="1422069" y="5292235"/>
                  <a:pt x="1258679" y="5247151"/>
                  <a:pt x="1039217" y="5275034"/>
                </a:cubicBezTo>
                <a:cubicBezTo>
                  <a:pt x="819755" y="5302917"/>
                  <a:pt x="737100" y="5236377"/>
                  <a:pt x="628727" y="5275034"/>
                </a:cubicBezTo>
                <a:cubicBezTo>
                  <a:pt x="520354" y="5313691"/>
                  <a:pt x="157903" y="5236049"/>
                  <a:pt x="0" y="5275034"/>
                </a:cubicBezTo>
                <a:cubicBezTo>
                  <a:pt x="-62308" y="5140805"/>
                  <a:pt x="2810" y="4921433"/>
                  <a:pt x="0" y="4741669"/>
                </a:cubicBezTo>
                <a:cubicBezTo>
                  <a:pt x="-2810" y="4561905"/>
                  <a:pt x="18457" y="4374696"/>
                  <a:pt x="0" y="4261055"/>
                </a:cubicBezTo>
                <a:cubicBezTo>
                  <a:pt x="-18457" y="4147414"/>
                  <a:pt x="21431" y="3906874"/>
                  <a:pt x="0" y="3674940"/>
                </a:cubicBezTo>
                <a:cubicBezTo>
                  <a:pt x="-21431" y="3443007"/>
                  <a:pt x="44627" y="3336213"/>
                  <a:pt x="0" y="3247076"/>
                </a:cubicBezTo>
                <a:cubicBezTo>
                  <a:pt x="-44627" y="3157939"/>
                  <a:pt x="38608" y="2954364"/>
                  <a:pt x="0" y="2766462"/>
                </a:cubicBezTo>
                <a:cubicBezTo>
                  <a:pt x="-38608" y="2578560"/>
                  <a:pt x="1384" y="2426794"/>
                  <a:pt x="0" y="2233098"/>
                </a:cubicBezTo>
                <a:cubicBezTo>
                  <a:pt x="-1384" y="2039402"/>
                  <a:pt x="8016" y="1877162"/>
                  <a:pt x="0" y="1594232"/>
                </a:cubicBezTo>
                <a:cubicBezTo>
                  <a:pt x="-8016" y="1311302"/>
                  <a:pt x="30872" y="1102181"/>
                  <a:pt x="0" y="955367"/>
                </a:cubicBezTo>
                <a:cubicBezTo>
                  <a:pt x="-30872" y="808553"/>
                  <a:pt x="11243" y="660939"/>
                  <a:pt x="0" y="527503"/>
                </a:cubicBezTo>
                <a:cubicBezTo>
                  <a:pt x="-11243" y="394067"/>
                  <a:pt x="55879" y="168299"/>
                  <a:pt x="0" y="0"/>
                </a:cubicBezTo>
                <a:close/>
              </a:path>
              <a:path w="3637261" h="5275034" stroke="0" extrusionOk="0">
                <a:moveTo>
                  <a:pt x="0" y="0"/>
                </a:moveTo>
                <a:cubicBezTo>
                  <a:pt x="185106" y="-19492"/>
                  <a:pt x="417153" y="16680"/>
                  <a:pt x="592354" y="0"/>
                </a:cubicBezTo>
                <a:cubicBezTo>
                  <a:pt x="767555" y="-16680"/>
                  <a:pt x="889392" y="26476"/>
                  <a:pt x="1075590" y="0"/>
                </a:cubicBezTo>
                <a:cubicBezTo>
                  <a:pt x="1261788" y="-26476"/>
                  <a:pt x="1478940" y="49085"/>
                  <a:pt x="1595199" y="0"/>
                </a:cubicBezTo>
                <a:cubicBezTo>
                  <a:pt x="1711458" y="-49085"/>
                  <a:pt x="1953301" y="55982"/>
                  <a:pt x="2114807" y="0"/>
                </a:cubicBezTo>
                <a:cubicBezTo>
                  <a:pt x="2276313" y="-55982"/>
                  <a:pt x="2412624" y="63772"/>
                  <a:pt x="2707161" y="0"/>
                </a:cubicBezTo>
                <a:cubicBezTo>
                  <a:pt x="3001698" y="-63772"/>
                  <a:pt x="3264751" y="27151"/>
                  <a:pt x="3637261" y="0"/>
                </a:cubicBezTo>
                <a:cubicBezTo>
                  <a:pt x="3709598" y="184401"/>
                  <a:pt x="3583154" y="512490"/>
                  <a:pt x="3637261" y="691616"/>
                </a:cubicBezTo>
                <a:cubicBezTo>
                  <a:pt x="3691368" y="870742"/>
                  <a:pt x="3612013" y="1055860"/>
                  <a:pt x="3637261" y="1277730"/>
                </a:cubicBezTo>
                <a:cubicBezTo>
                  <a:pt x="3662509" y="1499600"/>
                  <a:pt x="3597412" y="1575468"/>
                  <a:pt x="3637261" y="1758345"/>
                </a:cubicBezTo>
                <a:cubicBezTo>
                  <a:pt x="3677110" y="1941222"/>
                  <a:pt x="3613908" y="2072885"/>
                  <a:pt x="3637261" y="2238959"/>
                </a:cubicBezTo>
                <a:cubicBezTo>
                  <a:pt x="3660614" y="2405033"/>
                  <a:pt x="3567452" y="2646885"/>
                  <a:pt x="3637261" y="2930574"/>
                </a:cubicBezTo>
                <a:cubicBezTo>
                  <a:pt x="3707070" y="3214263"/>
                  <a:pt x="3605099" y="3188329"/>
                  <a:pt x="3637261" y="3411189"/>
                </a:cubicBezTo>
                <a:cubicBezTo>
                  <a:pt x="3669423" y="3634049"/>
                  <a:pt x="3635847" y="3754883"/>
                  <a:pt x="3637261" y="3997304"/>
                </a:cubicBezTo>
                <a:cubicBezTo>
                  <a:pt x="3638675" y="4239725"/>
                  <a:pt x="3581115" y="4430604"/>
                  <a:pt x="3637261" y="4583418"/>
                </a:cubicBezTo>
                <a:cubicBezTo>
                  <a:pt x="3693407" y="4736232"/>
                  <a:pt x="3615525" y="4985817"/>
                  <a:pt x="3637261" y="5275034"/>
                </a:cubicBezTo>
                <a:cubicBezTo>
                  <a:pt x="3413262" y="5341159"/>
                  <a:pt x="3164297" y="5254727"/>
                  <a:pt x="3044907" y="5275034"/>
                </a:cubicBezTo>
                <a:cubicBezTo>
                  <a:pt x="2925517" y="5295341"/>
                  <a:pt x="2714490" y="5223518"/>
                  <a:pt x="2488926" y="5275034"/>
                </a:cubicBezTo>
                <a:cubicBezTo>
                  <a:pt x="2263362" y="5326550"/>
                  <a:pt x="2241546" y="5239046"/>
                  <a:pt x="2078435" y="5275034"/>
                </a:cubicBezTo>
                <a:cubicBezTo>
                  <a:pt x="1915324" y="5311022"/>
                  <a:pt x="1766985" y="5227439"/>
                  <a:pt x="1667944" y="5275034"/>
                </a:cubicBezTo>
                <a:cubicBezTo>
                  <a:pt x="1568903" y="5322629"/>
                  <a:pt x="1385520" y="5250998"/>
                  <a:pt x="1257453" y="5275034"/>
                </a:cubicBezTo>
                <a:cubicBezTo>
                  <a:pt x="1129386" y="5299070"/>
                  <a:pt x="1051751" y="5268453"/>
                  <a:pt x="846962" y="5275034"/>
                </a:cubicBezTo>
                <a:cubicBezTo>
                  <a:pt x="642173" y="5281615"/>
                  <a:pt x="377133" y="5210382"/>
                  <a:pt x="0" y="5275034"/>
                </a:cubicBezTo>
                <a:cubicBezTo>
                  <a:pt x="-15566" y="5105690"/>
                  <a:pt x="70071" y="4835208"/>
                  <a:pt x="0" y="4688919"/>
                </a:cubicBezTo>
                <a:cubicBezTo>
                  <a:pt x="-70071" y="4542630"/>
                  <a:pt x="65841" y="4390076"/>
                  <a:pt x="0" y="4102804"/>
                </a:cubicBezTo>
                <a:cubicBezTo>
                  <a:pt x="-65841" y="3815532"/>
                  <a:pt x="12392" y="3729660"/>
                  <a:pt x="0" y="3516689"/>
                </a:cubicBezTo>
                <a:cubicBezTo>
                  <a:pt x="-12392" y="3303719"/>
                  <a:pt x="61535" y="3184002"/>
                  <a:pt x="0" y="2877824"/>
                </a:cubicBezTo>
                <a:cubicBezTo>
                  <a:pt x="-61535" y="2571647"/>
                  <a:pt x="907" y="2589344"/>
                  <a:pt x="0" y="2449960"/>
                </a:cubicBezTo>
                <a:cubicBezTo>
                  <a:pt x="-907" y="2310576"/>
                  <a:pt x="65697" y="2018348"/>
                  <a:pt x="0" y="1863845"/>
                </a:cubicBezTo>
                <a:cubicBezTo>
                  <a:pt x="-65697" y="1709343"/>
                  <a:pt x="6876" y="1570840"/>
                  <a:pt x="0" y="1383231"/>
                </a:cubicBezTo>
                <a:cubicBezTo>
                  <a:pt x="-6876" y="1195622"/>
                  <a:pt x="50033" y="1032422"/>
                  <a:pt x="0" y="744366"/>
                </a:cubicBezTo>
                <a:cubicBezTo>
                  <a:pt x="-50033" y="456310"/>
                  <a:pt x="15489" y="17429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91AE36AF-194B-A11F-5270-91C086AA8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55294">
            <a:off x="1795637" y="4033357"/>
            <a:ext cx="3696216" cy="1686160"/>
          </a:xfrm>
          <a:custGeom>
            <a:avLst/>
            <a:gdLst>
              <a:gd name="csX0" fmla="*/ 0 w 3696216"/>
              <a:gd name="csY0" fmla="*/ 0 h 1686160"/>
              <a:gd name="csX1" fmla="*/ 564993 w 3696216"/>
              <a:gd name="csY1" fmla="*/ 0 h 1686160"/>
              <a:gd name="csX2" fmla="*/ 1129986 w 3696216"/>
              <a:gd name="csY2" fmla="*/ 0 h 1686160"/>
              <a:gd name="csX3" fmla="*/ 1658017 w 3696216"/>
              <a:gd name="csY3" fmla="*/ 0 h 1686160"/>
              <a:gd name="csX4" fmla="*/ 2149086 w 3696216"/>
              <a:gd name="csY4" fmla="*/ 0 h 1686160"/>
              <a:gd name="csX5" fmla="*/ 2751041 w 3696216"/>
              <a:gd name="csY5" fmla="*/ 0 h 1686160"/>
              <a:gd name="csX6" fmla="*/ 3168185 w 3696216"/>
              <a:gd name="csY6" fmla="*/ 0 h 1686160"/>
              <a:gd name="csX7" fmla="*/ 3696216 w 3696216"/>
              <a:gd name="csY7" fmla="*/ 0 h 1686160"/>
              <a:gd name="csX8" fmla="*/ 3696216 w 3696216"/>
              <a:gd name="csY8" fmla="*/ 578915 h 1686160"/>
              <a:gd name="csX9" fmla="*/ 3696216 w 3696216"/>
              <a:gd name="csY9" fmla="*/ 1157830 h 1686160"/>
              <a:gd name="csX10" fmla="*/ 3696216 w 3696216"/>
              <a:gd name="csY10" fmla="*/ 1686160 h 1686160"/>
              <a:gd name="csX11" fmla="*/ 3279072 w 3696216"/>
              <a:gd name="csY11" fmla="*/ 1686160 h 1686160"/>
              <a:gd name="csX12" fmla="*/ 2788003 w 3696216"/>
              <a:gd name="csY12" fmla="*/ 1686160 h 1686160"/>
              <a:gd name="csX13" fmla="*/ 2370859 w 3696216"/>
              <a:gd name="csY13" fmla="*/ 1686160 h 1686160"/>
              <a:gd name="csX14" fmla="*/ 1953714 w 3696216"/>
              <a:gd name="csY14" fmla="*/ 1686160 h 1686160"/>
              <a:gd name="csX15" fmla="*/ 1388721 w 3696216"/>
              <a:gd name="csY15" fmla="*/ 1686160 h 1686160"/>
              <a:gd name="csX16" fmla="*/ 860690 w 3696216"/>
              <a:gd name="csY16" fmla="*/ 1686160 h 1686160"/>
              <a:gd name="csX17" fmla="*/ 0 w 3696216"/>
              <a:gd name="csY17" fmla="*/ 1686160 h 1686160"/>
              <a:gd name="csX18" fmla="*/ 0 w 3696216"/>
              <a:gd name="csY18" fmla="*/ 1090383 h 1686160"/>
              <a:gd name="csX19" fmla="*/ 0 w 3696216"/>
              <a:gd name="csY19" fmla="*/ 562053 h 1686160"/>
              <a:gd name="csX20" fmla="*/ 0 w 3696216"/>
              <a:gd name="csY20" fmla="*/ 0 h 1686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696216" h="1686160" fill="none" extrusionOk="0">
                <a:moveTo>
                  <a:pt x="0" y="0"/>
                </a:moveTo>
                <a:cubicBezTo>
                  <a:pt x="228193" y="-51570"/>
                  <a:pt x="394506" y="33905"/>
                  <a:pt x="564993" y="0"/>
                </a:cubicBezTo>
                <a:cubicBezTo>
                  <a:pt x="735480" y="-33905"/>
                  <a:pt x="956629" y="13812"/>
                  <a:pt x="1129986" y="0"/>
                </a:cubicBezTo>
                <a:cubicBezTo>
                  <a:pt x="1303343" y="-13812"/>
                  <a:pt x="1497008" y="38722"/>
                  <a:pt x="1658017" y="0"/>
                </a:cubicBezTo>
                <a:cubicBezTo>
                  <a:pt x="1819026" y="-38722"/>
                  <a:pt x="1910405" y="14511"/>
                  <a:pt x="2149086" y="0"/>
                </a:cubicBezTo>
                <a:cubicBezTo>
                  <a:pt x="2387767" y="-14511"/>
                  <a:pt x="2620455" y="5143"/>
                  <a:pt x="2751041" y="0"/>
                </a:cubicBezTo>
                <a:cubicBezTo>
                  <a:pt x="2881627" y="-5143"/>
                  <a:pt x="3030255" y="44437"/>
                  <a:pt x="3168185" y="0"/>
                </a:cubicBezTo>
                <a:cubicBezTo>
                  <a:pt x="3306115" y="-44437"/>
                  <a:pt x="3546777" y="12149"/>
                  <a:pt x="3696216" y="0"/>
                </a:cubicBezTo>
                <a:cubicBezTo>
                  <a:pt x="3764483" y="267627"/>
                  <a:pt x="3682992" y="391326"/>
                  <a:pt x="3696216" y="578915"/>
                </a:cubicBezTo>
                <a:cubicBezTo>
                  <a:pt x="3709440" y="766504"/>
                  <a:pt x="3675580" y="885863"/>
                  <a:pt x="3696216" y="1157830"/>
                </a:cubicBezTo>
                <a:cubicBezTo>
                  <a:pt x="3716852" y="1429798"/>
                  <a:pt x="3646647" y="1434781"/>
                  <a:pt x="3696216" y="1686160"/>
                </a:cubicBezTo>
                <a:cubicBezTo>
                  <a:pt x="3581163" y="1704313"/>
                  <a:pt x="3412533" y="1682506"/>
                  <a:pt x="3279072" y="1686160"/>
                </a:cubicBezTo>
                <a:cubicBezTo>
                  <a:pt x="3145611" y="1689814"/>
                  <a:pt x="2889309" y="1679890"/>
                  <a:pt x="2788003" y="1686160"/>
                </a:cubicBezTo>
                <a:cubicBezTo>
                  <a:pt x="2686697" y="1692430"/>
                  <a:pt x="2567995" y="1679859"/>
                  <a:pt x="2370859" y="1686160"/>
                </a:cubicBezTo>
                <a:cubicBezTo>
                  <a:pt x="2173723" y="1692461"/>
                  <a:pt x="2153275" y="1671983"/>
                  <a:pt x="1953714" y="1686160"/>
                </a:cubicBezTo>
                <a:cubicBezTo>
                  <a:pt x="1754153" y="1700337"/>
                  <a:pt x="1556660" y="1660769"/>
                  <a:pt x="1388721" y="1686160"/>
                </a:cubicBezTo>
                <a:cubicBezTo>
                  <a:pt x="1220782" y="1711551"/>
                  <a:pt x="1119971" y="1670531"/>
                  <a:pt x="860690" y="1686160"/>
                </a:cubicBezTo>
                <a:cubicBezTo>
                  <a:pt x="601409" y="1701789"/>
                  <a:pt x="214011" y="1675274"/>
                  <a:pt x="0" y="1686160"/>
                </a:cubicBezTo>
                <a:cubicBezTo>
                  <a:pt x="-18569" y="1486699"/>
                  <a:pt x="11689" y="1341518"/>
                  <a:pt x="0" y="1090383"/>
                </a:cubicBezTo>
                <a:cubicBezTo>
                  <a:pt x="-11689" y="839248"/>
                  <a:pt x="7342" y="726920"/>
                  <a:pt x="0" y="562053"/>
                </a:cubicBezTo>
                <a:cubicBezTo>
                  <a:pt x="-7342" y="397186"/>
                  <a:pt x="21122" y="177245"/>
                  <a:pt x="0" y="0"/>
                </a:cubicBezTo>
                <a:close/>
              </a:path>
              <a:path w="3696216" h="1686160" stroke="0" extrusionOk="0">
                <a:moveTo>
                  <a:pt x="0" y="0"/>
                </a:moveTo>
                <a:cubicBezTo>
                  <a:pt x="293852" y="-20334"/>
                  <a:pt x="461766" y="666"/>
                  <a:pt x="601955" y="0"/>
                </a:cubicBezTo>
                <a:cubicBezTo>
                  <a:pt x="742144" y="-666"/>
                  <a:pt x="891970" y="1185"/>
                  <a:pt x="1093024" y="0"/>
                </a:cubicBezTo>
                <a:cubicBezTo>
                  <a:pt x="1294078" y="-1185"/>
                  <a:pt x="1366392" y="23115"/>
                  <a:pt x="1621055" y="0"/>
                </a:cubicBezTo>
                <a:cubicBezTo>
                  <a:pt x="1875718" y="-23115"/>
                  <a:pt x="1919709" y="6931"/>
                  <a:pt x="2149086" y="0"/>
                </a:cubicBezTo>
                <a:cubicBezTo>
                  <a:pt x="2378463" y="-6931"/>
                  <a:pt x="2589920" y="66768"/>
                  <a:pt x="2751041" y="0"/>
                </a:cubicBezTo>
                <a:cubicBezTo>
                  <a:pt x="2912162" y="-66768"/>
                  <a:pt x="3373597" y="16192"/>
                  <a:pt x="3696216" y="0"/>
                </a:cubicBezTo>
                <a:cubicBezTo>
                  <a:pt x="3699363" y="145270"/>
                  <a:pt x="3637437" y="382842"/>
                  <a:pt x="3696216" y="595777"/>
                </a:cubicBezTo>
                <a:cubicBezTo>
                  <a:pt x="3754995" y="808712"/>
                  <a:pt x="3687378" y="994660"/>
                  <a:pt x="3696216" y="1157830"/>
                </a:cubicBezTo>
                <a:cubicBezTo>
                  <a:pt x="3705054" y="1321000"/>
                  <a:pt x="3648371" y="1456704"/>
                  <a:pt x="3696216" y="1686160"/>
                </a:cubicBezTo>
                <a:cubicBezTo>
                  <a:pt x="3518776" y="1700197"/>
                  <a:pt x="3455122" y="1676120"/>
                  <a:pt x="3242109" y="1686160"/>
                </a:cubicBezTo>
                <a:cubicBezTo>
                  <a:pt x="3029096" y="1696200"/>
                  <a:pt x="2949218" y="1626558"/>
                  <a:pt x="2677116" y="1686160"/>
                </a:cubicBezTo>
                <a:cubicBezTo>
                  <a:pt x="2405014" y="1745762"/>
                  <a:pt x="2406754" y="1634789"/>
                  <a:pt x="2223010" y="1686160"/>
                </a:cubicBezTo>
                <a:cubicBezTo>
                  <a:pt x="2039266" y="1737531"/>
                  <a:pt x="1950470" y="1657771"/>
                  <a:pt x="1731941" y="1686160"/>
                </a:cubicBezTo>
                <a:cubicBezTo>
                  <a:pt x="1513412" y="1714549"/>
                  <a:pt x="1429947" y="1649267"/>
                  <a:pt x="1314797" y="1686160"/>
                </a:cubicBezTo>
                <a:cubicBezTo>
                  <a:pt x="1199647" y="1723053"/>
                  <a:pt x="909468" y="1671417"/>
                  <a:pt x="749804" y="1686160"/>
                </a:cubicBezTo>
                <a:cubicBezTo>
                  <a:pt x="590140" y="1700903"/>
                  <a:pt x="233673" y="1628095"/>
                  <a:pt x="0" y="1686160"/>
                </a:cubicBezTo>
                <a:cubicBezTo>
                  <a:pt x="-1421" y="1471857"/>
                  <a:pt x="53088" y="1331583"/>
                  <a:pt x="0" y="1107245"/>
                </a:cubicBezTo>
                <a:cubicBezTo>
                  <a:pt x="-53088" y="882907"/>
                  <a:pt x="44800" y="677128"/>
                  <a:pt x="0" y="545192"/>
                </a:cubicBezTo>
                <a:cubicBezTo>
                  <a:pt x="-44800" y="413256"/>
                  <a:pt x="50230" y="205397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589563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9BC6624C-016E-1FD1-6CD5-C537F51EF073}"/>
              </a:ext>
            </a:extLst>
          </p:cNvPr>
          <p:cNvSpPr/>
          <p:nvPr/>
        </p:nvSpPr>
        <p:spPr>
          <a:xfrm>
            <a:off x="7772401" y="700388"/>
            <a:ext cx="4319080" cy="5728505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F23EB0B-BCD2-BFD5-965E-E4B86A91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723" y="842907"/>
            <a:ext cx="6657008" cy="1005348"/>
          </a:xfrm>
        </p:spPr>
        <p:txBody>
          <a:bodyPr/>
          <a:lstStyle/>
          <a:p>
            <a:r>
              <a:rPr lang="hu-HU" dirty="0"/>
              <a:t>Beszúró rendezés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EBBC2D-C95E-8676-DF98-97F2A3B88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8255"/>
            <a:ext cx="6725835" cy="458063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A fő ciklus invariánsa: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a typeface="Calibri" panose="020F0502020204030204" pitchFamily="34" charset="0"/>
                <a:cs typeface="CMR12"/>
              </a:rPr>
              <a:t>1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 </a:t>
            </a:r>
            <a:r>
              <a:rPr lang="en-US" sz="18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i </a:t>
            </a:r>
            <a:r>
              <a:rPr lang="en-US" sz="18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1800" dirty="0">
                <a:effectLst/>
                <a:ea typeface="Calibri" panose="020F0502020204030204" pitchFamily="34" charset="0"/>
                <a:cs typeface="CMSY10"/>
              </a:rPr>
              <a:t>∧ 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[0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)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 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az input tömb egy permutáltja,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Ahol A[</a:t>
            </a: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o..</a:t>
            </a:r>
            <a:r>
              <a:rPr lang="hu-HU" i="1" dirty="0" err="1">
                <a:effectLst/>
                <a:ea typeface="Calibri" panose="020F0502020204030204" pitchFamily="34" charset="0"/>
                <a:cs typeface="CMMI12"/>
              </a:rPr>
              <a:t>i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) prefixe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monoton </a:t>
            </a: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növekvően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rendezett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Összefoglalva: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ea typeface="Calibri" panose="020F0502020204030204" pitchFamily="34" charset="0"/>
                <a:cs typeface="F29"/>
              </a:rPr>
              <a:t>Ha n &lt; 2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600" dirty="0">
                <a:effectLst/>
                <a:ea typeface="Calibri" panose="020F0502020204030204" pitchFamily="34" charset="0"/>
                <a:cs typeface="F29"/>
              </a:rPr>
              <a:t>az </a:t>
            </a:r>
            <a:r>
              <a:rPr lang="hu-HU" sz="16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600" dirty="0">
                <a:effectLst/>
                <a:ea typeface="Calibri" panose="020F0502020204030204" pitchFamily="34" charset="0"/>
                <a:cs typeface="F29"/>
              </a:rPr>
              <a:t>tömb üres, vagy egyelemű  -&gt; rendezett</a:t>
            </a:r>
            <a:endParaRPr lang="hu-H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600" dirty="0">
                <a:effectLst/>
                <a:ea typeface="Calibri" panose="020F0502020204030204" pitchFamily="34" charset="0"/>
                <a:cs typeface="F29"/>
              </a:rPr>
              <a:t>a program fő ciklusa egyszer sem fut le</a:t>
            </a:r>
            <a:endParaRPr lang="hu-H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F5C4EFE0-2A41-655E-154F-044A5FA0F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544" y="1401775"/>
            <a:ext cx="2982479" cy="458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41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C85C9-06B2-3410-728C-AE839ABDE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45DF5423-98C9-49B0-F63A-EEA62A3269B2}"/>
              </a:ext>
            </a:extLst>
          </p:cNvPr>
          <p:cNvSpPr/>
          <p:nvPr/>
        </p:nvSpPr>
        <p:spPr>
          <a:xfrm>
            <a:off x="7966953" y="1498060"/>
            <a:ext cx="3910087" cy="3258766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310DAEF-E0BA-503F-12C4-89B94E9CD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137" y="115530"/>
            <a:ext cx="9409831" cy="1005348"/>
          </a:xfrm>
        </p:spPr>
        <p:txBody>
          <a:bodyPr/>
          <a:lstStyle/>
          <a:p>
            <a:r>
              <a:rPr lang="hu-HU" dirty="0"/>
              <a:t>Beszúró rendezés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B955D9-2C33-E648-0B17-7B7E91EAA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393" y="1313235"/>
            <a:ext cx="6210269" cy="5048654"/>
          </a:xfrm>
        </p:spPr>
        <p:txBody>
          <a:bodyPr>
            <a:normAutofit/>
          </a:bodyPr>
          <a:lstStyle/>
          <a:p>
            <a:r>
              <a:rPr lang="hu-HU" dirty="0">
                <a:effectLst/>
                <a:ea typeface="Calibri" panose="020F0502020204030204" pitchFamily="34" charset="0"/>
                <a:cs typeface="F29"/>
              </a:rPr>
              <a:t>Összefoglalás folytatása: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Ha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1800" dirty="0">
                <a:effectLst/>
                <a:ea typeface="Calibri" panose="020F0502020204030204" pitchFamily="34" charset="0"/>
                <a:cs typeface="CMSY10"/>
              </a:rPr>
              <a:t>≥ 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2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[0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1)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rendezett és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i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:= 1</a:t>
            </a:r>
            <a:r>
              <a:rPr lang="hu-HU" dirty="0">
                <a:effectLst/>
                <a:ea typeface="CMMI12"/>
                <a:cs typeface="F29"/>
              </a:rPr>
              <a:t>-re fennáll az invariáns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dirty="0">
                <a:effectLst/>
                <a:ea typeface="CMMI12"/>
                <a:cs typeface="F29"/>
              </a:rPr>
              <a:t>A fő ciklus magja: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i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]</a:t>
            </a:r>
            <a:r>
              <a:rPr lang="hu-HU" dirty="0">
                <a:effectLst/>
                <a:ea typeface="CMMI12"/>
                <a:cs typeface="F29"/>
              </a:rPr>
              <a:t>-t beszúrja a tömb rendezett szakaszába </a:t>
            </a:r>
            <a:endParaRPr lang="hu-HU" dirty="0">
              <a:ea typeface="CMMI12"/>
              <a:cs typeface="F29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MMI12"/>
                <a:cs typeface="F29"/>
              </a:rPr>
              <a:t>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i</a:t>
            </a:r>
            <a:r>
              <a:rPr lang="hu-HU" dirty="0">
                <a:effectLst/>
                <a:ea typeface="CMMI12"/>
                <a:cs typeface="F29"/>
              </a:rPr>
              <a:t>-t eggyel növeli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dirty="0">
                <a:effectLst/>
                <a:ea typeface="CMMI12"/>
                <a:cs typeface="F29"/>
              </a:rPr>
              <a:t>tartja az invariánst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MMI12"/>
                <a:cs typeface="F29"/>
              </a:rPr>
              <a:t>Mikor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i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dirty="0">
                <a:effectLst/>
                <a:ea typeface="CMMI12"/>
                <a:cs typeface="F29"/>
              </a:rPr>
              <a:t>eléri az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 </a:t>
            </a:r>
            <a:r>
              <a:rPr lang="hu-HU" sz="1800" dirty="0">
                <a:effectLst/>
                <a:ea typeface="CMMI12"/>
                <a:cs typeface="F29"/>
              </a:rPr>
              <a:t>értéket: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dirty="0">
                <a:effectLst/>
                <a:ea typeface="CMMI12"/>
                <a:cs typeface="F29"/>
              </a:rPr>
              <a:t>már a teljes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dirty="0">
                <a:effectLst/>
                <a:ea typeface="CMMI12"/>
                <a:cs typeface="F29"/>
              </a:rPr>
              <a:t>tömb rendezett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dirty="0">
                <a:effectLst/>
                <a:ea typeface="CMMI12"/>
                <a:cs typeface="F29"/>
              </a:rPr>
              <a:t>az eljárás befejeződik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96539CCD-BBFA-1A46-3D26-EDB385F65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534" y="2022881"/>
            <a:ext cx="2793079" cy="238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87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1FBB04-4ABD-22AC-0451-8E9915FD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22008"/>
            <a:ext cx="10018713" cy="838200"/>
          </a:xfrm>
        </p:spPr>
        <p:txBody>
          <a:bodyPr/>
          <a:lstStyle/>
          <a:p>
            <a:r>
              <a:rPr lang="hu-HU" i="1" dirty="0"/>
              <a:t>S</a:t>
            </a:r>
            <a:r>
              <a:rPr lang="hu-HU" dirty="0"/>
              <a:t> Program hatékonysága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E1B8BD-262E-5BB9-33A2-D99AF7BB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48697"/>
            <a:ext cx="10018713" cy="528729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b="1" i="1" dirty="0">
                <a:effectLst/>
                <a:ea typeface="Calibri" panose="020F0502020204030204" pitchFamily="34" charset="0"/>
                <a:cs typeface="F78"/>
              </a:rPr>
              <a:t>Hatékonyság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: az eljárás erőforrás igénye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Futási ideje 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Tárigénye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Az algoritmusok erőforrásigényét a bemenet mérete függvényében szokás megadni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Rendező algoritmusoknál a rendezendő adatok száma (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Futási idő (~ a 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műveletigény~ futási idő ~költség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Sok ismeretlen körülmény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futási idő nem meghatározható  </a:t>
            </a:r>
          </a:p>
        </p:txBody>
      </p:sp>
    </p:spTree>
    <p:extLst>
      <p:ext uri="{BB962C8B-B14F-4D97-AF65-F5344CB8AC3E}">
        <p14:creationId xmlns:p14="http://schemas.microsoft.com/office/powerpoint/2010/main" val="4108945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26B3D-9563-E150-1BD2-8C66BAD70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7779A1-8D59-6180-94EF-B11F1F687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22008"/>
            <a:ext cx="10018713" cy="838200"/>
          </a:xfrm>
        </p:spPr>
        <p:txBody>
          <a:bodyPr/>
          <a:lstStyle/>
          <a:p>
            <a:r>
              <a:rPr lang="hu-HU" i="1" dirty="0"/>
              <a:t>S</a:t>
            </a:r>
            <a:r>
              <a:rPr lang="hu-HU" dirty="0"/>
              <a:t> Program hatékonysága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03DB5D-0F93-F81D-62F3-E89041BB7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10511"/>
            <a:ext cx="10018713" cy="5125481"/>
          </a:xfrm>
        </p:spPr>
        <p:txBody>
          <a:bodyPr>
            <a:norm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Becslések: 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Legrosszabb vagy maximális:  </a:t>
            </a:r>
            <a:r>
              <a:rPr lang="hu-HU" sz="2000" i="1" dirty="0">
                <a:effectLst/>
                <a:cs typeface="CMMI12"/>
              </a:rPr>
              <a:t>MT</a:t>
            </a:r>
            <a:r>
              <a:rPr lang="hu-HU" sz="2000" i="1" baseline="-25000" dirty="0">
                <a:effectLst/>
                <a:cs typeface="CMMI8"/>
              </a:rPr>
              <a:t>S</a:t>
            </a:r>
            <a:r>
              <a:rPr lang="hu-HU" sz="2000" dirty="0">
                <a:effectLst/>
                <a:cs typeface="CMR12"/>
              </a:rPr>
              <a:t>(</a:t>
            </a:r>
            <a:r>
              <a:rPr lang="hu-HU" sz="2000" i="1" dirty="0">
                <a:effectLst/>
                <a:cs typeface="CMMI12"/>
              </a:rPr>
              <a:t>n</a:t>
            </a:r>
            <a:r>
              <a:rPr lang="hu-HU" sz="2000" dirty="0">
                <a:effectLst/>
                <a:cs typeface="CMR12"/>
              </a:rPr>
              <a:t>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Várható vagy átlagos: </a:t>
            </a:r>
            <a:r>
              <a:rPr lang="hu-HU" sz="2000" i="1" dirty="0">
                <a:effectLst/>
                <a:cs typeface="CMMI12"/>
              </a:rPr>
              <a:t>AT</a:t>
            </a:r>
            <a:r>
              <a:rPr lang="hu-HU" sz="2000" i="1" baseline="-25000" dirty="0">
                <a:effectLst/>
                <a:cs typeface="CMMI8"/>
              </a:rPr>
              <a:t>S</a:t>
            </a:r>
            <a:r>
              <a:rPr lang="hu-HU" sz="2000" dirty="0">
                <a:effectLst/>
                <a:cs typeface="CMR12"/>
              </a:rPr>
              <a:t>(</a:t>
            </a:r>
            <a:r>
              <a:rPr lang="hu-HU" sz="2000" i="1" dirty="0">
                <a:effectLst/>
                <a:cs typeface="CMMI12"/>
              </a:rPr>
              <a:t>n</a:t>
            </a:r>
            <a:r>
              <a:rPr lang="hu-HU" sz="2000" dirty="0">
                <a:effectLst/>
                <a:cs typeface="CMR12"/>
              </a:rPr>
              <a:t>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Legjobb vagy minimális </a:t>
            </a:r>
            <a:r>
              <a:rPr lang="hu-HU" sz="2000" i="1" dirty="0" err="1">
                <a:effectLst/>
                <a:cs typeface="CMMI12"/>
              </a:rPr>
              <a:t>mT</a:t>
            </a:r>
            <a:r>
              <a:rPr lang="hu-HU" sz="2000" i="1" baseline="-25000" dirty="0" err="1">
                <a:effectLst/>
                <a:cs typeface="CMMI8"/>
              </a:rPr>
              <a:t>S</a:t>
            </a:r>
            <a:r>
              <a:rPr lang="hu-HU" sz="2000" dirty="0">
                <a:effectLst/>
                <a:cs typeface="CMR12"/>
              </a:rPr>
              <a:t>(</a:t>
            </a:r>
            <a:r>
              <a:rPr lang="hu-HU" sz="2000" i="1" dirty="0">
                <a:effectLst/>
                <a:cs typeface="CMMI12"/>
              </a:rPr>
              <a:t>n</a:t>
            </a:r>
            <a:r>
              <a:rPr lang="hu-HU" sz="2000" dirty="0">
                <a:effectLst/>
                <a:cs typeface="CMR12"/>
              </a:rPr>
              <a:t>) esetek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Ha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000" i="1" baseline="-25000" dirty="0">
                <a:effectLst/>
                <a:ea typeface="Calibri" panose="020F0502020204030204" pitchFamily="34" charset="0"/>
                <a:cs typeface="CMMI8"/>
              </a:rPr>
              <a:t>S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) = </a:t>
            </a:r>
            <a:r>
              <a:rPr lang="hu-HU" sz="20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000" i="1" baseline="-25000" dirty="0" err="1">
                <a:effectLst/>
                <a:ea typeface="Calibri" panose="020F0502020204030204" pitchFamily="34" charset="0"/>
                <a:cs typeface="CMMI8"/>
              </a:rPr>
              <a:t>S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) -&gt; (</a:t>
            </a:r>
            <a:r>
              <a:rPr lang="hu-HU" sz="2000" dirty="0" err="1">
                <a:effectLst/>
                <a:ea typeface="Calibri" panose="020F0502020204030204" pitchFamily="34" charset="0"/>
                <a:cs typeface="F29"/>
              </a:rPr>
              <a:t>def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. szerint)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sz="2000" i="1" baseline="-25000" dirty="0">
                <a:effectLst/>
                <a:ea typeface="Calibri" panose="020F0502020204030204" pitchFamily="34" charset="0"/>
                <a:cs typeface="CMMI8"/>
              </a:rPr>
              <a:t>S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a minden esetre vonatkozó műveletigény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adott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méretű input esetén: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adott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S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algoritmus: </a:t>
            </a: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alprogramhívások végrehajtásának száma </a:t>
            </a:r>
          </a:p>
          <a:p>
            <a:pPr lvl="3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+"/>
            </a:pP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kódban szereplő különböző ciklusok iterációinak száma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515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A759-3517-2203-BB35-4D568BE27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DC20D9-5BC1-BB9F-B53F-68A7C07F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22008"/>
            <a:ext cx="10018713" cy="1090232"/>
          </a:xfrm>
        </p:spPr>
        <p:txBody>
          <a:bodyPr>
            <a:normAutofit/>
          </a:bodyPr>
          <a:lstStyle/>
          <a:p>
            <a:r>
              <a:rPr lang="hu-HU" dirty="0" err="1"/>
              <a:t>Space</a:t>
            </a:r>
            <a:r>
              <a:rPr lang="hu-HU" dirty="0"/>
              <a:t> </a:t>
            </a:r>
            <a:r>
              <a:rPr lang="hu-HU" dirty="0" err="1"/>
              <a:t>complexities</a:t>
            </a:r>
            <a:r>
              <a:rPr lang="hu-HU" dirty="0"/>
              <a:t> of </a:t>
            </a:r>
            <a:r>
              <a:rPr lang="hu-HU" dirty="0" err="1"/>
              <a:t>algorithms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65105AA-84CD-287D-6B31-91B6DA8D0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10641"/>
            <a:ext cx="10018713" cy="522535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Space complexity of an algorithm is an abstract measure of the algorithm’s</a:t>
            </a:r>
            <a:r>
              <a:rPr lang="hu-HU" dirty="0"/>
              <a:t> </a:t>
            </a:r>
            <a:r>
              <a:rPr lang="en-US" dirty="0"/>
              <a:t>space (i.e. memory) requirements. </a:t>
            </a:r>
            <a:endParaRPr lang="hu-HU" dirty="0"/>
          </a:p>
          <a:p>
            <a:r>
              <a:rPr lang="hu-HU" dirty="0" err="1"/>
              <a:t>For</a:t>
            </a:r>
            <a:r>
              <a:rPr lang="hu-HU" dirty="0"/>
              <a:t> an </a:t>
            </a:r>
            <a:r>
              <a:rPr lang="hu-HU" dirty="0" err="1"/>
              <a:t>algorithm</a:t>
            </a:r>
            <a:r>
              <a:rPr lang="hu-HU" dirty="0"/>
              <a:t> </a:t>
            </a:r>
            <a:r>
              <a:rPr lang="hu-HU" b="1" i="1" dirty="0"/>
              <a:t>S</a:t>
            </a:r>
            <a:r>
              <a:rPr lang="hu-HU" dirty="0"/>
              <a:t>,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distinguish</a:t>
            </a:r>
            <a:r>
              <a:rPr lang="hu-HU" dirty="0"/>
              <a:t> </a:t>
            </a:r>
            <a:r>
              <a:rPr lang="hu-HU" dirty="0" err="1"/>
              <a:t>three</a:t>
            </a:r>
            <a:r>
              <a:rPr lang="hu-HU" dirty="0"/>
              <a:t> </a:t>
            </a:r>
            <a:r>
              <a:rPr lang="hu-HU" dirty="0" err="1"/>
              <a:t>cases</a:t>
            </a:r>
            <a:r>
              <a:rPr lang="hu-HU" dirty="0"/>
              <a:t>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200" b="1" dirty="0" err="1"/>
              <a:t>Worst-case</a:t>
            </a:r>
            <a:r>
              <a:rPr lang="hu-HU" sz="2200" dirty="0"/>
              <a:t> </a:t>
            </a:r>
            <a:r>
              <a:rPr lang="hu-HU" dirty="0"/>
              <a:t>(Maximum </a:t>
            </a:r>
            <a:r>
              <a:rPr lang="hu-HU" dirty="0" err="1"/>
              <a:t>Space</a:t>
            </a:r>
            <a:r>
              <a:rPr lang="hu-HU" dirty="0"/>
              <a:t> </a:t>
            </a:r>
            <a:r>
              <a:rPr lang="hu-HU" dirty="0" err="1"/>
              <a:t>complexity</a:t>
            </a:r>
            <a:r>
              <a:rPr lang="hu-HU" dirty="0"/>
              <a:t>)</a:t>
            </a:r>
            <a:r>
              <a:rPr lang="hu-HU" sz="2200" dirty="0">
                <a:effectLst/>
                <a:ea typeface="Calibri" panose="020F0502020204030204" pitchFamily="34" charset="0"/>
                <a:cs typeface="F29"/>
              </a:rPr>
              <a:t>:  </a:t>
            </a:r>
            <a:r>
              <a:rPr lang="hu-HU" sz="2200" b="1" i="1" dirty="0">
                <a:effectLst/>
                <a:cs typeface="CMMI12"/>
              </a:rPr>
              <a:t>MS</a:t>
            </a:r>
            <a:r>
              <a:rPr lang="hu-HU" sz="2200" b="1" i="1" baseline="-25000" dirty="0">
                <a:effectLst/>
                <a:cs typeface="CMMI8"/>
              </a:rPr>
              <a:t>S</a:t>
            </a:r>
            <a:r>
              <a:rPr lang="hu-HU" sz="2200" b="1" dirty="0">
                <a:effectLst/>
                <a:cs typeface="CMR12"/>
              </a:rPr>
              <a:t>(</a:t>
            </a:r>
            <a:r>
              <a:rPr lang="hu-HU" sz="2200" b="1" i="1" dirty="0">
                <a:effectLst/>
                <a:cs typeface="CMMI12"/>
              </a:rPr>
              <a:t>n</a:t>
            </a:r>
            <a:r>
              <a:rPr lang="hu-HU" sz="2200" b="1" dirty="0">
                <a:effectLst/>
                <a:cs typeface="CMR12"/>
              </a:rPr>
              <a:t>)</a:t>
            </a:r>
          </a:p>
          <a:p>
            <a:pPr lvl="1"/>
            <a:r>
              <a:rPr lang="hu-HU" b="1" dirty="0" err="1"/>
              <a:t>Average-case</a:t>
            </a:r>
            <a:r>
              <a:rPr lang="hu-HU" dirty="0"/>
              <a:t> (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expected</a:t>
            </a:r>
            <a:r>
              <a:rPr lang="hu-HU" dirty="0"/>
              <a:t> </a:t>
            </a:r>
            <a:r>
              <a:rPr lang="hu-HU" dirty="0" err="1"/>
              <a:t>Space</a:t>
            </a:r>
            <a:r>
              <a:rPr lang="hu-HU" dirty="0"/>
              <a:t> </a:t>
            </a:r>
            <a:r>
              <a:rPr lang="hu-HU" dirty="0" err="1"/>
              <a:t>complexity</a:t>
            </a:r>
            <a:r>
              <a:rPr lang="hu-HU" dirty="0"/>
              <a:t>)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: </a:t>
            </a:r>
            <a:r>
              <a:rPr lang="hu-HU" b="1" i="1" dirty="0">
                <a:effectLst/>
                <a:cs typeface="CMMI12"/>
              </a:rPr>
              <a:t>AS</a:t>
            </a:r>
            <a:r>
              <a:rPr lang="hu-HU" b="1" i="1" baseline="-25000" dirty="0">
                <a:effectLst/>
                <a:cs typeface="CMMI8"/>
              </a:rPr>
              <a:t>S</a:t>
            </a:r>
            <a:r>
              <a:rPr lang="hu-HU" b="1" dirty="0">
                <a:effectLst/>
                <a:cs typeface="CMR12"/>
              </a:rPr>
              <a:t>(</a:t>
            </a:r>
            <a:r>
              <a:rPr lang="hu-HU" b="1" i="1" dirty="0">
                <a:effectLst/>
                <a:cs typeface="CMMI12"/>
              </a:rPr>
              <a:t>n</a:t>
            </a:r>
            <a:r>
              <a:rPr lang="hu-HU" b="1" dirty="0">
                <a:effectLst/>
                <a:cs typeface="CMR12"/>
              </a:rPr>
              <a:t>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b="1" dirty="0"/>
              <a:t>Best-</a:t>
            </a:r>
            <a:r>
              <a:rPr lang="hu-HU" b="1" dirty="0" err="1"/>
              <a:t>case</a:t>
            </a:r>
            <a:r>
              <a:rPr lang="hu-HU" dirty="0"/>
              <a:t> (minimum </a:t>
            </a:r>
            <a:r>
              <a:rPr lang="hu-HU" dirty="0" err="1"/>
              <a:t>Space</a:t>
            </a:r>
            <a:r>
              <a:rPr lang="hu-HU" dirty="0"/>
              <a:t> </a:t>
            </a:r>
            <a:r>
              <a:rPr lang="hu-HU" dirty="0" err="1"/>
              <a:t>complexity</a:t>
            </a:r>
            <a:r>
              <a:rPr lang="hu-HU" dirty="0"/>
              <a:t>):</a:t>
            </a:r>
            <a:r>
              <a:rPr lang="hu-HU" sz="2200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2200" b="1" i="1" dirty="0" err="1">
                <a:effectLst/>
                <a:cs typeface="CMMI12"/>
              </a:rPr>
              <a:t>mS</a:t>
            </a:r>
            <a:r>
              <a:rPr lang="hu-HU" sz="2200" b="1" i="1" baseline="-25000" dirty="0" err="1">
                <a:effectLst/>
                <a:cs typeface="CMMI8"/>
              </a:rPr>
              <a:t>S</a:t>
            </a:r>
            <a:r>
              <a:rPr lang="hu-HU" sz="2200" b="1" dirty="0">
                <a:effectLst/>
                <a:cs typeface="CMR12"/>
              </a:rPr>
              <a:t>(</a:t>
            </a:r>
            <a:r>
              <a:rPr lang="hu-HU" sz="2200" b="1" i="1" dirty="0">
                <a:effectLst/>
                <a:cs typeface="CMMI12"/>
              </a:rPr>
              <a:t>n</a:t>
            </a:r>
            <a:r>
              <a:rPr lang="hu-HU" sz="2200" b="1" dirty="0">
                <a:effectLst/>
                <a:cs typeface="CMR12"/>
              </a:rPr>
              <a:t>)</a:t>
            </a:r>
            <a:r>
              <a:rPr lang="hu-HU" sz="2200" dirty="0">
                <a:effectLst/>
                <a:cs typeface="CMR12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If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MS</a:t>
            </a:r>
            <a:r>
              <a:rPr lang="hu-HU" i="1" baseline="-25000" dirty="0">
                <a:effectLst/>
                <a:ea typeface="Calibri" panose="020F0502020204030204" pitchFamily="34" charset="0"/>
                <a:cs typeface="CMMI8"/>
              </a:rPr>
              <a:t>S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) = </a:t>
            </a:r>
            <a:r>
              <a:rPr lang="hu-HU" i="1" dirty="0" err="1">
                <a:effectLst/>
                <a:ea typeface="Calibri" panose="020F0502020204030204" pitchFamily="34" charset="0"/>
                <a:cs typeface="CMMI12"/>
              </a:rPr>
              <a:t>mS</a:t>
            </a:r>
            <a:r>
              <a:rPr lang="hu-HU" i="1" baseline="-25000" dirty="0" err="1">
                <a:effectLst/>
                <a:ea typeface="Calibri" panose="020F0502020204030204" pitchFamily="34" charset="0"/>
                <a:cs typeface="CMMI8"/>
              </a:rPr>
              <a:t>S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200" dirty="0" err="1">
                <a:ea typeface="Calibri" panose="020F0502020204030204" pitchFamily="34" charset="0"/>
                <a:cs typeface="CMR12"/>
              </a:rPr>
              <a:t>Then</a:t>
            </a:r>
            <a:r>
              <a:rPr lang="hu-HU" sz="2200" dirty="0">
                <a:ea typeface="Calibri" panose="020F0502020204030204" pitchFamily="34" charset="0"/>
                <a:cs typeface="CMR12"/>
              </a:rPr>
              <a:t>  </a:t>
            </a:r>
            <a:r>
              <a:rPr lang="hu-HU" sz="2200" b="1" i="1" dirty="0">
                <a:effectLst/>
                <a:ea typeface="Calibri" panose="020F0502020204030204" pitchFamily="34" charset="0"/>
                <a:cs typeface="CMMI12"/>
              </a:rPr>
              <a:t>S</a:t>
            </a:r>
            <a:r>
              <a:rPr lang="hu-HU" sz="2200" b="1" i="1" baseline="-25000" dirty="0">
                <a:effectLst/>
                <a:ea typeface="Calibri" panose="020F0502020204030204" pitchFamily="34" charset="0"/>
                <a:cs typeface="CMMI8"/>
              </a:rPr>
              <a:t>S</a:t>
            </a:r>
            <a:r>
              <a:rPr lang="hu-HU" sz="2200" b="1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200" b="1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200" b="1" dirty="0">
                <a:effectLst/>
                <a:ea typeface="Calibri" panose="020F0502020204030204" pitchFamily="34" charset="0"/>
                <a:cs typeface="CMR12"/>
              </a:rPr>
              <a:t>)</a:t>
            </a:r>
            <a:r>
              <a:rPr lang="hu-HU" sz="2200" dirty="0">
                <a:effectLst/>
                <a:ea typeface="Calibri" panose="020F0502020204030204" pitchFamily="34" charset="0"/>
                <a:cs typeface="CMR12"/>
              </a:rPr>
              <a:t> </a:t>
            </a:r>
            <a:r>
              <a:rPr lang="hu-HU" sz="2200" dirty="0" err="1"/>
              <a:t>denotes</a:t>
            </a:r>
            <a:r>
              <a:rPr lang="hu-HU" sz="2200" dirty="0"/>
              <a:t> </a:t>
            </a:r>
            <a:r>
              <a:rPr lang="hu-HU" sz="2200" dirty="0" err="1"/>
              <a:t>the</a:t>
            </a:r>
            <a:r>
              <a:rPr lang="hu-HU" sz="2200" dirty="0"/>
              <a:t> </a:t>
            </a:r>
            <a:r>
              <a:rPr lang="hu-HU" sz="2200" dirty="0" err="1"/>
              <a:t>generak</a:t>
            </a:r>
            <a:r>
              <a:rPr lang="hu-HU" sz="2200" dirty="0"/>
              <a:t> </a:t>
            </a:r>
            <a:r>
              <a:rPr lang="hu-HU" sz="2200" dirty="0" err="1"/>
              <a:t>space</a:t>
            </a:r>
            <a:r>
              <a:rPr lang="hu-HU" sz="2200" dirty="0"/>
              <a:t> </a:t>
            </a:r>
            <a:r>
              <a:rPr lang="hu-HU" sz="2200" dirty="0" err="1"/>
              <a:t>comlexity</a:t>
            </a:r>
            <a:r>
              <a:rPr lang="hu-HU" sz="2200" dirty="0"/>
              <a:t> </a:t>
            </a:r>
            <a:r>
              <a:rPr lang="hu-HU" sz="2200" dirty="0" err="1"/>
              <a:t>for</a:t>
            </a:r>
            <a:r>
              <a:rPr lang="hu-HU" sz="2200" dirty="0"/>
              <a:t> </a:t>
            </a:r>
            <a:r>
              <a:rPr lang="hu-HU" sz="2200" dirty="0" err="1"/>
              <a:t>every</a:t>
            </a:r>
            <a:r>
              <a:rPr lang="hu-HU" sz="2200" dirty="0"/>
              <a:t> input of </a:t>
            </a:r>
            <a:r>
              <a:rPr lang="hu-HU" sz="2200" dirty="0" err="1"/>
              <a:t>size</a:t>
            </a:r>
            <a:r>
              <a:rPr lang="hu-HU" sz="2200" dirty="0"/>
              <a:t> </a:t>
            </a:r>
            <a:r>
              <a:rPr lang="hu-HU" sz="2200" b="1" i="1" dirty="0" err="1"/>
              <a:t>n</a:t>
            </a:r>
            <a:r>
              <a:rPr lang="hu-HU" sz="2200" dirty="0" err="1"/>
              <a:t>.</a:t>
            </a:r>
            <a:r>
              <a:rPr lang="hu-HU" sz="2200" dirty="0">
                <a:effectLst/>
                <a:ea typeface="Calibri" panose="020F0502020204030204" pitchFamily="34" charset="0"/>
                <a:cs typeface="F29"/>
              </a:rPr>
              <a:t> </a:t>
            </a:r>
            <a:endParaRPr lang="hu-HU" sz="2200" dirty="0">
              <a:ea typeface="Calibri" panose="020F0502020204030204" pitchFamily="34" charset="0"/>
              <a:cs typeface="F29"/>
            </a:endParaRPr>
          </a:p>
          <a:p>
            <a:r>
              <a:rPr lang="hu-HU" b="1" dirty="0"/>
              <a:t> </a:t>
            </a:r>
            <a:r>
              <a:rPr lang="hu-HU" b="1" dirty="0" err="1"/>
              <a:t>Calculation</a:t>
            </a:r>
            <a:endParaRPr lang="hu-HU" b="1" dirty="0"/>
          </a:p>
          <a:p>
            <a:pPr lvl="1"/>
            <a:r>
              <a:rPr lang="hu-HU" sz="2200" dirty="0" err="1"/>
              <a:t>For</a:t>
            </a:r>
            <a:r>
              <a:rPr lang="hu-HU" sz="2200" dirty="0"/>
              <a:t> a </a:t>
            </a:r>
            <a:r>
              <a:rPr lang="hu-HU" sz="2200" dirty="0" err="1"/>
              <a:t>given</a:t>
            </a:r>
            <a:r>
              <a:rPr lang="hu-HU" sz="2200" dirty="0"/>
              <a:t> input </a:t>
            </a:r>
            <a:r>
              <a:rPr lang="hu-HU" sz="2200" dirty="0" err="1"/>
              <a:t>size</a:t>
            </a:r>
            <a:r>
              <a:rPr lang="hu-HU" sz="2200" dirty="0"/>
              <a:t> </a:t>
            </a:r>
            <a:r>
              <a:rPr lang="hu-HU" sz="2200" b="1" i="1" dirty="0"/>
              <a:t>n</a:t>
            </a:r>
            <a:r>
              <a:rPr lang="hu-HU" sz="2200" dirty="0"/>
              <a:t>, </a:t>
            </a:r>
            <a:r>
              <a:rPr lang="hu-HU" sz="2200" dirty="0" err="1"/>
              <a:t>we</a:t>
            </a:r>
            <a:r>
              <a:rPr lang="hu-HU" sz="2200" dirty="0"/>
              <a:t> </a:t>
            </a:r>
            <a:r>
              <a:rPr lang="hu-HU" sz="2200" dirty="0" err="1"/>
              <a:t>count</a:t>
            </a:r>
            <a:endParaRPr lang="hu-HU" sz="2200" dirty="0"/>
          </a:p>
          <a:p>
            <a:pPr lvl="2"/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depth</a:t>
            </a:r>
            <a:r>
              <a:rPr lang="hu-HU" sz="2000" dirty="0"/>
              <a:t> of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subroutine</a:t>
            </a:r>
            <a:r>
              <a:rPr lang="hu-HU" sz="2000" dirty="0"/>
              <a:t> </a:t>
            </a:r>
            <a:r>
              <a:rPr lang="hu-HU" sz="2000" dirty="0" err="1"/>
              <a:t>calls</a:t>
            </a:r>
            <a:r>
              <a:rPr lang="hu-HU" sz="2000" dirty="0"/>
              <a:t>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+"/>
            </a:pP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sizes</a:t>
            </a:r>
            <a:r>
              <a:rPr lang="hu-HU" sz="2000" dirty="0"/>
              <a:t> of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data</a:t>
            </a:r>
            <a:r>
              <a:rPr lang="hu-HU" sz="2000" dirty="0"/>
              <a:t> </a:t>
            </a:r>
            <a:r>
              <a:rPr lang="hu-HU" sz="2000" dirty="0" err="1"/>
              <a:t>structures</a:t>
            </a:r>
            <a:r>
              <a:rPr lang="hu-HU" sz="2000" dirty="0"/>
              <a:t> </a:t>
            </a:r>
            <a:r>
              <a:rPr lang="hu-HU" sz="2000" dirty="0" err="1"/>
              <a:t>generated</a:t>
            </a:r>
            <a:r>
              <a:rPr lang="hu-HU" sz="2000" dirty="0"/>
              <a:t> </a:t>
            </a:r>
            <a:r>
              <a:rPr lang="hu-HU" sz="2000" dirty="0" err="1"/>
              <a:t>or</a:t>
            </a:r>
            <a:r>
              <a:rPr lang="hu-HU" sz="2000" dirty="0"/>
              <a:t> </a:t>
            </a:r>
            <a:r>
              <a:rPr lang="hu-HU" sz="2000" dirty="0" err="1"/>
              <a:t>needed</a:t>
            </a:r>
            <a:r>
              <a:rPr lang="hu-HU" sz="2000" dirty="0"/>
              <a:t> </a:t>
            </a:r>
            <a:r>
              <a:rPr lang="hu-HU" sz="2000" dirty="0" err="1"/>
              <a:t>by</a:t>
            </a:r>
            <a:r>
              <a:rPr lang="hu-HU" sz="2000" dirty="0"/>
              <a:t> </a:t>
            </a:r>
            <a:r>
              <a:rPr lang="hu-HU" sz="2000" dirty="0" err="1"/>
              <a:t>that</a:t>
            </a:r>
            <a:r>
              <a:rPr lang="hu-HU" sz="2000" dirty="0"/>
              <a:t> </a:t>
            </a:r>
            <a:r>
              <a:rPr lang="hu-HU" sz="2000" dirty="0" err="1"/>
              <a:t>algorithm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106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9E95809E-C971-0425-ED8C-E59FE32163D2}"/>
              </a:ext>
            </a:extLst>
          </p:cNvPr>
          <p:cNvSpPr/>
          <p:nvPr/>
        </p:nvSpPr>
        <p:spPr>
          <a:xfrm>
            <a:off x="2277686" y="3192087"/>
            <a:ext cx="1331275" cy="54864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8A1128F-3999-A303-F740-BC6A97513A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1" y="1101078"/>
                <a:ext cx="7144300" cy="5584722"/>
              </a:xfrm>
            </p:spPr>
            <p:txBody>
              <a:bodyPr>
                <a:normAutofit/>
              </a:bodyPr>
              <a:lstStyle/>
              <a:p>
                <a:r>
                  <a:rPr lang="hu-HU" dirty="0"/>
                  <a:t>Tárigény (</a:t>
                </a:r>
                <a:r>
                  <a:rPr lang="hu-HU" dirty="0" err="1"/>
                  <a:t>space</a:t>
                </a:r>
                <a:r>
                  <a:rPr lang="hu-HU" dirty="0"/>
                  <a:t> </a:t>
                </a:r>
                <a:r>
                  <a:rPr lang="hu-HU" dirty="0" err="1"/>
                  <a:t>complexity</a:t>
                </a:r>
                <a:r>
                  <a:rPr lang="hu-HU" dirty="0"/>
                  <a:t>)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a rendezendő tömbön kívül csak néhány segédváltozót igényel </a:t>
                </a:r>
                <a:endParaRPr lang="hu-HU" sz="18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Extra tárigénye minimális,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 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-</a:t>
                </a:r>
                <a:r>
                  <a:rPr lang="hu-HU" sz="1800" dirty="0" err="1">
                    <a:effectLst/>
                    <a:ea typeface="Calibri" panose="020F0502020204030204" pitchFamily="34" charset="0"/>
                    <a:cs typeface="F29"/>
                  </a:rPr>
                  <a:t>től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független konstans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  S</a:t>
                </a:r>
                <a:r>
                  <a:rPr lang="hu-HU" sz="1800" i="1" baseline="-25000" dirty="0">
                    <a:effectLst/>
                    <a:ea typeface="Calibri" panose="020F0502020204030204" pitchFamily="34" charset="0"/>
                    <a:cs typeface="CMMI8"/>
                  </a:rPr>
                  <a:t>IS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18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sz="18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(1) 	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[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~ memóriaigény,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IS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 ~</a:t>
                </a:r>
                <a:r>
                  <a:rPr lang="hu-HU" sz="1800" dirty="0" err="1">
                    <a:effectLst/>
                    <a:ea typeface="Calibri" panose="020F0502020204030204" pitchFamily="34" charset="0"/>
                    <a:cs typeface="F29"/>
                  </a:rPr>
                  <a:t>Insertion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Sort ]</a:t>
                </a:r>
                <a:endParaRPr lang="hu-HU" sz="18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Futási i</a:t>
                </a:r>
                <a:r>
                  <a:rPr lang="hu-HU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dő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egyetlen eljáráshívás:</a:t>
                </a:r>
                <a:r>
                  <a:rPr lang="hu-HU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 err="1">
                    <a:effectLst/>
                    <a:ea typeface="Calibri" panose="020F0502020204030204" pitchFamily="34" charset="0"/>
                    <a:cs typeface="F29"/>
                  </a:rPr>
                  <a:t>insertionSort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14:m>
                  <m:oMath xmlns:m="http://schemas.openxmlformats.org/officeDocument/2006/math">
                    <m:r>
                      <a:rPr lang="hu-HU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𝒯</m:t>
                    </m:r>
                    <m:r>
                      <a:rPr lang="hu-HU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</m:oMath>
                </a14:m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[]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) 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Az eljárás fő ciklusa: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minden esetben pontosan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600" dirty="0">
                    <a:effectLst/>
                    <a:ea typeface="Calibri" panose="020F0502020204030204" pitchFamily="34" charset="0"/>
                    <a:cs typeface="CMSY10"/>
                  </a:rPr>
                  <a:t>−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1)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-szer fut le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8A1128F-3999-A303-F740-BC6A97513A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1" y="1101078"/>
                <a:ext cx="7144300" cy="5584722"/>
              </a:xfrm>
              <a:blipFill>
                <a:blip r:embed="rId2"/>
                <a:stretch>
                  <a:fillRect l="-213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5DDFE30B-86E3-C661-6EE0-B568A7C2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27" y="272846"/>
            <a:ext cx="10018713" cy="1005348"/>
          </a:xfrm>
        </p:spPr>
        <p:txBody>
          <a:bodyPr>
            <a:normAutofit/>
          </a:bodyPr>
          <a:lstStyle/>
          <a:p>
            <a:r>
              <a:rPr lang="hu-HU" dirty="0"/>
              <a:t>Beszúró rendezés hatékonysága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D13DF37-BBEA-84DA-7A12-4AF60E20B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672" y="1897935"/>
            <a:ext cx="3568118" cy="333908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59738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7D55-35B4-7CFF-0649-5A769EA19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29B8FFDD-608F-FBEC-BD58-405EEC6ED538}"/>
              </a:ext>
            </a:extLst>
          </p:cNvPr>
          <p:cNvSpPr/>
          <p:nvPr/>
        </p:nvSpPr>
        <p:spPr>
          <a:xfrm>
            <a:off x="2607013" y="4066162"/>
            <a:ext cx="4124527" cy="1070042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485BE8E-CF06-330F-84A7-636A2BA2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354" y="648119"/>
            <a:ext cx="10018713" cy="1005348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4000" dirty="0">
                <a:effectLst/>
                <a:latin typeface="F29"/>
                <a:ea typeface="Calibri" panose="020F0502020204030204" pitchFamily="34" charset="0"/>
                <a:cs typeface="F29"/>
              </a:rPr>
              <a:t>Becslés a beszúró rendezés minimális futási idejére </a:t>
            </a:r>
            <a:r>
              <a:rPr lang="hu-HU" sz="4000" i="1" dirty="0" err="1">
                <a:effectLst/>
                <a:latin typeface="CMMI12"/>
                <a:ea typeface="Calibri" panose="020F0502020204030204" pitchFamily="34" charset="0"/>
                <a:cs typeface="CMMI12"/>
              </a:rPr>
              <a:t>mT</a:t>
            </a:r>
            <a:r>
              <a:rPr lang="hu-HU" sz="4000" i="1" baseline="-25000" dirty="0" err="1">
                <a:effectLst/>
                <a:latin typeface="CMMI8"/>
                <a:ea typeface="Calibri" panose="020F0502020204030204" pitchFamily="34" charset="0"/>
                <a:cs typeface="CMMI8"/>
              </a:rPr>
              <a:t>IS</a:t>
            </a:r>
            <a:r>
              <a:rPr lang="hu-HU" sz="4000" dirty="0">
                <a:effectLst/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sz="4000" i="1" dirty="0">
                <a:effectLst/>
                <a:latin typeface="CMMI12"/>
                <a:ea typeface="Calibri" panose="020F0502020204030204" pitchFamily="34" charset="0"/>
                <a:cs typeface="CMMI12"/>
              </a:rPr>
              <a:t>n</a:t>
            </a:r>
            <a:r>
              <a:rPr lang="hu-HU" sz="4000" dirty="0">
                <a:effectLst/>
                <a:latin typeface="CMR12"/>
                <a:ea typeface="Calibri" panose="020F0502020204030204" pitchFamily="34" charset="0"/>
                <a:cs typeface="CMR12"/>
              </a:rPr>
              <a:t>) (</a:t>
            </a:r>
            <a:r>
              <a:rPr lang="hu-HU" sz="4000" i="1" dirty="0">
                <a:effectLst/>
                <a:latin typeface="CMMI12"/>
                <a:ea typeface="Calibri" panose="020F0502020204030204" pitchFamily="34" charset="0"/>
                <a:cs typeface="CMMI12"/>
              </a:rPr>
              <a:t>n</a:t>
            </a:r>
            <a:r>
              <a:rPr lang="hu-HU" sz="4000" dirty="0">
                <a:effectLst/>
                <a:latin typeface="CMMI12"/>
                <a:ea typeface="Calibri" panose="020F0502020204030204" pitchFamily="34" charset="0"/>
                <a:cs typeface="CMMI12"/>
              </a:rPr>
              <a:t>: </a:t>
            </a:r>
            <a:r>
              <a:rPr lang="hu-HU" sz="4000" dirty="0">
                <a:effectLst/>
                <a:latin typeface="F29"/>
                <a:ea typeface="Calibri" panose="020F0502020204030204" pitchFamily="34" charset="0"/>
                <a:cs typeface="F29"/>
              </a:rPr>
              <a:t>a rendezendő tömb mérete)</a:t>
            </a:r>
            <a:endParaRPr lang="hu-HU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7CCACA-7DC7-9040-0205-9A4F2B047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750979"/>
            <a:ext cx="6404822" cy="464982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[0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)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 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eleve monoton </a:t>
            </a:r>
            <a:r>
              <a:rPr lang="hu-HU" sz="2000" dirty="0" err="1">
                <a:effectLst/>
                <a:ea typeface="Calibri" panose="020F0502020204030204" pitchFamily="34" charset="0"/>
                <a:cs typeface="F29"/>
              </a:rPr>
              <a:t>növekvően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 rendezett 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Külső ciklus: mindig jobb ág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a typeface="Calibri" panose="020F0502020204030204" pitchFamily="34" charset="0"/>
                <a:cs typeface="F29"/>
              </a:rPr>
              <a:t>B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első ciklus: egyet sem iterál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hu-HU" dirty="0">
              <a:effectLst/>
              <a:ea typeface="Calibri" panose="020F0502020204030204" pitchFamily="34" charset="0"/>
              <a:cs typeface="F29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200" b="1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200" b="1" i="1" baseline="-25000" dirty="0" err="1">
                <a:effectLst/>
                <a:ea typeface="Calibri" panose="020F0502020204030204" pitchFamily="34" charset="0"/>
                <a:cs typeface="CMMI8"/>
              </a:rPr>
              <a:t>IS</a:t>
            </a:r>
            <a:r>
              <a:rPr lang="hu-HU" sz="2200" b="1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200" b="1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200" b="1" dirty="0">
                <a:effectLst/>
                <a:ea typeface="Calibri" panose="020F0502020204030204" pitchFamily="34" charset="0"/>
                <a:cs typeface="CMR12"/>
              </a:rPr>
              <a:t>) = 1 + (</a:t>
            </a:r>
            <a:r>
              <a:rPr lang="hu-HU" sz="2200" b="1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200" b="1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200" b="1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2200" b="1" dirty="0">
                <a:effectLst/>
                <a:ea typeface="Calibri" panose="020F0502020204030204" pitchFamily="34" charset="0"/>
                <a:cs typeface="CMR12"/>
              </a:rPr>
              <a:t>1) = </a:t>
            </a:r>
            <a:r>
              <a:rPr lang="hu-HU" sz="2200" b="1" i="1" dirty="0">
                <a:effectLst/>
                <a:ea typeface="Calibri" panose="020F0502020204030204" pitchFamily="34" charset="0"/>
                <a:cs typeface="CMMI12"/>
              </a:rPr>
              <a:t>n </a:t>
            </a:r>
            <a:r>
              <a:rPr lang="hu-HU" sz="2200" b="1" dirty="0">
                <a:effectLst/>
                <a:ea typeface="Calibri" panose="020F0502020204030204" pitchFamily="34" charset="0"/>
                <a:cs typeface="CMMI12"/>
              </a:rPr>
              <a:t>(</a:t>
            </a:r>
            <a:r>
              <a:rPr lang="en-US" sz="2200" b="1" dirty="0">
                <a:effectLst/>
                <a:cs typeface="CMSY10"/>
              </a:rPr>
              <a:t>∈ </a:t>
            </a:r>
            <a:r>
              <a:rPr lang="en-US" sz="2200" b="1" dirty="0">
                <a:effectLst/>
                <a:cs typeface="CMR12"/>
              </a:rPr>
              <a:t>Θ</a:t>
            </a:r>
            <a:r>
              <a:rPr lang="hu-HU" sz="2200" b="1" dirty="0">
                <a:effectLst/>
                <a:cs typeface="CMR12"/>
              </a:rPr>
              <a:t>(</a:t>
            </a:r>
            <a:r>
              <a:rPr lang="hu-HU" sz="2200" b="1" i="1" dirty="0">
                <a:effectLst/>
                <a:cs typeface="CMMI12"/>
              </a:rPr>
              <a:t>n</a:t>
            </a:r>
            <a:r>
              <a:rPr lang="hu-HU" sz="2200" b="1" dirty="0">
                <a:effectLst/>
                <a:cs typeface="CMR12"/>
              </a:rPr>
              <a:t>)</a:t>
            </a:r>
            <a:r>
              <a:rPr lang="hu-HU" sz="2200" b="1" dirty="0">
                <a:effectLst/>
                <a:ea typeface="Calibri" panose="020F0502020204030204" pitchFamily="34" charset="0"/>
                <a:cs typeface="CMMI12"/>
              </a:rPr>
              <a:t>) </a:t>
            </a: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endParaRPr lang="hu-HU" sz="2200" b="1" dirty="0">
              <a:effectLst/>
              <a:ea typeface="Calibri" panose="020F0502020204030204" pitchFamily="34" charset="0"/>
              <a:cs typeface="CMMI12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a typeface="Calibri" panose="020F0502020204030204" pitchFamily="34" charset="0"/>
                <a:cs typeface="F29"/>
              </a:rPr>
              <a:t>1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 eljáráshívás + a külső ciklus 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1800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1) 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iterációja.</a:t>
            </a:r>
            <a:endParaRPr lang="hu-HU" sz="18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31FC801-872A-479B-5CF9-A7B8EFBA1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164" y="2331710"/>
            <a:ext cx="3706843" cy="346890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029678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09986EE4-FCC1-B04D-63A6-C5A95E7FA0C6}"/>
              </a:ext>
            </a:extLst>
          </p:cNvPr>
          <p:cNvSpPr/>
          <p:nvPr/>
        </p:nvSpPr>
        <p:spPr>
          <a:xfrm>
            <a:off x="3910519" y="5836596"/>
            <a:ext cx="4066162" cy="748558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DDFE30B-86E3-C661-6EE0-B568A7C2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27" y="272846"/>
            <a:ext cx="10018713" cy="1713270"/>
          </a:xfrm>
        </p:spPr>
        <p:txBody>
          <a:bodyPr>
            <a:normAutofit/>
          </a:bodyPr>
          <a:lstStyle/>
          <a:p>
            <a:r>
              <a:rPr lang="hu-HU" dirty="0"/>
              <a:t>Beszúró rendezés maximális futási ideje </a:t>
            </a:r>
            <a:r>
              <a:rPr lang="hu-HU" sz="4000" i="1" dirty="0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4000" i="1" baseline="-25000" dirty="0">
                <a:effectLst/>
                <a:ea typeface="Calibri" panose="020F0502020204030204" pitchFamily="34" charset="0"/>
                <a:cs typeface="CMMI8"/>
              </a:rPr>
              <a:t>IS</a:t>
            </a:r>
            <a:r>
              <a:rPr lang="hu-HU" sz="4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4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4000" dirty="0">
                <a:effectLst/>
                <a:ea typeface="Calibri" panose="020F0502020204030204" pitchFamily="34" charset="0"/>
                <a:cs typeface="CMR12"/>
              </a:rPr>
              <a:t>) (a</a:t>
            </a:r>
            <a:r>
              <a:rPr lang="hu-HU" sz="4000" dirty="0">
                <a:effectLst/>
                <a:ea typeface="Calibri" panose="020F0502020204030204" pitchFamily="34" charset="0"/>
                <a:cs typeface="F29"/>
              </a:rPr>
              <a:t>hol </a:t>
            </a:r>
            <a:r>
              <a:rPr lang="hu-HU" sz="4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4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4000" dirty="0">
                <a:effectLst/>
                <a:ea typeface="Calibri" panose="020F0502020204030204" pitchFamily="34" charset="0"/>
                <a:cs typeface="F29"/>
              </a:rPr>
              <a:t>a rendezendő tömb mérete)</a:t>
            </a:r>
            <a:endParaRPr lang="hu-H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8A1128F-3999-A303-F740-BC6A97513A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858297"/>
                <a:ext cx="10018713" cy="480797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000" dirty="0">
                    <a:ea typeface="Calibri" panose="020F0502020204030204" pitchFamily="34" charset="0"/>
                    <a:cs typeface="CMR12"/>
                  </a:rPr>
                  <a:t> [0</a:t>
                </a:r>
                <a:r>
                  <a:rPr lang="hu-HU" sz="2000" dirty="0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sz="2000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a typeface="Calibri" panose="020F0502020204030204" pitchFamily="34" charset="0"/>
                    <a:cs typeface="CMMI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eleve monoton csökkenően rendezett 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Külső ciklus: mindig bal ág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B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első ciklus: mindig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j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=-1-ig fut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Egy eljáráshívás + a külső ciklus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−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1)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iterációja +</a:t>
                </a:r>
                <a:b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a külső ciklus adott </a:t>
                </a:r>
                <a:r>
                  <a:rPr lang="hu-HU" sz="2000" i="1" dirty="0">
                    <a:effectLst/>
                    <a:cs typeface="CMMI12"/>
                  </a:rPr>
                  <a:t>i</a:t>
                </a:r>
                <a:r>
                  <a:rPr lang="hu-HU" sz="2000" dirty="0">
                    <a:effectLst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értékkel való iterációjakor a belső ciklus maximum </a:t>
                </a:r>
                <a:r>
                  <a:rPr lang="hu-HU" sz="2000" dirty="0">
                    <a:effectLst/>
                    <a:cs typeface="CMR12"/>
                  </a:rPr>
                  <a:t>(</a:t>
                </a:r>
                <a:r>
                  <a:rPr lang="hu-HU" sz="2000" i="1" dirty="0">
                    <a:effectLst/>
                    <a:cs typeface="CMMI12"/>
                  </a:rPr>
                  <a:t>i</a:t>
                </a:r>
                <a:r>
                  <a:rPr lang="en-US" sz="2000" dirty="0">
                    <a:effectLst/>
                    <a:cs typeface="CMSY10"/>
                  </a:rPr>
                  <a:t>−</a:t>
                </a:r>
                <a:r>
                  <a:rPr lang="hu-HU" sz="2000" dirty="0">
                    <a:cs typeface="CMSY10"/>
                  </a:rPr>
                  <a:t>1</a:t>
                </a:r>
                <a:r>
                  <a:rPr lang="hu-HU" sz="2000" dirty="0">
                    <a:effectLst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-szer iterál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i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: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1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-től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-1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-ig fut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a belső ciklus összesen legfeljebb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naryPr>
                      <m:sub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=1</m:t>
                        </m:r>
                      </m:sub>
                      <m:sup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  <m:r>
                          <a:rPr lang="hu-HU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−1</m:t>
                        </m:r>
                      </m:sup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(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−1)</m:t>
                        </m:r>
                      </m:e>
                    </m:nary>
                  </m:oMath>
                </a14:m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MT</a:t>
                </a:r>
                <a:r>
                  <a:rPr lang="hu-HU" sz="1800" i="1" baseline="-25000" dirty="0">
                    <a:effectLst/>
                    <a:ea typeface="Calibri" panose="020F0502020204030204" pitchFamily="34" charset="0"/>
                    <a:cs typeface="F29"/>
                  </a:rPr>
                  <a:t>IS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) = 1 + 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en-US" sz="1800" dirty="0">
                    <a:effectLst/>
                    <a:ea typeface="Calibri" panose="020F0502020204030204" pitchFamily="34" charset="0"/>
                    <a:cs typeface="F29"/>
                  </a:rPr>
                  <a:t>−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1)+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naryPr>
                      <m:sub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=1</m:t>
                        </m:r>
                      </m:sub>
                      <m:sup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  <m:r>
                          <a:rPr lang="hu-HU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−1</m:t>
                        </m:r>
                      </m:sup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(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−1)</m:t>
                        </m:r>
                      </m:e>
                    </m:nary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=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𝑛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+ </m:t>
                    </m:r>
                    <m:nary>
                      <m:naryPr>
                        <m:chr m:val="∑"/>
                        <m:limLoc m:val="subSup"/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naryPr>
                      <m:sub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𝑗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=0</m:t>
                        </m:r>
                      </m:sub>
                      <m:sup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−2</m:t>
                        </m:r>
                      </m:sup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𝑗</m:t>
                        </m:r>
                      </m:e>
                    </m:nary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=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𝑛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+</m:t>
                    </m:r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dPr>
                          <m:e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−1</m:t>
                            </m:r>
                          </m:e>
                        </m:d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∗(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−2)</m:t>
                        </m:r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2</m:t>
                        </m:r>
                      </m:den>
                    </m:f>
                  </m:oMath>
                </a14:m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lvl="1" indent="2236788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1800" b="1" i="1" dirty="0">
                    <a:effectLst/>
                    <a:ea typeface="Calibri" panose="020F0502020204030204" pitchFamily="34" charset="0"/>
                    <a:cs typeface="F29"/>
                  </a:rPr>
                  <a:t>MT</a:t>
                </a:r>
                <a:r>
                  <a:rPr lang="hu-HU" sz="1800" b="1" i="1" baseline="-25000" dirty="0">
                    <a:effectLst/>
                    <a:ea typeface="Calibri" panose="020F0502020204030204" pitchFamily="34" charset="0"/>
                    <a:cs typeface="F29"/>
                  </a:rPr>
                  <a:t>IS</a:t>
                </a:r>
                <a:r>
                  <a:rPr lang="hu-HU" sz="1800" b="1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1800" b="1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1800" b="1" dirty="0">
                    <a:effectLst/>
                    <a:ea typeface="Calibri" panose="020F0502020204030204" pitchFamily="34" charset="0"/>
                    <a:cs typeface="F29"/>
                  </a:rPr>
                  <a:t>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fPr>
                      <m:num>
                        <m:r>
                          <a:rPr lang="hu-H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𝟏</m:t>
                        </m:r>
                      </m:num>
                      <m:den>
                        <m:r>
                          <a:rPr lang="hu-H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𝟐</m:t>
                        </m:r>
                      </m:den>
                    </m:f>
                    <m:r>
                      <a:rPr lang="hu-H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sSup>
                      <m:sSupPr>
                        <m:ctrlPr>
                          <a:rPr lang="hu-H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pPr>
                      <m:e>
                        <m:r>
                          <a:rPr lang="hu-H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𝒏</m:t>
                        </m:r>
                      </m:e>
                      <m:sup>
                        <m:r>
                          <a:rPr lang="hu-H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𝟐</m:t>
                        </m:r>
                      </m:sup>
                    </m:sSup>
                    <m:r>
                      <a:rPr lang="hu-H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− </m:t>
                    </m:r>
                    <m:f>
                      <m:fPr>
                        <m:ctrlPr>
                          <a:rPr lang="hu-H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fPr>
                      <m:num>
                        <m:r>
                          <a:rPr lang="hu-H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𝟏</m:t>
                        </m:r>
                      </m:num>
                      <m:den>
                        <m:r>
                          <a:rPr lang="hu-H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𝟐</m:t>
                        </m:r>
                      </m:den>
                    </m:f>
                    <m:r>
                      <a:rPr lang="hu-H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𝒏</m:t>
                    </m:r>
                    <m:r>
                      <a:rPr lang="hu-H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+</m:t>
                    </m:r>
                    <m:r>
                      <a:rPr lang="hu-H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𝟏</m:t>
                    </m:r>
                  </m:oMath>
                </a14:m>
                <a:r>
                  <a:rPr lang="hu-HU" sz="18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(</a:t>
                </a:r>
                <a:r>
                  <a:rPr lang="en-US" b="1" dirty="0"/>
                  <a:t>∈ Θ</a:t>
                </a:r>
                <a:r>
                  <a:rPr lang="hu-HU" b="1" dirty="0"/>
                  <a:t>(</a:t>
                </a:r>
                <a:r>
                  <a:rPr lang="hu-HU" b="1" i="1" dirty="0"/>
                  <a:t>n</a:t>
                </a:r>
                <a:r>
                  <a:rPr lang="hu-HU" b="1" baseline="30000" dirty="0"/>
                  <a:t>2</a:t>
                </a:r>
                <a:r>
                  <a:rPr lang="hu-HU" b="1" dirty="0"/>
                  <a:t>)</a:t>
                </a:r>
                <a:r>
                  <a:rPr lang="hu-HU" sz="18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8A1128F-3999-A303-F740-BC6A97513A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858297"/>
                <a:ext cx="10018713" cy="4807974"/>
              </a:xfrm>
              <a:blipFill>
                <a:blip r:embed="rId2"/>
                <a:stretch>
                  <a:fillRect l="-115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Kép 3">
            <a:extLst>
              <a:ext uri="{FF2B5EF4-FFF2-40B4-BE49-F238E27FC236}">
                <a16:creationId xmlns:a16="http://schemas.microsoft.com/office/drawing/2014/main" id="{7D1B7702-8923-BB46-E633-FE1F3FBE2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850" y="4388963"/>
            <a:ext cx="2346832" cy="219619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781109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C4CC8BC3-22F6-AC0A-99F4-716B0A88EA4D}"/>
              </a:ext>
            </a:extLst>
          </p:cNvPr>
          <p:cNvSpPr/>
          <p:nvPr/>
        </p:nvSpPr>
        <p:spPr>
          <a:xfrm>
            <a:off x="3941269" y="5564223"/>
            <a:ext cx="2595718" cy="74903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EB24B7F-9CBC-65EB-0540-70B05E6922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1" y="1588168"/>
                <a:ext cx="7105212" cy="5101389"/>
              </a:xfrm>
            </p:spPr>
            <p:txBody>
              <a:bodyPr>
                <a:normAutofit/>
              </a:bodyPr>
              <a:lstStyle/>
              <a:p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Probléma: </a:t>
                </a:r>
              </a:p>
              <a:p>
                <a:pPr lvl="1"/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nem ismerjük az input sorozatok eloszlását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hu-HU" dirty="0" err="1">
                    <a:effectLst/>
                    <a:ea typeface="Calibri" panose="020F0502020204030204" pitchFamily="34" charset="0"/>
                    <a:cs typeface="F29"/>
                  </a:rPr>
                  <a:t>Véletlenített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input sorozat esetén</a:t>
                </a:r>
              </a:p>
              <a:p>
                <a:pPr lvl="1"/>
                <a:r>
                  <a:rPr lang="hu-HU" sz="18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Beszúrásnál átlagosan az elemek fele &gt; a beszúrandó elemnél: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 dirty="0">
                    <a:effectLst/>
                    <a:ea typeface="Calibri" panose="020F0502020204030204" pitchFamily="34" charset="0"/>
                    <a:cs typeface="CMR12"/>
                  </a:rPr>
                  <a:t>AT</a:t>
                </a:r>
                <a:r>
                  <a:rPr lang="hu-HU" sz="1800" i="1" baseline="-25000" dirty="0">
                    <a:effectLst/>
                    <a:ea typeface="Calibri" panose="020F0502020204030204" pitchFamily="34" charset="0"/>
                    <a:cs typeface="CMR12"/>
                  </a:rPr>
                  <a:t>IS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R12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14:m>
                  <m:oMath xmlns:m="http://schemas.openxmlformats.org/officeDocument/2006/math"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≈</m:t>
                    </m:r>
                  </m:oMath>
                </a14:m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 1 + 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R12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sz="1800" dirty="0">
                    <a:effectLst/>
                    <a:ea typeface="CMR12"/>
                    <a:cs typeface="CMR12"/>
                  </a:rPr>
                  <a:t>−</a:t>
                </a:r>
                <a:r>
                  <a:rPr lang="en-US" sz="18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1)+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naryPr>
                      <m:sub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𝑖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=1</m:t>
                        </m:r>
                      </m:sub>
                      <m:sup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  <m:r>
                          <a:rPr lang="hu-HU" sz="1800" b="0" i="1" smtClean="0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−1</m:t>
                        </m:r>
                      </m:sup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(</m:t>
                        </m:r>
                        <m:f>
                          <m:fPr>
                            <m:ctrlP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fPr>
                          <m:num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𝑖</m:t>
                            </m:r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−1</m:t>
                            </m:r>
                          </m:num>
                          <m:den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2</m:t>
                            </m:r>
                          </m:den>
                        </m:f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)</m:t>
                        </m:r>
                      </m:e>
                    </m:nary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=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𝑛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+</m:t>
                    </m:r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1</m:t>
                        </m:r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2</m:t>
                        </m:r>
                      </m:den>
                    </m:f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∗</m:t>
                    </m:r>
                    <m:nary>
                      <m:naryPr>
                        <m:chr m:val="∑"/>
                        <m:limLoc m:val="subSup"/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naryPr>
                      <m:sub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𝑗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=0</m:t>
                        </m:r>
                      </m:sub>
                      <m:sup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−2</m:t>
                        </m:r>
                      </m:sup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𝑗</m:t>
                        </m:r>
                      </m:e>
                    </m:nary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=</m:t>
                    </m:r>
                  </m:oMath>
                </a14:m>
                <a:endParaRPr lang="hu-HU" sz="1800" i="1" dirty="0">
                  <a:effectLst/>
                  <a:ea typeface="CMR12"/>
                  <a:cs typeface="CMR12"/>
                </a:endParaRPr>
              </a:p>
              <a:p>
                <a:pPr marL="457200" lvl="1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1800" i="1" dirty="0">
                    <a:ea typeface="CMR12"/>
                    <a:cs typeface="CMR12"/>
                  </a:rPr>
                  <a:t>	</a:t>
                </a:r>
                <a:r>
                  <a:rPr lang="hu-HU" sz="1800" dirty="0">
                    <a:ea typeface="CMR12"/>
                    <a:cs typeface="CMR12"/>
                  </a:rPr>
                  <a:t> </a:t>
                </a:r>
                <a14:m>
                  <m:oMath xmlns:m="http://schemas.openxmlformats.org/officeDocument/2006/math">
                    <m:r>
                      <a:rPr lang="hu-HU" sz="1800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=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𝑛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+</m:t>
                    </m:r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1</m:t>
                        </m:r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2</m:t>
                        </m:r>
                      </m:den>
                    </m:f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∗</m:t>
                    </m:r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dPr>
                          <m:e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𝑛</m:t>
                            </m:r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−1</m:t>
                            </m:r>
                          </m:e>
                        </m:d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∗</m:t>
                        </m:r>
                        <m:d>
                          <m:dPr>
                            <m:ctrlP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dPr>
                          <m:e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𝑛</m:t>
                            </m:r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−2</m:t>
                            </m:r>
                          </m:e>
                        </m:d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2</m:t>
                        </m:r>
                      </m:den>
                    </m:f>
                  </m:oMath>
                </a14:m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14:m>
                  <m:oMath xmlns:m="http://schemas.openxmlformats.org/officeDocument/2006/math">
                    <m:r>
                      <a:rPr lang="hu-HU" sz="1800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=</m:t>
                    </m:r>
                  </m:oMath>
                </a14:m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1</m:t>
                        </m:r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4</m:t>
                        </m:r>
                      </m:den>
                    </m:f>
                  </m:oMath>
                </a14:m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14:m>
                  <m:oMath xmlns:m="http://schemas.openxmlformats.org/officeDocument/2006/math"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𝑛</m:t>
                    </m:r>
                  </m:oMath>
                </a14:m>
                <a:r>
                  <a:rPr lang="hu-HU" sz="1800" baseline="30000" dirty="0">
                    <a:effectLst/>
                    <a:ea typeface="Calibri" panose="020F0502020204030204" pitchFamily="34" charset="0"/>
                    <a:cs typeface="CMMI12"/>
                  </a:rPr>
                  <a:t>2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1</m:t>
                        </m:r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4</m:t>
                        </m:r>
                      </m:den>
                    </m:f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 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𝑛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+ </m:t>
                    </m:r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1</m:t>
                        </m:r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2</m:t>
                        </m:r>
                      </m:den>
                    </m:f>
                  </m:oMath>
                </a14:m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hu-HU" sz="1800" b="1" i="1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b="1" i="1" dirty="0">
                    <a:ea typeface="Calibri" panose="020F0502020204030204" pitchFamily="34" charset="0"/>
                    <a:cs typeface="CMR12"/>
                  </a:rPr>
                  <a:t>AT</a:t>
                </a:r>
                <a:r>
                  <a:rPr lang="hu-HU" b="1" i="1" baseline="-25000" dirty="0">
                    <a:ea typeface="Calibri" panose="020F0502020204030204" pitchFamily="34" charset="0"/>
                    <a:cs typeface="CMR12"/>
                  </a:rPr>
                  <a:t>IS</a:t>
                </a:r>
                <a:r>
                  <a:rPr lang="hu-HU" b="1" dirty="0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b="1" i="1" dirty="0">
                    <a:ea typeface="Calibri" panose="020F0502020204030204" pitchFamily="34" charset="0"/>
                    <a:cs typeface="CMR12"/>
                  </a:rPr>
                  <a:t>n</a:t>
                </a:r>
                <a:r>
                  <a:rPr lang="hu-HU" b="1" dirty="0">
                    <a:ea typeface="Calibri" panose="020F0502020204030204" pitchFamily="34" charset="0"/>
                    <a:cs typeface="CMR12"/>
                  </a:rPr>
                  <a:t>) </a:t>
                </a:r>
                <a14:m>
                  <m:oMath xmlns:m="http://schemas.openxmlformats.org/officeDocument/2006/math">
                    <m:r>
                      <a:rPr lang="hu-HU" b="1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≈ </m:t>
                    </m:r>
                    <m:f>
                      <m:fPr>
                        <m:ctrlPr>
                          <a:rPr lang="hu-HU" b="1" i="1" smtClean="0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b="1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𝟏</m:t>
                        </m:r>
                      </m:num>
                      <m:den>
                        <m:r>
                          <a:rPr lang="hu-HU" b="1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𝟒</m:t>
                        </m:r>
                      </m:den>
                    </m:f>
                    <m:r>
                      <a:rPr lang="hu-HU" b="1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𝒏</m:t>
                    </m:r>
                  </m:oMath>
                </a14:m>
                <a:r>
                  <a:rPr lang="hu-HU" b="1" baseline="30000" dirty="0">
                    <a:ea typeface="Calibri" panose="020F0502020204030204" pitchFamily="34" charset="0"/>
                    <a:cs typeface="CMMI12"/>
                  </a:rPr>
                  <a:t>2 </a:t>
                </a:r>
                <a:r>
                  <a:rPr lang="en-US" sz="2400" b="1" dirty="0"/>
                  <a:t>∈ </a:t>
                </a:r>
                <a:r>
                  <a:rPr lang="en-US" b="1" dirty="0"/>
                  <a:t>Θ</a:t>
                </a:r>
                <a:r>
                  <a:rPr lang="hu-HU" b="1" dirty="0"/>
                  <a:t>(</a:t>
                </a:r>
                <a:r>
                  <a:rPr lang="hu-HU" b="1" i="1" dirty="0"/>
                  <a:t>n</a:t>
                </a:r>
                <a:r>
                  <a:rPr lang="hu-HU" b="1" baseline="30000" dirty="0"/>
                  <a:t>2</a:t>
                </a:r>
                <a:r>
                  <a:rPr lang="hu-HU" b="1" dirty="0"/>
                  <a:t>)</a:t>
                </a:r>
                <a:endParaRPr lang="hu-HU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EB24B7F-9CBC-65EB-0540-70B05E6922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1" y="1588168"/>
                <a:ext cx="7105212" cy="5101389"/>
              </a:xfrm>
              <a:blipFill>
                <a:blip r:embed="rId2"/>
                <a:stretch>
                  <a:fillRect l="-214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0788E72D-1D60-4876-63C3-6EBD7E48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hu-HU" dirty="0"/>
              <a:t>Beszúró rendezés átlagos futási ideje </a:t>
            </a:r>
            <a:br>
              <a:rPr lang="hu-HU" i="1" dirty="0"/>
            </a:br>
            <a:r>
              <a:rPr lang="hu-HU" sz="4000" i="1" dirty="0">
                <a:effectLst/>
                <a:ea typeface="Calibri" panose="020F0502020204030204" pitchFamily="34" charset="0"/>
                <a:cs typeface="CMMI12"/>
              </a:rPr>
              <a:t>AT</a:t>
            </a:r>
            <a:r>
              <a:rPr lang="hu-HU" sz="4000" i="1" baseline="-25000" dirty="0">
                <a:effectLst/>
                <a:ea typeface="Calibri" panose="020F0502020204030204" pitchFamily="34" charset="0"/>
                <a:cs typeface="CMMI8"/>
              </a:rPr>
              <a:t>IS</a:t>
            </a:r>
            <a:r>
              <a:rPr lang="hu-HU" sz="4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4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4000" dirty="0">
                <a:effectLst/>
                <a:ea typeface="Calibri" panose="020F0502020204030204" pitchFamily="34" charset="0"/>
                <a:cs typeface="CMR12"/>
              </a:rPr>
              <a:t>) (a</a:t>
            </a:r>
            <a:r>
              <a:rPr lang="hu-HU" sz="4000" dirty="0">
                <a:effectLst/>
                <a:ea typeface="Calibri" panose="020F0502020204030204" pitchFamily="34" charset="0"/>
                <a:cs typeface="F29"/>
              </a:rPr>
              <a:t>hol </a:t>
            </a:r>
            <a:r>
              <a:rPr lang="hu-HU" sz="4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4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4000" dirty="0">
                <a:effectLst/>
                <a:ea typeface="Calibri" panose="020F0502020204030204" pitchFamily="34" charset="0"/>
                <a:cs typeface="F29"/>
              </a:rPr>
              <a:t>a rendezendő tömb mérete)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E4B3BB2-1C2C-1668-92F4-CDC4C5A8E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984" y="2744845"/>
            <a:ext cx="3087146" cy="288898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652970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8EF-B3D3-4580-C025-B45F56DC4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84A449AF-1B73-E2C8-6B13-BE96FC039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88168"/>
            <a:ext cx="10018713" cy="5101389"/>
          </a:xfrm>
        </p:spPr>
        <p:txBody>
          <a:bodyPr>
            <a:normAutofit/>
          </a:bodyPr>
          <a:lstStyle/>
          <a:p>
            <a:r>
              <a:rPr lang="hu-HU" sz="2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Előrendezett inputok esetén:  lineáris időben </a:t>
            </a:r>
            <a:r>
              <a:rPr lang="hu-HU" sz="2100" dirty="0">
                <a:ea typeface="Calibri" panose="020F0502020204030204" pitchFamily="34" charset="0"/>
                <a:cs typeface="Times New Roman" panose="02020603050405020304" pitchFamily="18" charset="0"/>
              </a:rPr>
              <a:t>tudunk rendezni ~ </a:t>
            </a:r>
            <a:r>
              <a:rPr lang="hu-HU" sz="2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optimális</a:t>
            </a:r>
          </a:p>
          <a:p>
            <a:pPr lvl="1"/>
            <a:r>
              <a:rPr lang="hu-HU" sz="17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Monoton </a:t>
            </a:r>
            <a:r>
              <a:rPr lang="hu-HU" sz="1700" dirty="0" err="1"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17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övekvően</a:t>
            </a:r>
            <a:r>
              <a:rPr lang="hu-HU" sz="17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előrendezett inputok:</a:t>
            </a:r>
          </a:p>
          <a:p>
            <a:pPr lvl="2"/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az input sorozat elemeinek a rendezés utáni helyüktől való távolsága:</a:t>
            </a:r>
          </a:p>
          <a:p>
            <a:pPr lvl="3"/>
            <a:r>
              <a:rPr lang="hu-HU" sz="1300" i="1" dirty="0">
                <a:effectLst/>
                <a:cs typeface="CMMI12"/>
              </a:rPr>
              <a:t>n</a:t>
            </a:r>
            <a:r>
              <a:rPr lang="hu-HU" sz="1300" dirty="0">
                <a:effectLst/>
                <a:cs typeface="CMMI12"/>
              </a:rPr>
              <a:t> </a:t>
            </a:r>
            <a:r>
              <a:rPr lang="hu-HU" sz="1300" dirty="0">
                <a:effectLst/>
                <a:ea typeface="Calibri" panose="020F0502020204030204" pitchFamily="34" charset="0"/>
                <a:cs typeface="F29"/>
              </a:rPr>
              <a:t>-</a:t>
            </a:r>
            <a:r>
              <a:rPr lang="hu-HU" sz="1300" dirty="0" err="1">
                <a:effectLst/>
                <a:ea typeface="Calibri" panose="020F0502020204030204" pitchFamily="34" charset="0"/>
                <a:cs typeface="F29"/>
              </a:rPr>
              <a:t>től</a:t>
            </a:r>
            <a:r>
              <a:rPr lang="hu-HU" sz="1300" dirty="0">
                <a:effectLst/>
                <a:ea typeface="Calibri" panose="020F0502020204030204" pitchFamily="34" charset="0"/>
                <a:cs typeface="F29"/>
              </a:rPr>
              <a:t> független </a:t>
            </a:r>
            <a:r>
              <a:rPr lang="hu-HU" sz="1300" i="1" dirty="0">
                <a:effectLst/>
                <a:cs typeface="CMMI12"/>
              </a:rPr>
              <a:t>k</a:t>
            </a:r>
            <a:r>
              <a:rPr lang="hu-HU" sz="1300" dirty="0">
                <a:effectLst/>
                <a:cs typeface="CMMI12"/>
              </a:rPr>
              <a:t> </a:t>
            </a:r>
            <a:r>
              <a:rPr lang="hu-HU" sz="1300" dirty="0">
                <a:effectLst/>
                <a:ea typeface="Calibri" panose="020F0502020204030204" pitchFamily="34" charset="0"/>
                <a:cs typeface="F29"/>
              </a:rPr>
              <a:t>konstanssal </a:t>
            </a:r>
            <a:r>
              <a:rPr lang="hu-HU" sz="1300" dirty="0" err="1">
                <a:effectLst/>
                <a:ea typeface="Calibri" panose="020F0502020204030204" pitchFamily="34" charset="0"/>
                <a:cs typeface="F29"/>
              </a:rPr>
              <a:t>felülről</a:t>
            </a:r>
            <a:r>
              <a:rPr lang="hu-HU" sz="1300" dirty="0">
                <a:effectLst/>
                <a:ea typeface="Calibri" panose="020F0502020204030204" pitchFamily="34" charset="0"/>
                <a:cs typeface="F29"/>
              </a:rPr>
              <a:t> becsülhető</a:t>
            </a:r>
            <a:endParaRPr lang="hu-HU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/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a végső pozíciójuktól távolabb lévő elemek száma:</a:t>
            </a:r>
          </a:p>
          <a:p>
            <a:pPr lvl="3"/>
            <a:r>
              <a:rPr lang="hu-HU" sz="1300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1300" i="1" dirty="0">
                <a:effectLst/>
                <a:cs typeface="CMMI12"/>
              </a:rPr>
              <a:t>n</a:t>
            </a:r>
            <a:r>
              <a:rPr lang="hu-HU" sz="1300" dirty="0">
                <a:effectLst/>
                <a:cs typeface="CMMI12"/>
              </a:rPr>
              <a:t> </a:t>
            </a:r>
            <a:r>
              <a:rPr lang="hu-HU" sz="1300" dirty="0">
                <a:effectLst/>
                <a:ea typeface="Calibri" panose="020F0502020204030204" pitchFamily="34" charset="0"/>
                <a:cs typeface="F29"/>
              </a:rPr>
              <a:t>-</a:t>
            </a:r>
            <a:r>
              <a:rPr lang="hu-HU" sz="1300" dirty="0" err="1">
                <a:effectLst/>
                <a:ea typeface="Calibri" panose="020F0502020204030204" pitchFamily="34" charset="0"/>
                <a:cs typeface="F29"/>
              </a:rPr>
              <a:t>től</a:t>
            </a:r>
            <a:r>
              <a:rPr lang="hu-HU" sz="1300" dirty="0">
                <a:effectLst/>
                <a:ea typeface="Calibri" panose="020F0502020204030204" pitchFamily="34" charset="0"/>
                <a:cs typeface="F29"/>
              </a:rPr>
              <a:t> független </a:t>
            </a:r>
            <a:r>
              <a:rPr lang="hu-HU" sz="1300" i="1" dirty="0">
                <a:effectLst/>
                <a:cs typeface="CMMI12"/>
              </a:rPr>
              <a:t>s</a:t>
            </a:r>
            <a:r>
              <a:rPr lang="hu-HU" sz="1300" dirty="0">
                <a:effectLst/>
                <a:cs typeface="CMMI12"/>
              </a:rPr>
              <a:t> </a:t>
            </a:r>
            <a:r>
              <a:rPr lang="hu-HU" sz="1300" dirty="0">
                <a:effectLst/>
                <a:ea typeface="CMMI12"/>
                <a:cs typeface="F29"/>
              </a:rPr>
              <a:t>konstanssal </a:t>
            </a:r>
            <a:r>
              <a:rPr lang="hu-HU" sz="1300" dirty="0" err="1">
                <a:effectLst/>
                <a:ea typeface="CMMI12"/>
                <a:cs typeface="F29"/>
              </a:rPr>
              <a:t>felülről</a:t>
            </a:r>
            <a:r>
              <a:rPr lang="hu-HU" sz="1300" dirty="0">
                <a:effectLst/>
                <a:ea typeface="CMMI12"/>
                <a:cs typeface="F29"/>
              </a:rPr>
              <a:t> becsülhető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sz="1500" dirty="0">
                <a:ea typeface="Calibri" panose="020F0502020204030204" pitchFamily="34" charset="0"/>
                <a:cs typeface="Times New Roman" panose="02020603050405020304" pitchFamily="18" charset="0"/>
              </a:rPr>
              <a:t>Belső ciklus futási ideje </a:t>
            </a:r>
            <a:r>
              <a:rPr lang="hu-HU" sz="1500" dirty="0" err="1">
                <a:ea typeface="Calibri" panose="020F0502020204030204" pitchFamily="34" charset="0"/>
                <a:cs typeface="Times New Roman" panose="02020603050405020304" pitchFamily="18" charset="0"/>
              </a:rPr>
              <a:t>max</a:t>
            </a:r>
            <a:r>
              <a:rPr lang="hu-HU" sz="1500" dirty="0">
                <a:ea typeface="Calibri" panose="020F0502020204030204" pitchFamily="34" charset="0"/>
                <a:cs typeface="Times New Roman" panose="02020603050405020304" pitchFamily="18" charset="0"/>
              </a:rPr>
              <a:t>. (</a:t>
            </a:r>
            <a:r>
              <a:rPr lang="hu-HU" sz="15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hu-HU" sz="1500" dirty="0" err="1"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hu-HU" sz="15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hu-HU" sz="1500" dirty="0">
                <a:ea typeface="Calibri" panose="020F0502020204030204" pitchFamily="34" charset="0"/>
                <a:cs typeface="Times New Roman" panose="02020603050405020304" pitchFamily="18" charset="0"/>
              </a:rPr>
              <a:t>)*</a:t>
            </a:r>
            <a:r>
              <a:rPr lang="hu-HU" sz="1500" i="1" dirty="0"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sz="1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Műveletigény: Lineáris (</a:t>
            </a:r>
            <a:r>
              <a:rPr lang="en-US" sz="1400" dirty="0"/>
              <a:t>Θ</a:t>
            </a:r>
            <a:r>
              <a:rPr lang="hu-HU" sz="1400" dirty="0"/>
              <a:t>(</a:t>
            </a:r>
            <a:r>
              <a:rPr lang="hu-HU" sz="1400" i="1" dirty="0"/>
              <a:t>n</a:t>
            </a:r>
            <a:r>
              <a:rPr lang="hu-HU" sz="1400" dirty="0"/>
              <a:t>)</a:t>
            </a:r>
            <a:r>
              <a:rPr lang="hu-HU" sz="1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lvl="1"/>
            <a:r>
              <a:rPr lang="hu-HU" sz="1700" dirty="0">
                <a:ea typeface="Calibri" panose="020F0502020204030204" pitchFamily="34" charset="0"/>
                <a:cs typeface="Times New Roman" panose="02020603050405020304" pitchFamily="18" charset="0"/>
              </a:rPr>
              <a:t>Monoton csökkenően előrendezett inputok:</a:t>
            </a:r>
          </a:p>
          <a:p>
            <a:pPr lvl="2"/>
            <a:r>
              <a:rPr lang="hu-HU" sz="1500" dirty="0"/>
              <a:t>Műveletigény: közelít a legrosszabb esethez</a:t>
            </a:r>
          </a:p>
          <a:p>
            <a:pPr lvl="2"/>
            <a:r>
              <a:rPr lang="hu-HU" sz="1500" i="1" dirty="0"/>
              <a:t>n</a:t>
            </a:r>
            <a:r>
              <a:rPr lang="hu-HU" sz="1500" b="0" i="0" u="none" strike="noStrike" baseline="0" dirty="0"/>
              <a:t> milliós (v. &gt;) nagyságrendű </a:t>
            </a:r>
            <a:r>
              <a:rPr lang="hu-HU" sz="1500" dirty="0"/>
              <a:t>–&gt;</a:t>
            </a:r>
            <a:r>
              <a:rPr lang="hu-HU" sz="1500" b="0" i="0" u="none" strike="noStrike" baseline="0" dirty="0"/>
              <a:t> nagyon hosszú futási idő </a:t>
            </a:r>
            <a:r>
              <a:rPr lang="hu-HU" sz="1500" dirty="0"/>
              <a:t>–&gt;</a:t>
            </a:r>
            <a:r>
              <a:rPr lang="hu-HU" sz="1500" b="0" i="0" u="none" strike="noStrike" baseline="0" dirty="0"/>
              <a:t> használhatatlan</a:t>
            </a:r>
            <a:endParaRPr lang="hu-HU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/>
            <a:r>
              <a:rPr lang="hu-HU" sz="1500" dirty="0">
                <a:ea typeface="Calibri" panose="020F0502020204030204" pitchFamily="34" charset="0"/>
                <a:cs typeface="Times New Roman" panose="02020603050405020304" pitchFamily="18" charset="0"/>
              </a:rPr>
              <a:t>Ha ezt tudjuk: Fordítsuk meg a sorozatot (</a:t>
            </a:r>
            <a:r>
              <a:rPr lang="en-US" sz="1600" dirty="0"/>
              <a:t>Θ</a:t>
            </a:r>
            <a:r>
              <a:rPr lang="hu-HU" sz="1600" dirty="0"/>
              <a:t>(</a:t>
            </a:r>
            <a:r>
              <a:rPr lang="hu-HU" sz="1600" i="1" dirty="0"/>
              <a:t>n</a:t>
            </a:r>
            <a:r>
              <a:rPr lang="hu-HU" sz="1600" dirty="0"/>
              <a:t>)</a:t>
            </a:r>
            <a:r>
              <a:rPr lang="hu-HU" sz="1500" dirty="0">
                <a:ea typeface="Calibri" panose="020F0502020204030204" pitchFamily="34" charset="0"/>
                <a:cs typeface="Times New Roman" panose="02020603050405020304" pitchFamily="18" charset="0"/>
              </a:rPr>
              <a:t>) =&gt; monoton </a:t>
            </a:r>
            <a:r>
              <a:rPr lang="hu-HU" sz="1500" dirty="0" err="1">
                <a:ea typeface="Calibri" panose="020F0502020204030204" pitchFamily="34" charset="0"/>
                <a:cs typeface="Times New Roman" panose="02020603050405020304" pitchFamily="18" charset="0"/>
              </a:rPr>
              <a:t>növekvően</a:t>
            </a:r>
            <a:r>
              <a:rPr lang="hu-HU" sz="1500" dirty="0">
                <a:ea typeface="Calibri" panose="020F0502020204030204" pitchFamily="34" charset="0"/>
                <a:cs typeface="Times New Roman" panose="02020603050405020304" pitchFamily="18" charset="0"/>
              </a:rPr>
              <a:t> előrendezett sorozat lesz.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554A46E-C03F-466C-F0C9-AD925D51B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hu-HU" dirty="0"/>
              <a:t>Beszúró rendezés átlagos futási ideje </a:t>
            </a:r>
            <a:br>
              <a:rPr lang="hu-HU" i="1" dirty="0"/>
            </a:br>
            <a:r>
              <a:rPr lang="hu-HU" sz="4000" i="1" dirty="0">
                <a:effectLst/>
                <a:ea typeface="Calibri" panose="020F0502020204030204" pitchFamily="34" charset="0"/>
                <a:cs typeface="CMMI12"/>
              </a:rPr>
              <a:t>AT</a:t>
            </a:r>
            <a:r>
              <a:rPr lang="hu-HU" sz="4000" i="1" baseline="-25000" dirty="0">
                <a:effectLst/>
                <a:ea typeface="Calibri" panose="020F0502020204030204" pitchFamily="34" charset="0"/>
                <a:cs typeface="CMMI8"/>
              </a:rPr>
              <a:t>IS</a:t>
            </a:r>
            <a:r>
              <a:rPr lang="hu-HU" sz="4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4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4000" dirty="0">
                <a:effectLst/>
                <a:ea typeface="Calibri" panose="020F0502020204030204" pitchFamily="34" charset="0"/>
                <a:cs typeface="CMR12"/>
              </a:rPr>
              <a:t>) (a</a:t>
            </a:r>
            <a:r>
              <a:rPr lang="hu-HU" sz="4000" dirty="0">
                <a:effectLst/>
                <a:ea typeface="Calibri" panose="020F0502020204030204" pitchFamily="34" charset="0"/>
                <a:cs typeface="F29"/>
              </a:rPr>
              <a:t>hol </a:t>
            </a:r>
            <a:r>
              <a:rPr lang="hu-HU" sz="4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4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4000" dirty="0">
                <a:effectLst/>
                <a:ea typeface="Calibri" panose="020F0502020204030204" pitchFamily="34" charset="0"/>
                <a:cs typeface="F29"/>
              </a:rPr>
              <a:t>a rendezendő tömb mérete)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44673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2E6F4B-CC45-AB4F-7280-ECA62E844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Beszúró rendezés műveletigénye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9CF0B5-FFBF-C815-F08E-4C23D0FE0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 descr="A képen szöveg, Betűtípus, képernyőkép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14AC92A-7D0A-403B-673F-121B87919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110" y="3106614"/>
            <a:ext cx="7865112" cy="268458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899433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9E72A3-2883-2C50-EEFC-6284B52E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571" y="598538"/>
            <a:ext cx="10018713" cy="936523"/>
          </a:xfrm>
        </p:spPr>
        <p:txBody>
          <a:bodyPr/>
          <a:lstStyle/>
          <a:p>
            <a:r>
              <a:rPr lang="hu-HU" dirty="0"/>
              <a:t>A</a:t>
            </a:r>
            <a:r>
              <a:rPr lang="hu-HU" sz="1800" b="0" i="0" u="none" strike="noStrike" baseline="0" dirty="0">
                <a:latin typeface="F83"/>
              </a:rPr>
              <a:t> </a:t>
            </a:r>
            <a:r>
              <a:rPr lang="hu-HU" dirty="0"/>
              <a:t>futási időkre vonatkozó becslések*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93C06BA-25C8-808B-5CAF-15AABFA3C8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066800"/>
                <a:ext cx="10018713" cy="546181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 dirty="0" err="1">
                    <a:effectLst/>
                    <a:ea typeface="Calibri" panose="020F0502020204030204" pitchFamily="34" charset="0"/>
                    <a:cs typeface="CMMI12"/>
                  </a:rPr>
                  <a:t>MrT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és </a:t>
                </a:r>
                <a:r>
                  <a:rPr lang="hu-HU" sz="1800" i="1" dirty="0" err="1">
                    <a:effectLst/>
                    <a:ea typeface="Calibri" panose="020F0502020204030204" pitchFamily="34" charset="0"/>
                    <a:cs typeface="CMMI12"/>
                  </a:rPr>
                  <a:t>mrT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): </a:t>
                </a:r>
                <a:r>
                  <a:rPr lang="hu-HU" sz="1800" dirty="0" err="1">
                    <a:effectLst/>
                    <a:ea typeface="Calibri" panose="020F0502020204030204" pitchFamily="34" charset="0"/>
                    <a:cs typeface="F29"/>
                  </a:rPr>
                  <a:t>insertionSort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 : </a:t>
                </a:r>
                <a14:m>
                  <m:oMath xmlns:m="http://schemas.openxmlformats.org/officeDocument/2006/math"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𝒯</m:t>
                    </m:r>
                  </m:oMath>
                </a14:m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[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]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)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tényleges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maximális és minimális futási ideje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Becslés a minimális futási időre (</a:t>
                </a:r>
                <a:r>
                  <a:rPr lang="hu-HU" sz="1800" i="1" dirty="0" err="1">
                    <a:effectLst/>
                    <a:ea typeface="Calibri" panose="020F0502020204030204" pitchFamily="34" charset="0"/>
                    <a:cs typeface="CMMI12"/>
                  </a:rPr>
                  <a:t>mrT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Ha a fő ciklus minden elemet a végső helyén talál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400" dirty="0">
                    <a:effectLst/>
                    <a:ea typeface="Calibri" panose="020F0502020204030204" pitchFamily="34" charset="0"/>
                    <a:cs typeface="F29"/>
                  </a:rPr>
                  <a:t> mindig a jobb oldali ágon fut le</a:t>
                </a:r>
                <a:endParaRPr lang="hu-H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400" dirty="0">
                    <a:effectLst/>
                    <a:ea typeface="Calibri" panose="020F0502020204030204" pitchFamily="34" charset="0"/>
                    <a:cs typeface="F29"/>
                  </a:rPr>
                  <a:t>ha a tömb már eleve monoton </a:t>
                </a:r>
                <a:r>
                  <a:rPr lang="hu-HU" sz="1400" dirty="0" err="1">
                    <a:effectLst/>
                    <a:ea typeface="Calibri" panose="020F0502020204030204" pitchFamily="34" charset="0"/>
                    <a:cs typeface="F29"/>
                  </a:rPr>
                  <a:t>növekvően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F29"/>
                  </a:rPr>
                  <a:t> rendezett</a:t>
                </a:r>
                <a:endParaRPr lang="hu-H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L!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600" b="1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: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 fő ciklus jobb oldali ága egyszeri végrehajtásának futási ideje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L!</a:t>
                </a:r>
                <a:r>
                  <a:rPr lang="hu-HU" sz="1600" b="1" i="1" dirty="0">
                    <a:effectLst/>
                    <a:ea typeface="Calibri" panose="020F0502020204030204" pitchFamily="34" charset="0"/>
                    <a:cs typeface="CMMI12"/>
                  </a:rPr>
                  <a:t> b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: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T(eljárás meghívása) + T(a fő ciklus előkészítése és befejezése) +</a:t>
                </a:r>
                <a:b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		T(az eljárásból való visszatérés)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4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F29"/>
                  </a:rPr>
                  <a:t>és </a:t>
                </a:r>
                <a:r>
                  <a:rPr lang="hu-HU" sz="1400" i="1" dirty="0">
                    <a:effectLst/>
                    <a:ea typeface="Calibri" panose="020F0502020204030204" pitchFamily="34" charset="0"/>
                    <a:cs typeface="CMMI12"/>
                  </a:rPr>
                  <a:t>b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400" dirty="0">
                    <a:effectLst/>
                    <a:ea typeface="CMMI12"/>
                    <a:cs typeface="F29"/>
                  </a:rPr>
                  <a:t>pozitív konstansok </a:t>
                </a:r>
                <a:endParaRPr lang="hu-H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400" i="1" dirty="0" err="1">
                    <a:effectLst/>
                    <a:ea typeface="Calibri" panose="020F0502020204030204" pitchFamily="34" charset="0"/>
                    <a:cs typeface="CMMI12"/>
                  </a:rPr>
                  <a:t>mrT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sz="14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4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CMSY10"/>
                  </a:rPr>
                  <a:t>− </a:t>
                </a:r>
                <a:r>
                  <a:rPr lang="hu-HU" sz="1400" dirty="0">
                    <a:effectLst/>
                    <a:ea typeface="Calibri" panose="020F0502020204030204" pitchFamily="34" charset="0"/>
                    <a:cs typeface="CMR12"/>
                  </a:rPr>
                  <a:t>1) + </a:t>
                </a:r>
                <a:r>
                  <a:rPr lang="hu-HU" sz="1400" i="1" dirty="0">
                    <a:effectLst/>
                    <a:ea typeface="Calibri" panose="020F0502020204030204" pitchFamily="34" charset="0"/>
                    <a:cs typeface="CMMI12"/>
                  </a:rPr>
                  <a:t>b</a:t>
                </a:r>
                <a:endParaRPr lang="hu-H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93C06BA-25C8-808B-5CAF-15AABFA3C8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066800"/>
                <a:ext cx="10018713" cy="5461819"/>
              </a:xfrm>
              <a:blipFill>
                <a:blip r:embed="rId2"/>
                <a:stretch>
                  <a:fillRect l="-91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425" y="2774611"/>
            <a:ext cx="3474807" cy="325176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04303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9E72A3-2883-2C50-EEFC-6284B52E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298" y="927945"/>
            <a:ext cx="10018713" cy="936523"/>
          </a:xfrm>
        </p:spPr>
        <p:txBody>
          <a:bodyPr/>
          <a:lstStyle/>
          <a:p>
            <a:r>
              <a:rPr lang="hu-HU" dirty="0"/>
              <a:t>A</a:t>
            </a:r>
            <a:r>
              <a:rPr lang="hu-HU" sz="1800" b="0" i="0" u="none" strike="noStrike" baseline="0" dirty="0">
                <a:latin typeface="F83"/>
              </a:rPr>
              <a:t> </a:t>
            </a:r>
            <a:r>
              <a:rPr lang="hu-HU" dirty="0"/>
              <a:t>futási időkre vonatkozó becslések*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3C06BA-25C8-808B-5CAF-15AABFA3C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54094"/>
            <a:ext cx="10451528" cy="4174525"/>
          </a:xfrm>
        </p:spPr>
        <p:txBody>
          <a:bodyPr>
            <a:norm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MMI12"/>
                <a:cs typeface="F29"/>
              </a:rPr>
              <a:t>L! 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min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b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2400" dirty="0">
                <a:effectLst/>
                <a:ea typeface="CMMI12"/>
                <a:cs typeface="F29"/>
              </a:rPr>
              <a:t>és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hu-HU" sz="2400" dirty="0" err="1">
                <a:effectLst/>
                <a:ea typeface="Calibri" panose="020F0502020204030204" pitchFamily="34" charset="0"/>
                <a:cs typeface="CMMI12"/>
              </a:rPr>
              <a:t>max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b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)  (=&gt; 0 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&lt;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4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)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 dirty="0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 sz="20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1) +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	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000" i="1" dirty="0" err="1">
                <a:effectLst/>
                <a:ea typeface="Calibri" panose="020F0502020204030204" pitchFamily="34" charset="0"/>
                <a:cs typeface="CMMI12"/>
              </a:rPr>
              <a:t>mrT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) =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 dirty="0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 sz="20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1) +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b	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 dirty="0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 sz="20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1) +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 dirty="0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 sz="20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			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≤</a:t>
            </a:r>
            <a:r>
              <a:rPr lang="hu-HU" sz="2000" dirty="0">
                <a:effectLst/>
                <a:ea typeface="Calibri" panose="020F0502020204030204" pitchFamily="34" charset="0"/>
                <a:cs typeface="CMSY10"/>
              </a:rPr>
              <a:t>	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000" i="1" dirty="0" err="1">
                <a:effectLst/>
                <a:ea typeface="Calibri" panose="020F0502020204030204" pitchFamily="34" charset="0"/>
                <a:cs typeface="CMMI12"/>
              </a:rPr>
              <a:t>mrT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)				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 dirty="0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 sz="20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p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 dirty="0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 sz="20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0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000" i="1" baseline="-25000" dirty="0" err="1">
                <a:effectLst/>
                <a:ea typeface="Calibri" panose="020F0502020204030204" pitchFamily="34" charset="0"/>
                <a:cs typeface="CMMI8"/>
              </a:rPr>
              <a:t>IS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) 	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≤</a:t>
            </a:r>
            <a:r>
              <a:rPr lang="hu-HU" sz="2000" dirty="0">
                <a:effectLst/>
                <a:ea typeface="Calibri" panose="020F0502020204030204" pitchFamily="34" charset="0"/>
                <a:cs typeface="CMSY10"/>
              </a:rPr>
              <a:t>	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000" i="1" dirty="0" err="1">
                <a:effectLst/>
                <a:ea typeface="Calibri" panose="020F0502020204030204" pitchFamily="34" charset="0"/>
                <a:cs typeface="CMMI12"/>
              </a:rPr>
              <a:t>mrT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)				</a:t>
            </a:r>
            <a:r>
              <a:rPr lang="en-US" sz="20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0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000" i="1" baseline="-25000" dirty="0" err="1">
                <a:effectLst/>
                <a:ea typeface="Calibri" panose="020F0502020204030204" pitchFamily="34" charset="0"/>
                <a:cs typeface="CMMI8"/>
              </a:rPr>
              <a:t>IS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Becslés a maximális futási időre (</a:t>
            </a:r>
            <a:r>
              <a:rPr lang="hu-HU" i="1" dirty="0" err="1">
                <a:effectLst/>
                <a:ea typeface="Calibri" panose="020F0502020204030204" pitchFamily="34" charset="0"/>
                <a:cs typeface="CMMI12"/>
              </a:rPr>
              <a:t>MrT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)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MMI12"/>
                <a:cs typeface="F29"/>
              </a:rPr>
              <a:t>ha mindig a külső ciklus bal ágát hajtja végre és a belső ciklus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j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= -1</a:t>
            </a:r>
            <a:r>
              <a:rPr lang="hu-HU" sz="2400" dirty="0">
                <a:effectLst/>
                <a:ea typeface="CMMI12"/>
                <a:cs typeface="F29"/>
              </a:rPr>
              <a:t>-ig fut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ha a tömb már eleve </a:t>
            </a:r>
            <a:r>
              <a:rPr lang="hu-HU" sz="2000" dirty="0">
                <a:effectLst/>
                <a:ea typeface="CMMI12"/>
                <a:cs typeface="F29"/>
              </a:rPr>
              <a:t>szigorúan 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monoton </a:t>
            </a:r>
            <a:r>
              <a:rPr lang="hu-HU" sz="2000" dirty="0">
                <a:effectLst/>
                <a:ea typeface="CMMI12"/>
                <a:cs typeface="F29"/>
              </a:rPr>
              <a:t>csökkenően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 rendezett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389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122F-5EF1-3524-0AF4-46BF9A9F3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C12402-8DC7-56D8-4402-C772430FC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387" y="587477"/>
            <a:ext cx="10018713" cy="936523"/>
          </a:xfrm>
        </p:spPr>
        <p:txBody>
          <a:bodyPr/>
          <a:lstStyle/>
          <a:p>
            <a:r>
              <a:rPr lang="hu-HU" dirty="0"/>
              <a:t>A</a:t>
            </a:r>
            <a:r>
              <a:rPr lang="hu-HU" sz="1800" b="0" i="0" u="none" strike="noStrike" baseline="0" dirty="0">
                <a:latin typeface="F83"/>
              </a:rPr>
              <a:t> </a:t>
            </a:r>
            <a:r>
              <a:rPr lang="hu-HU" dirty="0"/>
              <a:t>futási időkre vonatkozó becslések*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D1095EC-011D-82E1-1000-9C8BCBFA72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5127" y="1935806"/>
                <a:ext cx="10451528" cy="4485810"/>
              </a:xfrm>
            </p:spPr>
            <p:txBody>
              <a:bodyPr>
                <a:normAutofit fontScale="92500"/>
              </a:bodyPr>
              <a:lstStyle/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L!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400" b="1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: </a:t>
                </a:r>
                <a:r>
                  <a:rPr lang="hu-HU" sz="2400" dirty="0">
                    <a:effectLst/>
                    <a:ea typeface="CMMI12"/>
                    <a:cs typeface="F29"/>
                  </a:rPr>
                  <a:t>a belső ciklus egy lefutásának a műveletigénye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L!</a:t>
                </a:r>
                <a:r>
                  <a:rPr lang="hu-HU" sz="2400" b="1" i="1" dirty="0">
                    <a:effectLst/>
                    <a:ea typeface="Calibri" panose="020F0502020204030204" pitchFamily="34" charset="0"/>
                    <a:cs typeface="CMMI12"/>
                  </a:rPr>
                  <a:t> c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: T(</a:t>
                </a:r>
                <a:r>
                  <a:rPr lang="hu-HU" sz="2400" dirty="0">
                    <a:effectLst/>
                    <a:ea typeface="CMMI12"/>
                    <a:cs typeface="F29"/>
                  </a:rPr>
                  <a:t>külső ciklus bal ága egy lefutása)- T(a belső ciklus lefutásai)+T(a belső ciklusból való kilépés)</a:t>
                </a:r>
                <a:br>
                  <a:rPr lang="hu-HU" sz="2400" dirty="0">
                    <a:effectLst/>
                    <a:ea typeface="CMMI12"/>
                    <a:cs typeface="F29"/>
                  </a:rPr>
                </a:br>
                <a:r>
                  <a:rPr lang="hu-HU" sz="2400" dirty="0">
                    <a:effectLst/>
                    <a:ea typeface="CMMI12"/>
                    <a:cs typeface="F29"/>
                  </a:rPr>
                  <a:t>(amibe beleértjük a belső ciklus feltétele utolsó kiértékelését azaz a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j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= -1 </a:t>
                </a:r>
                <a:r>
                  <a:rPr lang="hu-HU" sz="2400" dirty="0">
                    <a:effectLst/>
                    <a:ea typeface="CMMI12"/>
                    <a:cs typeface="F29"/>
                  </a:rPr>
                  <a:t>esetet)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és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F29"/>
                  </a:rPr>
                  <a:t>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MMI12"/>
                    <a:cs typeface="F29"/>
                  </a:rPr>
                  <a:t>pozitív konstansok </a:t>
                </a:r>
                <a:endParaRPr lang="hu-HU" sz="20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MrT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b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+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−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1) 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naryPr>
                      <m:sub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𝑖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=1</m:t>
                        </m:r>
                      </m:sub>
                      <m:sup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  <m:r>
                          <a:rPr lang="hu-HU" sz="2400" b="0" i="1" smtClean="0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−1</m:t>
                        </m:r>
                      </m:sup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𝑑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∗</m:t>
                        </m:r>
                        <m:d>
                          <m:dPr>
                            <m:ctrlP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dPr>
                          <m:e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𝑖</m:t>
                            </m:r>
                            <m:r>
                              <a:rPr lang="hu-HU" sz="24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−1</m:t>
                            </m:r>
                          </m:e>
                        </m:d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=</m:t>
                        </m:r>
                      </m:e>
                    </m:nary>
                  </m:oMath>
                </a14:m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</a:p>
              <a:p>
                <a:pPr marL="457200" lvl="1" indent="1069975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∗</m:t>
                    </m:r>
                    <m:d>
                      <m:d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hu-H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hu-HU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hu-HU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hu-HU" sz="2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u-HU" sz="2400" i="1"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hr m:val="∑"/>
                        <m:limLoc m:val="subSup"/>
                        <m:ctrlPr>
                          <a:rPr lang="hu-HU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439863" lvl="1" indent="87313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hu-HU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hu-HU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hu-HU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hu-HU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hu-HU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ctrlPr>
                            <a:rPr lang="hu-HU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hu-H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hu-HU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hu-HU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hu-HU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f>
                        <m:fPr>
                          <m:ctrlPr>
                            <a:rPr lang="hu-HU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hu-HU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hu-H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hu-H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∗(</m:t>
                          </m:r>
                          <m:r>
                            <a:rPr lang="hu-H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hu-H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−2)</m:t>
                          </m:r>
                        </m:num>
                        <m:den>
                          <m:r>
                            <a:rPr lang="hu-H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hu-HU" sz="2400" dirty="0">
                  <a:effectLst/>
                  <a:ea typeface="CMMI12"/>
                  <a:cs typeface="F29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D1095EC-011D-82E1-1000-9C8BCBFA72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5127" y="1935806"/>
                <a:ext cx="10451528" cy="44858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126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9E72A3-2883-2C50-EEFC-6284B52E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77749"/>
            <a:ext cx="10018713" cy="936523"/>
          </a:xfrm>
        </p:spPr>
        <p:txBody>
          <a:bodyPr/>
          <a:lstStyle/>
          <a:p>
            <a:r>
              <a:rPr lang="hu-HU" dirty="0"/>
              <a:t>A</a:t>
            </a:r>
            <a:r>
              <a:rPr lang="hu-HU" sz="1800" b="0" i="0" u="none" strike="noStrike" baseline="0" dirty="0">
                <a:latin typeface="F83"/>
              </a:rPr>
              <a:t> </a:t>
            </a:r>
            <a:r>
              <a:rPr lang="hu-HU" dirty="0"/>
              <a:t>futási időkre vonatkozó becslések*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93C06BA-25C8-808B-5CAF-15AABFA3C8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750979"/>
                <a:ext cx="10707690" cy="4777640"/>
              </a:xfrm>
            </p:spPr>
            <p:txBody>
              <a:bodyPr>
                <a:normAutofit/>
              </a:bodyPr>
              <a:lstStyle/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dirty="0">
                    <a:effectLst/>
                    <a:ea typeface="CMMI12"/>
                    <a:cs typeface="F29"/>
                  </a:rPr>
                  <a:t>L! 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q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=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min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b,c,d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000" dirty="0">
                    <a:effectLst/>
                    <a:ea typeface="CMMI12"/>
                    <a:cs typeface="F29"/>
                  </a:rPr>
                  <a:t>és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Q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=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CMMI12"/>
                  </a:rPr>
                  <a:t>max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b,c,d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  (=&gt; 0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&lt;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q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Q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)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hu-HU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hu-HU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num>
                      <m:den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hu-HU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≤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𝑀𝑟𝑇</m:t>
                    </m:r>
                    <m:d>
                      <m:d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≤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hu-HU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hu-HU" sz="2000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num>
                      <m:den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hu-HU" sz="2000" i="1" dirty="0"/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𝑞</m:t>
                    </m:r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∗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dPr>
                      <m:e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+</m:t>
                        </m:r>
                        <m:f>
                          <m:f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MR12"/>
                                    <a:cs typeface="CMR12"/>
                                  </a:rPr>
                                </m:ctrlPr>
                              </m:dPr>
                              <m:e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MR12"/>
                                    <a:cs typeface="CMR12"/>
                                  </a:rPr>
                                  <m:t>𝑛</m:t>
                                </m:r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MR12"/>
                                    <a:cs typeface="CMR12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∗</m:t>
                            </m:r>
                            <m:d>
                              <m:dPr>
                                <m:ctrlP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MR12"/>
                                    <a:cs typeface="CMR12"/>
                                  </a:rPr>
                                </m:ctrlPr>
                              </m:dPr>
                              <m:e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MR12"/>
                                    <a:cs typeface="CMR12"/>
                                  </a:rPr>
                                  <m:t>𝑛</m:t>
                                </m:r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MR12"/>
                                    <a:cs typeface="CMR12"/>
                                  </a:rPr>
                                  <m:t>−2</m:t>
                                </m:r>
                              </m:e>
                            </m:d>
                          </m:num>
                          <m:den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hu-HU" sz="2000" b="0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                      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≤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𝑀𝑟𝑇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dPr>
                      <m:e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</m:e>
                    </m:d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≤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𝑄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∗(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𝑛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+</m:t>
                    </m:r>
                    <m:f>
                      <m:f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dPr>
                          <m:e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−1</m:t>
                            </m:r>
                          </m:e>
                        </m:d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∗</m:t>
                        </m:r>
                        <m:d>
                          <m:d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dPr>
                          <m:e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−2</m:t>
                            </m:r>
                          </m:e>
                        </m:d>
                      </m:num>
                      <m:den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2</m:t>
                        </m:r>
                      </m:den>
                    </m:f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)</m:t>
                    </m:r>
                  </m:oMath>
                </a14:m>
                <a:endParaRPr lang="hu-HU" sz="2000" i="1" dirty="0">
                  <a:effectLst/>
                  <a:ea typeface="Calibri" panose="020F0502020204030204" pitchFamily="34" charset="0"/>
                  <a:cs typeface="CMMI12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q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MT</a:t>
                </a:r>
                <a:r>
                  <a:rPr lang="hu-HU" sz="2000" i="1" baseline="-25000" dirty="0">
                    <a:effectLst/>
                    <a:ea typeface="Calibri" panose="020F0502020204030204" pitchFamily="34" charset="0"/>
                    <a:cs typeface="CMMI8"/>
                  </a:rPr>
                  <a:t>IS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 				   	  </a:t>
                </a:r>
                <a14:m>
                  <m:oMath xmlns:m="http://schemas.openxmlformats.org/officeDocument/2006/math"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≤</m:t>
                    </m:r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𝑀𝑟𝑇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dPr>
                      <m:e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</m:e>
                    </m:d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≤</m:t>
                    </m:r>
                  </m:oMath>
                </a14:m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14:m>
                  <m:oMath xmlns:m="http://schemas.openxmlformats.org/officeDocument/2006/math">
                    <m:r>
                      <a:rPr lang="hu-HU" sz="2000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𝑄</m:t>
                    </m:r>
                    <m:r>
                      <a:rPr lang="hu-HU" sz="2000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 </m:t>
                    </m:r>
                  </m:oMath>
                </a14:m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*MT</a:t>
                </a:r>
                <a:r>
                  <a:rPr lang="hu-HU" sz="2000" i="1" baseline="-25000" dirty="0">
                    <a:effectLst/>
                    <a:ea typeface="Calibri" panose="020F0502020204030204" pitchFamily="34" charset="0"/>
                    <a:cs typeface="CMMI8"/>
                  </a:rPr>
                  <a:t>IS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dirty="0">
                    <a:effectLst/>
                    <a:ea typeface="CMMI12"/>
                    <a:cs typeface="F29"/>
                  </a:rPr>
                  <a:t>Mindkét esetben </a:t>
                </a:r>
                <a:r>
                  <a:rPr lang="hu-HU" i="1" dirty="0">
                    <a:effectLst/>
                    <a:ea typeface="CMMI12"/>
                    <a:cs typeface="F29"/>
                  </a:rPr>
                  <a:t>a valódi futási idő</a:t>
                </a:r>
                <a:r>
                  <a:rPr lang="hu-HU" dirty="0">
                    <a:effectLst/>
                    <a:ea typeface="CMMI12"/>
                    <a:cs typeface="F29"/>
                  </a:rPr>
                  <a:t> alulról és </a:t>
                </a:r>
                <a:r>
                  <a:rPr lang="hu-HU" dirty="0" err="1">
                    <a:effectLst/>
                    <a:ea typeface="CMMI12"/>
                    <a:cs typeface="F29"/>
                  </a:rPr>
                  <a:t>felülről</a:t>
                </a:r>
                <a:r>
                  <a:rPr lang="hu-HU" dirty="0">
                    <a:effectLst/>
                    <a:ea typeface="CMMI12"/>
                    <a:cs typeface="F29"/>
                  </a:rPr>
                  <a:t> becsülhető </a:t>
                </a:r>
                <a:br>
                  <a:rPr lang="hu-HU" dirty="0">
                    <a:effectLst/>
                    <a:ea typeface="CMMI12"/>
                    <a:cs typeface="F29"/>
                  </a:rPr>
                </a:br>
                <a:r>
                  <a:rPr lang="hu-HU" dirty="0">
                    <a:effectLst/>
                    <a:ea typeface="CMMI12"/>
                    <a:cs typeface="F29"/>
                  </a:rPr>
                  <a:t>(</a:t>
                </a:r>
                <a:r>
                  <a:rPr lang="hu-HU" i="1" dirty="0">
                    <a:effectLst/>
                    <a:ea typeface="CMMI12"/>
                    <a:cs typeface="F29"/>
                  </a:rPr>
                  <a:t>T</a:t>
                </a:r>
                <a:r>
                  <a:rPr lang="hu-HU" dirty="0">
                    <a:effectLst/>
                    <a:ea typeface="CMMI12"/>
                    <a:cs typeface="F29"/>
                  </a:rPr>
                  <a:t>(</a:t>
                </a:r>
                <a:r>
                  <a:rPr lang="hu-HU" i="1" dirty="0">
                    <a:effectLst/>
                    <a:ea typeface="CMMI12"/>
                    <a:cs typeface="F29"/>
                  </a:rPr>
                  <a:t>az </a:t>
                </a:r>
                <a:r>
                  <a:rPr lang="hu-HU" i="1" dirty="0">
                    <a:effectLst/>
                    <a:ea typeface="CMMI12"/>
                    <a:cs typeface="F78"/>
                  </a:rPr>
                  <a:t>eljáráshívások</a:t>
                </a:r>
                <a:r>
                  <a:rPr lang="hu-HU" dirty="0">
                    <a:effectLst/>
                    <a:ea typeface="CMMI12"/>
                    <a:cs typeface="F78"/>
                  </a:rPr>
                  <a:t>)+</a:t>
                </a:r>
                <a:r>
                  <a:rPr lang="hu-HU" i="1" dirty="0">
                    <a:effectLst/>
                    <a:ea typeface="CMMI12"/>
                    <a:cs typeface="F78"/>
                  </a:rPr>
                  <a:t>T</a:t>
                </a:r>
                <a:r>
                  <a:rPr lang="hu-HU" dirty="0">
                    <a:effectLst/>
                    <a:ea typeface="CMMI12"/>
                    <a:cs typeface="F78"/>
                  </a:rPr>
                  <a:t>(</a:t>
                </a:r>
                <a:r>
                  <a:rPr lang="hu-HU" i="1" dirty="0">
                    <a:effectLst/>
                    <a:ea typeface="CMMI12"/>
                    <a:cs typeface="F78"/>
                  </a:rPr>
                  <a:t>a ciklusiterációk számának</a:t>
                </a:r>
                <a:r>
                  <a:rPr lang="hu-HU" dirty="0">
                    <a:effectLst/>
                    <a:ea typeface="CMMI12"/>
                    <a:cs typeface="F78"/>
                  </a:rPr>
                  <a:t>))*</a:t>
                </a:r>
                <a:r>
                  <a:rPr lang="hu-HU" dirty="0">
                    <a:effectLst/>
                    <a:ea typeface="CMMI12"/>
                    <a:cs typeface="F29"/>
                  </a:rPr>
                  <a:t>pozitív konstans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2400" dirty="0">
                    <a:effectLst/>
                    <a:ea typeface="CMMI12"/>
                    <a:cs typeface="F29"/>
                  </a:rPr>
                  <a:t>ugyanolyan nagyságrendű</a:t>
                </a:r>
                <a:endParaRPr lang="hu-HU" sz="2400" dirty="0">
                  <a:effectLst/>
                  <a:ea typeface="Calibri" panose="020F0502020204030204" pitchFamily="34" charset="0"/>
                  <a:cs typeface="CMR12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93C06BA-25C8-808B-5CAF-15AABFA3C8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750979"/>
                <a:ext cx="10707690" cy="4777640"/>
              </a:xfrm>
              <a:blipFill>
                <a:blip r:embed="rId2"/>
                <a:stretch>
                  <a:fillRect l="-142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248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ercs: vízszintes 2">
            <a:extLst>
              <a:ext uri="{FF2B5EF4-FFF2-40B4-BE49-F238E27FC236}">
                <a16:creationId xmlns:a16="http://schemas.microsoft.com/office/drawing/2014/main" id="{FB041E85-A348-F646-C302-50B6FDA4C839}"/>
              </a:ext>
            </a:extLst>
          </p:cNvPr>
          <p:cNvSpPr/>
          <p:nvPr/>
        </p:nvSpPr>
        <p:spPr>
          <a:xfrm>
            <a:off x="985520" y="3749040"/>
            <a:ext cx="3566160" cy="1971040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AEFF902-307E-82C8-961E-9E36FFC4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70280"/>
          </a:xfrm>
        </p:spPr>
        <p:txBody>
          <a:bodyPr/>
          <a:lstStyle/>
          <a:p>
            <a:r>
              <a:rPr lang="hu-HU"/>
              <a:t>Beszúró rendezés H1L listákra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3A777613-B7DA-54B4-05FA-C01AB3247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5439" y="1818005"/>
            <a:ext cx="5933872" cy="464820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576954B-A7B6-BB9B-92A6-CC662923E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283" y="4296372"/>
            <a:ext cx="2743438" cy="8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12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églalap: fazettás 21">
            <a:extLst>
              <a:ext uri="{FF2B5EF4-FFF2-40B4-BE49-F238E27FC236}">
                <a16:creationId xmlns:a16="http://schemas.microsoft.com/office/drawing/2014/main" id="{E7EFC628-839F-D038-08C8-DF05DA1DF9D2}"/>
              </a:ext>
            </a:extLst>
          </p:cNvPr>
          <p:cNvSpPr/>
          <p:nvPr/>
        </p:nvSpPr>
        <p:spPr>
          <a:xfrm>
            <a:off x="5323328" y="0"/>
            <a:ext cx="6868672" cy="6858000"/>
          </a:xfrm>
          <a:prstGeom prst="bevel">
            <a:avLst>
              <a:gd name="adj" fmla="val 2049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3AD60AE5-D699-C261-D61C-4AC4CA794049}"/>
              </a:ext>
            </a:extLst>
          </p:cNvPr>
          <p:cNvSpPr/>
          <p:nvPr/>
        </p:nvSpPr>
        <p:spPr>
          <a:xfrm>
            <a:off x="2088862" y="5580114"/>
            <a:ext cx="3029911" cy="1131882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924F7B0-B540-4F24-E98A-1A2DD28D6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583" y="2323273"/>
            <a:ext cx="5395428" cy="891617"/>
          </a:xfrm>
          <a:prstGeom prst="rect">
            <a:avLst/>
          </a:prstGeom>
        </p:spPr>
      </p:pic>
      <p:pic>
        <p:nvPicPr>
          <p:cNvPr id="69" name="Kép 68">
            <a:extLst>
              <a:ext uri="{FF2B5EF4-FFF2-40B4-BE49-F238E27FC236}">
                <a16:creationId xmlns:a16="http://schemas.microsoft.com/office/drawing/2014/main" id="{33A7ED85-881D-81F2-6E14-8C0051A94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313" y="4737952"/>
            <a:ext cx="6408975" cy="899238"/>
          </a:xfrm>
          <a:prstGeom prst="rect">
            <a:avLst/>
          </a:prstGeom>
        </p:spPr>
      </p:pic>
      <p:pic>
        <p:nvPicPr>
          <p:cNvPr id="49" name="Kép 48">
            <a:extLst>
              <a:ext uri="{FF2B5EF4-FFF2-40B4-BE49-F238E27FC236}">
                <a16:creationId xmlns:a16="http://schemas.microsoft.com/office/drawing/2014/main" id="{27254E5A-6C54-D8DA-8733-98260C3E4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002" y="4728342"/>
            <a:ext cx="5395428" cy="891617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6E306AFC-FECB-D55D-EA1D-B44F46ECE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186" y="2332589"/>
            <a:ext cx="6408975" cy="899238"/>
          </a:xfrm>
          <a:prstGeom prst="rect">
            <a:avLst/>
          </a:prstGeom>
        </p:spPr>
      </p:pic>
      <p:pic>
        <p:nvPicPr>
          <p:cNvPr id="51" name="Kép 50">
            <a:extLst>
              <a:ext uri="{FF2B5EF4-FFF2-40B4-BE49-F238E27FC236}">
                <a16:creationId xmlns:a16="http://schemas.microsoft.com/office/drawing/2014/main" id="{697AC70D-692A-94D9-08D9-960F3B9B2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306" y="1132701"/>
            <a:ext cx="5395428" cy="89161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40F4CA0-F00D-BE6D-6233-1FC8168F4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313" y="1134253"/>
            <a:ext cx="6408975" cy="899238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0875C441-E2BF-DF48-9130-DCC99EF2A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583" y="1114401"/>
            <a:ext cx="5395428" cy="891617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237" y="195848"/>
            <a:ext cx="4055765" cy="1428257"/>
          </a:xfrm>
        </p:spPr>
        <p:txBody>
          <a:bodyPr>
            <a:normAutofit/>
          </a:bodyPr>
          <a:lstStyle/>
          <a:p>
            <a:pPr algn="l"/>
            <a:r>
              <a:rPr lang="hu-HU" dirty="0" err="1"/>
              <a:t>InsertionSort</a:t>
            </a:r>
            <a:br>
              <a:rPr lang="hu-HU"/>
            </a:br>
            <a:r>
              <a:rPr lang="hu-HU"/>
              <a:t>C2L listára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721C31E-28B5-C46A-E3A4-D7A4830B4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073" y="1725625"/>
            <a:ext cx="4419983" cy="362743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BF2B88B6-26BB-1FA3-F95C-9F94616F4F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417" y="5789956"/>
            <a:ext cx="2682472" cy="739204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A2D8BB85-5793-DF52-E009-4DC0C9329C0C}"/>
              </a:ext>
            </a:extLst>
          </p:cNvPr>
          <p:cNvSpPr txBox="1"/>
          <p:nvPr/>
        </p:nvSpPr>
        <p:spPr>
          <a:xfrm>
            <a:off x="7487920" y="1378886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1772ECF8-7BFF-6DDD-021E-80BB8AE23C12}"/>
              </a:ext>
            </a:extLst>
          </p:cNvPr>
          <p:cNvSpPr txBox="1"/>
          <p:nvPr/>
        </p:nvSpPr>
        <p:spPr>
          <a:xfrm>
            <a:off x="11374433" y="1378886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A9502621-80B4-3C84-8357-477BBF6BF6B7}"/>
              </a:ext>
            </a:extLst>
          </p:cNvPr>
          <p:cNvSpPr txBox="1"/>
          <p:nvPr/>
        </p:nvSpPr>
        <p:spPr>
          <a:xfrm>
            <a:off x="9425816" y="1378886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28919ED-A3A6-79B9-CA0F-4635DE95F3E1}"/>
              </a:ext>
            </a:extLst>
          </p:cNvPr>
          <p:cNvSpPr txBox="1"/>
          <p:nvPr/>
        </p:nvSpPr>
        <p:spPr>
          <a:xfrm>
            <a:off x="10343940" y="1409366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2460828-4620-8B43-F69F-713BF89F6004}"/>
              </a:ext>
            </a:extLst>
          </p:cNvPr>
          <p:cNvSpPr txBox="1"/>
          <p:nvPr/>
        </p:nvSpPr>
        <p:spPr>
          <a:xfrm>
            <a:off x="8446166" y="1388101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51F90C96-B104-186A-133D-DE6B9FDFD31B}"/>
              </a:ext>
            </a:extLst>
          </p:cNvPr>
          <p:cNvSpPr txBox="1"/>
          <p:nvPr/>
        </p:nvSpPr>
        <p:spPr>
          <a:xfrm>
            <a:off x="7633344" y="94408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34664719-5115-339C-6E4B-A9A20944B55F}"/>
              </a:ext>
            </a:extLst>
          </p:cNvPr>
          <p:cNvSpPr txBox="1"/>
          <p:nvPr/>
        </p:nvSpPr>
        <p:spPr>
          <a:xfrm>
            <a:off x="8551452" y="92541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FF8889F-8EF0-1151-FA20-65469B7124C5}"/>
              </a:ext>
            </a:extLst>
          </p:cNvPr>
          <p:cNvSpPr txBox="1"/>
          <p:nvPr/>
        </p:nvSpPr>
        <p:spPr>
          <a:xfrm>
            <a:off x="8454839" y="136631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22DC1FF1-78C3-ADA2-9512-ED61798E82AD}"/>
              </a:ext>
            </a:extLst>
          </p:cNvPr>
          <p:cNvSpPr txBox="1"/>
          <p:nvPr/>
        </p:nvSpPr>
        <p:spPr>
          <a:xfrm>
            <a:off x="11374433" y="2577467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B3AB2168-340B-9EF2-1239-CE0852850B5A}"/>
              </a:ext>
            </a:extLst>
          </p:cNvPr>
          <p:cNvSpPr txBox="1"/>
          <p:nvPr/>
        </p:nvSpPr>
        <p:spPr>
          <a:xfrm>
            <a:off x="9396824" y="2587202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11C3AA96-AC4D-3B0D-1C90-4D1641079DED}"/>
              </a:ext>
            </a:extLst>
          </p:cNvPr>
          <p:cNvSpPr txBox="1"/>
          <p:nvPr/>
        </p:nvSpPr>
        <p:spPr>
          <a:xfrm>
            <a:off x="10409000" y="259991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7518909C-91A0-8368-9A29-062FE3A7EDE5}"/>
              </a:ext>
            </a:extLst>
          </p:cNvPr>
          <p:cNvSpPr txBox="1"/>
          <p:nvPr/>
        </p:nvSpPr>
        <p:spPr>
          <a:xfrm>
            <a:off x="8585644" y="211949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C3B69055-B076-69D0-E8A9-F96514EC137D}"/>
              </a:ext>
            </a:extLst>
          </p:cNvPr>
          <p:cNvSpPr txBox="1"/>
          <p:nvPr/>
        </p:nvSpPr>
        <p:spPr>
          <a:xfrm>
            <a:off x="7609103" y="93619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p</a:t>
            </a:r>
          </a:p>
        </p:txBody>
      </p:sp>
      <p:pic>
        <p:nvPicPr>
          <p:cNvPr id="28" name="Kép 27">
            <a:extLst>
              <a:ext uri="{FF2B5EF4-FFF2-40B4-BE49-F238E27FC236}">
                <a16:creationId xmlns:a16="http://schemas.microsoft.com/office/drawing/2014/main" id="{CA113AE7-D258-3575-889B-102598C6D4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1877" y="664451"/>
            <a:ext cx="784832" cy="294937"/>
          </a:xfrm>
          <a:prstGeom prst="rect">
            <a:avLst/>
          </a:prstGeom>
        </p:spPr>
      </p:pic>
      <p:sp>
        <p:nvSpPr>
          <p:cNvPr id="31" name="Szövegdoboz 30">
            <a:extLst>
              <a:ext uri="{FF2B5EF4-FFF2-40B4-BE49-F238E27FC236}">
                <a16:creationId xmlns:a16="http://schemas.microsoft.com/office/drawing/2014/main" id="{14AF28B0-0D46-0D4E-C7D8-32D38EE7F2E8}"/>
              </a:ext>
            </a:extLst>
          </p:cNvPr>
          <p:cNvSpPr txBox="1"/>
          <p:nvPr/>
        </p:nvSpPr>
        <p:spPr>
          <a:xfrm>
            <a:off x="10863430" y="20744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F1F99FFC-E698-0EA8-DB41-B9BDD3306F1A}"/>
              </a:ext>
            </a:extLst>
          </p:cNvPr>
          <p:cNvSpPr txBox="1"/>
          <p:nvPr/>
        </p:nvSpPr>
        <p:spPr>
          <a:xfrm>
            <a:off x="10818794" y="588796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E16BA9F3-1599-6D8F-58B6-C5D13F9F516D}"/>
              </a:ext>
            </a:extLst>
          </p:cNvPr>
          <p:cNvSpPr txBox="1"/>
          <p:nvPr/>
        </p:nvSpPr>
        <p:spPr>
          <a:xfrm>
            <a:off x="8454839" y="91839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2BA6D284-3DD8-FA1D-D6CE-ABA4EF638D0C}"/>
              </a:ext>
            </a:extLst>
          </p:cNvPr>
          <p:cNvSpPr txBox="1"/>
          <p:nvPr/>
        </p:nvSpPr>
        <p:spPr>
          <a:xfrm>
            <a:off x="7487920" y="2587209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E997C0C7-DE79-E7B6-B64B-36A80308764F}"/>
              </a:ext>
            </a:extLst>
          </p:cNvPr>
          <p:cNvSpPr txBox="1"/>
          <p:nvPr/>
        </p:nvSpPr>
        <p:spPr>
          <a:xfrm>
            <a:off x="8485227" y="2548459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pic>
        <p:nvPicPr>
          <p:cNvPr id="38" name="Kép 37">
            <a:extLst>
              <a:ext uri="{FF2B5EF4-FFF2-40B4-BE49-F238E27FC236}">
                <a16:creationId xmlns:a16="http://schemas.microsoft.com/office/drawing/2014/main" id="{792FA607-81B1-E549-7294-6C9316454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313" y="3539342"/>
            <a:ext cx="6408975" cy="899238"/>
          </a:xfrm>
          <a:prstGeom prst="rect">
            <a:avLst/>
          </a:prstGeom>
        </p:spPr>
      </p:pic>
      <p:sp>
        <p:nvSpPr>
          <p:cNvPr id="39" name="Szövegdoboz 38">
            <a:extLst>
              <a:ext uri="{FF2B5EF4-FFF2-40B4-BE49-F238E27FC236}">
                <a16:creationId xmlns:a16="http://schemas.microsoft.com/office/drawing/2014/main" id="{C9158D74-EA71-331F-0463-153801BE7FCA}"/>
              </a:ext>
            </a:extLst>
          </p:cNvPr>
          <p:cNvSpPr txBox="1"/>
          <p:nvPr/>
        </p:nvSpPr>
        <p:spPr>
          <a:xfrm>
            <a:off x="11390700" y="3794553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40" name="Szövegdoboz 39">
            <a:extLst>
              <a:ext uri="{FF2B5EF4-FFF2-40B4-BE49-F238E27FC236}">
                <a16:creationId xmlns:a16="http://schemas.microsoft.com/office/drawing/2014/main" id="{6A68F6FA-F048-5124-39F2-FD32C2AE7749}"/>
              </a:ext>
            </a:extLst>
          </p:cNvPr>
          <p:cNvSpPr txBox="1"/>
          <p:nvPr/>
        </p:nvSpPr>
        <p:spPr>
          <a:xfrm>
            <a:off x="8458888" y="3796359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877C1E5B-A49F-80A3-B595-D719FBCEFA09}"/>
              </a:ext>
            </a:extLst>
          </p:cNvPr>
          <p:cNvSpPr txBox="1"/>
          <p:nvPr/>
        </p:nvSpPr>
        <p:spPr>
          <a:xfrm>
            <a:off x="10384627" y="3816997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3102E624-FCB9-A21E-A220-408F492D783C}"/>
              </a:ext>
            </a:extLst>
          </p:cNvPr>
          <p:cNvSpPr txBox="1"/>
          <p:nvPr/>
        </p:nvSpPr>
        <p:spPr>
          <a:xfrm>
            <a:off x="7504187" y="3804295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43" name="Szövegdoboz 42">
            <a:extLst>
              <a:ext uri="{FF2B5EF4-FFF2-40B4-BE49-F238E27FC236}">
                <a16:creationId xmlns:a16="http://schemas.microsoft.com/office/drawing/2014/main" id="{6915026B-A2E8-B954-D57E-1F66C550B023}"/>
              </a:ext>
            </a:extLst>
          </p:cNvPr>
          <p:cNvSpPr txBox="1"/>
          <p:nvPr/>
        </p:nvSpPr>
        <p:spPr>
          <a:xfrm>
            <a:off x="9404584" y="3776354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E03BE8D1-CA04-2F25-0BDA-A00A13072D23}"/>
              </a:ext>
            </a:extLst>
          </p:cNvPr>
          <p:cNvSpPr txBox="1"/>
          <p:nvPr/>
        </p:nvSpPr>
        <p:spPr>
          <a:xfrm>
            <a:off x="10553739" y="439499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r</a:t>
            </a:r>
          </a:p>
        </p:txBody>
      </p:sp>
      <p:sp>
        <p:nvSpPr>
          <p:cNvPr id="47" name="Szövegdoboz 46">
            <a:extLst>
              <a:ext uri="{FF2B5EF4-FFF2-40B4-BE49-F238E27FC236}">
                <a16:creationId xmlns:a16="http://schemas.microsoft.com/office/drawing/2014/main" id="{E719E44E-626D-5B26-B7B5-5D2BA2EE5C36}"/>
              </a:ext>
            </a:extLst>
          </p:cNvPr>
          <p:cNvSpPr txBox="1"/>
          <p:nvPr/>
        </p:nvSpPr>
        <p:spPr>
          <a:xfrm>
            <a:off x="11506658" y="440658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793F0854-3FFB-2666-C6F9-3B61176134C4}"/>
              </a:ext>
            </a:extLst>
          </p:cNvPr>
          <p:cNvSpPr txBox="1"/>
          <p:nvPr/>
        </p:nvSpPr>
        <p:spPr>
          <a:xfrm>
            <a:off x="10823220" y="586745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D966397C-DB19-A036-CDFC-ACCEB790B049}"/>
              </a:ext>
            </a:extLst>
          </p:cNvPr>
          <p:cNvSpPr txBox="1"/>
          <p:nvPr/>
        </p:nvSpPr>
        <p:spPr>
          <a:xfrm>
            <a:off x="8484247" y="2564930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7F2CE7E1-18F8-CE52-20BC-B89EA9A872D2}"/>
              </a:ext>
            </a:extLst>
          </p:cNvPr>
          <p:cNvSpPr txBox="1"/>
          <p:nvPr/>
        </p:nvSpPr>
        <p:spPr>
          <a:xfrm>
            <a:off x="9377043" y="2545584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22F0EC84-C83C-4D1D-34CB-4C3D30A0D598}"/>
              </a:ext>
            </a:extLst>
          </p:cNvPr>
          <p:cNvSpPr txBox="1"/>
          <p:nvPr/>
        </p:nvSpPr>
        <p:spPr>
          <a:xfrm>
            <a:off x="8456868" y="209885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</a:t>
            </a:r>
          </a:p>
        </p:txBody>
      </p:sp>
      <p:pic>
        <p:nvPicPr>
          <p:cNvPr id="55" name="Kép 54">
            <a:extLst>
              <a:ext uri="{FF2B5EF4-FFF2-40B4-BE49-F238E27FC236}">
                <a16:creationId xmlns:a16="http://schemas.microsoft.com/office/drawing/2014/main" id="{B27448AC-FD95-9D6E-6FEC-4397AEEA7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319" y="5812758"/>
            <a:ext cx="6408975" cy="899238"/>
          </a:xfrm>
          <a:prstGeom prst="rect">
            <a:avLst/>
          </a:prstGeom>
        </p:spPr>
      </p:pic>
      <p:sp>
        <p:nvSpPr>
          <p:cNvPr id="56" name="Szövegdoboz 55">
            <a:extLst>
              <a:ext uri="{FF2B5EF4-FFF2-40B4-BE49-F238E27FC236}">
                <a16:creationId xmlns:a16="http://schemas.microsoft.com/office/drawing/2014/main" id="{1E13F88B-9E7B-4245-4827-FA7981B29A50}"/>
              </a:ext>
            </a:extLst>
          </p:cNvPr>
          <p:cNvSpPr txBox="1"/>
          <p:nvPr/>
        </p:nvSpPr>
        <p:spPr>
          <a:xfrm>
            <a:off x="9404584" y="6045242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57" name="Szövegdoboz 56">
            <a:extLst>
              <a:ext uri="{FF2B5EF4-FFF2-40B4-BE49-F238E27FC236}">
                <a16:creationId xmlns:a16="http://schemas.microsoft.com/office/drawing/2014/main" id="{15B2CAC4-9677-9B9E-0DD8-20D73CCA5D29}"/>
              </a:ext>
            </a:extLst>
          </p:cNvPr>
          <p:cNvSpPr txBox="1"/>
          <p:nvPr/>
        </p:nvSpPr>
        <p:spPr>
          <a:xfrm>
            <a:off x="8442560" y="6079163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58" name="Szövegdoboz 57">
            <a:extLst>
              <a:ext uri="{FF2B5EF4-FFF2-40B4-BE49-F238E27FC236}">
                <a16:creationId xmlns:a16="http://schemas.microsoft.com/office/drawing/2014/main" id="{280D8E25-4FF4-8F6E-048F-202D15B6317C}"/>
              </a:ext>
            </a:extLst>
          </p:cNvPr>
          <p:cNvSpPr txBox="1"/>
          <p:nvPr/>
        </p:nvSpPr>
        <p:spPr>
          <a:xfrm>
            <a:off x="11324389" y="6093518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59" name="Szövegdoboz 58">
            <a:extLst>
              <a:ext uri="{FF2B5EF4-FFF2-40B4-BE49-F238E27FC236}">
                <a16:creationId xmlns:a16="http://schemas.microsoft.com/office/drawing/2014/main" id="{9A658504-3169-0DE2-9E47-5FA25DA81549}"/>
              </a:ext>
            </a:extLst>
          </p:cNvPr>
          <p:cNvSpPr txBox="1"/>
          <p:nvPr/>
        </p:nvSpPr>
        <p:spPr>
          <a:xfrm>
            <a:off x="7490806" y="6079163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60" name="Szövegdoboz 59">
            <a:extLst>
              <a:ext uri="{FF2B5EF4-FFF2-40B4-BE49-F238E27FC236}">
                <a16:creationId xmlns:a16="http://schemas.microsoft.com/office/drawing/2014/main" id="{0A78066C-FF2C-E006-4B9A-9385B62A8E58}"/>
              </a:ext>
            </a:extLst>
          </p:cNvPr>
          <p:cNvSpPr txBox="1"/>
          <p:nvPr/>
        </p:nvSpPr>
        <p:spPr>
          <a:xfrm>
            <a:off x="10335474" y="6058262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65" name="Szövegdoboz 64">
            <a:extLst>
              <a:ext uri="{FF2B5EF4-FFF2-40B4-BE49-F238E27FC236}">
                <a16:creationId xmlns:a16="http://schemas.microsoft.com/office/drawing/2014/main" id="{7B90DBAD-B261-5BCD-B83C-0C4C7E3ABDBD}"/>
              </a:ext>
            </a:extLst>
          </p:cNvPr>
          <p:cNvSpPr txBox="1"/>
          <p:nvPr/>
        </p:nvSpPr>
        <p:spPr>
          <a:xfrm>
            <a:off x="9429694" y="333334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66" name="Szövegdoboz 65">
            <a:extLst>
              <a:ext uri="{FF2B5EF4-FFF2-40B4-BE49-F238E27FC236}">
                <a16:creationId xmlns:a16="http://schemas.microsoft.com/office/drawing/2014/main" id="{31495E5E-5C8D-481F-38AA-4A6808189151}"/>
              </a:ext>
            </a:extLst>
          </p:cNvPr>
          <p:cNvSpPr txBox="1"/>
          <p:nvPr/>
        </p:nvSpPr>
        <p:spPr>
          <a:xfrm>
            <a:off x="10473334" y="334737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67" name="Szövegdoboz 66">
            <a:extLst>
              <a:ext uri="{FF2B5EF4-FFF2-40B4-BE49-F238E27FC236}">
                <a16:creationId xmlns:a16="http://schemas.microsoft.com/office/drawing/2014/main" id="{8B7DB246-7370-AB92-6ACF-8CA99B8EF961}"/>
              </a:ext>
            </a:extLst>
          </p:cNvPr>
          <p:cNvSpPr txBox="1"/>
          <p:nvPr/>
        </p:nvSpPr>
        <p:spPr>
          <a:xfrm>
            <a:off x="9494743" y="209307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68" name="Szövegdoboz 67">
            <a:extLst>
              <a:ext uri="{FF2B5EF4-FFF2-40B4-BE49-F238E27FC236}">
                <a16:creationId xmlns:a16="http://schemas.microsoft.com/office/drawing/2014/main" id="{B9D7F109-B5F2-6D95-7D1B-44C48808CD3F}"/>
              </a:ext>
            </a:extLst>
          </p:cNvPr>
          <p:cNvSpPr txBox="1"/>
          <p:nvPr/>
        </p:nvSpPr>
        <p:spPr>
          <a:xfrm>
            <a:off x="9342578" y="207751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70" name="Szövegdoboz 69">
            <a:extLst>
              <a:ext uri="{FF2B5EF4-FFF2-40B4-BE49-F238E27FC236}">
                <a16:creationId xmlns:a16="http://schemas.microsoft.com/office/drawing/2014/main" id="{69358752-6BAF-1336-7703-940BF6F7613E}"/>
              </a:ext>
            </a:extLst>
          </p:cNvPr>
          <p:cNvSpPr txBox="1"/>
          <p:nvPr/>
        </p:nvSpPr>
        <p:spPr>
          <a:xfrm>
            <a:off x="11390700" y="4993163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71" name="Szövegdoboz 70">
            <a:extLst>
              <a:ext uri="{FF2B5EF4-FFF2-40B4-BE49-F238E27FC236}">
                <a16:creationId xmlns:a16="http://schemas.microsoft.com/office/drawing/2014/main" id="{FB67DD26-8887-05AF-E412-A46646607B47}"/>
              </a:ext>
            </a:extLst>
          </p:cNvPr>
          <p:cNvSpPr txBox="1"/>
          <p:nvPr/>
        </p:nvSpPr>
        <p:spPr>
          <a:xfrm>
            <a:off x="8452578" y="4993163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72" name="Szövegdoboz 71">
            <a:extLst>
              <a:ext uri="{FF2B5EF4-FFF2-40B4-BE49-F238E27FC236}">
                <a16:creationId xmlns:a16="http://schemas.microsoft.com/office/drawing/2014/main" id="{1CBA83D3-6356-4C29-74FE-0BF6A1AA5B2F}"/>
              </a:ext>
            </a:extLst>
          </p:cNvPr>
          <p:cNvSpPr txBox="1"/>
          <p:nvPr/>
        </p:nvSpPr>
        <p:spPr>
          <a:xfrm>
            <a:off x="10384627" y="5015607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73" name="Szövegdoboz 72">
            <a:extLst>
              <a:ext uri="{FF2B5EF4-FFF2-40B4-BE49-F238E27FC236}">
                <a16:creationId xmlns:a16="http://schemas.microsoft.com/office/drawing/2014/main" id="{5B211BF0-37C1-F86D-017F-FF5407039D59}"/>
              </a:ext>
            </a:extLst>
          </p:cNvPr>
          <p:cNvSpPr txBox="1"/>
          <p:nvPr/>
        </p:nvSpPr>
        <p:spPr>
          <a:xfrm>
            <a:off x="7504187" y="5002905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74" name="Szövegdoboz 73">
            <a:extLst>
              <a:ext uri="{FF2B5EF4-FFF2-40B4-BE49-F238E27FC236}">
                <a16:creationId xmlns:a16="http://schemas.microsoft.com/office/drawing/2014/main" id="{E24FC4AA-7A44-F3F7-43FC-C96D84DCC28B}"/>
              </a:ext>
            </a:extLst>
          </p:cNvPr>
          <p:cNvSpPr txBox="1"/>
          <p:nvPr/>
        </p:nvSpPr>
        <p:spPr>
          <a:xfrm>
            <a:off x="9395712" y="498035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A08394E7-F6C1-2F6A-FF78-94F2364EC193}"/>
              </a:ext>
            </a:extLst>
          </p:cNvPr>
          <p:cNvSpPr txBox="1"/>
          <p:nvPr/>
        </p:nvSpPr>
        <p:spPr>
          <a:xfrm>
            <a:off x="9546302" y="43352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</a:t>
            </a:r>
          </a:p>
        </p:txBody>
      </p: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1BBACC61-C536-3688-F792-E5FC85E5C554}"/>
              </a:ext>
            </a:extLst>
          </p:cNvPr>
          <p:cNvSpPr txBox="1"/>
          <p:nvPr/>
        </p:nvSpPr>
        <p:spPr>
          <a:xfrm>
            <a:off x="10823220" y="58665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73E636CB-E165-9A45-7002-C392828D1361}"/>
              </a:ext>
            </a:extLst>
          </p:cNvPr>
          <p:cNvSpPr txBox="1"/>
          <p:nvPr/>
        </p:nvSpPr>
        <p:spPr>
          <a:xfrm>
            <a:off x="6601519" y="207323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p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A223F002-78B8-FE08-AD61-66A46CF29699}"/>
              </a:ext>
            </a:extLst>
          </p:cNvPr>
          <p:cNvSpPr txBox="1"/>
          <p:nvPr/>
        </p:nvSpPr>
        <p:spPr>
          <a:xfrm>
            <a:off x="7534396" y="32531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p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543261DA-2361-3357-EA9C-7A23B0884094}"/>
              </a:ext>
            </a:extLst>
          </p:cNvPr>
          <p:cNvSpPr txBox="1"/>
          <p:nvPr/>
        </p:nvSpPr>
        <p:spPr>
          <a:xfrm>
            <a:off x="8472769" y="558011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p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1C202248-53FB-DDCC-0823-A60879971F25}"/>
              </a:ext>
            </a:extLst>
          </p:cNvPr>
          <p:cNvSpPr txBox="1"/>
          <p:nvPr/>
        </p:nvSpPr>
        <p:spPr>
          <a:xfrm>
            <a:off x="7531739" y="210684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6A2769CD-3206-4D33-394E-F5AC17E17A4D}"/>
              </a:ext>
            </a:extLst>
          </p:cNvPr>
          <p:cNvSpPr txBox="1"/>
          <p:nvPr/>
        </p:nvSpPr>
        <p:spPr>
          <a:xfrm>
            <a:off x="8487802" y="329382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10B07E87-6727-9E5A-A0F7-072FE1DE8455}"/>
              </a:ext>
            </a:extLst>
          </p:cNvPr>
          <p:cNvSpPr txBox="1"/>
          <p:nvPr/>
        </p:nvSpPr>
        <p:spPr>
          <a:xfrm>
            <a:off x="9430929" y="560529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13E4B60A-1899-0D78-AB54-AF82662B2732}"/>
              </a:ext>
            </a:extLst>
          </p:cNvPr>
          <p:cNvSpPr txBox="1"/>
          <p:nvPr/>
        </p:nvSpPr>
        <p:spPr>
          <a:xfrm>
            <a:off x="6517247" y="561995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44" name="Szövegdoboz 43">
            <a:extLst>
              <a:ext uri="{FF2B5EF4-FFF2-40B4-BE49-F238E27FC236}">
                <a16:creationId xmlns:a16="http://schemas.microsoft.com/office/drawing/2014/main" id="{A5ABE37C-B363-FB24-B70C-9FB33C33984F}"/>
              </a:ext>
            </a:extLst>
          </p:cNvPr>
          <p:cNvSpPr txBox="1"/>
          <p:nvPr/>
        </p:nvSpPr>
        <p:spPr>
          <a:xfrm>
            <a:off x="11415305" y="563640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26276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0.06797 -0.00069 " pathEditMode="relative" rAng="0" ptsTypes="AA">
                                      <p:cBhvr>
                                        <p:cTn id="20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0.0806 0.00162 " pathEditMode="relative" rAng="0" ptsTypes="AA">
                                      <p:cBhvr>
                                        <p:cTn id="206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3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22222E-6 L -0.09127 0.00139 " pathEditMode="relative" rAng="0" ptsTypes="AA">
                                      <p:cBhvr>
                                        <p:cTn id="261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7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7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8" grpId="0"/>
      <p:bldP spid="18" grpId="1"/>
      <p:bldP spid="18" grpId="2"/>
      <p:bldP spid="19" grpId="0"/>
      <p:bldP spid="21" grpId="0"/>
      <p:bldP spid="21" grpId="1"/>
      <p:bldP spid="24" grpId="0"/>
      <p:bldP spid="24" grpId="1"/>
      <p:bldP spid="31" grpId="0"/>
      <p:bldP spid="31" grpId="1"/>
      <p:bldP spid="31" grpId="2"/>
      <p:bldP spid="31" grpId="3"/>
      <p:bldP spid="31" grpId="4"/>
      <p:bldP spid="31" grpId="5"/>
      <p:bldP spid="20" grpId="0"/>
      <p:bldP spid="20" grpId="1"/>
      <p:bldP spid="32" grpId="0"/>
      <p:bldP spid="32" grpId="1"/>
      <p:bldP spid="33" grpId="0"/>
      <p:bldP spid="33" grpId="1"/>
      <p:bldP spid="33" grpId="2"/>
      <p:bldP spid="37" grpId="0"/>
      <p:bldP spid="37" grpId="1"/>
      <p:bldP spid="37" grpId="2"/>
      <p:bldP spid="39" grpId="0"/>
      <p:bldP spid="40" grpId="0"/>
      <p:bldP spid="41" grpId="0"/>
      <p:bldP spid="42" grpId="0"/>
      <p:bldP spid="43" grpId="0"/>
      <p:bldP spid="46" grpId="0"/>
      <p:bldP spid="46" grpId="1"/>
      <p:bldP spid="47" grpId="0"/>
      <p:bldP spid="47" grpId="1"/>
      <p:bldP spid="50" grpId="0"/>
      <p:bldP spid="50" grpId="1"/>
      <p:bldP spid="52" grpId="0"/>
      <p:bldP spid="52" grpId="1"/>
      <p:bldP spid="53" grpId="0"/>
      <p:bldP spid="53" grpId="1"/>
      <p:bldP spid="54" grpId="0"/>
      <p:bldP spid="54" grpId="1"/>
      <p:bldP spid="56" grpId="0"/>
      <p:bldP spid="57" grpId="0"/>
      <p:bldP spid="58" grpId="0"/>
      <p:bldP spid="59" grpId="0"/>
      <p:bldP spid="60" grpId="0"/>
      <p:bldP spid="65" grpId="0"/>
      <p:bldP spid="65" grpId="1"/>
      <p:bldP spid="65" grpId="2"/>
      <p:bldP spid="66" grpId="0"/>
      <p:bldP spid="66" grpId="1"/>
      <p:bldP spid="66" grpId="2"/>
      <p:bldP spid="67" grpId="0"/>
      <p:bldP spid="67" grpId="1"/>
      <p:bldP spid="68" grpId="0"/>
      <p:bldP spid="68" grpId="1"/>
      <p:bldP spid="70" grpId="0"/>
      <p:bldP spid="70" grpId="1"/>
      <p:bldP spid="70" grpId="2"/>
      <p:bldP spid="71" grpId="0"/>
      <p:bldP spid="72" grpId="0"/>
      <p:bldP spid="73" grpId="0"/>
      <p:bldP spid="73" grpId="1"/>
      <p:bldP spid="74" grpId="0"/>
      <p:bldP spid="81" grpId="0"/>
      <p:bldP spid="81" grpId="1"/>
      <p:bldP spid="81" grpId="2"/>
      <p:bldP spid="83" grpId="0"/>
      <p:bldP spid="83" grpId="1"/>
      <p:bldP spid="8" grpId="0"/>
      <p:bldP spid="8" grpId="1"/>
      <p:bldP spid="25" grpId="0"/>
      <p:bldP spid="25" grpId="1"/>
      <p:bldP spid="27" grpId="0"/>
      <p:bldP spid="27" grpId="1"/>
      <p:bldP spid="29" grpId="0"/>
      <p:bldP spid="29" grpId="1"/>
      <p:bldP spid="30" grpId="0"/>
      <p:bldP spid="30" grpId="1"/>
      <p:bldP spid="34" grpId="0"/>
      <p:bldP spid="34" grpId="1"/>
      <p:bldP spid="35" grpId="0"/>
      <p:bldP spid="44" grpId="0"/>
      <p:bldP spid="44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9E72A3-2883-2C50-EEFC-6284B52E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638" y="588419"/>
            <a:ext cx="10018713" cy="848032"/>
          </a:xfrm>
        </p:spPr>
        <p:txBody>
          <a:bodyPr/>
          <a:lstStyle/>
          <a:p>
            <a:r>
              <a:rPr lang="hu-HU" dirty="0"/>
              <a:t>Rendezések stabilitása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3C06BA-25C8-808B-5CAF-15AABFA3C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221" y="1994170"/>
            <a:ext cx="10018713" cy="4016164"/>
          </a:xfrm>
        </p:spPr>
        <p:txBody>
          <a:bodyPr>
            <a:normAutofit/>
          </a:bodyPr>
          <a:lstStyle/>
          <a:p>
            <a:pPr algn="l"/>
            <a:r>
              <a:rPr lang="hu-HU" sz="2800" b="0" i="0" u="none" strike="noStrike" baseline="0" dirty="0"/>
              <a:t>Egy rendezés stabil (</a:t>
            </a:r>
            <a:r>
              <a:rPr lang="hu-HU" sz="2800" b="0" i="0" u="none" strike="noStrike" baseline="0" dirty="0" err="1"/>
              <a:t>stable</a:t>
            </a:r>
            <a:r>
              <a:rPr lang="hu-HU" sz="2800" b="0" i="0" u="none" strike="noStrike" baseline="0" dirty="0"/>
              <a:t>): </a:t>
            </a:r>
          </a:p>
          <a:p>
            <a:pPr lvl="1"/>
            <a:r>
              <a:rPr lang="hu-HU" sz="2400" b="0" i="0" u="none" strike="noStrike" baseline="0" dirty="0"/>
              <a:t>ha megtartja az egyenl</a:t>
            </a:r>
            <a:r>
              <a:rPr lang="hu-HU" sz="2400" dirty="0"/>
              <a:t>ő</a:t>
            </a:r>
            <a:r>
              <a:rPr lang="hu-HU" sz="2400" b="0" i="0" u="none" strike="noStrike" baseline="0" dirty="0"/>
              <a:t> kulcsú elemek eredeti sorrendjét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A stabilitás (</a:t>
            </a:r>
            <a:r>
              <a:rPr lang="hu-HU" sz="2800" dirty="0" err="1">
                <a:effectLst/>
                <a:ea typeface="Calibri" panose="020F0502020204030204" pitchFamily="34" charset="0"/>
                <a:cs typeface="F29"/>
              </a:rPr>
              <a:t>stability</a:t>
            </a: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) előnyös tulajdonság: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Pl. rekordoknál, ha vannak azonos kulcsú rekordok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A stabilitás nélkülözhetetlen tulajdonság: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pl. (lineáris műveletigényű) radix rendezésnél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016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BC54A-DA9B-F249-4B75-1FEC2439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FCCA51-1D0C-2884-0426-40C6AC115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232215"/>
            <a:ext cx="10018713" cy="1143000"/>
          </a:xfrm>
        </p:spPr>
        <p:txBody>
          <a:bodyPr/>
          <a:lstStyle/>
          <a:p>
            <a:r>
              <a:rPr lang="hu-HU" dirty="0"/>
              <a:t>Rendezések stabilitása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1DA91AD-A608-1F9E-1C60-453B7D20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8812" y="1373093"/>
            <a:ext cx="4607188" cy="576262"/>
          </a:xfrm>
        </p:spPr>
        <p:txBody>
          <a:bodyPr/>
          <a:lstStyle/>
          <a:p>
            <a:r>
              <a:rPr lang="hu-HU" sz="3200" dirty="0"/>
              <a:t>Stabil rendezések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04550E8-A1AF-8BCB-ABF8-662F25349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698" y="3231267"/>
            <a:ext cx="4943597" cy="2111550"/>
          </a:xfrm>
        </p:spPr>
        <p:txBody>
          <a:bodyPr>
            <a:normAutofit fontScale="92500"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az előadás szerinti változatban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A tömb rendezett szakaszába az újabb elemeket jobbról balra szúrjuk be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A beszúrandóval egyenlő kulcsú elemeket már nem lépjük át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7C27592-09F6-1836-E21B-DFBE62E3B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31718" y="1373093"/>
            <a:ext cx="4622537" cy="576262"/>
          </a:xfrm>
        </p:spPr>
        <p:txBody>
          <a:bodyPr/>
          <a:lstStyle/>
          <a:p>
            <a:r>
              <a:rPr lang="hu-HU" sz="3200" dirty="0"/>
              <a:t>Nem stabil rendezések</a:t>
            </a:r>
          </a:p>
        </p:txBody>
      </p:sp>
      <p:sp>
        <p:nvSpPr>
          <p:cNvPr id="11" name="Robbanás: 14 ágú 10">
            <a:extLst>
              <a:ext uri="{FF2B5EF4-FFF2-40B4-BE49-F238E27FC236}">
                <a16:creationId xmlns:a16="http://schemas.microsoft.com/office/drawing/2014/main" id="{3F54555F-41F4-3A33-3AB7-9EFD66077283}"/>
              </a:ext>
            </a:extLst>
          </p:cNvPr>
          <p:cNvSpPr/>
          <p:nvPr/>
        </p:nvSpPr>
        <p:spPr>
          <a:xfrm>
            <a:off x="1671600" y="5182291"/>
            <a:ext cx="5421549" cy="1750979"/>
          </a:xfrm>
          <a:prstGeom prst="irregularSeal2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Összefésülő  rendezés </a:t>
            </a:r>
          </a:p>
          <a:p>
            <a:pPr algn="ctr"/>
            <a:r>
              <a:rPr lang="hu-HU" dirty="0"/>
              <a:t>(</a:t>
            </a:r>
            <a:r>
              <a:rPr lang="hu-HU" dirty="0" err="1"/>
              <a:t>merge</a:t>
            </a:r>
            <a:r>
              <a:rPr lang="hu-HU" dirty="0"/>
              <a:t> sort)</a:t>
            </a:r>
          </a:p>
        </p:txBody>
      </p:sp>
      <p:sp>
        <p:nvSpPr>
          <p:cNvPr id="12" name="Robbanás: 14 ágú 11">
            <a:extLst>
              <a:ext uri="{FF2B5EF4-FFF2-40B4-BE49-F238E27FC236}">
                <a16:creationId xmlns:a16="http://schemas.microsoft.com/office/drawing/2014/main" id="{A5A95D5A-8ACB-9209-A78C-F116F77EFB2B}"/>
              </a:ext>
            </a:extLst>
          </p:cNvPr>
          <p:cNvSpPr/>
          <p:nvPr/>
        </p:nvSpPr>
        <p:spPr>
          <a:xfrm>
            <a:off x="763686" y="1906854"/>
            <a:ext cx="4319081" cy="1324413"/>
          </a:xfrm>
          <a:prstGeom prst="irregularSeal2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Beszúró rendezés </a:t>
            </a:r>
          </a:p>
          <a:p>
            <a:pPr algn="ctr"/>
            <a:r>
              <a:rPr lang="hu-HU" dirty="0"/>
              <a:t>(</a:t>
            </a:r>
            <a:r>
              <a:rPr lang="hu-HU" dirty="0" err="1"/>
              <a:t>insertion</a:t>
            </a:r>
            <a:r>
              <a:rPr lang="hu-HU" dirty="0"/>
              <a:t> sort)</a:t>
            </a:r>
          </a:p>
        </p:txBody>
      </p:sp>
      <p:sp>
        <p:nvSpPr>
          <p:cNvPr id="13" name="Robbanás: 14 ágú 12">
            <a:extLst>
              <a:ext uri="{FF2B5EF4-FFF2-40B4-BE49-F238E27FC236}">
                <a16:creationId xmlns:a16="http://schemas.microsoft.com/office/drawing/2014/main" id="{0CF2C593-7C00-E7C1-96EE-F2C913B33718}"/>
              </a:ext>
            </a:extLst>
          </p:cNvPr>
          <p:cNvSpPr/>
          <p:nvPr/>
        </p:nvSpPr>
        <p:spPr>
          <a:xfrm>
            <a:off x="6994187" y="2298872"/>
            <a:ext cx="5060069" cy="1750979"/>
          </a:xfrm>
          <a:prstGeom prst="irregularSeal2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Kupacrendezés </a:t>
            </a:r>
          </a:p>
          <a:p>
            <a:pPr algn="ctr"/>
            <a:r>
              <a:rPr lang="hu-HU" dirty="0"/>
              <a:t>(</a:t>
            </a:r>
            <a:r>
              <a:rPr lang="hu-HU" dirty="0" err="1"/>
              <a:t>heap</a:t>
            </a:r>
            <a:r>
              <a:rPr lang="hu-HU" dirty="0"/>
              <a:t> sort)</a:t>
            </a:r>
          </a:p>
        </p:txBody>
      </p:sp>
      <p:sp>
        <p:nvSpPr>
          <p:cNvPr id="14" name="Robbanás: 14 ágú 13">
            <a:extLst>
              <a:ext uri="{FF2B5EF4-FFF2-40B4-BE49-F238E27FC236}">
                <a16:creationId xmlns:a16="http://schemas.microsoft.com/office/drawing/2014/main" id="{E3FEDCD1-4C05-7D8C-F3E3-06C39F92173B}"/>
              </a:ext>
            </a:extLst>
          </p:cNvPr>
          <p:cNvSpPr/>
          <p:nvPr/>
        </p:nvSpPr>
        <p:spPr>
          <a:xfrm>
            <a:off x="7248404" y="4280206"/>
            <a:ext cx="4805851" cy="1750979"/>
          </a:xfrm>
          <a:prstGeom prst="irregularSeal2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Gyorsrendezés </a:t>
            </a:r>
          </a:p>
          <a:p>
            <a:pPr algn="ctr"/>
            <a:r>
              <a:rPr lang="hu-HU" dirty="0"/>
              <a:t>(</a:t>
            </a:r>
            <a:r>
              <a:rPr lang="hu-HU" dirty="0" err="1"/>
              <a:t>quicksort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7569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8FAE3F-19D5-96DD-DFCE-0703370A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3685"/>
            <a:ext cx="10018713" cy="1054510"/>
          </a:xfrm>
        </p:spPr>
        <p:txBody>
          <a:bodyPr/>
          <a:lstStyle/>
          <a:p>
            <a:r>
              <a:rPr lang="hu-HU" dirty="0"/>
              <a:t>Kiválasztó rendezések (</a:t>
            </a:r>
            <a:r>
              <a:rPr lang="hu-HU" dirty="0" err="1"/>
              <a:t>selection</a:t>
            </a:r>
            <a:r>
              <a:rPr lang="hu-HU" dirty="0"/>
              <a:t> </a:t>
            </a:r>
            <a:r>
              <a:rPr lang="hu-HU" dirty="0" err="1"/>
              <a:t>sorts</a:t>
            </a:r>
            <a:r>
              <a:rPr lang="hu-HU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BE47CC5-D35A-2E35-B729-CC6B583532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406013"/>
                <a:ext cx="10018713" cy="4994787"/>
              </a:xfrm>
            </p:spPr>
            <p:txBody>
              <a:bodyPr anchor="t"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 dirty="0">
                    <a:effectLst/>
                    <a:ea typeface="Calibri" panose="020F0502020204030204" pitchFamily="34" charset="0"/>
                    <a:cs typeface="F48"/>
                  </a:rPr>
                  <a:t>Minimumkiválasztásos rendezés:</a:t>
                </a:r>
                <a:endParaRPr lang="hu-HU" sz="2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Megkeressük az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[0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..n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 tömb minimális elemét -&gt; csere(min,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[0])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Megkeressük a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[1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..n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 </a:t>
                </a:r>
                <a:r>
                  <a:rPr lang="hu-HU" sz="1800" dirty="0">
                    <a:ea typeface="Calibri" panose="020F0502020204030204" pitchFamily="34" charset="0"/>
                    <a:cs typeface="F78"/>
                  </a:rPr>
                  <a:t>résztömb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legkisebb elemét -&gt; csere(min,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[1])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Folytassuk ezen a módon az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[0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..n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első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n </a:t>
                </a:r>
                <a:r>
                  <a:rPr lang="en-US" sz="1800" dirty="0">
                    <a:effectLst/>
                    <a:ea typeface="Calibri" panose="020F0502020204030204" pitchFamily="34" charset="0"/>
                    <a:cs typeface="CMSY10"/>
                  </a:rPr>
                  <a:t>−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1)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elemére! 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 dirty="0">
                    <a:effectLst/>
                    <a:ea typeface="Calibri" panose="020F0502020204030204" pitchFamily="34" charset="0"/>
                    <a:cs typeface="F78"/>
                  </a:rPr>
                  <a:t>Tömb</a:t>
                </a:r>
                <a:endParaRPr lang="hu-HU" sz="2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rendezett szakasz: a tömb elején kezdetben üres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rendezetlen szakasz: tömb vége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Műveletidő</a:t>
                </a:r>
              </a:p>
              <a:p>
                <a:pPr lvl="4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hu-H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78"/>
                      </a:rPr>
                      <m:t>Ö</m:t>
                    </m:r>
                    <m:d>
                      <m:d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78"/>
                          </a:rPr>
                        </m:ctrlPr>
                      </m:dPr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78"/>
                          </a:rPr>
                          <m:t>𝑛</m:t>
                        </m:r>
                      </m:e>
                    </m:d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78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78"/>
                          </a:rPr>
                        </m:ctrlPr>
                      </m:naryPr>
                      <m:sub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78"/>
                          </a:rPr>
                          <m:t>𝑖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78"/>
                          </a:rPr>
                          <m:t>=1</m:t>
                        </m:r>
                      </m:sub>
                      <m:sup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78"/>
                          </a:rPr>
                          <m:t>𝑛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78"/>
                          </a:rPr>
                          <m:t>−1</m:t>
                        </m:r>
                      </m:sup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78"/>
                          </a:rPr>
                          <m:t>𝑖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78"/>
                          </a:rPr>
                          <m:t>=</m:t>
                        </m:r>
                      </m:e>
                    </m:nary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∗</m:t>
                        </m:r>
                        <m:d>
                          <m:dPr>
                            <m:ctrlP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dPr>
                          <m:e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𝑛</m:t>
                            </m:r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2</m:t>
                        </m:r>
                      </m:den>
                    </m:f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 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MSY10"/>
                      </a:rPr>
                      <m:t>∈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MR12"/>
                      </a:rPr>
                      <m:t>Θ</m:t>
                    </m:r>
                    <m:d>
                      <m:d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CMMI12"/>
                              </a:rPr>
                            </m:ctrlPr>
                          </m:sSupPr>
                          <m:e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CMMI12"/>
                              </a:rPr>
                              <m:t>𝑛</m:t>
                            </m:r>
                          </m:e>
                          <m:sup>
                            <m: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CMMI1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4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𝐶𝑠</m:t>
                    </m:r>
                    <m:d>
                      <m:d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dPr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</m:e>
                    </m:d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=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𝑛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−1 </m:t>
                    </m:r>
                  </m:oMath>
                </a14:m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endParaRPr lang="hu-H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BE47CC5-D35A-2E35-B729-CC6B583532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406013"/>
                <a:ext cx="10018713" cy="4994787"/>
              </a:xfrm>
              <a:blipFill>
                <a:blip r:embed="rId2"/>
                <a:stretch>
                  <a:fillRect l="-1338" t="-3419" b="-36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zövegdoboz 3">
            <a:extLst>
              <a:ext uri="{FF2B5EF4-FFF2-40B4-BE49-F238E27FC236}">
                <a16:creationId xmlns:a16="http://schemas.microsoft.com/office/drawing/2014/main" id="{1BB50AB9-7645-74D1-F9BB-28AD891DEEFA}"/>
              </a:ext>
            </a:extLst>
          </p:cNvPr>
          <p:cNvSpPr txBox="1"/>
          <p:nvPr/>
        </p:nvSpPr>
        <p:spPr>
          <a:xfrm>
            <a:off x="9069260" y="2408903"/>
            <a:ext cx="2358338" cy="34541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latin typeface="Cambria Math" panose="02040503050406030204" pitchFamily="18" charset="0"/>
                <a:ea typeface="CMSY10"/>
                <a:cs typeface="Cambria Math" panose="02040503050406030204" pitchFamily="18" charset="0"/>
              </a:rPr>
              <a:t> </a:t>
            </a:r>
            <a:r>
              <a:rPr lang="hu-HU" sz="2400" dirty="0">
                <a:latin typeface="CMSY10"/>
              </a:rPr>
              <a:t>⟨</a:t>
            </a:r>
            <a:r>
              <a:rPr lang="hu-HU" sz="2400" dirty="0">
                <a:solidFill>
                  <a:srgbClr val="FF0000"/>
                </a:solidFill>
                <a:latin typeface="CMSY10"/>
              </a:rPr>
              <a:t>3</a:t>
            </a:r>
            <a:r>
              <a:rPr lang="hu-HU" sz="2400" dirty="0">
                <a:latin typeface="CMSY10"/>
              </a:rPr>
              <a:t>; 9; 7; </a:t>
            </a:r>
            <a:r>
              <a:rPr lang="hu-HU" sz="2400" dirty="0">
                <a:solidFill>
                  <a:srgbClr val="FF0000"/>
                </a:solidFill>
                <a:latin typeface="CMSY10"/>
              </a:rPr>
              <a:t>1</a:t>
            </a:r>
            <a:r>
              <a:rPr lang="hu-HU" sz="2400" dirty="0">
                <a:latin typeface="CMSY10"/>
              </a:rPr>
              <a:t>; 6; 2⟩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latin typeface="CMSY10"/>
              </a:rPr>
              <a:t> ⟨1 | </a:t>
            </a:r>
            <a:r>
              <a:rPr lang="hu-HU" sz="2400" dirty="0">
                <a:solidFill>
                  <a:srgbClr val="FF0000"/>
                </a:solidFill>
                <a:latin typeface="CMSY10"/>
              </a:rPr>
              <a:t>9</a:t>
            </a:r>
            <a:r>
              <a:rPr lang="hu-HU" sz="2400" dirty="0">
                <a:latin typeface="CMSY10"/>
              </a:rPr>
              <a:t>; 7; 3; 6; </a:t>
            </a:r>
            <a:r>
              <a:rPr lang="hu-HU" sz="2400" dirty="0">
                <a:solidFill>
                  <a:srgbClr val="FF0000"/>
                </a:solidFill>
                <a:latin typeface="CMSY10"/>
              </a:rPr>
              <a:t>2</a:t>
            </a:r>
            <a:r>
              <a:rPr lang="hu-HU" sz="2400" dirty="0">
                <a:latin typeface="CMSY10"/>
              </a:rPr>
              <a:t>⟩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latin typeface="CMSY10"/>
              </a:rPr>
              <a:t> ⟨1; 2 | </a:t>
            </a:r>
            <a:r>
              <a:rPr lang="hu-HU" sz="2400" dirty="0">
                <a:solidFill>
                  <a:srgbClr val="FF0000"/>
                </a:solidFill>
                <a:latin typeface="CMSY10"/>
              </a:rPr>
              <a:t>7</a:t>
            </a:r>
            <a:r>
              <a:rPr lang="hu-HU" sz="2400" dirty="0">
                <a:latin typeface="CMSY10"/>
              </a:rPr>
              <a:t>; </a:t>
            </a:r>
            <a:r>
              <a:rPr lang="hu-HU" sz="2400" dirty="0">
                <a:solidFill>
                  <a:srgbClr val="FF0000"/>
                </a:solidFill>
                <a:latin typeface="CMSY10"/>
              </a:rPr>
              <a:t>3</a:t>
            </a:r>
            <a:r>
              <a:rPr lang="hu-HU" sz="2400" dirty="0">
                <a:latin typeface="CMSY10"/>
              </a:rPr>
              <a:t>; 6; 9⟩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MSY10"/>
              </a:rPr>
              <a:t> </a:t>
            </a:r>
            <a:r>
              <a:rPr lang="hu-HU" sz="2400" dirty="0">
                <a:latin typeface="CMSY10"/>
              </a:rPr>
              <a:t>⟨1; 2; 3 | </a:t>
            </a:r>
            <a:r>
              <a:rPr lang="hu-HU" sz="2400" dirty="0">
                <a:solidFill>
                  <a:srgbClr val="FF0000"/>
                </a:solidFill>
                <a:latin typeface="CMSY10"/>
              </a:rPr>
              <a:t>7</a:t>
            </a:r>
            <a:r>
              <a:rPr lang="hu-HU" sz="2400" dirty="0">
                <a:latin typeface="CMSY10"/>
              </a:rPr>
              <a:t>; </a:t>
            </a:r>
            <a:r>
              <a:rPr lang="hu-HU" sz="2400" dirty="0">
                <a:solidFill>
                  <a:srgbClr val="FF0000"/>
                </a:solidFill>
                <a:latin typeface="CMSY10"/>
              </a:rPr>
              <a:t>6</a:t>
            </a:r>
            <a:r>
              <a:rPr lang="hu-HU" sz="2400" dirty="0">
                <a:latin typeface="CMSY10"/>
              </a:rPr>
              <a:t>; 9⟩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MSY10"/>
              </a:rPr>
              <a:t> </a:t>
            </a:r>
            <a:r>
              <a:rPr lang="hu-HU" sz="2400" dirty="0">
                <a:latin typeface="CMSY10"/>
              </a:rPr>
              <a:t>⟨1; 2; 3; 6 | </a:t>
            </a:r>
            <a:r>
              <a:rPr lang="hu-HU" sz="2400" dirty="0">
                <a:solidFill>
                  <a:srgbClr val="FF0000"/>
                </a:solidFill>
                <a:latin typeface="CMSY10"/>
              </a:rPr>
              <a:t>7</a:t>
            </a:r>
            <a:r>
              <a:rPr lang="hu-HU" sz="2400" dirty="0">
                <a:latin typeface="CMSY10"/>
              </a:rPr>
              <a:t>; 9⟩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MSY10"/>
              </a:rPr>
              <a:t> </a:t>
            </a:r>
            <a:r>
              <a:rPr lang="hu-HU" sz="2400" dirty="0">
                <a:latin typeface="CMSY10"/>
              </a:rPr>
              <a:t>⟨1; 2; 3; 6; 7 | 9⟩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MSY10"/>
              </a:rPr>
              <a:t> </a:t>
            </a:r>
            <a:r>
              <a:rPr lang="hu-HU" sz="2400" dirty="0">
                <a:latin typeface="CMSY10"/>
              </a:rPr>
              <a:t>⟨1; 2; 3; 6; 7; 9⟩</a:t>
            </a:r>
          </a:p>
        </p:txBody>
      </p:sp>
      <p:sp>
        <p:nvSpPr>
          <p:cNvPr id="5" name="Tekercs: függőleges 4">
            <a:extLst>
              <a:ext uri="{FF2B5EF4-FFF2-40B4-BE49-F238E27FC236}">
                <a16:creationId xmlns:a16="http://schemas.microsoft.com/office/drawing/2014/main" id="{2F2DFEE2-9573-D79C-34B4-23E4C2072360}"/>
              </a:ext>
            </a:extLst>
          </p:cNvPr>
          <p:cNvSpPr/>
          <p:nvPr/>
        </p:nvSpPr>
        <p:spPr>
          <a:xfrm>
            <a:off x="8483600" y="1696720"/>
            <a:ext cx="3708400" cy="4704080"/>
          </a:xfrm>
          <a:prstGeom prst="verticalScroll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67E76A15-C95E-3CBB-B83A-8683FCE73AE0}"/>
              </a:ext>
            </a:extLst>
          </p:cNvPr>
          <p:cNvSpPr/>
          <p:nvPr/>
        </p:nvSpPr>
        <p:spPr>
          <a:xfrm>
            <a:off x="2986392" y="5029200"/>
            <a:ext cx="4286655" cy="1499418"/>
          </a:xfrm>
          <a:prstGeom prst="horizontalScroll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6421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B9A495-DD60-BF4C-E242-48AFEF34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989" y="0"/>
            <a:ext cx="4882731" cy="238760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40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F78"/>
              </a:rPr>
              <a:t>„oszd meg és uralkodj” </a:t>
            </a:r>
            <a:r>
              <a:rPr lang="hu-HU" sz="40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F29"/>
              </a:rPr>
              <a:t>elv </a:t>
            </a:r>
            <a:endParaRPr lang="hu-HU" sz="4000" b="1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elhő 5">
            <a:extLst>
              <a:ext uri="{FF2B5EF4-FFF2-40B4-BE49-F238E27FC236}">
                <a16:creationId xmlns:a16="http://schemas.microsoft.com/office/drawing/2014/main" id="{1C4FC2E7-51C4-2BAB-8C3F-6D24070FF837}"/>
              </a:ext>
            </a:extLst>
          </p:cNvPr>
          <p:cNvSpPr/>
          <p:nvPr/>
        </p:nvSpPr>
        <p:spPr>
          <a:xfrm rot="21218364">
            <a:off x="776784" y="2561750"/>
            <a:ext cx="6101139" cy="2802852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hu-HU" sz="2400" dirty="0">
              <a:solidFill>
                <a:schemeClr val="tx1"/>
              </a:solidFill>
              <a:ea typeface="Calibri" panose="020F0502020204030204" pitchFamily="34" charset="0"/>
              <a:cs typeface="F29"/>
            </a:endParaRPr>
          </a:p>
          <a:p>
            <a:pPr marL="9525" indent="-9525" algn="ctr">
              <a:lnSpc>
                <a:spcPct val="107000"/>
              </a:lnSpc>
              <a:spcAft>
                <a:spcPts val="800"/>
              </a:spcAft>
              <a:buAutoNum type="arabicPeriod"/>
            </a:pPr>
            <a:r>
              <a:rPr lang="hu-HU" sz="2400" dirty="0">
                <a:solidFill>
                  <a:schemeClr val="tx1"/>
                </a:solidFill>
                <a:ea typeface="Calibri" panose="020F0502020204030204" pitchFamily="34" charset="0"/>
                <a:cs typeface="F29"/>
              </a:rPr>
              <a:t>Az adott problémát két (vagy több) részfeladatra bontjuk</a:t>
            </a:r>
          </a:p>
          <a:p>
            <a:pPr marL="0" lvl="1" indent="3175" algn="ctr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ea typeface="Calibri" panose="020F0502020204030204" pitchFamily="34" charset="0"/>
                <a:cs typeface="F29"/>
              </a:rPr>
              <a:t> </a:t>
            </a:r>
            <a:r>
              <a:rPr lang="hu-HU" sz="2000" dirty="0">
                <a:solidFill>
                  <a:schemeClr val="tx1"/>
                </a:solidFill>
                <a:ea typeface="Calibri" panose="020F0502020204030204" pitchFamily="34" charset="0"/>
                <a:cs typeface="F29"/>
              </a:rPr>
              <a:t>Eredetihez hasonló</a:t>
            </a:r>
          </a:p>
          <a:p>
            <a:pPr marL="0" lvl="1" algn="ctr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tx1"/>
                </a:solidFill>
                <a:ea typeface="Calibri" panose="020F0502020204030204" pitchFamily="34" charset="0"/>
                <a:cs typeface="F29"/>
              </a:rPr>
              <a:t> Egyszerűbb (kisebb)</a:t>
            </a:r>
          </a:p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7" name="Felhő 6">
            <a:extLst>
              <a:ext uri="{FF2B5EF4-FFF2-40B4-BE49-F238E27FC236}">
                <a16:creationId xmlns:a16="http://schemas.microsoft.com/office/drawing/2014/main" id="{75F3CB25-D0E8-2B57-9ABE-43498DAD8CEF}"/>
              </a:ext>
            </a:extLst>
          </p:cNvPr>
          <p:cNvSpPr/>
          <p:nvPr/>
        </p:nvSpPr>
        <p:spPr>
          <a:xfrm>
            <a:off x="5393223" y="3429000"/>
            <a:ext cx="6798777" cy="3292644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solidFill>
                  <a:schemeClr val="tx1"/>
                </a:solidFill>
                <a:ea typeface="Calibri" panose="020F0502020204030204" pitchFamily="34" charset="0"/>
              </a:rPr>
              <a:t>2. Ezeket megoldjuk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tx1"/>
                </a:solidFill>
              </a:rPr>
              <a:t>Ha a megoldandó (rész)probléma elég egyszerű -&gt; közvetlenül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tx1"/>
                </a:solidFill>
              </a:rPr>
              <a:t>Egyébként: ugyanazzal az algoritmussal</a:t>
            </a:r>
          </a:p>
        </p:txBody>
      </p:sp>
      <p:sp>
        <p:nvSpPr>
          <p:cNvPr id="8" name="Felhő 7">
            <a:extLst>
              <a:ext uri="{FF2B5EF4-FFF2-40B4-BE49-F238E27FC236}">
                <a16:creationId xmlns:a16="http://schemas.microsoft.com/office/drawing/2014/main" id="{2B1A48A2-32CB-547E-7E6E-B53AEDC0CBC2}"/>
              </a:ext>
            </a:extLst>
          </p:cNvPr>
          <p:cNvSpPr/>
          <p:nvPr/>
        </p:nvSpPr>
        <p:spPr>
          <a:xfrm rot="508351">
            <a:off x="1382576" y="5054412"/>
            <a:ext cx="5257846" cy="1704916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hu-HU" sz="24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solidFill>
                  <a:schemeClr val="tx1"/>
                </a:solidFill>
                <a:ea typeface="Calibri" panose="020F0502020204030204" pitchFamily="34" charset="0"/>
                <a:cs typeface="F29"/>
              </a:rPr>
              <a:t>3. A részeredményekből összerakjuk a felbontott probléma megoldását</a:t>
            </a:r>
          </a:p>
          <a:p>
            <a:pPr algn="ctr"/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BD7E10F-EB4A-0FD8-56EA-777ABEE8F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441" y="136356"/>
            <a:ext cx="6203408" cy="254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552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64F75-AE9D-F0AE-9577-99387975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28DCE9-AD28-C33F-F4F8-79170241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656" y="216051"/>
            <a:ext cx="5821162" cy="2167226"/>
          </a:xfrm>
        </p:spPr>
        <p:txBody>
          <a:bodyPr>
            <a:normAutofit/>
          </a:bodyPr>
          <a:lstStyle/>
          <a:p>
            <a:r>
              <a:rPr lang="hu-HU" dirty="0"/>
              <a:t>Összefésülő rendezés (</a:t>
            </a:r>
            <a:r>
              <a:rPr lang="hu-HU" dirty="0" err="1"/>
              <a:t>Merge</a:t>
            </a:r>
            <a:r>
              <a:rPr lang="hu-HU" dirty="0"/>
              <a:t> Sort)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E05491-B96B-C137-FB95-95001A586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656" y="2042808"/>
            <a:ext cx="5834165" cy="4509939"/>
          </a:xfrm>
        </p:spPr>
        <p:txBody>
          <a:bodyPr>
            <a:norm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„oszd meg és uralkodj”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elv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Adott: egy rendezendő kulcssorozat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a typeface="Calibri" panose="020F0502020204030204" pitchFamily="34" charset="0"/>
                <a:cs typeface="F29"/>
              </a:rPr>
              <a:t>2 eset: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Üres és az egyelemű sorozatok: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eleve rendezettek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Hosszabb sorozatok: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 két fél-sorozatot ugyanezzel a módszerrel rendezzük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 rendezett fél-</a:t>
            </a:r>
            <a:r>
              <a:rPr lang="hu-HU" sz="1800" dirty="0" err="1">
                <a:effectLst/>
                <a:ea typeface="Calibri" panose="020F0502020204030204" pitchFamily="34" charset="0"/>
                <a:cs typeface="F29"/>
              </a:rPr>
              <a:t>sorozatokat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 rendezetten összefésüljük</a:t>
            </a:r>
            <a:endParaRPr lang="hu-HU" sz="1800" dirty="0"/>
          </a:p>
        </p:txBody>
      </p:sp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740360E1-4568-9891-08DC-4F5B9CF1E40B}"/>
              </a:ext>
            </a:extLst>
          </p:cNvPr>
          <p:cNvSpPr/>
          <p:nvPr/>
        </p:nvSpPr>
        <p:spPr>
          <a:xfrm>
            <a:off x="6809147" y="724448"/>
            <a:ext cx="5374640" cy="5191320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00CF01B-4995-D7E1-BF77-B2237B508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540" y="1440470"/>
            <a:ext cx="3898527" cy="432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07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F4519A-9F20-5981-1063-06FA8674F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4075"/>
            <a:ext cx="10018713" cy="1044677"/>
          </a:xfrm>
        </p:spPr>
        <p:txBody>
          <a:bodyPr/>
          <a:lstStyle/>
          <a:p>
            <a:r>
              <a:rPr lang="hu-HU" dirty="0"/>
              <a:t>Összefésülő rendezés algoritmusa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9" b="4009"/>
          <a:stretch/>
        </p:blipFill>
        <p:spPr>
          <a:xfrm>
            <a:off x="4088801" y="1537362"/>
            <a:ext cx="5142235" cy="151432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B2084D7-5D2F-D916-13E4-E7DE05C7B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125" y="3450301"/>
            <a:ext cx="6363588" cy="297221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863172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ABA544-AFA9-B49C-5B5D-83A278AA9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8104"/>
            <a:ext cx="10018713" cy="848032"/>
          </a:xfrm>
        </p:spPr>
        <p:txBody>
          <a:bodyPr/>
          <a:lstStyle/>
          <a:p>
            <a:r>
              <a:rPr lang="hu-HU" dirty="0"/>
              <a:t>Összefésülő rendezés algoritmusa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D313614-52A4-D2A2-0681-14D8DC229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898" y="1184273"/>
            <a:ext cx="6270203" cy="456813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722137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0CD67443-29A2-E965-2562-8932A91C3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29159">
            <a:off x="1322339" y="1236333"/>
            <a:ext cx="4202222" cy="5045881"/>
          </a:xfrm>
          <a:custGeom>
            <a:avLst/>
            <a:gdLst>
              <a:gd name="csX0" fmla="*/ 0 w 4202222"/>
              <a:gd name="csY0" fmla="*/ 0 h 5045881"/>
              <a:gd name="csX1" fmla="*/ 399211 w 4202222"/>
              <a:gd name="csY1" fmla="*/ 0 h 5045881"/>
              <a:gd name="csX2" fmla="*/ 966511 w 4202222"/>
              <a:gd name="csY2" fmla="*/ 0 h 5045881"/>
              <a:gd name="csX3" fmla="*/ 1533811 w 4202222"/>
              <a:gd name="csY3" fmla="*/ 0 h 5045881"/>
              <a:gd name="csX4" fmla="*/ 1975044 w 4202222"/>
              <a:gd name="csY4" fmla="*/ 0 h 5045881"/>
              <a:gd name="csX5" fmla="*/ 2374255 w 4202222"/>
              <a:gd name="csY5" fmla="*/ 0 h 5045881"/>
              <a:gd name="csX6" fmla="*/ 2815489 w 4202222"/>
              <a:gd name="csY6" fmla="*/ 0 h 5045881"/>
              <a:gd name="csX7" fmla="*/ 3424811 w 4202222"/>
              <a:gd name="csY7" fmla="*/ 0 h 5045881"/>
              <a:gd name="csX8" fmla="*/ 4202222 w 4202222"/>
              <a:gd name="csY8" fmla="*/ 0 h 5045881"/>
              <a:gd name="csX9" fmla="*/ 4202222 w 4202222"/>
              <a:gd name="csY9" fmla="*/ 459736 h 5045881"/>
              <a:gd name="csX10" fmla="*/ 4202222 w 4202222"/>
              <a:gd name="csY10" fmla="*/ 1121307 h 5045881"/>
              <a:gd name="csX11" fmla="*/ 4202222 w 4202222"/>
              <a:gd name="csY11" fmla="*/ 1681960 h 5045881"/>
              <a:gd name="csX12" fmla="*/ 4202222 w 4202222"/>
              <a:gd name="csY12" fmla="*/ 2293073 h 5045881"/>
              <a:gd name="csX13" fmla="*/ 4202222 w 4202222"/>
              <a:gd name="csY13" fmla="*/ 2904185 h 5045881"/>
              <a:gd name="csX14" fmla="*/ 4202222 w 4202222"/>
              <a:gd name="csY14" fmla="*/ 3414379 h 5045881"/>
              <a:gd name="csX15" fmla="*/ 4202222 w 4202222"/>
              <a:gd name="csY15" fmla="*/ 3823656 h 5045881"/>
              <a:gd name="csX16" fmla="*/ 4202222 w 4202222"/>
              <a:gd name="csY16" fmla="*/ 4384310 h 5045881"/>
              <a:gd name="csX17" fmla="*/ 4202222 w 4202222"/>
              <a:gd name="csY17" fmla="*/ 5045881 h 5045881"/>
              <a:gd name="csX18" fmla="*/ 3803011 w 4202222"/>
              <a:gd name="csY18" fmla="*/ 5045881 h 5045881"/>
              <a:gd name="csX19" fmla="*/ 3403800 w 4202222"/>
              <a:gd name="csY19" fmla="*/ 5045881 h 5045881"/>
              <a:gd name="csX20" fmla="*/ 2836500 w 4202222"/>
              <a:gd name="csY20" fmla="*/ 5045881 h 5045881"/>
              <a:gd name="csX21" fmla="*/ 2353244 w 4202222"/>
              <a:gd name="csY21" fmla="*/ 5045881 h 5045881"/>
              <a:gd name="csX22" fmla="*/ 1743922 w 4202222"/>
              <a:gd name="csY22" fmla="*/ 5045881 h 5045881"/>
              <a:gd name="csX23" fmla="*/ 1218644 w 4202222"/>
              <a:gd name="csY23" fmla="*/ 5045881 h 5045881"/>
              <a:gd name="csX24" fmla="*/ 777411 w 4202222"/>
              <a:gd name="csY24" fmla="*/ 5045881 h 5045881"/>
              <a:gd name="csX25" fmla="*/ 0 w 4202222"/>
              <a:gd name="csY25" fmla="*/ 5045881 h 5045881"/>
              <a:gd name="csX26" fmla="*/ 0 w 4202222"/>
              <a:gd name="csY26" fmla="*/ 4535686 h 5045881"/>
              <a:gd name="csX27" fmla="*/ 0 w 4202222"/>
              <a:gd name="csY27" fmla="*/ 3924574 h 5045881"/>
              <a:gd name="csX28" fmla="*/ 0 w 4202222"/>
              <a:gd name="csY28" fmla="*/ 3313462 h 5045881"/>
              <a:gd name="csX29" fmla="*/ 0 w 4202222"/>
              <a:gd name="csY29" fmla="*/ 2904185 h 5045881"/>
              <a:gd name="csX30" fmla="*/ 0 w 4202222"/>
              <a:gd name="csY30" fmla="*/ 2494908 h 5045881"/>
              <a:gd name="csX31" fmla="*/ 0 w 4202222"/>
              <a:gd name="csY31" fmla="*/ 2035172 h 5045881"/>
              <a:gd name="csX32" fmla="*/ 0 w 4202222"/>
              <a:gd name="csY32" fmla="*/ 1373601 h 5045881"/>
              <a:gd name="csX33" fmla="*/ 0 w 4202222"/>
              <a:gd name="csY33" fmla="*/ 712030 h 5045881"/>
              <a:gd name="csX34" fmla="*/ 0 w 4202222"/>
              <a:gd name="csY34" fmla="*/ 0 h 5045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4202222" h="5045881" fill="none" extrusionOk="0">
                <a:moveTo>
                  <a:pt x="0" y="0"/>
                </a:moveTo>
                <a:cubicBezTo>
                  <a:pt x="95025" y="-1936"/>
                  <a:pt x="228072" y="29111"/>
                  <a:pt x="399211" y="0"/>
                </a:cubicBezTo>
                <a:cubicBezTo>
                  <a:pt x="570350" y="-29111"/>
                  <a:pt x="714782" y="43431"/>
                  <a:pt x="966511" y="0"/>
                </a:cubicBezTo>
                <a:cubicBezTo>
                  <a:pt x="1218240" y="-43431"/>
                  <a:pt x="1283541" y="63886"/>
                  <a:pt x="1533811" y="0"/>
                </a:cubicBezTo>
                <a:cubicBezTo>
                  <a:pt x="1784081" y="-63886"/>
                  <a:pt x="1824747" y="38907"/>
                  <a:pt x="1975044" y="0"/>
                </a:cubicBezTo>
                <a:cubicBezTo>
                  <a:pt x="2125341" y="-38907"/>
                  <a:pt x="2272510" y="26936"/>
                  <a:pt x="2374255" y="0"/>
                </a:cubicBezTo>
                <a:cubicBezTo>
                  <a:pt x="2476000" y="-26936"/>
                  <a:pt x="2634267" y="32161"/>
                  <a:pt x="2815489" y="0"/>
                </a:cubicBezTo>
                <a:cubicBezTo>
                  <a:pt x="2996711" y="-32161"/>
                  <a:pt x="3128234" y="71346"/>
                  <a:pt x="3424811" y="0"/>
                </a:cubicBezTo>
                <a:cubicBezTo>
                  <a:pt x="3721388" y="-71346"/>
                  <a:pt x="3942300" y="81387"/>
                  <a:pt x="4202222" y="0"/>
                </a:cubicBezTo>
                <a:cubicBezTo>
                  <a:pt x="4251936" y="215159"/>
                  <a:pt x="4148778" y="299661"/>
                  <a:pt x="4202222" y="459736"/>
                </a:cubicBezTo>
                <a:cubicBezTo>
                  <a:pt x="4255666" y="619811"/>
                  <a:pt x="4145377" y="980586"/>
                  <a:pt x="4202222" y="1121307"/>
                </a:cubicBezTo>
                <a:cubicBezTo>
                  <a:pt x="4259067" y="1262028"/>
                  <a:pt x="4147090" y="1413270"/>
                  <a:pt x="4202222" y="1681960"/>
                </a:cubicBezTo>
                <a:cubicBezTo>
                  <a:pt x="4257354" y="1950650"/>
                  <a:pt x="4144712" y="2148447"/>
                  <a:pt x="4202222" y="2293073"/>
                </a:cubicBezTo>
                <a:cubicBezTo>
                  <a:pt x="4259732" y="2437699"/>
                  <a:pt x="4140429" y="2612084"/>
                  <a:pt x="4202222" y="2904185"/>
                </a:cubicBezTo>
                <a:cubicBezTo>
                  <a:pt x="4264015" y="3196286"/>
                  <a:pt x="4192646" y="3210167"/>
                  <a:pt x="4202222" y="3414379"/>
                </a:cubicBezTo>
                <a:cubicBezTo>
                  <a:pt x="4211798" y="3618591"/>
                  <a:pt x="4164264" y="3739176"/>
                  <a:pt x="4202222" y="3823656"/>
                </a:cubicBezTo>
                <a:cubicBezTo>
                  <a:pt x="4240180" y="3908136"/>
                  <a:pt x="4170275" y="4244449"/>
                  <a:pt x="4202222" y="4384310"/>
                </a:cubicBezTo>
                <a:cubicBezTo>
                  <a:pt x="4234169" y="4524171"/>
                  <a:pt x="4186009" y="4780445"/>
                  <a:pt x="4202222" y="5045881"/>
                </a:cubicBezTo>
                <a:cubicBezTo>
                  <a:pt x="4048209" y="5071199"/>
                  <a:pt x="3996432" y="5004098"/>
                  <a:pt x="3803011" y="5045881"/>
                </a:cubicBezTo>
                <a:cubicBezTo>
                  <a:pt x="3609590" y="5087664"/>
                  <a:pt x="3526896" y="5027091"/>
                  <a:pt x="3403800" y="5045881"/>
                </a:cubicBezTo>
                <a:cubicBezTo>
                  <a:pt x="3280704" y="5064671"/>
                  <a:pt x="2969390" y="4984526"/>
                  <a:pt x="2836500" y="5045881"/>
                </a:cubicBezTo>
                <a:cubicBezTo>
                  <a:pt x="2703610" y="5107236"/>
                  <a:pt x="2481025" y="5035895"/>
                  <a:pt x="2353244" y="5045881"/>
                </a:cubicBezTo>
                <a:cubicBezTo>
                  <a:pt x="2225463" y="5055867"/>
                  <a:pt x="2043780" y="4983886"/>
                  <a:pt x="1743922" y="5045881"/>
                </a:cubicBezTo>
                <a:cubicBezTo>
                  <a:pt x="1444064" y="5107876"/>
                  <a:pt x="1351060" y="5040341"/>
                  <a:pt x="1218644" y="5045881"/>
                </a:cubicBezTo>
                <a:cubicBezTo>
                  <a:pt x="1086228" y="5051421"/>
                  <a:pt x="974558" y="5017689"/>
                  <a:pt x="777411" y="5045881"/>
                </a:cubicBezTo>
                <a:cubicBezTo>
                  <a:pt x="580264" y="5074073"/>
                  <a:pt x="333642" y="4983243"/>
                  <a:pt x="0" y="5045881"/>
                </a:cubicBezTo>
                <a:cubicBezTo>
                  <a:pt x="-31513" y="4846107"/>
                  <a:pt x="44292" y="4743821"/>
                  <a:pt x="0" y="4535686"/>
                </a:cubicBezTo>
                <a:cubicBezTo>
                  <a:pt x="-44292" y="4327552"/>
                  <a:pt x="16358" y="4082057"/>
                  <a:pt x="0" y="3924574"/>
                </a:cubicBezTo>
                <a:cubicBezTo>
                  <a:pt x="-16358" y="3767091"/>
                  <a:pt x="16167" y="3559072"/>
                  <a:pt x="0" y="3313462"/>
                </a:cubicBezTo>
                <a:cubicBezTo>
                  <a:pt x="-16167" y="3067852"/>
                  <a:pt x="43291" y="3081627"/>
                  <a:pt x="0" y="2904185"/>
                </a:cubicBezTo>
                <a:cubicBezTo>
                  <a:pt x="-43291" y="2726743"/>
                  <a:pt x="39210" y="2649348"/>
                  <a:pt x="0" y="2494908"/>
                </a:cubicBezTo>
                <a:cubicBezTo>
                  <a:pt x="-39210" y="2340468"/>
                  <a:pt x="19425" y="2188185"/>
                  <a:pt x="0" y="2035172"/>
                </a:cubicBezTo>
                <a:cubicBezTo>
                  <a:pt x="-19425" y="1882159"/>
                  <a:pt x="26933" y="1578080"/>
                  <a:pt x="0" y="1373601"/>
                </a:cubicBezTo>
                <a:cubicBezTo>
                  <a:pt x="-26933" y="1169122"/>
                  <a:pt x="77200" y="1014339"/>
                  <a:pt x="0" y="712030"/>
                </a:cubicBezTo>
                <a:cubicBezTo>
                  <a:pt x="-77200" y="409721"/>
                  <a:pt x="43601" y="179293"/>
                  <a:pt x="0" y="0"/>
                </a:cubicBezTo>
                <a:close/>
              </a:path>
              <a:path w="4202222" h="5045881" stroke="0" extrusionOk="0">
                <a:moveTo>
                  <a:pt x="0" y="0"/>
                </a:moveTo>
                <a:cubicBezTo>
                  <a:pt x="235893" y="-39586"/>
                  <a:pt x="456444" y="54235"/>
                  <a:pt x="609322" y="0"/>
                </a:cubicBezTo>
                <a:cubicBezTo>
                  <a:pt x="762200" y="-54235"/>
                  <a:pt x="955024" y="14802"/>
                  <a:pt x="1092578" y="0"/>
                </a:cubicBezTo>
                <a:cubicBezTo>
                  <a:pt x="1230132" y="-14802"/>
                  <a:pt x="1508867" y="21058"/>
                  <a:pt x="1617855" y="0"/>
                </a:cubicBezTo>
                <a:cubicBezTo>
                  <a:pt x="1726843" y="-21058"/>
                  <a:pt x="1880542" y="49199"/>
                  <a:pt x="2143133" y="0"/>
                </a:cubicBezTo>
                <a:cubicBezTo>
                  <a:pt x="2405724" y="-49199"/>
                  <a:pt x="2581930" y="42489"/>
                  <a:pt x="2752455" y="0"/>
                </a:cubicBezTo>
                <a:cubicBezTo>
                  <a:pt x="2922980" y="-42489"/>
                  <a:pt x="3208566" y="59885"/>
                  <a:pt x="3361778" y="0"/>
                </a:cubicBezTo>
                <a:cubicBezTo>
                  <a:pt x="3514990" y="-59885"/>
                  <a:pt x="3862430" y="82006"/>
                  <a:pt x="4202222" y="0"/>
                </a:cubicBezTo>
                <a:cubicBezTo>
                  <a:pt x="4257540" y="199651"/>
                  <a:pt x="4168554" y="289069"/>
                  <a:pt x="4202222" y="510195"/>
                </a:cubicBezTo>
                <a:cubicBezTo>
                  <a:pt x="4235890" y="731321"/>
                  <a:pt x="4149902" y="844081"/>
                  <a:pt x="4202222" y="969930"/>
                </a:cubicBezTo>
                <a:cubicBezTo>
                  <a:pt x="4254542" y="1095780"/>
                  <a:pt x="4190100" y="1269782"/>
                  <a:pt x="4202222" y="1429666"/>
                </a:cubicBezTo>
                <a:cubicBezTo>
                  <a:pt x="4214344" y="1589550"/>
                  <a:pt x="4181379" y="1947582"/>
                  <a:pt x="4202222" y="2091237"/>
                </a:cubicBezTo>
                <a:cubicBezTo>
                  <a:pt x="4223065" y="2234892"/>
                  <a:pt x="4152112" y="2380994"/>
                  <a:pt x="4202222" y="2550973"/>
                </a:cubicBezTo>
                <a:cubicBezTo>
                  <a:pt x="4252332" y="2720952"/>
                  <a:pt x="4179140" y="2964588"/>
                  <a:pt x="4202222" y="3111627"/>
                </a:cubicBezTo>
                <a:cubicBezTo>
                  <a:pt x="4225304" y="3258666"/>
                  <a:pt x="4181456" y="3400500"/>
                  <a:pt x="4202222" y="3672280"/>
                </a:cubicBezTo>
                <a:cubicBezTo>
                  <a:pt x="4222988" y="3944060"/>
                  <a:pt x="4160818" y="4033391"/>
                  <a:pt x="4202222" y="4333851"/>
                </a:cubicBezTo>
                <a:cubicBezTo>
                  <a:pt x="4243626" y="4634311"/>
                  <a:pt x="4192308" y="4876230"/>
                  <a:pt x="4202222" y="5045881"/>
                </a:cubicBezTo>
                <a:cubicBezTo>
                  <a:pt x="4050744" y="5064908"/>
                  <a:pt x="3901351" y="5043533"/>
                  <a:pt x="3760989" y="5045881"/>
                </a:cubicBezTo>
                <a:cubicBezTo>
                  <a:pt x="3620627" y="5048229"/>
                  <a:pt x="3503889" y="5002416"/>
                  <a:pt x="3361778" y="5045881"/>
                </a:cubicBezTo>
                <a:cubicBezTo>
                  <a:pt x="3219667" y="5089346"/>
                  <a:pt x="3147018" y="5011721"/>
                  <a:pt x="2962567" y="5045881"/>
                </a:cubicBezTo>
                <a:cubicBezTo>
                  <a:pt x="2778116" y="5080041"/>
                  <a:pt x="2686923" y="5028451"/>
                  <a:pt x="2563355" y="5045881"/>
                </a:cubicBezTo>
                <a:cubicBezTo>
                  <a:pt x="2439787" y="5063311"/>
                  <a:pt x="2334550" y="5037101"/>
                  <a:pt x="2164144" y="5045881"/>
                </a:cubicBezTo>
                <a:cubicBezTo>
                  <a:pt x="1993738" y="5054661"/>
                  <a:pt x="1846039" y="4987508"/>
                  <a:pt x="1638867" y="5045881"/>
                </a:cubicBezTo>
                <a:cubicBezTo>
                  <a:pt x="1431695" y="5104254"/>
                  <a:pt x="1374882" y="4995132"/>
                  <a:pt x="1113589" y="5045881"/>
                </a:cubicBezTo>
                <a:cubicBezTo>
                  <a:pt x="852296" y="5096630"/>
                  <a:pt x="848083" y="5025153"/>
                  <a:pt x="672356" y="5045881"/>
                </a:cubicBezTo>
                <a:cubicBezTo>
                  <a:pt x="496629" y="5066609"/>
                  <a:pt x="230631" y="5004443"/>
                  <a:pt x="0" y="5045881"/>
                </a:cubicBezTo>
                <a:cubicBezTo>
                  <a:pt x="-61334" y="4891757"/>
                  <a:pt x="34303" y="4693670"/>
                  <a:pt x="0" y="4384310"/>
                </a:cubicBezTo>
                <a:cubicBezTo>
                  <a:pt x="-34303" y="4074950"/>
                  <a:pt x="35761" y="4132453"/>
                  <a:pt x="0" y="3975033"/>
                </a:cubicBezTo>
                <a:cubicBezTo>
                  <a:pt x="-35761" y="3817613"/>
                  <a:pt x="32020" y="3540091"/>
                  <a:pt x="0" y="3414379"/>
                </a:cubicBezTo>
                <a:cubicBezTo>
                  <a:pt x="-32020" y="3288667"/>
                  <a:pt x="37596" y="3090231"/>
                  <a:pt x="0" y="2954644"/>
                </a:cubicBezTo>
                <a:cubicBezTo>
                  <a:pt x="-37596" y="2819057"/>
                  <a:pt x="63345" y="2628440"/>
                  <a:pt x="0" y="2343531"/>
                </a:cubicBezTo>
                <a:cubicBezTo>
                  <a:pt x="-63345" y="2058622"/>
                  <a:pt x="17822" y="1918597"/>
                  <a:pt x="0" y="1732419"/>
                </a:cubicBezTo>
                <a:cubicBezTo>
                  <a:pt x="-17822" y="1546241"/>
                  <a:pt x="73731" y="1300008"/>
                  <a:pt x="0" y="1070848"/>
                </a:cubicBezTo>
                <a:cubicBezTo>
                  <a:pt x="-73731" y="841688"/>
                  <a:pt x="30806" y="664864"/>
                  <a:pt x="0" y="560653"/>
                </a:cubicBezTo>
                <a:cubicBezTo>
                  <a:pt x="-30806" y="456442"/>
                  <a:pt x="1048" y="11503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66D1F47-2915-773C-6434-68F8C0858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043" y="192993"/>
            <a:ext cx="10018713" cy="1126375"/>
          </a:xfrm>
        </p:spPr>
        <p:txBody>
          <a:bodyPr/>
          <a:lstStyle/>
          <a:p>
            <a:r>
              <a:rPr lang="hu-HU" dirty="0"/>
              <a:t>Összefésülő rendezés C# kódja*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6E4D0C5C-C57C-34F7-7BDF-232D3BA2E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576" y="5234118"/>
            <a:ext cx="3924848" cy="1505160"/>
          </a:xfrm>
          <a:custGeom>
            <a:avLst/>
            <a:gdLst>
              <a:gd name="csX0" fmla="*/ 0 w 3924848"/>
              <a:gd name="csY0" fmla="*/ 0 h 1505160"/>
              <a:gd name="csX1" fmla="*/ 599941 w 3924848"/>
              <a:gd name="csY1" fmla="*/ 0 h 1505160"/>
              <a:gd name="csX2" fmla="*/ 1199882 w 3924848"/>
              <a:gd name="csY2" fmla="*/ 0 h 1505160"/>
              <a:gd name="csX3" fmla="*/ 1760575 w 3924848"/>
              <a:gd name="csY3" fmla="*/ 0 h 1505160"/>
              <a:gd name="csX4" fmla="*/ 2282019 w 3924848"/>
              <a:gd name="csY4" fmla="*/ 0 h 1505160"/>
              <a:gd name="csX5" fmla="*/ 2921208 w 3924848"/>
              <a:gd name="csY5" fmla="*/ 0 h 1505160"/>
              <a:gd name="csX6" fmla="*/ 3364155 w 3924848"/>
              <a:gd name="csY6" fmla="*/ 0 h 1505160"/>
              <a:gd name="csX7" fmla="*/ 3924848 w 3924848"/>
              <a:gd name="csY7" fmla="*/ 0 h 1505160"/>
              <a:gd name="csX8" fmla="*/ 3924848 w 3924848"/>
              <a:gd name="csY8" fmla="*/ 516772 h 1505160"/>
              <a:gd name="csX9" fmla="*/ 3924848 w 3924848"/>
              <a:gd name="csY9" fmla="*/ 1033543 h 1505160"/>
              <a:gd name="csX10" fmla="*/ 3924848 w 3924848"/>
              <a:gd name="csY10" fmla="*/ 1505160 h 1505160"/>
              <a:gd name="csX11" fmla="*/ 3481901 w 3924848"/>
              <a:gd name="csY11" fmla="*/ 1505160 h 1505160"/>
              <a:gd name="csX12" fmla="*/ 2960457 w 3924848"/>
              <a:gd name="csY12" fmla="*/ 1505160 h 1505160"/>
              <a:gd name="csX13" fmla="*/ 2517510 w 3924848"/>
              <a:gd name="csY13" fmla="*/ 1505160 h 1505160"/>
              <a:gd name="csX14" fmla="*/ 2074563 w 3924848"/>
              <a:gd name="csY14" fmla="*/ 1505160 h 1505160"/>
              <a:gd name="csX15" fmla="*/ 1474621 w 3924848"/>
              <a:gd name="csY15" fmla="*/ 1505160 h 1505160"/>
              <a:gd name="csX16" fmla="*/ 913929 w 3924848"/>
              <a:gd name="csY16" fmla="*/ 1505160 h 1505160"/>
              <a:gd name="csX17" fmla="*/ 0 w 3924848"/>
              <a:gd name="csY17" fmla="*/ 1505160 h 1505160"/>
              <a:gd name="csX18" fmla="*/ 0 w 3924848"/>
              <a:gd name="csY18" fmla="*/ 973337 h 1505160"/>
              <a:gd name="csX19" fmla="*/ 0 w 3924848"/>
              <a:gd name="csY19" fmla="*/ 501720 h 1505160"/>
              <a:gd name="csX20" fmla="*/ 0 w 3924848"/>
              <a:gd name="csY20" fmla="*/ 0 h 1505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924848" h="1505160" fill="none" extrusionOk="0">
                <a:moveTo>
                  <a:pt x="0" y="0"/>
                </a:moveTo>
                <a:cubicBezTo>
                  <a:pt x="164015" y="-12315"/>
                  <a:pt x="378402" y="71709"/>
                  <a:pt x="599941" y="0"/>
                </a:cubicBezTo>
                <a:cubicBezTo>
                  <a:pt x="821480" y="-71709"/>
                  <a:pt x="981392" y="32750"/>
                  <a:pt x="1199882" y="0"/>
                </a:cubicBezTo>
                <a:cubicBezTo>
                  <a:pt x="1418372" y="-32750"/>
                  <a:pt x="1599480" y="55366"/>
                  <a:pt x="1760575" y="0"/>
                </a:cubicBezTo>
                <a:cubicBezTo>
                  <a:pt x="1921670" y="-55366"/>
                  <a:pt x="2084879" y="12589"/>
                  <a:pt x="2282019" y="0"/>
                </a:cubicBezTo>
                <a:cubicBezTo>
                  <a:pt x="2479159" y="-12589"/>
                  <a:pt x="2769478" y="39542"/>
                  <a:pt x="2921208" y="0"/>
                </a:cubicBezTo>
                <a:cubicBezTo>
                  <a:pt x="3072938" y="-39542"/>
                  <a:pt x="3274755" y="6559"/>
                  <a:pt x="3364155" y="0"/>
                </a:cubicBezTo>
                <a:cubicBezTo>
                  <a:pt x="3453555" y="-6559"/>
                  <a:pt x="3806342" y="51255"/>
                  <a:pt x="3924848" y="0"/>
                </a:cubicBezTo>
                <a:cubicBezTo>
                  <a:pt x="3965996" y="192048"/>
                  <a:pt x="3918147" y="298311"/>
                  <a:pt x="3924848" y="516772"/>
                </a:cubicBezTo>
                <a:cubicBezTo>
                  <a:pt x="3931549" y="735233"/>
                  <a:pt x="3920025" y="847820"/>
                  <a:pt x="3924848" y="1033543"/>
                </a:cubicBezTo>
                <a:cubicBezTo>
                  <a:pt x="3929671" y="1219266"/>
                  <a:pt x="3896358" y="1391628"/>
                  <a:pt x="3924848" y="1505160"/>
                </a:cubicBezTo>
                <a:cubicBezTo>
                  <a:pt x="3719955" y="1514789"/>
                  <a:pt x="3685138" y="1453856"/>
                  <a:pt x="3481901" y="1505160"/>
                </a:cubicBezTo>
                <a:cubicBezTo>
                  <a:pt x="3278664" y="1556464"/>
                  <a:pt x="3138968" y="1449562"/>
                  <a:pt x="2960457" y="1505160"/>
                </a:cubicBezTo>
                <a:cubicBezTo>
                  <a:pt x="2781946" y="1560758"/>
                  <a:pt x="2695367" y="1470960"/>
                  <a:pt x="2517510" y="1505160"/>
                </a:cubicBezTo>
                <a:cubicBezTo>
                  <a:pt x="2339653" y="1539360"/>
                  <a:pt x="2295048" y="1498085"/>
                  <a:pt x="2074563" y="1505160"/>
                </a:cubicBezTo>
                <a:cubicBezTo>
                  <a:pt x="1854078" y="1512235"/>
                  <a:pt x="1765287" y="1442816"/>
                  <a:pt x="1474621" y="1505160"/>
                </a:cubicBezTo>
                <a:cubicBezTo>
                  <a:pt x="1183955" y="1567504"/>
                  <a:pt x="1144714" y="1487237"/>
                  <a:pt x="913929" y="1505160"/>
                </a:cubicBezTo>
                <a:cubicBezTo>
                  <a:pt x="683144" y="1523083"/>
                  <a:pt x="320641" y="1494205"/>
                  <a:pt x="0" y="1505160"/>
                </a:cubicBezTo>
                <a:cubicBezTo>
                  <a:pt x="-51731" y="1349568"/>
                  <a:pt x="8691" y="1167943"/>
                  <a:pt x="0" y="973337"/>
                </a:cubicBezTo>
                <a:cubicBezTo>
                  <a:pt x="-8691" y="778731"/>
                  <a:pt x="39233" y="632371"/>
                  <a:pt x="0" y="501720"/>
                </a:cubicBezTo>
                <a:cubicBezTo>
                  <a:pt x="-39233" y="371069"/>
                  <a:pt x="39264" y="115527"/>
                  <a:pt x="0" y="0"/>
                </a:cubicBezTo>
                <a:close/>
              </a:path>
              <a:path w="3924848" h="1505160" stroke="0" extrusionOk="0">
                <a:moveTo>
                  <a:pt x="0" y="0"/>
                </a:moveTo>
                <a:cubicBezTo>
                  <a:pt x="299355" y="-47258"/>
                  <a:pt x="330881" y="72414"/>
                  <a:pt x="639190" y="0"/>
                </a:cubicBezTo>
                <a:cubicBezTo>
                  <a:pt x="947499" y="-72414"/>
                  <a:pt x="904581" y="526"/>
                  <a:pt x="1160634" y="0"/>
                </a:cubicBezTo>
                <a:cubicBezTo>
                  <a:pt x="1416687" y="-526"/>
                  <a:pt x="1577212" y="708"/>
                  <a:pt x="1721326" y="0"/>
                </a:cubicBezTo>
                <a:cubicBezTo>
                  <a:pt x="1865440" y="-708"/>
                  <a:pt x="2112681" y="12675"/>
                  <a:pt x="2282019" y="0"/>
                </a:cubicBezTo>
                <a:cubicBezTo>
                  <a:pt x="2451357" y="-12675"/>
                  <a:pt x="2719886" y="13016"/>
                  <a:pt x="2921208" y="0"/>
                </a:cubicBezTo>
                <a:cubicBezTo>
                  <a:pt x="3122530" y="-13016"/>
                  <a:pt x="3616840" y="24422"/>
                  <a:pt x="3924848" y="0"/>
                </a:cubicBezTo>
                <a:cubicBezTo>
                  <a:pt x="3977891" y="185025"/>
                  <a:pt x="3918795" y="407379"/>
                  <a:pt x="3924848" y="531823"/>
                </a:cubicBezTo>
                <a:cubicBezTo>
                  <a:pt x="3930901" y="656267"/>
                  <a:pt x="3906841" y="863913"/>
                  <a:pt x="3924848" y="1033543"/>
                </a:cubicBezTo>
                <a:cubicBezTo>
                  <a:pt x="3942855" y="1203173"/>
                  <a:pt x="3888013" y="1341915"/>
                  <a:pt x="3924848" y="1505160"/>
                </a:cubicBezTo>
                <a:cubicBezTo>
                  <a:pt x="3742352" y="1542409"/>
                  <a:pt x="3666410" y="1474284"/>
                  <a:pt x="3442652" y="1505160"/>
                </a:cubicBezTo>
                <a:cubicBezTo>
                  <a:pt x="3218894" y="1536036"/>
                  <a:pt x="2972078" y="1472736"/>
                  <a:pt x="2842711" y="1505160"/>
                </a:cubicBezTo>
                <a:cubicBezTo>
                  <a:pt x="2713344" y="1537584"/>
                  <a:pt x="2586995" y="1493989"/>
                  <a:pt x="2360516" y="1505160"/>
                </a:cubicBezTo>
                <a:cubicBezTo>
                  <a:pt x="2134038" y="1516331"/>
                  <a:pt x="2022413" y="1444294"/>
                  <a:pt x="1839072" y="1505160"/>
                </a:cubicBezTo>
                <a:cubicBezTo>
                  <a:pt x="1655731" y="1566026"/>
                  <a:pt x="1533213" y="1479239"/>
                  <a:pt x="1396125" y="1505160"/>
                </a:cubicBezTo>
                <a:cubicBezTo>
                  <a:pt x="1259037" y="1531081"/>
                  <a:pt x="1000849" y="1447102"/>
                  <a:pt x="796183" y="1505160"/>
                </a:cubicBezTo>
                <a:cubicBezTo>
                  <a:pt x="591517" y="1563218"/>
                  <a:pt x="376103" y="1483484"/>
                  <a:pt x="0" y="1505160"/>
                </a:cubicBezTo>
                <a:cubicBezTo>
                  <a:pt x="-26192" y="1365144"/>
                  <a:pt x="47055" y="1171249"/>
                  <a:pt x="0" y="988388"/>
                </a:cubicBezTo>
                <a:cubicBezTo>
                  <a:pt x="-47055" y="805527"/>
                  <a:pt x="471" y="662172"/>
                  <a:pt x="0" y="486668"/>
                </a:cubicBezTo>
                <a:cubicBezTo>
                  <a:pt x="-471" y="311164"/>
                  <a:pt x="53444" y="19420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6668A4E-BB4A-2A63-04D5-D352FE80E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12058">
            <a:off x="7291063" y="1115610"/>
            <a:ext cx="5581946" cy="4786820"/>
          </a:xfrm>
          <a:custGeom>
            <a:avLst/>
            <a:gdLst>
              <a:gd name="csX0" fmla="*/ 0 w 5581946"/>
              <a:gd name="csY0" fmla="*/ 0 h 4786820"/>
              <a:gd name="csX1" fmla="*/ 614014 w 5581946"/>
              <a:gd name="csY1" fmla="*/ 0 h 4786820"/>
              <a:gd name="csX2" fmla="*/ 1228028 w 5581946"/>
              <a:gd name="csY2" fmla="*/ 0 h 4786820"/>
              <a:gd name="csX3" fmla="*/ 1674584 w 5581946"/>
              <a:gd name="csY3" fmla="*/ 0 h 4786820"/>
              <a:gd name="csX4" fmla="*/ 2065320 w 5581946"/>
              <a:gd name="csY4" fmla="*/ 0 h 4786820"/>
              <a:gd name="csX5" fmla="*/ 2511876 w 5581946"/>
              <a:gd name="csY5" fmla="*/ 0 h 4786820"/>
              <a:gd name="csX6" fmla="*/ 3181709 w 5581946"/>
              <a:gd name="csY6" fmla="*/ 0 h 4786820"/>
              <a:gd name="csX7" fmla="*/ 3572445 w 5581946"/>
              <a:gd name="csY7" fmla="*/ 0 h 4786820"/>
              <a:gd name="csX8" fmla="*/ 4019001 w 5581946"/>
              <a:gd name="csY8" fmla="*/ 0 h 4786820"/>
              <a:gd name="csX9" fmla="*/ 4633015 w 5581946"/>
              <a:gd name="csY9" fmla="*/ 0 h 4786820"/>
              <a:gd name="csX10" fmla="*/ 5023751 w 5581946"/>
              <a:gd name="csY10" fmla="*/ 0 h 4786820"/>
              <a:gd name="csX11" fmla="*/ 5581946 w 5581946"/>
              <a:gd name="csY11" fmla="*/ 0 h 4786820"/>
              <a:gd name="csX12" fmla="*/ 5581946 w 5581946"/>
              <a:gd name="csY12" fmla="*/ 550484 h 4786820"/>
              <a:gd name="csX13" fmla="*/ 5581946 w 5581946"/>
              <a:gd name="csY13" fmla="*/ 1100969 h 4786820"/>
              <a:gd name="csX14" fmla="*/ 5581946 w 5581946"/>
              <a:gd name="csY14" fmla="*/ 1555717 h 4786820"/>
              <a:gd name="csX15" fmla="*/ 5581946 w 5581946"/>
              <a:gd name="csY15" fmla="*/ 2154069 h 4786820"/>
              <a:gd name="csX16" fmla="*/ 5581946 w 5581946"/>
              <a:gd name="csY16" fmla="*/ 2704553 h 4786820"/>
              <a:gd name="csX17" fmla="*/ 5581946 w 5581946"/>
              <a:gd name="csY17" fmla="*/ 3159301 h 4786820"/>
              <a:gd name="csX18" fmla="*/ 5581946 w 5581946"/>
              <a:gd name="csY18" fmla="*/ 3757654 h 4786820"/>
              <a:gd name="csX19" fmla="*/ 5581946 w 5581946"/>
              <a:gd name="csY19" fmla="*/ 4212402 h 4786820"/>
              <a:gd name="csX20" fmla="*/ 5581946 w 5581946"/>
              <a:gd name="csY20" fmla="*/ 4786820 h 4786820"/>
              <a:gd name="csX21" fmla="*/ 5191210 w 5581946"/>
              <a:gd name="csY21" fmla="*/ 4786820 h 4786820"/>
              <a:gd name="csX22" fmla="*/ 4633015 w 5581946"/>
              <a:gd name="csY22" fmla="*/ 4786820 h 4786820"/>
              <a:gd name="csX23" fmla="*/ 4186460 w 5581946"/>
              <a:gd name="csY23" fmla="*/ 4786820 h 4786820"/>
              <a:gd name="csX24" fmla="*/ 3572445 w 5581946"/>
              <a:gd name="csY24" fmla="*/ 4786820 h 4786820"/>
              <a:gd name="csX25" fmla="*/ 3070070 w 5581946"/>
              <a:gd name="csY25" fmla="*/ 4786820 h 4786820"/>
              <a:gd name="csX26" fmla="*/ 2400237 w 5581946"/>
              <a:gd name="csY26" fmla="*/ 4786820 h 4786820"/>
              <a:gd name="csX27" fmla="*/ 1897862 w 5581946"/>
              <a:gd name="csY27" fmla="*/ 4786820 h 4786820"/>
              <a:gd name="csX28" fmla="*/ 1451306 w 5581946"/>
              <a:gd name="csY28" fmla="*/ 4786820 h 4786820"/>
              <a:gd name="csX29" fmla="*/ 893111 w 5581946"/>
              <a:gd name="csY29" fmla="*/ 4786820 h 4786820"/>
              <a:gd name="csX30" fmla="*/ 0 w 5581946"/>
              <a:gd name="csY30" fmla="*/ 4786820 h 4786820"/>
              <a:gd name="csX31" fmla="*/ 0 w 5581946"/>
              <a:gd name="csY31" fmla="*/ 4188468 h 4786820"/>
              <a:gd name="csX32" fmla="*/ 0 w 5581946"/>
              <a:gd name="csY32" fmla="*/ 3494379 h 4786820"/>
              <a:gd name="csX33" fmla="*/ 0 w 5581946"/>
              <a:gd name="csY33" fmla="*/ 2991763 h 4786820"/>
              <a:gd name="csX34" fmla="*/ 0 w 5581946"/>
              <a:gd name="csY34" fmla="*/ 2441278 h 4786820"/>
              <a:gd name="csX35" fmla="*/ 0 w 5581946"/>
              <a:gd name="csY35" fmla="*/ 1842926 h 4786820"/>
              <a:gd name="csX36" fmla="*/ 0 w 5581946"/>
              <a:gd name="csY36" fmla="*/ 1388178 h 4786820"/>
              <a:gd name="csX37" fmla="*/ 0 w 5581946"/>
              <a:gd name="csY37" fmla="*/ 789825 h 4786820"/>
              <a:gd name="csX38" fmla="*/ 0 w 5581946"/>
              <a:gd name="csY38" fmla="*/ 0 h 47868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5581946" h="4786820" fill="none" extrusionOk="0">
                <a:moveTo>
                  <a:pt x="0" y="0"/>
                </a:moveTo>
                <a:cubicBezTo>
                  <a:pt x="271392" y="-33315"/>
                  <a:pt x="443858" y="62462"/>
                  <a:pt x="614014" y="0"/>
                </a:cubicBezTo>
                <a:cubicBezTo>
                  <a:pt x="784170" y="-62462"/>
                  <a:pt x="968207" y="26848"/>
                  <a:pt x="1228028" y="0"/>
                </a:cubicBezTo>
                <a:cubicBezTo>
                  <a:pt x="1487849" y="-26848"/>
                  <a:pt x="1551829" y="33554"/>
                  <a:pt x="1674584" y="0"/>
                </a:cubicBezTo>
                <a:cubicBezTo>
                  <a:pt x="1797339" y="-33554"/>
                  <a:pt x="1985802" y="43837"/>
                  <a:pt x="2065320" y="0"/>
                </a:cubicBezTo>
                <a:cubicBezTo>
                  <a:pt x="2144838" y="-43837"/>
                  <a:pt x="2332020" y="43782"/>
                  <a:pt x="2511876" y="0"/>
                </a:cubicBezTo>
                <a:cubicBezTo>
                  <a:pt x="2691732" y="-43782"/>
                  <a:pt x="2888561" y="69230"/>
                  <a:pt x="3181709" y="0"/>
                </a:cubicBezTo>
                <a:cubicBezTo>
                  <a:pt x="3474857" y="-69230"/>
                  <a:pt x="3444786" y="7397"/>
                  <a:pt x="3572445" y="0"/>
                </a:cubicBezTo>
                <a:cubicBezTo>
                  <a:pt x="3700104" y="-7397"/>
                  <a:pt x="3804106" y="40156"/>
                  <a:pt x="4019001" y="0"/>
                </a:cubicBezTo>
                <a:cubicBezTo>
                  <a:pt x="4233896" y="-40156"/>
                  <a:pt x="4382227" y="4883"/>
                  <a:pt x="4633015" y="0"/>
                </a:cubicBezTo>
                <a:cubicBezTo>
                  <a:pt x="4883803" y="-4883"/>
                  <a:pt x="4927279" y="39987"/>
                  <a:pt x="5023751" y="0"/>
                </a:cubicBezTo>
                <a:cubicBezTo>
                  <a:pt x="5120223" y="-39987"/>
                  <a:pt x="5403029" y="46251"/>
                  <a:pt x="5581946" y="0"/>
                </a:cubicBezTo>
                <a:cubicBezTo>
                  <a:pt x="5587885" y="253646"/>
                  <a:pt x="5531199" y="344622"/>
                  <a:pt x="5581946" y="550484"/>
                </a:cubicBezTo>
                <a:cubicBezTo>
                  <a:pt x="5632693" y="756346"/>
                  <a:pt x="5533726" y="879268"/>
                  <a:pt x="5581946" y="1100969"/>
                </a:cubicBezTo>
                <a:cubicBezTo>
                  <a:pt x="5630166" y="1322670"/>
                  <a:pt x="5570031" y="1385515"/>
                  <a:pt x="5581946" y="1555717"/>
                </a:cubicBezTo>
                <a:cubicBezTo>
                  <a:pt x="5593861" y="1725919"/>
                  <a:pt x="5527274" y="1882683"/>
                  <a:pt x="5581946" y="2154069"/>
                </a:cubicBezTo>
                <a:cubicBezTo>
                  <a:pt x="5636618" y="2425455"/>
                  <a:pt x="5549907" y="2464903"/>
                  <a:pt x="5581946" y="2704553"/>
                </a:cubicBezTo>
                <a:cubicBezTo>
                  <a:pt x="5613985" y="2944203"/>
                  <a:pt x="5527626" y="3001703"/>
                  <a:pt x="5581946" y="3159301"/>
                </a:cubicBezTo>
                <a:cubicBezTo>
                  <a:pt x="5636266" y="3316899"/>
                  <a:pt x="5561754" y="3522053"/>
                  <a:pt x="5581946" y="3757654"/>
                </a:cubicBezTo>
                <a:cubicBezTo>
                  <a:pt x="5602138" y="3993255"/>
                  <a:pt x="5572507" y="4090515"/>
                  <a:pt x="5581946" y="4212402"/>
                </a:cubicBezTo>
                <a:cubicBezTo>
                  <a:pt x="5591385" y="4334289"/>
                  <a:pt x="5565363" y="4638366"/>
                  <a:pt x="5581946" y="4786820"/>
                </a:cubicBezTo>
                <a:cubicBezTo>
                  <a:pt x="5392727" y="4822175"/>
                  <a:pt x="5344035" y="4754063"/>
                  <a:pt x="5191210" y="4786820"/>
                </a:cubicBezTo>
                <a:cubicBezTo>
                  <a:pt x="5038385" y="4819577"/>
                  <a:pt x="4795187" y="4764599"/>
                  <a:pt x="4633015" y="4786820"/>
                </a:cubicBezTo>
                <a:cubicBezTo>
                  <a:pt x="4470843" y="4809041"/>
                  <a:pt x="4297473" y="4752169"/>
                  <a:pt x="4186460" y="4786820"/>
                </a:cubicBezTo>
                <a:cubicBezTo>
                  <a:pt x="4075447" y="4821471"/>
                  <a:pt x="3810053" y="4740050"/>
                  <a:pt x="3572445" y="4786820"/>
                </a:cubicBezTo>
                <a:cubicBezTo>
                  <a:pt x="3334838" y="4833590"/>
                  <a:pt x="3238100" y="4774605"/>
                  <a:pt x="3070070" y="4786820"/>
                </a:cubicBezTo>
                <a:cubicBezTo>
                  <a:pt x="2902041" y="4799035"/>
                  <a:pt x="2695862" y="4778616"/>
                  <a:pt x="2400237" y="4786820"/>
                </a:cubicBezTo>
                <a:cubicBezTo>
                  <a:pt x="2104612" y="4795024"/>
                  <a:pt x="2039267" y="4780792"/>
                  <a:pt x="1897862" y="4786820"/>
                </a:cubicBezTo>
                <a:cubicBezTo>
                  <a:pt x="1756457" y="4792848"/>
                  <a:pt x="1586096" y="4784168"/>
                  <a:pt x="1451306" y="4786820"/>
                </a:cubicBezTo>
                <a:cubicBezTo>
                  <a:pt x="1316516" y="4789472"/>
                  <a:pt x="1154128" y="4720151"/>
                  <a:pt x="893111" y="4786820"/>
                </a:cubicBezTo>
                <a:cubicBezTo>
                  <a:pt x="632095" y="4853489"/>
                  <a:pt x="307059" y="4748067"/>
                  <a:pt x="0" y="4786820"/>
                </a:cubicBezTo>
                <a:cubicBezTo>
                  <a:pt x="-41914" y="4551299"/>
                  <a:pt x="8150" y="4477709"/>
                  <a:pt x="0" y="4188468"/>
                </a:cubicBezTo>
                <a:cubicBezTo>
                  <a:pt x="-8150" y="3899227"/>
                  <a:pt x="42954" y="3836937"/>
                  <a:pt x="0" y="3494379"/>
                </a:cubicBezTo>
                <a:cubicBezTo>
                  <a:pt x="-42954" y="3151821"/>
                  <a:pt x="19687" y="3180284"/>
                  <a:pt x="0" y="2991763"/>
                </a:cubicBezTo>
                <a:cubicBezTo>
                  <a:pt x="-19687" y="2803242"/>
                  <a:pt x="49581" y="2571218"/>
                  <a:pt x="0" y="2441278"/>
                </a:cubicBezTo>
                <a:cubicBezTo>
                  <a:pt x="-49581" y="2311339"/>
                  <a:pt x="44983" y="2123326"/>
                  <a:pt x="0" y="1842926"/>
                </a:cubicBezTo>
                <a:cubicBezTo>
                  <a:pt x="-44983" y="1562526"/>
                  <a:pt x="29195" y="1576374"/>
                  <a:pt x="0" y="1388178"/>
                </a:cubicBezTo>
                <a:cubicBezTo>
                  <a:pt x="-29195" y="1199982"/>
                  <a:pt x="36385" y="948467"/>
                  <a:pt x="0" y="789825"/>
                </a:cubicBezTo>
                <a:cubicBezTo>
                  <a:pt x="-36385" y="631183"/>
                  <a:pt x="4142" y="258524"/>
                  <a:pt x="0" y="0"/>
                </a:cubicBezTo>
                <a:close/>
              </a:path>
              <a:path w="5581946" h="4786820" stroke="0" extrusionOk="0">
                <a:moveTo>
                  <a:pt x="0" y="0"/>
                </a:moveTo>
                <a:cubicBezTo>
                  <a:pt x="302683" y="-58876"/>
                  <a:pt x="444700" y="29293"/>
                  <a:pt x="669834" y="0"/>
                </a:cubicBezTo>
                <a:cubicBezTo>
                  <a:pt x="894968" y="-29293"/>
                  <a:pt x="1035852" y="3477"/>
                  <a:pt x="1172209" y="0"/>
                </a:cubicBezTo>
                <a:cubicBezTo>
                  <a:pt x="1308567" y="-3477"/>
                  <a:pt x="1578098" y="28590"/>
                  <a:pt x="1730403" y="0"/>
                </a:cubicBezTo>
                <a:cubicBezTo>
                  <a:pt x="1882708" y="-28590"/>
                  <a:pt x="2083738" y="3206"/>
                  <a:pt x="2288598" y="0"/>
                </a:cubicBezTo>
                <a:cubicBezTo>
                  <a:pt x="2493458" y="-3206"/>
                  <a:pt x="2766525" y="47834"/>
                  <a:pt x="2958431" y="0"/>
                </a:cubicBezTo>
                <a:cubicBezTo>
                  <a:pt x="3150337" y="-47834"/>
                  <a:pt x="3471805" y="32023"/>
                  <a:pt x="3628265" y="0"/>
                </a:cubicBezTo>
                <a:cubicBezTo>
                  <a:pt x="3784725" y="-32023"/>
                  <a:pt x="4045508" y="38494"/>
                  <a:pt x="4298098" y="0"/>
                </a:cubicBezTo>
                <a:cubicBezTo>
                  <a:pt x="4550688" y="-38494"/>
                  <a:pt x="4614134" y="6643"/>
                  <a:pt x="4800474" y="0"/>
                </a:cubicBezTo>
                <a:cubicBezTo>
                  <a:pt x="4986814" y="-6643"/>
                  <a:pt x="5332323" y="36494"/>
                  <a:pt x="5581946" y="0"/>
                </a:cubicBezTo>
                <a:cubicBezTo>
                  <a:pt x="5590714" y="266303"/>
                  <a:pt x="5528935" y="536860"/>
                  <a:pt x="5581946" y="694089"/>
                </a:cubicBezTo>
                <a:cubicBezTo>
                  <a:pt x="5634957" y="851318"/>
                  <a:pt x="5571029" y="1218867"/>
                  <a:pt x="5581946" y="1388178"/>
                </a:cubicBezTo>
                <a:cubicBezTo>
                  <a:pt x="5592863" y="1557489"/>
                  <a:pt x="5549413" y="1726504"/>
                  <a:pt x="5581946" y="1890794"/>
                </a:cubicBezTo>
                <a:cubicBezTo>
                  <a:pt x="5614479" y="2055084"/>
                  <a:pt x="5554995" y="2203358"/>
                  <a:pt x="5581946" y="2489146"/>
                </a:cubicBezTo>
                <a:cubicBezTo>
                  <a:pt x="5608897" y="2774934"/>
                  <a:pt x="5548384" y="2895201"/>
                  <a:pt x="5581946" y="3087499"/>
                </a:cubicBezTo>
                <a:cubicBezTo>
                  <a:pt x="5615508" y="3279797"/>
                  <a:pt x="5581574" y="3558405"/>
                  <a:pt x="5581946" y="3781588"/>
                </a:cubicBezTo>
                <a:cubicBezTo>
                  <a:pt x="5582318" y="4004771"/>
                  <a:pt x="5552957" y="4543298"/>
                  <a:pt x="5581946" y="4786820"/>
                </a:cubicBezTo>
                <a:cubicBezTo>
                  <a:pt x="5427044" y="4828180"/>
                  <a:pt x="5352215" y="4754072"/>
                  <a:pt x="5135390" y="4786820"/>
                </a:cubicBezTo>
                <a:cubicBezTo>
                  <a:pt x="4918565" y="4819568"/>
                  <a:pt x="4914981" y="4777384"/>
                  <a:pt x="4744654" y="4786820"/>
                </a:cubicBezTo>
                <a:cubicBezTo>
                  <a:pt x="4574327" y="4796256"/>
                  <a:pt x="4447981" y="4775982"/>
                  <a:pt x="4353918" y="4786820"/>
                </a:cubicBezTo>
                <a:cubicBezTo>
                  <a:pt x="4259855" y="4797658"/>
                  <a:pt x="4107847" y="4769327"/>
                  <a:pt x="3963182" y="4786820"/>
                </a:cubicBezTo>
                <a:cubicBezTo>
                  <a:pt x="3818517" y="4804313"/>
                  <a:pt x="3726953" y="4749239"/>
                  <a:pt x="3572445" y="4786820"/>
                </a:cubicBezTo>
                <a:cubicBezTo>
                  <a:pt x="3417937" y="4824401"/>
                  <a:pt x="3163272" y="4722139"/>
                  <a:pt x="3014251" y="4786820"/>
                </a:cubicBezTo>
                <a:cubicBezTo>
                  <a:pt x="2865230" y="4851501"/>
                  <a:pt x="2660728" y="4752021"/>
                  <a:pt x="2456056" y="4786820"/>
                </a:cubicBezTo>
                <a:cubicBezTo>
                  <a:pt x="2251384" y="4821619"/>
                  <a:pt x="2170099" y="4765890"/>
                  <a:pt x="2009501" y="4786820"/>
                </a:cubicBezTo>
                <a:cubicBezTo>
                  <a:pt x="1848904" y="4807750"/>
                  <a:pt x="1715690" y="4781081"/>
                  <a:pt x="1562945" y="4786820"/>
                </a:cubicBezTo>
                <a:cubicBezTo>
                  <a:pt x="1410200" y="4792559"/>
                  <a:pt x="1058795" y="4731685"/>
                  <a:pt x="893111" y="4786820"/>
                </a:cubicBezTo>
                <a:cubicBezTo>
                  <a:pt x="727427" y="4841955"/>
                  <a:pt x="349837" y="4762807"/>
                  <a:pt x="0" y="4786820"/>
                </a:cubicBezTo>
                <a:cubicBezTo>
                  <a:pt x="-47164" y="4632967"/>
                  <a:pt x="29146" y="4272606"/>
                  <a:pt x="0" y="4140599"/>
                </a:cubicBezTo>
                <a:cubicBezTo>
                  <a:pt x="-29146" y="4008592"/>
                  <a:pt x="16732" y="3795315"/>
                  <a:pt x="0" y="3637983"/>
                </a:cubicBezTo>
                <a:cubicBezTo>
                  <a:pt x="-16732" y="3480651"/>
                  <a:pt x="34624" y="3185424"/>
                  <a:pt x="0" y="2991763"/>
                </a:cubicBezTo>
                <a:cubicBezTo>
                  <a:pt x="-34624" y="2798102"/>
                  <a:pt x="10732" y="2492352"/>
                  <a:pt x="0" y="2345542"/>
                </a:cubicBezTo>
                <a:cubicBezTo>
                  <a:pt x="-10732" y="2198732"/>
                  <a:pt x="39778" y="1983268"/>
                  <a:pt x="0" y="1651453"/>
                </a:cubicBezTo>
                <a:cubicBezTo>
                  <a:pt x="-39778" y="1319638"/>
                  <a:pt x="20528" y="1269600"/>
                  <a:pt x="0" y="1100969"/>
                </a:cubicBezTo>
                <a:cubicBezTo>
                  <a:pt x="-20528" y="932338"/>
                  <a:pt x="13959" y="749920"/>
                  <a:pt x="0" y="646221"/>
                </a:cubicBezTo>
                <a:cubicBezTo>
                  <a:pt x="-13959" y="542522"/>
                  <a:pt x="30644" y="17163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41154987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D786A6A1-3117-8D9D-332B-E9DD90E81B6C}"/>
              </a:ext>
            </a:extLst>
          </p:cNvPr>
          <p:cNvSpPr/>
          <p:nvPr/>
        </p:nvSpPr>
        <p:spPr>
          <a:xfrm>
            <a:off x="1710092" y="4705004"/>
            <a:ext cx="4025690" cy="565265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ekercs: függőleges 5">
            <a:extLst>
              <a:ext uri="{FF2B5EF4-FFF2-40B4-BE49-F238E27FC236}">
                <a16:creationId xmlns:a16="http://schemas.microsoft.com/office/drawing/2014/main" id="{8207A3C4-CFCE-1599-6602-C4DEE176A6D2}"/>
              </a:ext>
            </a:extLst>
          </p:cNvPr>
          <p:cNvSpPr/>
          <p:nvPr/>
        </p:nvSpPr>
        <p:spPr>
          <a:xfrm>
            <a:off x="8599252" y="1347019"/>
            <a:ext cx="3399708" cy="3733690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211B614-BB47-3022-D5C0-6CD598379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092" y="319661"/>
            <a:ext cx="9567148" cy="1457631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Összefésülő rendezés tulajdonságai, szemléltetése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0C3CBB-5D01-DEBC-78BA-A967853F9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74715"/>
            <a:ext cx="7136915" cy="4702237"/>
          </a:xfrm>
        </p:spPr>
        <p:txBody>
          <a:bodyPr>
            <a:normAutofit/>
          </a:bodyPr>
          <a:lstStyle/>
          <a:p>
            <a:r>
              <a:rPr lang="hu-HU" dirty="0">
                <a:effectLst/>
                <a:ea typeface="Calibri" panose="020F0502020204030204" pitchFamily="34" charset="0"/>
                <a:cs typeface="F29"/>
              </a:rPr>
              <a:t>Stabil rendezés</a:t>
            </a:r>
          </a:p>
          <a:p>
            <a:pPr lvl="1"/>
            <a:r>
              <a:rPr lang="hu-HU" dirty="0">
                <a:effectLst/>
                <a:ea typeface="Calibri" panose="020F0502020204030204" pitchFamily="34" charset="0"/>
                <a:cs typeface="F29"/>
              </a:rPr>
              <a:t>megőrzi az egyenlő kulcsú elemek bemeneti sorrendjét</a:t>
            </a:r>
          </a:p>
          <a:p>
            <a:pPr lvl="1"/>
            <a:r>
              <a:rPr lang="hu-HU" dirty="0">
                <a:effectLst/>
                <a:ea typeface="CMMI12"/>
                <a:cs typeface="F29"/>
              </a:rPr>
              <a:t>rendezett résztömbök összefésülésekor, egyenlő kulcsok esetén a bal oldali résztömbből származó kulcsot tesszük először a helyére</a:t>
            </a:r>
            <a:endParaRPr lang="hu-HU" dirty="0">
              <a:effectLst/>
              <a:ea typeface="Calibri" panose="020F0502020204030204" pitchFamily="34" charset="0"/>
              <a:cs typeface="F29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Műveletigénye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i="1" baseline="-25000" dirty="0">
                <a:effectLst/>
                <a:ea typeface="Calibri" panose="020F0502020204030204" pitchFamily="34" charset="0"/>
                <a:cs typeface="CMMI8"/>
              </a:rPr>
              <a:t>MS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)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,</a:t>
            </a:r>
            <a:r>
              <a:rPr lang="hu-HU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i="1" baseline="-25000" dirty="0" err="1">
                <a:effectLst/>
                <a:ea typeface="Calibri" panose="020F0502020204030204" pitchFamily="34" charset="0"/>
                <a:cs typeface="CMMI8"/>
              </a:rPr>
              <a:t>MS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)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i="1" baseline="-25000" dirty="0">
                <a:effectLst/>
                <a:ea typeface="Calibri" panose="020F0502020204030204" pitchFamily="34" charset="0"/>
                <a:cs typeface="CMMI8"/>
              </a:rPr>
              <a:t>MS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)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aszimptotikusan optimális </a:t>
            </a:r>
            <a:br>
              <a:rPr lang="hu-HU" dirty="0">
                <a:effectLst/>
                <a:ea typeface="Calibri" panose="020F0502020204030204" pitchFamily="34" charset="0"/>
                <a:cs typeface="F29"/>
              </a:rPr>
            </a:b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az ún. összehasonító rendezések között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nagy elemszámú </a:t>
            </a: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sorozatokat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is viszonylag gyorsan rendez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E872712-2B09-EBAF-7D04-09A593EB2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7162" y="1894024"/>
            <a:ext cx="2385861" cy="264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76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214E14FD-F5AE-F9B2-6978-1BD2DCA6F991}"/>
              </a:ext>
            </a:extLst>
          </p:cNvPr>
          <p:cNvSpPr/>
          <p:nvPr/>
        </p:nvSpPr>
        <p:spPr>
          <a:xfrm>
            <a:off x="5586153" y="2449603"/>
            <a:ext cx="1995054" cy="565265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5DFDDA4-5D68-53C1-83A6-5D2D6E1C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404" y="389106"/>
            <a:ext cx="10018713" cy="851170"/>
          </a:xfrm>
        </p:spPr>
        <p:txBody>
          <a:bodyPr/>
          <a:lstStyle/>
          <a:p>
            <a:r>
              <a:rPr lang="hu-HU" dirty="0" err="1"/>
              <a:t>Merge</a:t>
            </a:r>
            <a:r>
              <a:rPr lang="hu-HU" dirty="0"/>
              <a:t> vizsgálata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0EC54C0-1E81-B3A8-82EA-CE1795AB6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404" y="1133272"/>
            <a:ext cx="10018713" cy="54620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A 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merge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sort stabilitását a 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merge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() eljárás explicit ciklusának elágazása biztosítja: </a:t>
            </a:r>
            <a:endParaRPr lang="hu-HU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 kern="0" dirty="0">
                <a:ea typeface="Aptos" panose="020B0004020202020204" pitchFamily="34" charset="0"/>
                <a:cs typeface="CMMI12"/>
              </a:rPr>
              <a:t>A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i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] = 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B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] =&gt;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</a:t>
            </a:r>
            <a:r>
              <a:rPr lang="hu-HU" sz="1800" i="1" kern="0" dirty="0">
                <a:ea typeface="Aptos" panose="020B0004020202020204" pitchFamily="34" charset="0"/>
                <a:cs typeface="F29"/>
              </a:rPr>
              <a:t>A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i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]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-t másolja </a:t>
            </a:r>
            <a:r>
              <a:rPr lang="hu-HU" sz="1800" i="1" kern="0" dirty="0">
                <a:ea typeface="Aptos" panose="020B0004020202020204" pitchFamily="34" charset="0"/>
                <a:cs typeface="F29"/>
              </a:rPr>
              <a:t>C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k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]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-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ba</a:t>
            </a:r>
            <a:endParaRPr lang="hu-HU" sz="1800" kern="0" dirty="0">
              <a:effectLst/>
              <a:ea typeface="Aptos" panose="020B0004020202020204" pitchFamily="34" charset="0"/>
              <a:cs typeface="F29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kern="0" dirty="0">
                <a:effectLst/>
                <a:ea typeface="Aptos" panose="020B0004020202020204" pitchFamily="34" charset="0"/>
                <a:cs typeface="CMMI12"/>
              </a:rPr>
              <a:t>Az</a:t>
            </a:r>
            <a:r>
              <a:rPr lang="hu-HU" sz="1600" i="1" kern="0" dirty="0">
                <a:effectLst/>
                <a:ea typeface="Aptos" panose="020B0004020202020204" pitchFamily="34" charset="0"/>
                <a:cs typeface="CMMI12"/>
              </a:rPr>
              <a:t> A</a:t>
            </a:r>
            <a:r>
              <a:rPr lang="hu-HU" sz="1600" kern="0" dirty="0">
                <a:effectLst/>
                <a:ea typeface="Aptos" panose="020B0004020202020204" pitchFamily="34" charset="0"/>
                <a:cs typeface="CMMI12"/>
              </a:rPr>
              <a:t> résztömb megelőzi a </a:t>
            </a:r>
            <a:r>
              <a:rPr lang="hu-HU" sz="1600" i="1" kern="0" dirty="0">
                <a:effectLst/>
                <a:ea typeface="Aptos" panose="020B0004020202020204" pitchFamily="34" charset="0"/>
                <a:cs typeface="CMMI12"/>
              </a:rPr>
              <a:t>B</a:t>
            </a:r>
            <a:r>
              <a:rPr lang="hu-HU" sz="1600" kern="0" dirty="0">
                <a:effectLst/>
                <a:ea typeface="Aptos" panose="020B0004020202020204" pitchFamily="34" charset="0"/>
                <a:cs typeface="CMMI12"/>
              </a:rPr>
              <a:t> résztömböt a mindkettőt tartalmazó (rész)tömbben</a:t>
            </a:r>
            <a:endParaRPr lang="hu-HU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A 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merge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() eljárás műveletigénye:		 </a:t>
            </a:r>
            <a:r>
              <a:rPr lang="hu-HU" sz="1800" i="1" kern="0" dirty="0" err="1">
                <a:effectLst/>
                <a:cs typeface="CMMI12"/>
              </a:rPr>
              <a:t>T</a:t>
            </a:r>
            <a:r>
              <a:rPr lang="hu-HU" sz="1800" i="1" kern="0" baseline="-25000" dirty="0" err="1">
                <a:effectLst/>
                <a:cs typeface="CMR8"/>
              </a:rPr>
              <a:t>mb</a:t>
            </a:r>
            <a:r>
              <a:rPr lang="hu-HU" sz="1800" kern="0" dirty="0">
                <a:effectLst/>
                <a:cs typeface="CMR12"/>
              </a:rPr>
              <a:t>(</a:t>
            </a:r>
            <a:r>
              <a:rPr lang="hu-HU" sz="1800" i="1" kern="0" dirty="0">
                <a:cs typeface="CMR12"/>
              </a:rPr>
              <a:t>n</a:t>
            </a:r>
            <a:r>
              <a:rPr lang="hu-HU" sz="1800" kern="0" dirty="0">
                <a:effectLst/>
                <a:cs typeface="CMR12"/>
              </a:rPr>
              <a:t>) =</a:t>
            </a:r>
            <a:r>
              <a:rPr lang="hu-HU" sz="1800" i="1" kern="0" dirty="0">
                <a:effectLst/>
                <a:cs typeface="CMR12"/>
              </a:rPr>
              <a:t> </a:t>
            </a:r>
            <a:r>
              <a:rPr lang="hu-HU" sz="1800" i="1" kern="0" dirty="0">
                <a:effectLst/>
                <a:cs typeface="CMMI12"/>
              </a:rPr>
              <a:t>n</a:t>
            </a:r>
            <a:r>
              <a:rPr lang="hu-HU" sz="1800" kern="0" dirty="0">
                <a:effectLst/>
                <a:cs typeface="CMMI12"/>
              </a:rPr>
              <a:t> </a:t>
            </a:r>
            <a:r>
              <a:rPr lang="en-US" sz="1800" kern="0" dirty="0">
                <a:effectLst/>
                <a:cs typeface="CMSY10"/>
              </a:rPr>
              <a:t>∈ </a:t>
            </a:r>
            <a:r>
              <a:rPr lang="en-US" sz="1800" kern="0" dirty="0">
                <a:effectLst/>
                <a:cs typeface="CMR12"/>
              </a:rPr>
              <a:t>Θ</a:t>
            </a:r>
            <a:r>
              <a:rPr lang="hu-HU" sz="1800" kern="0" dirty="0">
                <a:effectLst/>
                <a:cs typeface="CMR12"/>
              </a:rPr>
              <a:t>(</a:t>
            </a:r>
            <a:r>
              <a:rPr lang="hu-HU" sz="1800" i="1" kern="0" dirty="0">
                <a:cs typeface="CMR12"/>
              </a:rPr>
              <a:t>n</a:t>
            </a:r>
            <a:r>
              <a:rPr lang="hu-HU" sz="1800" kern="0" dirty="0">
                <a:effectLst/>
                <a:cs typeface="CMR12"/>
              </a:rPr>
              <a:t>)</a:t>
            </a:r>
            <a:endParaRPr lang="hu-HU" sz="1800" kern="0" dirty="0">
              <a:ea typeface="Aptos" panose="020B0004020202020204" pitchFamily="34" charset="0"/>
              <a:cs typeface="CMMI12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 kern="0" dirty="0" err="1">
                <a:effectLst/>
                <a:ea typeface="Aptos" panose="020B0004020202020204" pitchFamily="34" charset="0"/>
                <a:cs typeface="F29"/>
              </a:rPr>
              <a:t>C.length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=</a:t>
            </a:r>
            <a:r>
              <a:rPr lang="hu-HU" sz="1800" i="1" kern="0" dirty="0">
                <a:effectLst/>
                <a:ea typeface="Aptos" panose="020B0004020202020204" pitchFamily="34" charset="0"/>
                <a:cs typeface="F29"/>
              </a:rPr>
              <a:t>n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</a:t>
            </a:r>
            <a:r>
              <a:rPr lang="hu-HU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Az eljárás során ennek mindegyik eleme egy-egy iterációval áll elő 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-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ból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vagy 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B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-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ből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</a:t>
            </a:r>
            <a:endParaRPr lang="hu-HU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Az explicit ciklus: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C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[0</a:t>
            </a:r>
            <a:r>
              <a:rPr lang="hu-HU" sz="1800" kern="0" dirty="0">
                <a:effectLst/>
                <a:ea typeface="Aptos" panose="020B0004020202020204" pitchFamily="34" charset="0"/>
                <a:cs typeface="CMMI12"/>
              </a:rPr>
              <a:t>..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k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)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-t tölti fel, 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k</a:t>
            </a:r>
            <a:r>
              <a:rPr lang="hu-HU" sz="1800" kern="0" dirty="0">
                <a:effectLst/>
                <a:ea typeface="Aptos" panose="020B0004020202020204" pitchFamily="34" charset="0"/>
                <a:cs typeface="CMMI12"/>
              </a:rPr>
              <a:t> 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iterációval. </a:t>
            </a:r>
            <a:endParaRPr lang="hu-HU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Az implicit ciklusok: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C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sz="1800" i="1" kern="0" dirty="0" err="1">
                <a:effectLst/>
                <a:ea typeface="Aptos" panose="020B0004020202020204" pitchFamily="34" charset="0"/>
                <a:cs typeface="CMMI12"/>
              </a:rPr>
              <a:t>k</a:t>
            </a:r>
            <a:r>
              <a:rPr lang="hu-HU" sz="1800" kern="0" dirty="0" err="1">
                <a:effectLst/>
                <a:ea typeface="Aptos" panose="020B0004020202020204" pitchFamily="34" charset="0"/>
                <a:cs typeface="CMMI12"/>
              </a:rPr>
              <a:t>..n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) := </a:t>
            </a:r>
            <a:r>
              <a:rPr lang="hu-HU" sz="1800" kern="0" dirty="0">
                <a:effectLst/>
                <a:ea typeface="Aptos" panose="020B0004020202020204" pitchFamily="34" charset="0"/>
                <a:cs typeface="CMMI12"/>
              </a:rPr>
              <a:t>. . .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alakú utasításokba rejtve jelennek meg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csak az egyik fog 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végrehajtódni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n</a:t>
            </a:r>
            <a:r>
              <a:rPr lang="en-US" sz="1800" kern="0" dirty="0">
                <a:effectLst/>
                <a:ea typeface="Aptos" panose="020B0004020202020204" pitchFamily="34" charset="0"/>
                <a:cs typeface="CMSY10"/>
              </a:rPr>
              <a:t>−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k</a:t>
            </a:r>
            <a:r>
              <a:rPr lang="hu-HU" sz="1800" kern="0" dirty="0">
                <a:effectLst/>
                <a:ea typeface="Aptos" panose="020B0004020202020204" pitchFamily="34" charset="0"/>
                <a:cs typeface="CMMI12"/>
              </a:rPr>
              <a:t>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iterációval </a:t>
            </a:r>
            <a:endParaRPr lang="hu-HU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Összesen:  </a:t>
            </a:r>
            <a:r>
              <a:rPr lang="hu-HU" sz="1800" i="1" kern="0" dirty="0">
                <a:effectLst/>
                <a:ea typeface="Aptos" panose="020B0004020202020204" pitchFamily="34" charset="0"/>
                <a:cs typeface="F29"/>
              </a:rPr>
              <a:t>k+(n-k) = n</a:t>
            </a:r>
            <a:r>
              <a:rPr lang="hu-HU" sz="1800" kern="0" dirty="0">
                <a:effectLst/>
                <a:ea typeface="Aptos" panose="020B0004020202020204" pitchFamily="34" charset="0"/>
                <a:cs typeface="CMMI12"/>
              </a:rPr>
              <a:t>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iteráció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1812354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2424A45E-46F4-B8F8-63A6-DFAA25FF25BD}"/>
              </a:ext>
            </a:extLst>
          </p:cNvPr>
          <p:cNvSpPr/>
          <p:nvPr/>
        </p:nvSpPr>
        <p:spPr>
          <a:xfrm>
            <a:off x="1371600" y="1595121"/>
            <a:ext cx="4460240" cy="977900"/>
          </a:xfrm>
          <a:prstGeom prst="horizontalScroll">
            <a:avLst>
              <a:gd name="adj" fmla="val 1673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049A4D6-1BD9-0FD8-FAEC-94E45A43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1"/>
            <a:ext cx="10018713" cy="1333500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merge</a:t>
            </a:r>
            <a:r>
              <a:rPr lang="hu-HU" dirty="0"/>
              <a:t> sort műveletigénye:</a:t>
            </a:r>
            <a:br>
              <a:rPr lang="hu-HU" dirty="0"/>
            </a:br>
            <a:r>
              <a:rPr lang="hu-HU" dirty="0"/>
              <a:t>szemléletes megközelítés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A181465-417E-0464-9735-1C1207308F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524001"/>
                <a:ext cx="10018713" cy="4984954"/>
              </a:xfrm>
            </p:spPr>
            <p:txBody>
              <a:bodyPr>
                <a:normAutofit/>
              </a:bodyPr>
              <a:lstStyle/>
              <a:p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MT</a:t>
                </a:r>
                <a:r>
                  <a:rPr lang="hu-HU" sz="2400" i="1" baseline="-25000" dirty="0">
                    <a:effectLst/>
                    <a:ea typeface="Calibri" panose="020F0502020204030204" pitchFamily="34" charset="0"/>
                    <a:cs typeface="CMMI8"/>
                  </a:rPr>
                  <a:t>MS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2400" i="1" dirty="0" err="1">
                    <a:effectLst/>
                    <a:ea typeface="Calibri" panose="020F0502020204030204" pitchFamily="34" charset="0"/>
                    <a:cs typeface="CMMI12"/>
                  </a:rPr>
                  <a:t>mT</a:t>
                </a:r>
                <a:r>
                  <a:rPr lang="hu-HU" sz="2400" i="1" baseline="-25000" dirty="0" err="1">
                    <a:effectLst/>
                    <a:ea typeface="Calibri" panose="020F0502020204030204" pitchFamily="34" charset="0"/>
                    <a:cs typeface="CMMI8"/>
                  </a:rPr>
                  <a:t>MS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</a:p>
              <a:p>
                <a:r>
                  <a:rPr lang="hu-HU" dirty="0">
                    <a:ea typeface="Calibri" panose="020F0502020204030204" pitchFamily="34" charset="0"/>
                    <a:cs typeface="CMR12"/>
                  </a:rPr>
                  <a:t>Bizonyítása szemléletesen: (matematikai biz. később)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 műveletek túlnyomó részét a </a:t>
                </a:r>
                <a:r>
                  <a:rPr lang="hu-HU" sz="1600" dirty="0" err="1">
                    <a:effectLst/>
                    <a:ea typeface="Calibri" panose="020F0502020204030204" pitchFamily="34" charset="0"/>
                    <a:cs typeface="F29"/>
                  </a:rPr>
                  <a:t>merge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F29"/>
                  </a:rPr>
                  <a:t>A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, 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F29"/>
                  </a:rPr>
                  <a:t>B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, 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F29"/>
                  </a:rPr>
                  <a:t>C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) eljárás végzi el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mT</a:t>
                </a:r>
                <a:r>
                  <a:rPr lang="hu-HU" sz="1600" i="1" baseline="-25000" dirty="0" err="1">
                    <a:effectLst/>
                    <a:ea typeface="Calibri" panose="020F0502020204030204" pitchFamily="34" charset="0"/>
                    <a:cs typeface="CMMI8"/>
                  </a:rPr>
                  <a:t>merge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14:m>
                  <m:oMath xmlns:m="http://schemas.openxmlformats.org/officeDocument/2006/math">
                    <m:r>
                      <a:rPr lang="hu-HU" sz="1600" b="0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𝑙</m:t>
                    </m:r>
                  </m:oMath>
                </a14:m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,</a:t>
                </a:r>
                <a:r>
                  <a:rPr lang="hu-HU" sz="1600" i="1" dirty="0" err="1">
                    <a:effectLst/>
                    <a:ea typeface="Calibri" panose="020F0502020204030204" pitchFamily="34" charset="0"/>
                    <a:cs typeface="CMMI12"/>
                  </a:rPr>
                  <a:t>MT</a:t>
                </a:r>
                <a:r>
                  <a:rPr lang="hu-HU" sz="1600" i="1" baseline="-25000" dirty="0" err="1">
                    <a:effectLst/>
                    <a:ea typeface="Calibri" panose="020F0502020204030204" pitchFamily="34" charset="0"/>
                    <a:cs typeface="CMMI8"/>
                  </a:rPr>
                  <a:t>merge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14:m>
                  <m:oMath xmlns:m="http://schemas.openxmlformats.org/officeDocument/2006/math">
                    <m:r>
                      <a:rPr lang="hu-HU" sz="1600" b="0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𝑙</m:t>
                    </m:r>
                  </m:oMath>
                </a14:m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16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sz="16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14:m>
                  <m:oMath xmlns:m="http://schemas.openxmlformats.org/officeDocument/2006/math">
                    <m:r>
                      <a:rPr lang="hu-HU" sz="1600" b="0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𝑙</m:t>
                    </m:r>
                  </m:oMath>
                </a14:m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600" i="1" dirty="0">
                    <a:effectLst/>
                    <a:ea typeface="CMR12"/>
                    <a:cs typeface="CMR12"/>
                  </a:rPr>
                  <a:t> </a:t>
                </a:r>
                <a:r>
                  <a:rPr lang="hu-HU" sz="1600" dirty="0">
                    <a:effectLst/>
                    <a:ea typeface="CMR12"/>
                    <a:cs typeface="CMR12"/>
                  </a:rPr>
                  <a:t>(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ahol 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l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az aktuális résztömb hossza (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l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= </a:t>
                </a:r>
                <a:r>
                  <a:rPr lang="hu-HU" sz="1600" i="1" dirty="0" err="1">
                    <a:effectLst/>
                    <a:ea typeface="Calibri" panose="020F0502020204030204" pitchFamily="34" charset="0"/>
                    <a:cs typeface="CMR12"/>
                  </a:rPr>
                  <a:t>C.length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)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A r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ekurzív </a:t>
                </a:r>
                <a:r>
                  <a:rPr lang="hu-HU" sz="1600" dirty="0" err="1">
                    <a:effectLst/>
                    <a:ea typeface="Calibri" panose="020F0502020204030204" pitchFamily="34" charset="0"/>
                    <a:cs typeface="F29"/>
                  </a:rPr>
                  <a:t>ms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F29"/>
                  </a:rPr>
                  <a:t>B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, 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) eljárás minden hívásban felezi a rendezendő résztömb hosszát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 rekurziónak kb.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+ 1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szintje van 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Minden rekurziós szinten: a </a:t>
                </a:r>
                <a:r>
                  <a:rPr lang="hu-HU" sz="1600" dirty="0" err="1">
                    <a:effectLst/>
                    <a:ea typeface="Calibri" panose="020F0502020204030204" pitchFamily="34" charset="0"/>
                    <a:cs typeface="F29"/>
                  </a:rPr>
                  <a:t>merge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hívások résztömbjei együtt lefedik az egész 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tömböt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Kivétel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az alsó egy vagy két szint: kevesebb  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E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gy tetszőleges szint összes </a:t>
                </a:r>
                <a:r>
                  <a:rPr lang="hu-HU" sz="1600" dirty="0" err="1">
                    <a:effectLst/>
                    <a:ea typeface="Calibri" panose="020F0502020204030204" pitchFamily="34" charset="0"/>
                    <a:cs typeface="F29"/>
                  </a:rPr>
                  <a:t>merge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hívásának műveletigényét összeadva: </a:t>
                </a:r>
                <a:r>
                  <a:rPr lang="en-US" sz="16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sz="1600" dirty="0" err="1">
                    <a:effectLst/>
                    <a:ea typeface="Calibri" panose="020F0502020204030204" pitchFamily="34" charset="0"/>
                    <a:cs typeface="F29"/>
                  </a:rPr>
                  <a:t>szintenkénti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műveletigényt a szintek számával szorozva nagyságrendben </a:t>
                </a:r>
                <a:r>
                  <a:rPr lang="en-US" sz="16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A181465-417E-0464-9735-1C1207308F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524001"/>
                <a:ext cx="10018713" cy="4984954"/>
              </a:xfrm>
              <a:blipFill>
                <a:blip r:embed="rId2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0280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C9FEE51A-BA88-3AB0-CE36-F7714E38F2E9}"/>
              </a:ext>
            </a:extLst>
          </p:cNvPr>
          <p:cNvSpPr/>
          <p:nvPr/>
        </p:nvSpPr>
        <p:spPr>
          <a:xfrm>
            <a:off x="3292764" y="4489206"/>
            <a:ext cx="3037840" cy="1488440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1B79910-F2AB-7CDD-53F7-97E22978A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13817"/>
          </a:xfrm>
        </p:spPr>
        <p:txBody>
          <a:bodyPr/>
          <a:lstStyle/>
          <a:p>
            <a:r>
              <a:rPr lang="hu-HU" dirty="0"/>
              <a:t>Tárigény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0DC67C3-CB5D-16D9-B1E7-CAF084ED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682885"/>
            <a:ext cx="10018713" cy="3767847"/>
          </a:xfrm>
        </p:spPr>
        <p:txBody>
          <a:bodyPr>
            <a:normAutofit/>
          </a:bodyPr>
          <a:lstStyle/>
          <a:p>
            <a:pPr algn="l"/>
            <a:r>
              <a:rPr lang="hu-HU" sz="2800" b="0" i="0" u="none" strike="noStrike" baseline="0" dirty="0"/>
              <a:t>Tárigény tömbökre:</a:t>
            </a:r>
          </a:p>
          <a:p>
            <a:pPr lvl="1"/>
            <a:r>
              <a:rPr lang="hu-HU" b="0" i="1" u="none" strike="noStrike" baseline="0" dirty="0"/>
              <a:t>n</a:t>
            </a:r>
            <a:r>
              <a:rPr lang="hu-HU" b="0" i="0" u="none" strike="noStrike" baseline="0" dirty="0"/>
              <a:t> méretű segédtömb</a:t>
            </a:r>
          </a:p>
          <a:p>
            <a:pPr lvl="1"/>
            <a:r>
              <a:rPr lang="hu-HU" b="0" i="0" u="none" strike="noStrike" baseline="0" dirty="0"/>
              <a:t>néhány segédváltozó</a:t>
            </a:r>
          </a:p>
          <a:p>
            <a:pPr lvl="1"/>
            <a:r>
              <a:rPr lang="hu-HU" b="0" i="0" u="none" strike="noStrike" baseline="0" dirty="0"/>
              <a:t>a rekurzív hívások adminisztrálásának tárigénye: ~ log 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8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pt-BR" sz="2800" i="1" baseline="-25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MS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pt-BR" sz="28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∈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0" dirty="0">
                <a:effectLst/>
                <a:cs typeface="CMR12"/>
              </a:rPr>
              <a:t>Θ</a:t>
            </a:r>
            <a:r>
              <a:rPr lang="en-US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+ log </a:t>
            </a:r>
            <a:r>
              <a:rPr lang="pt-BR" sz="28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= </a:t>
            </a:r>
            <a:r>
              <a:rPr lang="en-US" sz="2800" kern="0" dirty="0">
                <a:effectLst/>
                <a:cs typeface="CMR12"/>
              </a:rPr>
              <a:t>Θ</a:t>
            </a:r>
            <a:r>
              <a:rPr lang="en-US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hu-HU" b="0" i="0" u="none" strike="noStrike" baseline="0" dirty="0"/>
          </a:p>
          <a:p>
            <a:pPr algn="l"/>
            <a:r>
              <a:rPr lang="hu-HU" sz="2800" b="0" i="0" u="none" strike="noStrike" baseline="0" dirty="0"/>
              <a:t>Röviden: </a:t>
            </a:r>
            <a:br>
              <a:rPr lang="hu-HU" sz="2800" b="0" i="0" u="none" strike="noStrike" baseline="0" dirty="0"/>
            </a:br>
            <a:r>
              <a:rPr lang="hu-HU" sz="2800" b="0" i="0" u="none" strike="noStrike" baseline="0" dirty="0"/>
              <a:t>					</a:t>
            </a:r>
            <a:r>
              <a:rPr lang="pt-BR" sz="28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pt-BR" sz="2800" i="1" baseline="-25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MS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pt-BR" sz="28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∈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0" dirty="0">
                <a:effectLst/>
                <a:cs typeface="CMR12"/>
              </a:rPr>
              <a:t>Θ</a:t>
            </a:r>
            <a:r>
              <a:rPr lang="en-US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 </a:t>
            </a:r>
            <a:r>
              <a:rPr lang="hu-HU" sz="28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hu-HU" sz="3600" dirty="0"/>
          </a:p>
        </p:txBody>
      </p:sp>
    </p:spTree>
    <p:extLst>
      <p:ext uri="{BB962C8B-B14F-4D97-AF65-F5344CB8AC3E}">
        <p14:creationId xmlns:p14="http://schemas.microsoft.com/office/powerpoint/2010/main" val="3413616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ercs: vízszintes 2">
            <a:extLst>
              <a:ext uri="{FF2B5EF4-FFF2-40B4-BE49-F238E27FC236}">
                <a16:creationId xmlns:a16="http://schemas.microsoft.com/office/drawing/2014/main" id="{28C6BF0A-EE93-CC40-2721-315945340CD2}"/>
              </a:ext>
            </a:extLst>
          </p:cNvPr>
          <p:cNvSpPr/>
          <p:nvPr/>
        </p:nvSpPr>
        <p:spPr>
          <a:xfrm>
            <a:off x="5949078" y="5634355"/>
            <a:ext cx="5553946" cy="1152525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C6897A8-90F2-957D-0583-D5854BDB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67360"/>
            <a:ext cx="10018713" cy="991697"/>
          </a:xfrm>
        </p:spPr>
        <p:txBody>
          <a:bodyPr/>
          <a:lstStyle/>
          <a:p>
            <a:r>
              <a:rPr lang="hu-HU"/>
              <a:t>Összefésüléses rendezés S1L-re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21D644D-4001-CEE6-F08C-6CEAF99A7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134" y="2108766"/>
            <a:ext cx="3330229" cy="159271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1AF868A-D241-89A4-02AA-BFB495A12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325" y="3861365"/>
            <a:ext cx="3337849" cy="261388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28F86138-54BE-9345-4C26-056795FF3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267" y="1656370"/>
            <a:ext cx="5456393" cy="397798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6E188E2-B24A-8BC8-D177-0AC7324C0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415" y="5958332"/>
            <a:ext cx="4750749" cy="50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24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08370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81719"/>
            <a:ext cx="10188881" cy="4090480"/>
          </a:xfrm>
        </p:spPr>
        <p:txBody>
          <a:bodyPr/>
          <a:lstStyle/>
          <a:p>
            <a:r>
              <a:rPr lang="hu-HU" dirty="0"/>
              <a:t>Adja meg a rendezési feladat specifikációját!</a:t>
            </a:r>
          </a:p>
          <a:p>
            <a:r>
              <a:rPr lang="hu-HU" dirty="0"/>
              <a:t>Mit nevezünk stabil rendezésnek?</a:t>
            </a:r>
          </a:p>
          <a:p>
            <a:r>
              <a:rPr lang="hu-HU" dirty="0"/>
              <a:t>A tanult rendezések közül melyik stabil?</a:t>
            </a:r>
          </a:p>
          <a:p>
            <a:r>
              <a:rPr lang="hu-HU" dirty="0"/>
              <a:t>Mennyi a beszúrásos rendezés műveletigénye és tárigénye? Miért?</a:t>
            </a:r>
          </a:p>
          <a:p>
            <a:r>
              <a:rPr lang="hu-HU" dirty="0"/>
              <a:t>Mennyi az összefésüléses rendezés műveletigénye és tárigénye? Miért?</a:t>
            </a:r>
          </a:p>
          <a:p>
            <a:r>
              <a:rPr lang="hu-HU" dirty="0"/>
              <a:t>Adja meg a tanult rendezőalgoritmusok </a:t>
            </a:r>
            <a:r>
              <a:rPr lang="hu-HU" dirty="0" err="1"/>
              <a:t>struktogramját</a:t>
            </a:r>
            <a:r>
              <a:rPr lang="hu-HU" dirty="0"/>
              <a:t>!</a:t>
            </a:r>
          </a:p>
          <a:p>
            <a:r>
              <a:rPr lang="hu-HU" sz="2400" dirty="0">
                <a:effectLst/>
                <a:ea typeface="Calibri" panose="020F0502020204030204" pitchFamily="34" charset="0"/>
                <a:cs typeface="F78"/>
              </a:rPr>
              <a:t>Mit jelent az „oszd meg és uralkodj” </a:t>
            </a: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elv? Melyik rendezés alapul ezen az elven?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8050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17105" y="5329238"/>
            <a:ext cx="6568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2000" dirty="0"/>
              <a:t>A bemutató Ásványi Tibor: </a:t>
            </a:r>
            <a:r>
              <a:rPr lang="hu-HU" sz="2000" b="0" i="0" u="none" strike="noStrike" baseline="0" dirty="0">
                <a:latin typeface="F30"/>
              </a:rPr>
              <a:t>Algoritmusok és adatszerkezetek I.</a:t>
            </a:r>
          </a:p>
          <a:p>
            <a:pPr algn="r"/>
            <a:r>
              <a:rPr lang="hu-HU" sz="2000" b="0" i="0" u="none" strike="noStrike" baseline="0">
                <a:latin typeface="F30"/>
              </a:rPr>
              <a:t>előadásjegyzete alapján készült.</a:t>
            </a:r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548089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18805</TotalTime>
  <Words>2978</Words>
  <Application>Microsoft Office PowerPoint</Application>
  <PresentationFormat>Szélesvásznú</PresentationFormat>
  <Paragraphs>370</Paragraphs>
  <Slides>40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40</vt:i4>
      </vt:variant>
    </vt:vector>
  </HeadingPairs>
  <TitlesOfParts>
    <vt:vector size="56" baseType="lpstr">
      <vt:lpstr>Aptos</vt:lpstr>
      <vt:lpstr>Arial</vt:lpstr>
      <vt:lpstr>Calibri</vt:lpstr>
      <vt:lpstr>Cambria Math</vt:lpstr>
      <vt:lpstr>CMMI12</vt:lpstr>
      <vt:lpstr>CMMI8</vt:lpstr>
      <vt:lpstr>CMR12</vt:lpstr>
      <vt:lpstr>CMR8</vt:lpstr>
      <vt:lpstr>CMSY10</vt:lpstr>
      <vt:lpstr>Corbel</vt:lpstr>
      <vt:lpstr>F29</vt:lpstr>
      <vt:lpstr>F30</vt:lpstr>
      <vt:lpstr>F83</vt:lpstr>
      <vt:lpstr>Times New Roman</vt:lpstr>
      <vt:lpstr>Wingdings</vt:lpstr>
      <vt:lpstr>Parallax</vt:lpstr>
      <vt:lpstr>Algoritmusok és adatszerkezetek I. 3. Előadás</vt:lpstr>
      <vt:lpstr>Rendezési feladat sorozatra</vt:lpstr>
      <vt:lpstr>Rendezési feladat</vt:lpstr>
      <vt:lpstr>Rendezési feladat sorozatra</vt:lpstr>
      <vt:lpstr>Beszúró rendezés  (Insertion sort)</vt:lpstr>
      <vt:lpstr>Beszúró rendezés optimalizálása</vt:lpstr>
      <vt:lpstr>Naiv beszúró rendezés optimalizálása</vt:lpstr>
      <vt:lpstr>Beszúró rendezés  C# kódja*</vt:lpstr>
      <vt:lpstr>Beszúró rendezés</vt:lpstr>
      <vt:lpstr>Beszúró rendezés</vt:lpstr>
      <vt:lpstr>S Program hatékonysága</vt:lpstr>
      <vt:lpstr>S Program hatékonysága</vt:lpstr>
      <vt:lpstr>Space complexities of algorithms</vt:lpstr>
      <vt:lpstr>Beszúró rendezés hatékonysága</vt:lpstr>
      <vt:lpstr>Becslés a beszúró rendezés minimális futási idejére mTIS(n) (n: a rendezendő tömb mérete)</vt:lpstr>
      <vt:lpstr>Beszúró rendezés maximális futási ideje MTIS(n) (ahol n a rendezendő tömb mérete)</vt:lpstr>
      <vt:lpstr>Beszúró rendezés átlagos futási ideje  ATIS(n) (ahol n a rendezendő tömb mérete)</vt:lpstr>
      <vt:lpstr>Beszúró rendezés átlagos futási ideje  ATIS(n) (ahol n a rendezendő tömb mérete)</vt:lpstr>
      <vt:lpstr>Beszúró rendezés műveletigénye</vt:lpstr>
      <vt:lpstr>A futási időkre vonatkozó becslések*</vt:lpstr>
      <vt:lpstr>A futási időkre vonatkozó becslések*</vt:lpstr>
      <vt:lpstr>A futási időkre vonatkozó becslések*</vt:lpstr>
      <vt:lpstr>A futási időkre vonatkozó becslések*</vt:lpstr>
      <vt:lpstr>Beszúró rendezés H1L listákra</vt:lpstr>
      <vt:lpstr>InsertionSort C2L listára</vt:lpstr>
      <vt:lpstr>Rendezések stabilitása</vt:lpstr>
      <vt:lpstr>Rendezések stabilitása</vt:lpstr>
      <vt:lpstr>Kiválasztó rendezések (selection sorts)</vt:lpstr>
      <vt:lpstr>„oszd meg és uralkodj” elv </vt:lpstr>
      <vt:lpstr>Összefésülő rendezés (Merge Sort)</vt:lpstr>
      <vt:lpstr>Összefésülő rendezés algoritmusa</vt:lpstr>
      <vt:lpstr>Összefésülő rendezés algoritmusa</vt:lpstr>
      <vt:lpstr>Összefésülő rendezés C# kódja*</vt:lpstr>
      <vt:lpstr>Összefésülő rendezés tulajdonságai, szemléltetése</vt:lpstr>
      <vt:lpstr>Merge vizsgálata</vt:lpstr>
      <vt:lpstr>A merge sort műveletigénye: szemléletes megközelítés</vt:lpstr>
      <vt:lpstr>Tárigény</vt:lpstr>
      <vt:lpstr>Összefésüléses rendezés S1L-re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5</cp:revision>
  <dcterms:created xsi:type="dcterms:W3CDTF">2022-02-02T14:32:23Z</dcterms:created>
  <dcterms:modified xsi:type="dcterms:W3CDTF">2026-08-03T13:59:00Z</dcterms:modified>
</cp:coreProperties>
</file>